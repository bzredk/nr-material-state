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4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5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slides/charts/chart9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015620afe4468f" /><Relationship Type="http://schemas.openxmlformats.org/officeDocument/2006/relationships/extended-properties" Target="/docProps/app.xml" Id="Rba79ad6493a0489c" /><Relationship Type="http://schemas.openxmlformats.org/officeDocument/2006/relationships/officeDocument" Target="/ppt/presentation.xml" Id="Rb87e6403a58649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812c05ad7a42c6"/>
  </p:sldMasterIdLst>
  <p:notesMasterIdLst>
    <p:notesMasterId xmlns:r="http://schemas.openxmlformats.org/officeDocument/2006/relationships" r:id="R7b6d0a7dfec541f8"/>
  </p:notesMasterIdLst>
  <p:sldIdLst>
    <p:sldId xmlns:r="http://schemas.openxmlformats.org/officeDocument/2006/relationships" id="256" r:id="Rdc4e7bcd60ab4e14"/>
    <p:sldId xmlns:r="http://schemas.openxmlformats.org/officeDocument/2006/relationships" id="257" r:id="Rb8d1eb5d8df34b7c"/>
    <p:sldId xmlns:r="http://schemas.openxmlformats.org/officeDocument/2006/relationships" id="258" r:id="Rfc75628f09244f79"/>
    <p:sldId xmlns:r="http://schemas.openxmlformats.org/officeDocument/2006/relationships" id="259" r:id="Rfe76eefa3e92473c"/>
    <p:sldId xmlns:r="http://schemas.openxmlformats.org/officeDocument/2006/relationships" id="260" r:id="R09ada4ca6d7a45c7"/>
    <p:sldId xmlns:r="http://schemas.openxmlformats.org/officeDocument/2006/relationships" id="261" r:id="Rdb07180005cb486e"/>
    <p:sldId xmlns:r="http://schemas.openxmlformats.org/officeDocument/2006/relationships" id="262" r:id="R179722e6ba1f476c"/>
    <p:sldId xmlns:r="http://schemas.openxmlformats.org/officeDocument/2006/relationships" id="263" r:id="R5ffe895849434b4b"/>
    <p:sldId xmlns:r="http://schemas.openxmlformats.org/officeDocument/2006/relationships" id="264" r:id="R8425f915f0814d64"/>
    <p:sldId xmlns:r="http://schemas.openxmlformats.org/officeDocument/2006/relationships" id="265" r:id="Ra6a7ae91b2284d37"/>
    <p:sldId xmlns:r="http://schemas.openxmlformats.org/officeDocument/2006/relationships" id="266" r:id="Rfce264b350d44b3e"/>
    <p:sldId xmlns:r="http://schemas.openxmlformats.org/officeDocument/2006/relationships" id="267" r:id="Rb4d1c58589a94d38"/>
    <p:sldId xmlns:r="http://schemas.openxmlformats.org/officeDocument/2006/relationships" id="268" r:id="R2c4e9d4acbfa4279"/>
    <p:sldId xmlns:r="http://schemas.openxmlformats.org/officeDocument/2006/relationships" id="269" r:id="R7cedc5573120465f"/>
    <p:sldId xmlns:r="http://schemas.openxmlformats.org/officeDocument/2006/relationships" id="270" r:id="Rb2900fb16d604399"/>
    <p:sldId xmlns:r="http://schemas.openxmlformats.org/officeDocument/2006/relationships" id="271" r:id="R233b9f1e899e496d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f5722636e44671" /><Relationship Type="http://schemas.openxmlformats.org/officeDocument/2006/relationships/slideMaster" Target="/ppt/slideMasters/slideMaster1.xml" Id="Reb812c05ad7a42c6" /><Relationship Type="http://schemas.openxmlformats.org/officeDocument/2006/relationships/notesMaster" Target="/ppt/notesMasters/notesMaster1.xml" Id="R7b6d0a7dfec541f8" /><Relationship Type="http://schemas.openxmlformats.org/officeDocument/2006/relationships/presProps" Target="/ppt/presProps.xml" Id="R759fe774089140c9" /><Relationship Type="http://schemas.openxmlformats.org/officeDocument/2006/relationships/tableStyles" Target="/ppt/tableStyles.xml" Id="R2bc404712a114112" /><Relationship Type="http://schemas.openxmlformats.org/officeDocument/2006/relationships/slide" Target="/ppt/slides/slide1.xml" Id="Rdc4e7bcd60ab4e14" /><Relationship Type="http://schemas.openxmlformats.org/officeDocument/2006/relationships/slide" Target="/ppt/slides/slide2.xml" Id="Rb8d1eb5d8df34b7c" /><Relationship Type="http://schemas.openxmlformats.org/officeDocument/2006/relationships/slide" Target="/ppt/slides/slide3.xml" Id="Rfc75628f09244f79" /><Relationship Type="http://schemas.openxmlformats.org/officeDocument/2006/relationships/slide" Target="/ppt/slides/slide4.xml" Id="Rfe76eefa3e92473c" /><Relationship Type="http://schemas.openxmlformats.org/officeDocument/2006/relationships/slide" Target="/ppt/slides/slide5.xml" Id="R09ada4ca6d7a45c7" /><Relationship Type="http://schemas.openxmlformats.org/officeDocument/2006/relationships/slide" Target="/ppt/slides/slide6.xml" Id="Rdb07180005cb486e" /><Relationship Type="http://schemas.openxmlformats.org/officeDocument/2006/relationships/slide" Target="/ppt/slides/slide7.xml" Id="R179722e6ba1f476c" /><Relationship Type="http://schemas.openxmlformats.org/officeDocument/2006/relationships/slide" Target="/ppt/slides/slide8.xml" Id="R5ffe895849434b4b" /><Relationship Type="http://schemas.openxmlformats.org/officeDocument/2006/relationships/slide" Target="/ppt/slides/slide9.xml" Id="R8425f915f0814d64" /><Relationship Type="http://schemas.openxmlformats.org/officeDocument/2006/relationships/slide" Target="/ppt/slides/slide10.xml" Id="Ra6a7ae91b2284d37" /><Relationship Type="http://schemas.openxmlformats.org/officeDocument/2006/relationships/slide" Target="/ppt/slides/slide11.xml" Id="Rfce264b350d44b3e" /><Relationship Type="http://schemas.openxmlformats.org/officeDocument/2006/relationships/slide" Target="/ppt/slides/slide12.xml" Id="Rb4d1c58589a94d38" /><Relationship Type="http://schemas.openxmlformats.org/officeDocument/2006/relationships/slide" Target="/ppt/slides/slide13.xml" Id="R2c4e9d4acbfa4279" /><Relationship Type="http://schemas.openxmlformats.org/officeDocument/2006/relationships/slide" Target="/ppt/slides/slide14.xml" Id="R7cedc5573120465f" /><Relationship Type="http://schemas.openxmlformats.org/officeDocument/2006/relationships/slide" Target="/ppt/slides/slide15.xml" Id="Rb2900fb16d604399" /><Relationship Type="http://schemas.openxmlformats.org/officeDocument/2006/relationships/slide" Target="/ppt/slides/slide16.xml" Id="R233b9f1e899e49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ba053a982f46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b37106458e4c65" /><Relationship Type="http://schemas.openxmlformats.org/officeDocument/2006/relationships/notesMaster" Target="/ppt/notesMasters/notesMaster1.xml" Id="R2f0a20da18544d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5fe6ade3804da1" /><Relationship Type="http://schemas.openxmlformats.org/officeDocument/2006/relationships/notesMaster" Target="/ppt/notesMasters/notesMaster1.xml" Id="R27443d7139264b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edf86eb9a441c0" /><Relationship Type="http://schemas.openxmlformats.org/officeDocument/2006/relationships/notesMaster" Target="/ppt/notesMasters/notesMaster1.xml" Id="R2665e8d51f5f41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99988be8954e1e" /><Relationship Type="http://schemas.openxmlformats.org/officeDocument/2006/relationships/notesMaster" Target="/ppt/notesMasters/notesMaster1.xml" Id="R650140e2c8574a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65b0f9810447ea" /><Relationship Type="http://schemas.openxmlformats.org/officeDocument/2006/relationships/notesMaster" Target="/ppt/notesMasters/notesMaster1.xml" Id="R16b2a4ad32b24c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20a916f7964af6" /><Relationship Type="http://schemas.openxmlformats.org/officeDocument/2006/relationships/notesMaster" Target="/ppt/notesMasters/notesMaster1.xml" Id="R9e171545de3643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e88736bb794e1c" /><Relationship Type="http://schemas.openxmlformats.org/officeDocument/2006/relationships/notesMaster" Target="/ppt/notesMasters/notesMaster1.xml" Id="Raec8870940004dc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0d3b534a694ddb" /><Relationship Type="http://schemas.openxmlformats.org/officeDocument/2006/relationships/notesMaster" Target="/ppt/notesMasters/notesMaster1.xml" Id="R3b9f38554a67486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e7dba81c8b4c0d" /><Relationship Type="http://schemas.openxmlformats.org/officeDocument/2006/relationships/notesMaster" Target="/ppt/notesMasters/notesMaster1.xml" Id="R0fa3d391d410457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e4781b75b874a06" /><Relationship Type="http://schemas.openxmlformats.org/officeDocument/2006/relationships/notesMaster" Target="/ppt/notesMasters/notesMaster1.xml" Id="R507a4702a6ba4c5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59dbd5b14a445c5" /><Relationship Type="http://schemas.openxmlformats.org/officeDocument/2006/relationships/notesMaster" Target="/ppt/notesMasters/notesMaster1.xml" Id="Red179d6084fb45b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910416f26dd4605" /><Relationship Type="http://schemas.openxmlformats.org/officeDocument/2006/relationships/notesMaster" Target="/ppt/notesMasters/notesMaster1.xml" Id="R1b621b7baee04fe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fff760451bb4e11" /><Relationship Type="http://schemas.openxmlformats.org/officeDocument/2006/relationships/notesMaster" Target="/ppt/notesMasters/notesMaster1.xml" Id="Rab302e57784b4a6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a2d112283304091" /><Relationship Type="http://schemas.openxmlformats.org/officeDocument/2006/relationships/notesMaster" Target="/ppt/notesMasters/notesMaster1.xml" Id="Re63eb189a7ff473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b3345db13794042" /><Relationship Type="http://schemas.openxmlformats.org/officeDocument/2006/relationships/notesMaster" Target="/ppt/notesMasters/notesMaster1.xml" Id="R7b18a28c46494a6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40ed4a6ccb84713" /><Relationship Type="http://schemas.openxmlformats.org/officeDocument/2006/relationships/notesMaster" Target="/ppt/notesMasters/notesMaster1.xml" Id="R177bd616c70844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周我把上次的一维接触扩展成了真正的空间二维模型。研究主题仍然是物体隐藏状态，而不是材料本构本身。本轮集中回答两个问题：当前侧向形变已经告诉了我们多少信息，以及历史的价值来自多长时间，还是来自其中的接触与恢复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(relative to the repository):</a:t>
            </a:r>
          </a:p>
          <a:p xmlns:a="http://schemas.openxmlformats.org/drawingml/2006/main">
            <a:r>
              <a:t>2D/runs/information/channels_contact_20261026/RESULTS.md</a:t>
            </a:r>
          </a:p>
          <a:p xmlns:a="http://schemas.openxmlformats.org/drawingml/2006/main">
            <a:r>
              <a:t>Reference design: 10_1.pdf, 12 pages, Arial, 1600 x 900 px equivalent. Source PDF is retained unchanged.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上周的三个判断保留：历史能帮助预测，状态可以用于不同未来控制，但共同反馈下的动作收益很小。经典估计器也已经很强。这周没有假设长历史或者神经网络必须获胜，而是把空间形变和传感信息加进去。关于老师反馈，2D到3D和侧向变化来自会后中文录音复述，现场英文片段只支持回到网格图和单指例子，不能说老师指定了某个算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(relative to the repository):</a:t>
            </a:r>
          </a:p>
          <a:p xmlns:a="http://schemas.openxmlformats.org/drawingml/2006/main">
            <a:r>
              <a:t>1D/RESULTS.md</a:t>
            </a:r>
          </a:p>
          <a:p xmlns:a="http://schemas.openxmlformats.org/drawingml/2006/main">
            <a:r>
              <a:t>1D/PRESENTATION_MAP.md</a:t>
            </a:r>
          </a:p>
          <a:p xmlns:a="http://schemas.openxmlformats.org/drawingml/2006/main">
            <a:r>
              <a:t>2D/runs/information/channels_contact_20261026/RESULTS.md</a:t>
            </a:r>
          </a:p>
          <a:p xmlns:a="http://schemas.openxmlformats.org/drawingml/2006/main">
            <a:r>
              <a:t>Meeting source: D:/capp/NR/Documents/Codex/2026-10-23-project-feedback/项目反馈总结与转录.md (A 00:00.5-00:06; C 00:08-00:15.8).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物理过程。底边固定，侧边自由，压头加载、保持、释放、等待，再接触。右侧分别记录实际接触力、命令与实际运动、两侧标记点。脱离接触后力回到零，但侧向形变仍在恢复。这里沿用已经验证过的空间2D演示图，后面统计来自新的24条历史。材料参数是合成参数，物体采用准静态平衡，压头保留动力学，尚未做真实材料标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(relative to the repository):</a:t>
            </a:r>
          </a:p>
          <a:p xmlns:a="http://schemas.openxmlformats.org/drawingml/2006/main">
            <a:r>
              <a:t>2D/runs/2d_contact/pilot_c9dd23016896/figures/01_spatial_process.json</a:t>
            </a:r>
          </a:p>
          <a:p xmlns:a="http://schemas.openxmlformats.org/drawingml/2006/main">
            <a:r>
              <a:t>2D/runs/information/channels_contact_20261026/physics.json</a:t>
            </a:r>
          </a:p>
          <a:p xmlns:a="http://schemas.openxmlformats.org/drawingml/2006/main">
            <a:r>
              <a:t>2D/src/nr2d/physics.py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状态包括快慢内部应变场和压头位置速度。在已知参数的模型中，这些状态足以向前推进。机器人获得的瞬时测量只是位置、速度、总力和可选的两侧位移。我们用同一个经典观察器，在三个弹性基底上拟合快慢两个场，共六个非负系数。它是完整内部场的近似。当前形变很有信息，但还不能直接把它等同于对未来充分的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(relative to the repository):</a:t>
            </a:r>
          </a:p>
          <a:p xmlns:a="http://schemas.openxmlformats.org/drawingml/2006/main">
            <a:r>
              <a:t>2D/src/nr2d/estimators.py</a:t>
            </a:r>
          </a:p>
          <a:p xmlns:a="http://schemas.openxmlformats.org/drawingml/2006/main">
            <a:r>
              <a:t>2D/runs/information/channels_contact_20261026/physics.json</a:t>
            </a:r>
          </a:p>
          <a:p xmlns:a="http://schemas.openxmlformats.org/drawingml/2006/main">
            <a:r>
              <a:t>2D/runs/information/channels_contact_20261026/test/test_5000/repeat_0/result.json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方法使用相同的物理历史和同一份噪声观测，只屏蔽通道，关闭侧向后它不能继续用于初始化或拟合。三条校准历史选超参数，24条新测试历史各有三次独立噪声。统计单位是完整历史，不能把72次噪声重复当72个独立物体。同一状态估计直接用于慢压和快压，快压不参与调参。真实内部场和已知松弛初态的完整重放只作为特权参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(relative to the repository):</a:t>
            </a:r>
          </a:p>
          <a:p xmlns:a="http://schemas.openxmlformats.org/drawingml/2006/main">
            <a:r>
              <a:t>2D/runs/information/channels_contact_20261026/study.json</a:t>
            </a:r>
          </a:p>
          <a:p xmlns:a="http://schemas.openxmlformats.org/drawingml/2006/main">
            <a:r>
              <a:t>2D/runs/information/channels_contact_20261026/calibration.json</a:t>
            </a:r>
          </a:p>
          <a:p xmlns:a="http://schemas.openxmlformats.org/drawingml/2006/main">
            <a:r>
              <a:t>2D/runs/information/channels_contact_20261026/verification/data_contract.json</a:t>
            </a:r>
          </a:p>
          <a:p xmlns:a="http://schemas.openxmlformats.org/drawingml/2006/main">
            <a:r>
              <a:t>2D/tests/test_observer_config.py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图是同一慢压命令下的力曲线，右图把预测减去真实响应。当前运动和总力最容易失去恢复信息，加上侧向形变后已经明显改善。0.8秒历史进一步靠近真实曲线。这个例子固定取测试编号5000的第一次噪声，不按未来误差挑选。总体结论要看后面的24条完整历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(relative to the repository):</a:t>
            </a:r>
          </a:p>
          <a:p xmlns:a="http://schemas.openxmlformats.org/drawingml/2006/main">
            <a:r>
              <a:t>2D/runs/information/channels_contact_20261026/test/test_5000/repeat_0/curves.npz</a:t>
            </a:r>
          </a:p>
          <a:p xmlns:a="http://schemas.openxmlformats.org/drawingml/2006/main">
            <a:r>
              <a:t>2D/runs/information/channels_contact_20261026/figures/01_information_curves.json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24条历史上，只有当前运动和力的误差是11.50毫牛，加上当前侧向形变后降到2.20毫牛。配对改善9.31毫牛，按完整历史bootstrap的95%区间是7.06到11.57。它说明当前侧向信息不能忽略。不过对称模型的左右标记实际上反映同一个形变模式，不能把两个标记当成两个独立物理自由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(relative to the repository):</a:t>
            </a:r>
          </a:p>
          <a:p xmlns:a="http://schemas.openxmlformats.org/drawingml/2006/main">
            <a:r>
              <a:t>2D/runs/information/channels_contact_20261026/summary.json</a:t>
            </a:r>
          </a:p>
          <a:p xmlns:a="http://schemas.openxmlformats.org/drawingml/2006/main">
            <a:r>
              <a:t>2D/runs/information/channels_contact_20261026/metrics.csv</a:t>
            </a:r>
          </a:p>
          <a:p xmlns:a="http://schemas.openxmlformats.org/drawingml/2006/main">
            <a:r>
              <a:t>Intervals: 2,000 whole-history bootstrap resamples, pointwise exploratory 95% intervals.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本轮最重要的设计修正。最后0.2秒全是脱离接触后的等待，不能和一维里的接触窗口直接作同条件解释。我们另外找更早的连续0.2秒接触片段，仅由观测力超过4.5毫牛识别，拟合后用实际运动记录传播到当前。以这条历史为例，0.72到0.92秒更新，再传播0.48秒，总运动跨度0.68秒。选择片段还扫描了之前的力，因此不能叫只使用0.2秒历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(relative to the repository):</a:t>
            </a:r>
          </a:p>
          <a:p xmlns:a="http://schemas.openxmlformats.org/drawingml/2006/main">
            <a:r>
              <a:t>2D/runs/information/channels_contact_20261026/coverage.json</a:t>
            </a:r>
          </a:p>
          <a:p xmlns:a="http://schemas.openxmlformats.org/drawingml/2006/main">
            <a:r>
              <a:t>2D/runs/information/channels_contact_20261026/histories/test_5000.npz</a:t>
            </a:r>
          </a:p>
          <a:p xmlns:a="http://schemas.openxmlformats.org/drawingml/2006/main">
            <a:r>
              <a:t>2D/runs/information/channels_contact_20261026/test/test_5000/repeat_0/curves.npz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只看力的等待窗口没有有效更新，误差仍然很大。加入侧向后，0.2秒等待也有增益，说明恢复过程有信息，同时重复测量降噪也可能贡献。0.8秒包含接触，误差降到0.23毫牛。更早的接触片段再传播，也明显优于近期等待。我们还不能把全部改善都归因于接触，因为它使用了更长运动跨度。新批次里带侧向短历史的改善，也限制了旧8条测试中“噪声使短窗变差”的适用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(relative to the repository):</a:t>
            </a:r>
          </a:p>
          <a:p xmlns:a="http://schemas.openxmlformats.org/drawingml/2006/main">
            <a:r>
              <a:t>2D/runs/information/channels_contact_20261026/summary.json</a:t>
            </a:r>
          </a:p>
          <a:p xmlns:a="http://schemas.openxmlformats.org/drawingml/2006/main">
            <a:r>
              <a:t>2D/runs/information/channels_contact_20261026/RESULTS.md</a:t>
            </a:r>
          </a:p>
          <a:p xmlns:a="http://schemas.openxmlformats.org/drawingml/2006/main">
            <a:r>
              <a:t>2D/runs/information/channels_contact_20261026/coverage.json</a:t>
            </a:r>
          </a:p>
          <a:p xmlns:a="http://schemas.openxmlformats.org/drawingml/2006/main">
            <a:r>
              <a:t>2D/runs/2d_contact/pilot_c9dd23016896/RESULTS.md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次历史估计只做一次，慢压和快压使用完全相同的估计状态，运行记录用哈希核对过。快压没有参与校准。两种动作下的排序接近，0.8秒侧向历史的误差分别约0.23和0.21毫牛。这支持在这两种命令之间复用估计，但不能把它解释成跨任务普遍充分，也不能解释成闭环动作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(relative to the repository):</a:t>
            </a:r>
          </a:p>
          <a:p xmlns:a="http://schemas.openxmlformats.org/drawingml/2006/main">
            <a:r>
              <a:t>2D/runs/information/channels_contact_20261026/summary.json</a:t>
            </a:r>
          </a:p>
          <a:p xmlns:a="http://schemas.openxmlformats.org/drawingml/2006/main">
            <a:r>
              <a:t>2D/runs/information/channels_contact_20261026/verification/data_contract.json</a:t>
            </a:r>
          </a:p>
          <a:p xmlns:a="http://schemas.openxmlformats.org/drawingml/2006/main">
            <a:r>
              <a:t>Estimated-state hashes are identical across the two future branches.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经典方法在接触数据足够时已经很准，所以这轮不能自然推出必须上RNN或JEPA。真正显露的问题是每次从头拟合很慢，0.8秒带侧向窗口在八进程批量下中位耗时27.24秒，而且没有不确定性。201次有限窗拟合触及七次函数评估上限。没有侧向的等待拟合全部停在初值附近，因此当前和短窗的误差差异还混合了先验放在哪个时刻、如何传播的影响，不能说历史本身有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(relative to the repository):</a:t>
            </a:r>
          </a:p>
          <a:p xmlns:a="http://schemas.openxmlformats.org/drawingml/2006/main">
            <a:r>
              <a:t>2D/runs/information/channels_contact_20261026/summary.json</a:t>
            </a:r>
          </a:p>
          <a:p xmlns:a="http://schemas.openxmlformats.org/drawingml/2006/main">
            <a:r>
              <a:t>2D/runs/information/channels_contact_20261026/failures.json</a:t>
            </a:r>
          </a:p>
          <a:p xmlns:a="http://schemas.openxmlformats.org/drawingml/2006/main">
            <a:r>
              <a:t>2D/runs/information/channels_contact_20261026/RESULTS.md</a:t>
            </a:r>
          </a:p>
          <a:p xmlns:a="http://schemas.openxmlformats.org/drawingml/2006/main">
            <a:r>
              <a:t>2D/src/nr2d/estimators.py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一步先不换网络。用经典递推观察器把接触时估计到的状态带过释放与等待，在多个预测时刻比较误差、更新时间和不确定性。补一个静态重复测量对照，区分恢复动力学和降噪。之后做共同反馈动作实验，先确认真实状态参考在给定任务和动作条件下有潜在收益。如果连这个参考都没有收益，应改任务而不是继续改编码器。完整3D机械臂闭环仿真在实机之前。希望讨论的是：哪个操作确实需要反馈尚未来得及补齐的信息，以及应该用什么任务结果判定它有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(relative to the repository):</a:t>
            </a:r>
          </a:p>
          <a:p xmlns:a="http://schemas.openxmlformats.org/drawingml/2006/main">
            <a:r>
              <a:t>2D/runs/information/channels_contact_20261026/RESULTS.md#next-experiment</a:t>
            </a:r>
          </a:p>
          <a:p xmlns:a="http://schemas.openxmlformats.org/drawingml/2006/main">
            <a:r>
              <a:t>research/robot_manipulation/</a:t>
            </a:r>
          </a:p>
          <a:p xmlns:a="http://schemas.openxmlformats.org/drawingml/2006/main">
            <a:r>
              <a:t>Planned only: recursive observer, uncertainty calibration, shared-feedback 2D actions, complete 3D robot simulation, hardware.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保留所有方法的完整均值，避免只展示有效的条件。已知松弛初态的完整重放和真实内部场使用额外信息。真实内部场误差为零来自使用同一个状态和同一个前向求解器，不代表现实物理误差为零，也不是所有控制策略的最优上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(relative to the repository):</a:t>
            </a:r>
          </a:p>
          <a:p xmlns:a="http://schemas.openxmlformats.org/drawingml/2006/main">
            <a:r>
              <a:t>2D/runs/information/channels_contact_20261026/summary.json</a:t>
            </a:r>
          </a:p>
          <a:p xmlns:a="http://schemas.openxmlformats.org/drawingml/2006/main">
            <a:r>
              <a:t>2D/runs/information/channels_contact_20261026/metrics.csv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点是一个完整历史的配对改善，先平均它的三次噪声重复，再在24条历史上bootstrap。横轴第一行和后面三行范围不同。区间是探索性的逐项95%区间，不做普遍保证。接触对照除了接触内容，也使用了更长运动跨度，这一点不能隐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(relative to the repository):</a:t>
            </a:r>
          </a:p>
          <a:p xmlns:a="http://schemas.openxmlformats.org/drawingml/2006/main">
            <a:r>
              <a:t>2D/runs/information/channels_contact_20261026/summary.json</a:t>
            </a:r>
          </a:p>
          <a:p xmlns:a="http://schemas.openxmlformats.org/drawingml/2006/main">
            <a:r>
              <a:t>2D/runs/information/channels_contact_20261026/metrics.csv</a:t>
            </a:r>
          </a:p>
          <a:p xmlns:a="http://schemas.openxmlformats.org/drawingml/2006/main">
            <a:r>
              <a:t>Plot uses stored per-history paired values and stored confidence limits without recomputing selection.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数值检查不能只报通过。一条测试历史和一条校准历史的惩罚接触穿透略微超过5微米，已经保留并记录。没有计算异常，通道屏蔽、数据一致性和动作间状态复用检查通过。Notebook在干净Docker内核Run All实测7.61秒，这主要是缓存结果回放，不是重新运行整批实验。主批量生成和评估约16.1分钟。更低的估计误差是同一个模型内部的证据，不代表真实材料已达到亚毫牛精度。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(relative to the repository):</a:t>
            </a:r>
          </a:p>
          <a:p xmlns:a="http://schemas.openxmlformats.org/drawingml/2006/main">
            <a:r>
              <a:t>2D/runs/information/channels_contact_20261026/physics.json</a:t>
            </a:r>
          </a:p>
          <a:p xmlns:a="http://schemas.openxmlformats.org/drawingml/2006/main">
            <a:r>
              <a:t>2D/runs/information/channels_contact_20261026/failures.json</a:t>
            </a:r>
          </a:p>
          <a:p xmlns:a="http://schemas.openxmlformats.org/drawingml/2006/main">
            <a:r>
              <a:t>2D/runs/information/channels_contact_20261026/verification/notebook.json</a:t>
            </a:r>
          </a:p>
          <a:p xmlns:a="http://schemas.openxmlformats.org/drawingml/2006/main">
            <a:r>
              <a:t>2D/runs/information/channels_contact_20261026/verification/data_contract.json</a:t>
            </a:r>
          </a:p>
          <a:p xmlns:a="http://schemas.openxmlformats.org/drawingml/2006/main">
            <a:r>
              <a:t>2D/runs/information/channels_contact_20261026/RESULTS.md</a:t>
            </a:r>
          </a:p>
          <a:p xmlns:a="http://schemas.openxmlformats.org/drawingml/2006/main">
            <a:r>
              <a:t>2D/notebooks/spatial_2d_hidden_state.ipynb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我想讨论三个问题。第一，我们研究的是当前观测之外的隐藏状态。如果太关注弹性，会不会让研究方向偏向软体机器人？第二，模型可以建立，但真正上实机时，这个实验应该怎么做？第三，我们已经把 hidden state 具体化到快慢力这个点，接下来如何再升华回来，回到更一般的隐藏状态研究问题？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(relative to the repository):</a:t>
            </a:r>
          </a:p>
          <a:p xmlns:a="http://schemas.openxmlformats.org/drawingml/2006/main">
            <a:r>
              <a:t>User-provided voice memo: Penn Engineering.m4a (78.396 s). Research focus: 00:00-00:30; real-robot experiments: 00:31-00:46; broader research question: 00:54-01:16. The user confirmed the final word as shenghua (conceptual development).</a:t>
            </a:r>
          </a:p>
          <a:p xmlns:a="http://schemas.openxmlformats.org/drawingml/2006/main">
            <a:r>
              <a:t>research/presentations/10.2/assets/question_source.json</a:t>
            </a:r>
          </a:p>
          <a:p xmlns:a="http://schemas.openxmlformats.org/drawingml/2006/main">
            <a:r>
              <a:t>These are discussion questions paraphrased from the user-provided memo, not additional experimental findings or attributed adviser instructions.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b29d7033a4474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9d60e6b3cd400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6ef31050d2450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9eef658a01459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0ecd42139e453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fe97738e2847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B72D21-300A-46B2-BB10-45C92FAC36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420BE54-EC0F-4E88-B11E-A2846A328AF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6BFE35B-943B-49D4-A134-145A29C4DE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D8EC5BC-6AC0-4339-8BDA-87C003A9CE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A6A16B2-7BB7-490E-8050-9699B479C9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CACD15C-9DB6-457A-B243-8B8A754CA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C9506A5-DFFD-499D-B70A-871E426BF9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33BA6F2-1F27-42A4-A5F0-8CC635CEB50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0F9F4B-4D42-4AEE-9B64-361F15BDB7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B941D4C-1942-4511-BE58-14620E7B54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ba48e73f134fd4" /><Relationship Type="http://schemas.openxmlformats.org/officeDocument/2006/relationships/slideLayout" Target="/ppt/slideLayouts/slideLayout1.xml" Id="R897003f7efe04650" /><Relationship Type="http://schemas.openxmlformats.org/officeDocument/2006/relationships/slideLayout" Target="/ppt/slideLayouts/slideLayout2.xml" Id="Rad5ee8416de74b50" /><Relationship Type="http://schemas.openxmlformats.org/officeDocument/2006/relationships/slideLayout" Target="/ppt/slideLayouts/slideLayout3.xml" Id="R9acadc7ea9b444de" /><Relationship Type="http://schemas.openxmlformats.org/officeDocument/2006/relationships/slideLayout" Target="/ppt/slideLayouts/slideLayout4.xml" Id="R25edc5a036ac4437" /><Relationship Type="http://schemas.openxmlformats.org/officeDocument/2006/relationships/slideLayout" Target="/ppt/slideLayouts/slideLayout5.xml" Id="Rf8e9e45f99ee47e0" /><Relationship Type="http://schemas.openxmlformats.org/officeDocument/2006/relationships/slideLayout" Target="/ppt/slideLayouts/slideLayout6.xml" Id="R7d43a354f81d43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7003f7efe04650"/>
    <p:sldLayoutId xmlns:r="http://schemas.openxmlformats.org/officeDocument/2006/relationships" id="2147483650" r:id="Rad5ee8416de74b50"/>
    <p:sldLayoutId xmlns:r="http://schemas.openxmlformats.org/officeDocument/2006/relationships" id="2147483651" r:id="R9acadc7ea9b444de"/>
    <p:sldLayoutId xmlns:r="http://schemas.openxmlformats.org/officeDocument/2006/relationships" id="2147483652" r:id="R25edc5a036ac4437"/>
    <p:sldLayoutId xmlns:r="http://schemas.openxmlformats.org/officeDocument/2006/relationships" id="2147483653" r:id="Rf8e9e45f99ee47e0"/>
    <p:sldLayoutId xmlns:r="http://schemas.openxmlformats.org/officeDocument/2006/relationships" id="2147483654" r:id="R7d43a354f81d43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f6fb376e564d6d" /><Relationship Type="http://schemas.openxmlformats.org/officeDocument/2006/relationships/notesSlide" Target="/ppt/notesSlides/notesSlide1.xml" Id="Rb2a77c6d21a746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2c9073b3fe4fad" /><Relationship Type="http://schemas.openxmlformats.org/officeDocument/2006/relationships/notesSlide" Target="/ppt/notesSlides/notesSlide2.xml" Id="R57e0d568b09e40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b21a946ce14612" /><Relationship Type="http://schemas.openxmlformats.org/officeDocument/2006/relationships/image" Target="/ppt/media/image.png" Id="R222833d5c28049b5" /><Relationship Type="http://schemas.openxmlformats.org/officeDocument/2006/relationships/notesSlide" Target="/ppt/notesSlides/notesSlide3.xml" Id="R0db5d274aa1f42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44ee90eb3d4e69" /><Relationship Type="http://schemas.openxmlformats.org/officeDocument/2006/relationships/notesSlide" Target="/ppt/notesSlides/notesSlide4.xml" Id="R083c03a3a1cc47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dbfcbed0644a78" /><Relationship Type="http://schemas.openxmlformats.org/officeDocument/2006/relationships/notesSlide" Target="/ppt/notesSlides/notesSlide5.xml" Id="R37b745793f8845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ee695e2d824df1" /><Relationship Type="http://schemas.openxmlformats.org/officeDocument/2006/relationships/chart" Target="/ppt/slides/charts/chart1.xml" Id="R9beddb1878b0443a" /><Relationship Type="http://schemas.openxmlformats.org/officeDocument/2006/relationships/chart" Target="/ppt/slides/charts/chart2.xml" Id="Rcecf55ad4cb6460f" /><Relationship Type="http://schemas.openxmlformats.org/officeDocument/2006/relationships/notesSlide" Target="/ppt/notesSlides/notesSlide6.xml" Id="Rf9999a94c27843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0e7973055a439a" /><Relationship Type="http://schemas.openxmlformats.org/officeDocument/2006/relationships/chart" Target="/ppt/slides/charts/chart3.xml" Id="R8c9a3b1cf7004d62" /><Relationship Type="http://schemas.openxmlformats.org/officeDocument/2006/relationships/notesSlide" Target="/ppt/notesSlides/notesSlide7.xml" Id="Rea75e557cf4c41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b17ae9ce5647e5" /><Relationship Type="http://schemas.openxmlformats.org/officeDocument/2006/relationships/chart" Target="/ppt/slides/charts/chart4.xml" Id="Rabebcbb7b25f4502" /><Relationship Type="http://schemas.openxmlformats.org/officeDocument/2006/relationships/notesSlide" Target="/ppt/notesSlides/notesSlide8.xml" Id="Rc7bc979a0d004c5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a5b7b0b70e40ab" /><Relationship Type="http://schemas.openxmlformats.org/officeDocument/2006/relationships/chart" Target="/ppt/slides/charts/chart5.xml" Id="Ra455f52118974821" /><Relationship Type="http://schemas.openxmlformats.org/officeDocument/2006/relationships/notesSlide" Target="/ppt/notesSlides/notesSlide9.xml" Id="Rfa863087ce8040f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79fd75f1da434c" /><Relationship Type="http://schemas.openxmlformats.org/officeDocument/2006/relationships/notesSlide" Target="/ppt/notesSlides/notesSlide10.xml" Id="R1a33da77328f48c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0c8280784b47e6" /><Relationship Type="http://schemas.openxmlformats.org/officeDocument/2006/relationships/notesSlide" Target="/ppt/notesSlides/notesSlide11.xml" Id="R6925f5be318f404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27e426ba4d42c6" /><Relationship Type="http://schemas.openxmlformats.org/officeDocument/2006/relationships/notesSlide" Target="/ppt/notesSlides/notesSlide12.xml" Id="R94b39b9cc6f2410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c740ef083f4d45" /><Relationship Type="http://schemas.openxmlformats.org/officeDocument/2006/relationships/notesSlide" Target="/ppt/notesSlides/notesSlide13.xml" Id="R4a1516be8629429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0d2fd2eff143d9" /><Relationship Type="http://schemas.openxmlformats.org/officeDocument/2006/relationships/chart" Target="/ppt/slides/charts/chart6.xml" Id="R6d2333cf5fe342db" /><Relationship Type="http://schemas.openxmlformats.org/officeDocument/2006/relationships/chart" Target="/ppt/slides/charts/chart7.xml" Id="R5f5be2ede4cd4ba6" /><Relationship Type="http://schemas.openxmlformats.org/officeDocument/2006/relationships/chart" Target="/ppt/slides/charts/chart8.xml" Id="Rf3a2875aee644a90" /><Relationship Type="http://schemas.openxmlformats.org/officeDocument/2006/relationships/chart" Target="/ppt/slides/charts/chart9.xml" Id="Rdf957ad065a64bb9" /><Relationship Type="http://schemas.openxmlformats.org/officeDocument/2006/relationships/notesSlide" Target="/ppt/notesSlides/notesSlide14.xml" Id="R8eca5d95f7dd480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eb3eca6f3d4042" /><Relationship Type="http://schemas.openxmlformats.org/officeDocument/2006/relationships/notesSlide" Target="/ppt/notesSlides/notesSlide15.xml" Id="R63eb3145fec044b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87d8f392614e7a" /><Relationship Type="http://schemas.openxmlformats.org/officeDocument/2006/relationships/notesSlide" Target="/ppt/notesSlides/notesSlide16.xml" Id="R91c4086529e84f6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Current motion + force</c:v>
          </c:tx>
          <c:spPr>
            <a:solidFill xmlns:a="http://schemas.openxmlformats.org/drawingml/2006/main">
              <a:srgbClr val="656A70"/>
            </a:solidFill>
            <a:ln xmlns:a="http://schemas.openxmlformats.org/drawingml/2006/main" w="28575">
              <a:solidFill>
                <a:srgbClr val="656A70"/>
              </a:solidFill>
              <a:prstDash val="solid"/>
            </a:ln>
          </c:spPr>
          <c:marker>
            <c:symbol val="none"/>
            <c:size val="7"/>
            <c:spPr>
              <a:solidFill xmlns:a="http://schemas.openxmlformats.org/drawingml/2006/main">
                <a:srgbClr val="656A70"/>
              </a:solidFill>
            </c:spPr>
          </c:marker>
          <c:xVal>
            <c:numRef>
              <c:f>'Chart Data'!$A$2:$A$102</c:f>
              <c:numCache>
                <c:formatCode>General</c:formatCode>
                <c:ptCount val="10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0.07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</c:v>
                </c:pt>
                <c:pt idx="29">
                  <c:v>0.29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  <c:pt idx="51">
                  <c:v>0.51</c:v>
                </c:pt>
                <c:pt idx="52">
                  <c:v>0.52</c:v>
                </c:pt>
                <c:pt idx="53">
                  <c:v>0.53</c:v>
                </c:pt>
                <c:pt idx="54">
                  <c:v>0.54</c:v>
                </c:pt>
                <c:pt idx="55">
                  <c:v>0.55</c:v>
                </c:pt>
                <c:pt idx="56">
                  <c:v>0.56</c:v>
                </c:pt>
                <c:pt idx="57">
                  <c:v>0.57</c:v>
                </c:pt>
                <c:pt idx="58">
                  <c:v>0.58</c:v>
                </c:pt>
                <c:pt idx="59">
                  <c:v>0.59</c:v>
                </c:pt>
                <c:pt idx="60">
                  <c:v>0.6</c:v>
                </c:pt>
                <c:pt idx="61">
                  <c:v>0.61</c:v>
                </c:pt>
                <c:pt idx="62">
                  <c:v>0.62</c:v>
                </c:pt>
                <c:pt idx="63">
                  <c:v>0.63</c:v>
                </c:pt>
                <c:pt idx="64">
                  <c:v>0.64</c:v>
                </c:pt>
                <c:pt idx="65">
                  <c:v>0.65</c:v>
                </c:pt>
                <c:pt idx="66">
                  <c:v>0.66</c:v>
                </c:pt>
                <c:pt idx="67">
                  <c:v>0.67</c:v>
                </c:pt>
                <c:pt idx="68">
                  <c:v>0.68</c:v>
                </c:pt>
                <c:pt idx="69">
                  <c:v>0.69</c:v>
                </c:pt>
                <c:pt idx="70">
                  <c:v>0.7</c:v>
                </c:pt>
                <c:pt idx="71">
                  <c:v>0.71</c:v>
                </c:pt>
                <c:pt idx="72">
                  <c:v>0.72</c:v>
                </c:pt>
                <c:pt idx="73">
                  <c:v>0.73</c:v>
                </c:pt>
                <c:pt idx="74">
                  <c:v>0.74</c:v>
                </c:pt>
                <c:pt idx="75">
                  <c:v>0.75</c:v>
                </c:pt>
                <c:pt idx="76">
                  <c:v>0.76</c:v>
                </c:pt>
                <c:pt idx="77">
                  <c:v>0.77</c:v>
                </c:pt>
                <c:pt idx="78">
                  <c:v>0.78</c:v>
                </c:pt>
                <c:pt idx="79">
                  <c:v>0.79</c:v>
                </c:pt>
                <c:pt idx="80">
                  <c:v>0.8</c:v>
                </c:pt>
                <c:pt idx="81">
                  <c:v>0.81</c:v>
                </c:pt>
                <c:pt idx="82">
                  <c:v>0.82</c:v>
                </c:pt>
                <c:pt idx="83">
                  <c:v>0.83</c:v>
                </c:pt>
                <c:pt idx="84">
                  <c:v>0.84</c:v>
                </c:pt>
                <c:pt idx="85">
                  <c:v>0.85</c:v>
                </c:pt>
                <c:pt idx="86">
                  <c:v>0.86</c:v>
                </c:pt>
                <c:pt idx="87">
                  <c:v>0.87</c:v>
                </c:pt>
                <c:pt idx="88">
                  <c:v>0.88</c:v>
                </c:pt>
                <c:pt idx="89">
                  <c:v>0.89</c:v>
                </c:pt>
                <c:pt idx="90">
                  <c:v>0.9</c:v>
                </c:pt>
                <c:pt idx="91">
                  <c:v>0.91</c:v>
                </c:pt>
                <c:pt idx="92">
                  <c:v>0.92</c:v>
                </c:pt>
                <c:pt idx="93">
                  <c:v>0.93</c:v>
                </c:pt>
                <c:pt idx="94">
                  <c:v>0.94</c:v>
                </c:pt>
                <c:pt idx="95">
                  <c:v>0.95</c:v>
                </c:pt>
                <c:pt idx="96">
                  <c:v>0.96</c:v>
                </c:pt>
                <c:pt idx="97">
                  <c:v>0.97</c:v>
                </c:pt>
                <c:pt idx="98">
                  <c:v>0.98</c:v>
                </c:pt>
                <c:pt idx="99">
                  <c:v>0.99</c:v>
                </c:pt>
                <c:pt idx="100">
                  <c:v>1</c:v>
                </c:pt>
              </c:numCache>
            </c:numRef>
          </c:xVal>
          <c:yVal>
            <c:numRef>
              <c:f>'Chart Data'!$B$2:$B$102</c:f>
              <c:numCache>
                <c:formatCode>General</c:formatCode>
                <c:ptCount val="10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1.5236441</c:v>
                </c:pt>
                <c:pt idx="28">
                  <c:v>6.6530829</c:v>
                </c:pt>
                <c:pt idx="29">
                  <c:v>11.540678</c:v>
                </c:pt>
                <c:pt idx="30">
                  <c:v>16.298666</c:v>
                </c:pt>
                <c:pt idx="31">
                  <c:v>20.944952</c:v>
                </c:pt>
                <c:pt idx="32">
                  <c:v>25.483571</c:v>
                </c:pt>
                <c:pt idx="33">
                  <c:v>29.919536</c:v>
                </c:pt>
                <c:pt idx="34">
                  <c:v>34.258564</c:v>
                </c:pt>
                <c:pt idx="35">
                  <c:v>38.506175</c:v>
                </c:pt>
                <c:pt idx="36">
                  <c:v>42.667506</c:v>
                </c:pt>
                <c:pt idx="37">
                  <c:v>47.37922</c:v>
                </c:pt>
                <c:pt idx="38">
                  <c:v>52.86313</c:v>
                </c:pt>
                <c:pt idx="39">
                  <c:v>58.208162</c:v>
                </c:pt>
                <c:pt idx="40">
                  <c:v>63.453421</c:v>
                </c:pt>
                <c:pt idx="41">
                  <c:v>68.606861</c:v>
                </c:pt>
                <c:pt idx="42">
                  <c:v>73.672262</c:v>
                </c:pt>
                <c:pt idx="43">
                  <c:v>78.653696</c:v>
                </c:pt>
                <c:pt idx="44">
                  <c:v>83.555291</c:v>
                </c:pt>
                <c:pt idx="45">
                  <c:v>88.380961</c:v>
                </c:pt>
                <c:pt idx="46">
                  <c:v>93.134351</c:v>
                </c:pt>
                <c:pt idx="47">
                  <c:v>97.818856</c:v>
                </c:pt>
                <c:pt idx="48">
                  <c:v>102.43764</c:v>
                </c:pt>
                <c:pt idx="49">
                  <c:v>106.99367</c:v>
                </c:pt>
                <c:pt idx="50">
                  <c:v>111.4897</c:v>
                </c:pt>
                <c:pt idx="51">
                  <c:v>115.9283</c:v>
                </c:pt>
                <c:pt idx="52">
                  <c:v>120.31189</c:v>
                </c:pt>
                <c:pt idx="53">
                  <c:v>124.64271</c:v>
                </c:pt>
                <c:pt idx="54">
                  <c:v>128.92287</c:v>
                </c:pt>
                <c:pt idx="55">
                  <c:v>133.15435</c:v>
                </c:pt>
                <c:pt idx="56">
                  <c:v>137.33899</c:v>
                </c:pt>
                <c:pt idx="57">
                  <c:v>141.47851</c:v>
                </c:pt>
                <c:pt idx="58">
                  <c:v>145.57453</c:v>
                </c:pt>
                <c:pt idx="59">
                  <c:v>149.62857</c:v>
                </c:pt>
                <c:pt idx="60">
                  <c:v>153.64206</c:v>
                </c:pt>
                <c:pt idx="61">
                  <c:v>157.61633</c:v>
                </c:pt>
                <c:pt idx="62">
                  <c:v>161.55264</c:v>
                </c:pt>
                <c:pt idx="63">
                  <c:v>165.62152</c:v>
                </c:pt>
                <c:pt idx="64">
                  <c:v>170.23337</c:v>
                </c:pt>
                <c:pt idx="65">
                  <c:v>174.77554</c:v>
                </c:pt>
                <c:pt idx="66">
                  <c:v>173.67172</c:v>
                </c:pt>
                <c:pt idx="67">
                  <c:v>171.19416</c:v>
                </c:pt>
                <c:pt idx="68">
                  <c:v>168.7463</c:v>
                </c:pt>
                <c:pt idx="69">
                  <c:v>166.46577</c:v>
                </c:pt>
                <c:pt idx="70">
                  <c:v>164.30929</c:v>
                </c:pt>
                <c:pt idx="71">
                  <c:v>162.25283</c:v>
                </c:pt>
                <c:pt idx="72">
                  <c:v>160.28728</c:v>
                </c:pt>
                <c:pt idx="73">
                  <c:v>158.4068</c:v>
                </c:pt>
                <c:pt idx="74">
                  <c:v>156.60593</c:v>
                </c:pt>
                <c:pt idx="75">
                  <c:v>154.8795</c:v>
                </c:pt>
                <c:pt idx="76">
                  <c:v>153.22264</c:v>
                </c:pt>
                <c:pt idx="77">
                  <c:v>151.63086</c:v>
                </c:pt>
                <c:pt idx="78">
                  <c:v>150.09997</c:v>
                </c:pt>
                <c:pt idx="79">
                  <c:v>148.62609</c:v>
                </c:pt>
                <c:pt idx="80">
                  <c:v>147.20561</c:v>
                </c:pt>
                <c:pt idx="81">
                  <c:v>145.83519</c:v>
                </c:pt>
                <c:pt idx="82">
                  <c:v>144.51171</c:v>
                </c:pt>
                <c:pt idx="83">
                  <c:v>143.23228</c:v>
                </c:pt>
                <c:pt idx="84">
                  <c:v>141.99422</c:v>
                </c:pt>
                <c:pt idx="85">
                  <c:v>140.79504</c:v>
                </c:pt>
                <c:pt idx="86">
                  <c:v>139.63241</c:v>
                </c:pt>
                <c:pt idx="87">
                  <c:v>138.50419</c:v>
                </c:pt>
                <c:pt idx="88">
                  <c:v>137.40837</c:v>
                </c:pt>
                <c:pt idx="89">
                  <c:v>136.34309</c:v>
                </c:pt>
                <c:pt idx="90">
                  <c:v>135.30661</c:v>
                </c:pt>
                <c:pt idx="91">
                  <c:v>134.29734</c:v>
                </c:pt>
                <c:pt idx="92">
                  <c:v>133.31377</c:v>
                </c:pt>
                <c:pt idx="93">
                  <c:v>132.3545</c:v>
                </c:pt>
                <c:pt idx="94">
                  <c:v>131.41824</c:v>
                </c:pt>
                <c:pt idx="95">
                  <c:v>130.50379</c:v>
                </c:pt>
                <c:pt idx="96">
                  <c:v>129.61002</c:v>
                </c:pt>
                <c:pt idx="97">
                  <c:v>128.73588</c:v>
                </c:pt>
                <c:pt idx="98">
                  <c:v>127.8804</c:v>
                </c:pt>
                <c:pt idx="99">
                  <c:v>127.04266</c:v>
                </c:pt>
                <c:pt idx="100">
                  <c:v>126.22183</c:v>
                </c:pt>
              </c:numCache>
            </c:numRef>
          </c:yVal>
          <c:smooth val="0"/>
        </c:ser>
        <c:ser>
          <c:idx val="1"/>
          <c:order val="1"/>
          <c:tx>
            <c:v>Current + lateral shape</c:v>
          </c:tx>
          <c:spPr>
            <a:solidFill xmlns:a="http://schemas.openxmlformats.org/drawingml/2006/main">
              <a:srgbClr val="2866AB"/>
            </a:solidFill>
            <a:ln xmlns:a="http://schemas.openxmlformats.org/drawingml/2006/main" w="28575">
              <a:solidFill>
                <a:srgbClr val="2866AB"/>
              </a:solidFill>
              <a:prstDash val="solid"/>
            </a:ln>
          </c:spPr>
          <c:marker>
            <c:symbol val="none"/>
            <c:size val="7"/>
            <c:spPr>
              <a:solidFill xmlns:a="http://schemas.openxmlformats.org/drawingml/2006/main">
                <a:srgbClr val="2866AB"/>
              </a:solidFill>
            </c:spPr>
          </c:marker>
          <c:xVal>
            <c:numRef>
              <c:f>'Chart Data'!$C$2:$C$102</c:f>
              <c:numCache>
                <c:formatCode>General</c:formatCode>
                <c:ptCount val="10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0.07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</c:v>
                </c:pt>
                <c:pt idx="29">
                  <c:v>0.29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  <c:pt idx="51">
                  <c:v>0.51</c:v>
                </c:pt>
                <c:pt idx="52">
                  <c:v>0.52</c:v>
                </c:pt>
                <c:pt idx="53">
                  <c:v>0.53</c:v>
                </c:pt>
                <c:pt idx="54">
                  <c:v>0.54</c:v>
                </c:pt>
                <c:pt idx="55">
                  <c:v>0.55</c:v>
                </c:pt>
                <c:pt idx="56">
                  <c:v>0.56</c:v>
                </c:pt>
                <c:pt idx="57">
                  <c:v>0.57</c:v>
                </c:pt>
                <c:pt idx="58">
                  <c:v>0.58</c:v>
                </c:pt>
                <c:pt idx="59">
                  <c:v>0.59</c:v>
                </c:pt>
                <c:pt idx="60">
                  <c:v>0.6</c:v>
                </c:pt>
                <c:pt idx="61">
                  <c:v>0.61</c:v>
                </c:pt>
                <c:pt idx="62">
                  <c:v>0.62</c:v>
                </c:pt>
                <c:pt idx="63">
                  <c:v>0.63</c:v>
                </c:pt>
                <c:pt idx="64">
                  <c:v>0.64</c:v>
                </c:pt>
                <c:pt idx="65">
                  <c:v>0.65</c:v>
                </c:pt>
                <c:pt idx="66">
                  <c:v>0.66</c:v>
                </c:pt>
                <c:pt idx="67">
                  <c:v>0.67</c:v>
                </c:pt>
                <c:pt idx="68">
                  <c:v>0.68</c:v>
                </c:pt>
                <c:pt idx="69">
                  <c:v>0.69</c:v>
                </c:pt>
                <c:pt idx="70">
                  <c:v>0.7</c:v>
                </c:pt>
                <c:pt idx="71">
                  <c:v>0.71</c:v>
                </c:pt>
                <c:pt idx="72">
                  <c:v>0.72</c:v>
                </c:pt>
                <c:pt idx="73">
                  <c:v>0.73</c:v>
                </c:pt>
                <c:pt idx="74">
                  <c:v>0.74</c:v>
                </c:pt>
                <c:pt idx="75">
                  <c:v>0.75</c:v>
                </c:pt>
                <c:pt idx="76">
                  <c:v>0.76</c:v>
                </c:pt>
                <c:pt idx="77">
                  <c:v>0.77</c:v>
                </c:pt>
                <c:pt idx="78">
                  <c:v>0.78</c:v>
                </c:pt>
                <c:pt idx="79">
                  <c:v>0.79</c:v>
                </c:pt>
                <c:pt idx="80">
                  <c:v>0.8</c:v>
                </c:pt>
                <c:pt idx="81">
                  <c:v>0.81</c:v>
                </c:pt>
                <c:pt idx="82">
                  <c:v>0.82</c:v>
                </c:pt>
                <c:pt idx="83">
                  <c:v>0.83</c:v>
                </c:pt>
                <c:pt idx="84">
                  <c:v>0.84</c:v>
                </c:pt>
                <c:pt idx="85">
                  <c:v>0.85</c:v>
                </c:pt>
                <c:pt idx="86">
                  <c:v>0.86</c:v>
                </c:pt>
                <c:pt idx="87">
                  <c:v>0.87</c:v>
                </c:pt>
                <c:pt idx="88">
                  <c:v>0.88</c:v>
                </c:pt>
                <c:pt idx="89">
                  <c:v>0.89</c:v>
                </c:pt>
                <c:pt idx="90">
                  <c:v>0.9</c:v>
                </c:pt>
                <c:pt idx="91">
                  <c:v>0.91</c:v>
                </c:pt>
                <c:pt idx="92">
                  <c:v>0.92</c:v>
                </c:pt>
                <c:pt idx="93">
                  <c:v>0.93</c:v>
                </c:pt>
                <c:pt idx="94">
                  <c:v>0.94</c:v>
                </c:pt>
                <c:pt idx="95">
                  <c:v>0.95</c:v>
                </c:pt>
                <c:pt idx="96">
                  <c:v>0.96</c:v>
                </c:pt>
                <c:pt idx="97">
                  <c:v>0.97</c:v>
                </c:pt>
                <c:pt idx="98">
                  <c:v>0.98</c:v>
                </c:pt>
                <c:pt idx="99">
                  <c:v>0.99</c:v>
                </c:pt>
                <c:pt idx="100">
                  <c:v>1</c:v>
                </c:pt>
              </c:numCache>
            </c:numRef>
          </c:xVal>
          <c:yVal>
            <c:numRef>
              <c:f>'Chart Data'!$D$2:$D$102</c:f>
              <c:numCache>
                <c:formatCode>General</c:formatCode>
                <c:ptCount val="10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3.0872734</c:v>
                </c:pt>
                <c:pt idx="31">
                  <c:v>8.1121391</c:v>
                </c:pt>
                <c:pt idx="32">
                  <c:v>12.943904</c:v>
                </c:pt>
                <c:pt idx="33">
                  <c:v>17.656417</c:v>
                </c:pt>
                <c:pt idx="34">
                  <c:v>22.26126</c:v>
                </c:pt>
                <c:pt idx="35">
                  <c:v>26.762541</c:v>
                </c:pt>
                <c:pt idx="36">
                  <c:v>31.165366</c:v>
                </c:pt>
                <c:pt idx="37">
                  <c:v>35.475216</c:v>
                </c:pt>
                <c:pt idx="38">
                  <c:v>39.697311</c:v>
                </c:pt>
                <c:pt idx="39">
                  <c:v>44.277184</c:v>
                </c:pt>
                <c:pt idx="40">
                  <c:v>49.831684</c:v>
                </c:pt>
                <c:pt idx="41">
                  <c:v>55.239403</c:v>
                </c:pt>
                <c:pt idx="42">
                  <c:v>60.545529</c:v>
                </c:pt>
                <c:pt idx="43">
                  <c:v>65.758952</c:v>
                </c:pt>
                <c:pt idx="44">
                  <c:v>70.883411</c:v>
                </c:pt>
                <c:pt idx="45">
                  <c:v>75.922945</c:v>
                </c:pt>
                <c:pt idx="46">
                  <c:v>80.881709</c:v>
                </c:pt>
                <c:pt idx="47">
                  <c:v>85.763651</c:v>
                </c:pt>
                <c:pt idx="48">
                  <c:v>90.572448</c:v>
                </c:pt>
                <c:pt idx="49">
                  <c:v>95.311528</c:v>
                </c:pt>
                <c:pt idx="50">
                  <c:v>99.984087</c:v>
                </c:pt>
                <c:pt idx="51">
                  <c:v>104.59311</c:v>
                </c:pt>
                <c:pt idx="52">
                  <c:v>109.14138</c:v>
                </c:pt>
                <c:pt idx="53">
                  <c:v>113.63149</c:v>
                </c:pt>
                <c:pt idx="54">
                  <c:v>118.06589</c:v>
                </c:pt>
                <c:pt idx="55">
                  <c:v>122.44684</c:v>
                </c:pt>
                <c:pt idx="56">
                  <c:v>126.77647</c:v>
                </c:pt>
                <c:pt idx="57">
                  <c:v>131.05676</c:v>
                </c:pt>
                <c:pt idx="58">
                  <c:v>135.28958</c:v>
                </c:pt>
                <c:pt idx="59">
                  <c:v>139.47668</c:v>
                </c:pt>
                <c:pt idx="60">
                  <c:v>143.61968</c:v>
                </c:pt>
                <c:pt idx="61">
                  <c:v>147.72012</c:v>
                </c:pt>
                <c:pt idx="62">
                  <c:v>151.77945</c:v>
                </c:pt>
                <c:pt idx="63">
                  <c:v>155.799</c:v>
                </c:pt>
                <c:pt idx="64">
                  <c:v>160.30708</c:v>
                </c:pt>
                <c:pt idx="65">
                  <c:v>164.98123</c:v>
                </c:pt>
                <c:pt idx="66">
                  <c:v>163.99666</c:v>
                </c:pt>
                <c:pt idx="67">
                  <c:v>161.63484</c:v>
                </c:pt>
                <c:pt idx="68">
                  <c:v>159.30044</c:v>
                </c:pt>
                <c:pt idx="69">
                  <c:v>157.13101</c:v>
                </c:pt>
                <c:pt idx="70">
                  <c:v>155.08328</c:v>
                </c:pt>
                <c:pt idx="71">
                  <c:v>153.13334</c:v>
                </c:pt>
                <c:pt idx="72">
                  <c:v>151.27218</c:v>
                </c:pt>
                <c:pt idx="73">
                  <c:v>149.49404</c:v>
                </c:pt>
                <c:pt idx="74">
                  <c:v>147.79358</c:v>
                </c:pt>
                <c:pt idx="75">
                  <c:v>146.16569</c:v>
                </c:pt>
                <c:pt idx="76">
                  <c:v>144.60561</c:v>
                </c:pt>
                <c:pt idx="77">
                  <c:v>143.10889</c:v>
                </c:pt>
                <c:pt idx="78">
                  <c:v>141.67144</c:v>
                </c:pt>
                <c:pt idx="79">
                  <c:v>140.28943</c:v>
                </c:pt>
                <c:pt idx="80">
                  <c:v>138.95932</c:v>
                </c:pt>
                <c:pt idx="81">
                  <c:v>137.67782</c:v>
                </c:pt>
                <c:pt idx="82">
                  <c:v>136.44187</c:v>
                </c:pt>
                <c:pt idx="83">
                  <c:v>135.24862</c:v>
                </c:pt>
                <c:pt idx="84">
                  <c:v>134.09545</c:v>
                </c:pt>
                <c:pt idx="85">
                  <c:v>132.97991</c:v>
                </c:pt>
                <c:pt idx="86">
                  <c:v>131.89972</c:v>
                </c:pt>
                <c:pt idx="87">
                  <c:v>130.85275</c:v>
                </c:pt>
                <c:pt idx="88">
                  <c:v>129.83706</c:v>
                </c:pt>
                <c:pt idx="89">
                  <c:v>128.85081</c:v>
                </c:pt>
                <c:pt idx="90">
                  <c:v>127.8923</c:v>
                </c:pt>
                <c:pt idx="91">
                  <c:v>126.95996</c:v>
                </c:pt>
                <c:pt idx="92">
                  <c:v>126.05231</c:v>
                </c:pt>
                <c:pt idx="93">
                  <c:v>125.16798</c:v>
                </c:pt>
                <c:pt idx="94">
                  <c:v>124.30572</c:v>
                </c:pt>
                <c:pt idx="95">
                  <c:v>123.46433</c:v>
                </c:pt>
                <c:pt idx="96">
                  <c:v>122.64272</c:v>
                </c:pt>
                <c:pt idx="97">
                  <c:v>121.83985</c:v>
                </c:pt>
                <c:pt idx="98">
                  <c:v>121.05478</c:v>
                </c:pt>
                <c:pt idx="99">
                  <c:v>120.28662</c:v>
                </c:pt>
                <c:pt idx="100">
                  <c:v>119.53453</c:v>
                </c:pt>
              </c:numCache>
            </c:numRef>
          </c:yVal>
          <c:smooth val="0"/>
        </c:ser>
        <c:ser>
          <c:idx val="2"/>
          <c:order val="2"/>
          <c:tx>
            <c:v>0.8 s motion + force</c:v>
          </c:tx>
          <c:spPr>
            <a:solidFill xmlns:a="http://schemas.openxmlformats.org/drawingml/2006/main">
              <a:srgbClr val="C27838"/>
            </a:solidFill>
            <a:ln xmlns:a="http://schemas.openxmlformats.org/drawingml/2006/main" w="28575">
              <a:solidFill>
                <a:srgbClr val="C27838"/>
              </a:solidFill>
              <a:prstDash val="solid"/>
            </a:ln>
          </c:spPr>
          <c:marker>
            <c:symbol val="none"/>
            <c:size val="7"/>
            <c:spPr>
              <a:solidFill xmlns:a="http://schemas.openxmlformats.org/drawingml/2006/main">
                <a:srgbClr val="C27838"/>
              </a:solidFill>
            </c:spPr>
          </c:marker>
          <c:xVal>
            <c:numRef>
              <c:f>'Chart Data'!$E$2:$E$102</c:f>
              <c:numCache>
                <c:formatCode>General</c:formatCode>
                <c:ptCount val="10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0.07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</c:v>
                </c:pt>
                <c:pt idx="29">
                  <c:v>0.29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  <c:pt idx="51">
                  <c:v>0.51</c:v>
                </c:pt>
                <c:pt idx="52">
                  <c:v>0.52</c:v>
                </c:pt>
                <c:pt idx="53">
                  <c:v>0.53</c:v>
                </c:pt>
                <c:pt idx="54">
                  <c:v>0.54</c:v>
                </c:pt>
                <c:pt idx="55">
                  <c:v>0.55</c:v>
                </c:pt>
                <c:pt idx="56">
                  <c:v>0.56</c:v>
                </c:pt>
                <c:pt idx="57">
                  <c:v>0.57</c:v>
                </c:pt>
                <c:pt idx="58">
                  <c:v>0.58</c:v>
                </c:pt>
                <c:pt idx="59">
                  <c:v>0.59</c:v>
                </c:pt>
                <c:pt idx="60">
                  <c:v>0.6</c:v>
                </c:pt>
                <c:pt idx="61">
                  <c:v>0.61</c:v>
                </c:pt>
                <c:pt idx="62">
                  <c:v>0.62</c:v>
                </c:pt>
                <c:pt idx="63">
                  <c:v>0.63</c:v>
                </c:pt>
                <c:pt idx="64">
                  <c:v>0.64</c:v>
                </c:pt>
                <c:pt idx="65">
                  <c:v>0.65</c:v>
                </c:pt>
                <c:pt idx="66">
                  <c:v>0.66</c:v>
                </c:pt>
                <c:pt idx="67">
                  <c:v>0.67</c:v>
                </c:pt>
                <c:pt idx="68">
                  <c:v>0.68</c:v>
                </c:pt>
                <c:pt idx="69">
                  <c:v>0.69</c:v>
                </c:pt>
                <c:pt idx="70">
                  <c:v>0.7</c:v>
                </c:pt>
                <c:pt idx="71">
                  <c:v>0.71</c:v>
                </c:pt>
                <c:pt idx="72">
                  <c:v>0.72</c:v>
                </c:pt>
                <c:pt idx="73">
                  <c:v>0.73</c:v>
                </c:pt>
                <c:pt idx="74">
                  <c:v>0.74</c:v>
                </c:pt>
                <c:pt idx="75">
                  <c:v>0.75</c:v>
                </c:pt>
                <c:pt idx="76">
                  <c:v>0.76</c:v>
                </c:pt>
                <c:pt idx="77">
                  <c:v>0.77</c:v>
                </c:pt>
                <c:pt idx="78">
                  <c:v>0.78</c:v>
                </c:pt>
                <c:pt idx="79">
                  <c:v>0.79</c:v>
                </c:pt>
                <c:pt idx="80">
                  <c:v>0.8</c:v>
                </c:pt>
                <c:pt idx="81">
                  <c:v>0.81</c:v>
                </c:pt>
                <c:pt idx="82">
                  <c:v>0.82</c:v>
                </c:pt>
                <c:pt idx="83">
                  <c:v>0.83</c:v>
                </c:pt>
                <c:pt idx="84">
                  <c:v>0.84</c:v>
                </c:pt>
                <c:pt idx="85">
                  <c:v>0.85</c:v>
                </c:pt>
                <c:pt idx="86">
                  <c:v>0.86</c:v>
                </c:pt>
                <c:pt idx="87">
                  <c:v>0.87</c:v>
                </c:pt>
                <c:pt idx="88">
                  <c:v>0.88</c:v>
                </c:pt>
                <c:pt idx="89">
                  <c:v>0.89</c:v>
                </c:pt>
                <c:pt idx="90">
                  <c:v>0.9</c:v>
                </c:pt>
                <c:pt idx="91">
                  <c:v>0.91</c:v>
                </c:pt>
                <c:pt idx="92">
                  <c:v>0.92</c:v>
                </c:pt>
                <c:pt idx="93">
                  <c:v>0.93</c:v>
                </c:pt>
                <c:pt idx="94">
                  <c:v>0.94</c:v>
                </c:pt>
                <c:pt idx="95">
                  <c:v>0.95</c:v>
                </c:pt>
                <c:pt idx="96">
                  <c:v>0.96</c:v>
                </c:pt>
                <c:pt idx="97">
                  <c:v>0.97</c:v>
                </c:pt>
                <c:pt idx="98">
                  <c:v>0.98</c:v>
                </c:pt>
                <c:pt idx="99">
                  <c:v>0.99</c:v>
                </c:pt>
                <c:pt idx="100">
                  <c:v>1</c:v>
                </c:pt>
              </c:numCache>
            </c:numRef>
          </c:xVal>
          <c:yVal>
            <c:numRef>
              <c:f>'Chart Data'!$F$2:$F$102</c:f>
              <c:numCache>
                <c:formatCode>General</c:formatCode>
                <c:ptCount val="10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1.3842546</c:v>
                </c:pt>
                <c:pt idx="32">
                  <c:v>6.5493432</c:v>
                </c:pt>
                <c:pt idx="33">
                  <c:v>11.468431</c:v>
                </c:pt>
                <c:pt idx="34">
                  <c:v>16.257741</c:v>
                </c:pt>
                <c:pt idx="35">
                  <c:v>20.935733</c:v>
                </c:pt>
                <c:pt idx="36">
                  <c:v>25.506341</c:v>
                </c:pt>
                <c:pt idx="37">
                  <c:v>30.309536</c:v>
                </c:pt>
                <c:pt idx="38">
                  <c:v>36.171899</c:v>
                </c:pt>
                <c:pt idx="39">
                  <c:v>41.867187</c:v>
                </c:pt>
                <c:pt idx="40">
                  <c:v>47.444791</c:v>
                </c:pt>
                <c:pt idx="41">
                  <c:v>52.915159</c:v>
                </c:pt>
                <c:pt idx="42">
                  <c:v>58.283007</c:v>
                </c:pt>
                <c:pt idx="43">
                  <c:v>63.553285</c:v>
                </c:pt>
                <c:pt idx="44">
                  <c:v>68.731012</c:v>
                </c:pt>
                <c:pt idx="45">
                  <c:v>73.820949</c:v>
                </c:pt>
                <c:pt idx="46">
                  <c:v>78.827525</c:v>
                </c:pt>
                <c:pt idx="47">
                  <c:v>83.754866</c:v>
                </c:pt>
                <c:pt idx="48">
                  <c:v>88.606814</c:v>
                </c:pt>
                <c:pt idx="49">
                  <c:v>93.386953</c:v>
                </c:pt>
                <c:pt idx="50">
                  <c:v>98.098624</c:v>
                </c:pt>
                <c:pt idx="51">
                  <c:v>102.74495</c:v>
                </c:pt>
                <c:pt idx="52">
                  <c:v>107.32883</c:v>
                </c:pt>
                <c:pt idx="53">
                  <c:v>111.85299</c:v>
                </c:pt>
                <c:pt idx="54">
                  <c:v>116.31996</c:v>
                </c:pt>
                <c:pt idx="55">
                  <c:v>120.73212</c:v>
                </c:pt>
                <c:pt idx="56">
                  <c:v>125.09168</c:v>
                </c:pt>
                <c:pt idx="57">
                  <c:v>129.40072</c:v>
                </c:pt>
                <c:pt idx="58">
                  <c:v>133.66118</c:v>
                </c:pt>
                <c:pt idx="59">
                  <c:v>137.87487</c:v>
                </c:pt>
                <c:pt idx="60">
                  <c:v>142.0435</c:v>
                </c:pt>
                <c:pt idx="61">
                  <c:v>146.16865</c:v>
                </c:pt>
                <c:pt idx="62">
                  <c:v>150.25184</c:v>
                </c:pt>
                <c:pt idx="63">
                  <c:v>155.01039</c:v>
                </c:pt>
                <c:pt idx="64">
                  <c:v>159.72819</c:v>
                </c:pt>
                <c:pt idx="65">
                  <c:v>164.39505</c:v>
                </c:pt>
                <c:pt idx="66">
                  <c:v>163.41536</c:v>
                </c:pt>
                <c:pt idx="67">
                  <c:v>161.05874</c:v>
                </c:pt>
                <c:pt idx="68">
                  <c:v>158.72908</c:v>
                </c:pt>
                <c:pt idx="69">
                  <c:v>156.56432</c:v>
                </c:pt>
                <c:pt idx="70">
                  <c:v>154.52136</c:v>
                </c:pt>
                <c:pt idx="71">
                  <c:v>152.57626</c:v>
                </c:pt>
                <c:pt idx="72">
                  <c:v>150.72001</c:v>
                </c:pt>
                <c:pt idx="73">
                  <c:v>148.94685</c:v>
                </c:pt>
                <c:pt idx="74">
                  <c:v>147.25142</c:v>
                </c:pt>
                <c:pt idx="75">
                  <c:v>145.62861</c:v>
                </c:pt>
                <c:pt idx="76">
                  <c:v>144.07365</c:v>
                </c:pt>
                <c:pt idx="77">
                  <c:v>142.5821</c:v>
                </c:pt>
                <c:pt idx="78">
                  <c:v>141.14983</c:v>
                </c:pt>
                <c:pt idx="79">
                  <c:v>139.77304</c:v>
                </c:pt>
                <c:pt idx="80">
                  <c:v>138.44816</c:v>
                </c:pt>
                <c:pt idx="81">
                  <c:v>137.1719</c:v>
                </c:pt>
                <c:pt idx="82">
                  <c:v>135.94119</c:v>
                </c:pt>
                <c:pt idx="83">
                  <c:v>134.75321</c:v>
                </c:pt>
                <c:pt idx="84">
                  <c:v>133.6053</c:v>
                </c:pt>
                <c:pt idx="85">
                  <c:v>132.49501</c:v>
                </c:pt>
                <c:pt idx="86">
                  <c:v>131.42007</c:v>
                </c:pt>
                <c:pt idx="87">
                  <c:v>130.37835</c:v>
                </c:pt>
                <c:pt idx="88">
                  <c:v>129.36789</c:v>
                </c:pt>
                <c:pt idx="89">
                  <c:v>128.38685</c:v>
                </c:pt>
                <c:pt idx="90">
                  <c:v>127.43354</c:v>
                </c:pt>
                <c:pt idx="91">
                  <c:v>126.50637</c:v>
                </c:pt>
                <c:pt idx="92">
                  <c:v>125.60388</c:v>
                </c:pt>
                <c:pt idx="93">
                  <c:v>124.72469</c:v>
                </c:pt>
                <c:pt idx="94">
                  <c:v>123.86753</c:v>
                </c:pt>
                <c:pt idx="95">
                  <c:v>123.03122</c:v>
                </c:pt>
                <c:pt idx="96">
                  <c:v>122.21465</c:v>
                </c:pt>
                <c:pt idx="97">
                  <c:v>121.41681</c:v>
                </c:pt>
                <c:pt idx="98">
                  <c:v>120.63673</c:v>
                </c:pt>
                <c:pt idx="99">
                  <c:v>119.87352</c:v>
                </c:pt>
                <c:pt idx="100">
                  <c:v>119.12635</c:v>
                </c:pt>
              </c:numCache>
            </c:numRef>
          </c:yVal>
          <c:smooth val="0"/>
        </c:ser>
        <c:ser>
          <c:idx val="3"/>
          <c:order val="3"/>
          <c:tx>
            <c:v>0.8 s + lateral shape</c:v>
          </c:tx>
          <c:spPr>
            <a:solidFill xmlns:a="http://schemas.openxmlformats.org/drawingml/2006/main">
              <a:srgbClr val="178479"/>
            </a:solidFill>
            <a:ln xmlns:a="http://schemas.openxmlformats.org/drawingml/2006/main" w="28575">
              <a:solidFill>
                <a:srgbClr val="178479"/>
              </a:solidFill>
              <a:prstDash val="solid"/>
            </a:ln>
          </c:spPr>
          <c:marker>
            <c:symbol val="none"/>
            <c:size val="7"/>
            <c:spPr>
              <a:solidFill xmlns:a="http://schemas.openxmlformats.org/drawingml/2006/main">
                <a:srgbClr val="178479"/>
              </a:solidFill>
            </c:spPr>
          </c:marker>
          <c:xVal>
            <c:numRef>
              <c:f>'Chart Data'!$G$2:$G$102</c:f>
              <c:numCache>
                <c:formatCode>General</c:formatCode>
                <c:ptCount val="10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0.07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</c:v>
                </c:pt>
                <c:pt idx="29">
                  <c:v>0.29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  <c:pt idx="51">
                  <c:v>0.51</c:v>
                </c:pt>
                <c:pt idx="52">
                  <c:v>0.52</c:v>
                </c:pt>
                <c:pt idx="53">
                  <c:v>0.53</c:v>
                </c:pt>
                <c:pt idx="54">
                  <c:v>0.54</c:v>
                </c:pt>
                <c:pt idx="55">
                  <c:v>0.55</c:v>
                </c:pt>
                <c:pt idx="56">
                  <c:v>0.56</c:v>
                </c:pt>
                <c:pt idx="57">
                  <c:v>0.57</c:v>
                </c:pt>
                <c:pt idx="58">
                  <c:v>0.58</c:v>
                </c:pt>
                <c:pt idx="59">
                  <c:v>0.59</c:v>
                </c:pt>
                <c:pt idx="60">
                  <c:v>0.6</c:v>
                </c:pt>
                <c:pt idx="61">
                  <c:v>0.61</c:v>
                </c:pt>
                <c:pt idx="62">
                  <c:v>0.62</c:v>
                </c:pt>
                <c:pt idx="63">
                  <c:v>0.63</c:v>
                </c:pt>
                <c:pt idx="64">
                  <c:v>0.64</c:v>
                </c:pt>
                <c:pt idx="65">
                  <c:v>0.65</c:v>
                </c:pt>
                <c:pt idx="66">
                  <c:v>0.66</c:v>
                </c:pt>
                <c:pt idx="67">
                  <c:v>0.67</c:v>
                </c:pt>
                <c:pt idx="68">
                  <c:v>0.68</c:v>
                </c:pt>
                <c:pt idx="69">
                  <c:v>0.69</c:v>
                </c:pt>
                <c:pt idx="70">
                  <c:v>0.7</c:v>
                </c:pt>
                <c:pt idx="71">
                  <c:v>0.71</c:v>
                </c:pt>
                <c:pt idx="72">
                  <c:v>0.72</c:v>
                </c:pt>
                <c:pt idx="73">
                  <c:v>0.73</c:v>
                </c:pt>
                <c:pt idx="74">
                  <c:v>0.74</c:v>
                </c:pt>
                <c:pt idx="75">
                  <c:v>0.75</c:v>
                </c:pt>
                <c:pt idx="76">
                  <c:v>0.76</c:v>
                </c:pt>
                <c:pt idx="77">
                  <c:v>0.77</c:v>
                </c:pt>
                <c:pt idx="78">
                  <c:v>0.78</c:v>
                </c:pt>
                <c:pt idx="79">
                  <c:v>0.79</c:v>
                </c:pt>
                <c:pt idx="80">
                  <c:v>0.8</c:v>
                </c:pt>
                <c:pt idx="81">
                  <c:v>0.81</c:v>
                </c:pt>
                <c:pt idx="82">
                  <c:v>0.82</c:v>
                </c:pt>
                <c:pt idx="83">
                  <c:v>0.83</c:v>
                </c:pt>
                <c:pt idx="84">
                  <c:v>0.84</c:v>
                </c:pt>
                <c:pt idx="85">
                  <c:v>0.85</c:v>
                </c:pt>
                <c:pt idx="86">
                  <c:v>0.86</c:v>
                </c:pt>
                <c:pt idx="87">
                  <c:v>0.87</c:v>
                </c:pt>
                <c:pt idx="88">
                  <c:v>0.88</c:v>
                </c:pt>
                <c:pt idx="89">
                  <c:v>0.89</c:v>
                </c:pt>
                <c:pt idx="90">
                  <c:v>0.9</c:v>
                </c:pt>
                <c:pt idx="91">
                  <c:v>0.91</c:v>
                </c:pt>
                <c:pt idx="92">
                  <c:v>0.92</c:v>
                </c:pt>
                <c:pt idx="93">
                  <c:v>0.93</c:v>
                </c:pt>
                <c:pt idx="94">
                  <c:v>0.94</c:v>
                </c:pt>
                <c:pt idx="95">
                  <c:v>0.95</c:v>
                </c:pt>
                <c:pt idx="96">
                  <c:v>0.96</c:v>
                </c:pt>
                <c:pt idx="97">
                  <c:v>0.97</c:v>
                </c:pt>
                <c:pt idx="98">
                  <c:v>0.98</c:v>
                </c:pt>
                <c:pt idx="99">
                  <c:v>0.99</c:v>
                </c:pt>
                <c:pt idx="100">
                  <c:v>1</c:v>
                </c:pt>
              </c:numCache>
            </c:numRef>
          </c:xVal>
          <c:yVal>
            <c:numRef>
              <c:f>'Chart Data'!$H$2:$H$102</c:f>
              <c:numCache>
                <c:formatCode>General</c:formatCode>
                <c:ptCount val="10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1.385654</c:v>
                </c:pt>
                <c:pt idx="32">
                  <c:v>6.5508071</c:v>
                </c:pt>
                <c:pt idx="33">
                  <c:v>11.469984</c:v>
                </c:pt>
                <c:pt idx="34">
                  <c:v>16.259377</c:v>
                </c:pt>
                <c:pt idx="35">
                  <c:v>20.937444</c:v>
                </c:pt>
                <c:pt idx="36">
                  <c:v>25.50812</c:v>
                </c:pt>
                <c:pt idx="37">
                  <c:v>30.421794</c:v>
                </c:pt>
                <c:pt idx="38">
                  <c:v>36.27728</c:v>
                </c:pt>
                <c:pt idx="39">
                  <c:v>41.969735</c:v>
                </c:pt>
                <c:pt idx="40">
                  <c:v>47.545058</c:v>
                </c:pt>
                <c:pt idx="41">
                  <c:v>53.013173</c:v>
                </c:pt>
                <c:pt idx="42">
                  <c:v>58.378838</c:v>
                </c:pt>
                <c:pt idx="43">
                  <c:v>63.647034</c:v>
                </c:pt>
                <c:pt idx="44">
                  <c:v>68.822783</c:v>
                </c:pt>
                <c:pt idx="45">
                  <c:v>73.910837</c:v>
                </c:pt>
                <c:pt idx="46">
                  <c:v>78.91562</c:v>
                </c:pt>
                <c:pt idx="47">
                  <c:v>83.841251</c:v>
                </c:pt>
                <c:pt idx="48">
                  <c:v>88.691567</c:v>
                </c:pt>
                <c:pt idx="49">
                  <c:v>93.470147</c:v>
                </c:pt>
                <c:pt idx="50">
                  <c:v>98.180327</c:v>
                </c:pt>
                <c:pt idx="51">
                  <c:v>102.82522</c:v>
                </c:pt>
                <c:pt idx="52">
                  <c:v>107.40773</c:v>
                </c:pt>
                <c:pt idx="53">
                  <c:v>111.93058</c:v>
                </c:pt>
                <c:pt idx="54">
                  <c:v>116.39629</c:v>
                </c:pt>
                <c:pt idx="55">
                  <c:v>120.80724</c:v>
                </c:pt>
                <c:pt idx="56">
                  <c:v>125.16564</c:v>
                </c:pt>
                <c:pt idx="57">
                  <c:v>129.47356</c:v>
                </c:pt>
                <c:pt idx="58">
                  <c:v>133.73293</c:v>
                </c:pt>
                <c:pt idx="59">
                  <c:v>137.94558</c:v>
                </c:pt>
                <c:pt idx="60">
                  <c:v>142.11319</c:v>
                </c:pt>
                <c:pt idx="61">
                  <c:v>146.23737</c:v>
                </c:pt>
                <c:pt idx="62">
                  <c:v>150.32891</c:v>
                </c:pt>
                <c:pt idx="63">
                  <c:v>155.12382</c:v>
                </c:pt>
                <c:pt idx="64">
                  <c:v>159.83831</c:v>
                </c:pt>
                <c:pt idx="65">
                  <c:v>164.50345</c:v>
                </c:pt>
                <c:pt idx="66">
                  <c:v>163.52225</c:v>
                </c:pt>
                <c:pt idx="67">
                  <c:v>161.16414</c:v>
                </c:pt>
                <c:pt idx="68">
                  <c:v>158.83301</c:v>
                </c:pt>
                <c:pt idx="69">
                  <c:v>156.66685</c:v>
                </c:pt>
                <c:pt idx="70">
                  <c:v>154.62251</c:v>
                </c:pt>
                <c:pt idx="71">
                  <c:v>152.67608</c:v>
                </c:pt>
                <c:pt idx="72">
                  <c:v>150.81855</c:v>
                </c:pt>
                <c:pt idx="73">
                  <c:v>149.04415</c:v>
                </c:pt>
                <c:pt idx="74">
                  <c:v>147.34751</c:v>
                </c:pt>
                <c:pt idx="75">
                  <c:v>145.72353</c:v>
                </c:pt>
                <c:pt idx="76">
                  <c:v>144.16743</c:v>
                </c:pt>
                <c:pt idx="77">
                  <c:v>142.67476</c:v>
                </c:pt>
                <c:pt idx="78">
                  <c:v>141.24141</c:v>
                </c:pt>
                <c:pt idx="79">
                  <c:v>139.86356</c:v>
                </c:pt>
                <c:pt idx="80">
                  <c:v>138.53765</c:v>
                </c:pt>
                <c:pt idx="81">
                  <c:v>137.26039</c:v>
                </c:pt>
                <c:pt idx="82">
                  <c:v>136.0287</c:v>
                </c:pt>
                <c:pt idx="83">
                  <c:v>134.83976</c:v>
                </c:pt>
                <c:pt idx="84">
                  <c:v>133.69091</c:v>
                </c:pt>
                <c:pt idx="85">
                  <c:v>132.57971</c:v>
                </c:pt>
                <c:pt idx="86">
                  <c:v>131.50386</c:v>
                </c:pt>
                <c:pt idx="87">
                  <c:v>130.46126</c:v>
                </c:pt>
                <c:pt idx="88">
                  <c:v>129.44993</c:v>
                </c:pt>
                <c:pt idx="89">
                  <c:v>128.46805</c:v>
                </c:pt>
                <c:pt idx="90">
                  <c:v>127.5139</c:v>
                </c:pt>
                <c:pt idx="91">
                  <c:v>126.58592</c:v>
                </c:pt>
                <c:pt idx="92">
                  <c:v>125.68262</c:v>
                </c:pt>
                <c:pt idx="93">
                  <c:v>124.80264</c:v>
                </c:pt>
                <c:pt idx="94">
                  <c:v>123.94471</c:v>
                </c:pt>
                <c:pt idx="95">
                  <c:v>123.10764</c:v>
                </c:pt>
                <c:pt idx="96">
                  <c:v>122.29032</c:v>
                </c:pt>
                <c:pt idx="97">
                  <c:v>121.49174</c:v>
                </c:pt>
                <c:pt idx="98">
                  <c:v>120.71093</c:v>
                </c:pt>
                <c:pt idx="99">
                  <c:v>119.947</c:v>
                </c:pt>
                <c:pt idx="100">
                  <c:v>119.19913</c:v>
                </c:pt>
              </c:numCache>
            </c:numRef>
          </c:yVal>
          <c:smooth val="0"/>
        </c:ser>
        <c:ser>
          <c:idx val="4"/>
          <c:order val="4"/>
          <c:tx>
            <c:v>True response</c:v>
          </c:tx>
          <c:spPr>
            <a:solidFill xmlns:a="http://schemas.openxmlformats.org/drawingml/2006/main">
              <a:srgbClr val="111111"/>
            </a:solidFill>
            <a:ln xmlns:a="http://schemas.openxmlformats.org/drawingml/2006/main" w="19050">
              <a:solidFill>
                <a:srgbClr val="111111"/>
              </a:solidFill>
              <a:prstDash val="solid"/>
            </a:ln>
          </c:spPr>
          <c:marker>
            <c:symbol val="none"/>
            <c:size val="7"/>
            <c:spPr>
              <a:solidFill xmlns:a="http://schemas.openxmlformats.org/drawingml/2006/main">
                <a:srgbClr val="111111"/>
              </a:solidFill>
            </c:spPr>
          </c:marker>
          <c:xVal>
            <c:numRef>
              <c:f>'Chart Data'!$I$2:$I$102</c:f>
              <c:numCache>
                <c:formatCode>General</c:formatCode>
                <c:ptCount val="10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0.07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</c:v>
                </c:pt>
                <c:pt idx="29">
                  <c:v>0.29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  <c:pt idx="51">
                  <c:v>0.51</c:v>
                </c:pt>
                <c:pt idx="52">
                  <c:v>0.52</c:v>
                </c:pt>
                <c:pt idx="53">
                  <c:v>0.53</c:v>
                </c:pt>
                <c:pt idx="54">
                  <c:v>0.54</c:v>
                </c:pt>
                <c:pt idx="55">
                  <c:v>0.55</c:v>
                </c:pt>
                <c:pt idx="56">
                  <c:v>0.56</c:v>
                </c:pt>
                <c:pt idx="57">
                  <c:v>0.57</c:v>
                </c:pt>
                <c:pt idx="58">
                  <c:v>0.58</c:v>
                </c:pt>
                <c:pt idx="59">
                  <c:v>0.59</c:v>
                </c:pt>
                <c:pt idx="60">
                  <c:v>0.6</c:v>
                </c:pt>
                <c:pt idx="61">
                  <c:v>0.61</c:v>
                </c:pt>
                <c:pt idx="62">
                  <c:v>0.62</c:v>
                </c:pt>
                <c:pt idx="63">
                  <c:v>0.63</c:v>
                </c:pt>
                <c:pt idx="64">
                  <c:v>0.64</c:v>
                </c:pt>
                <c:pt idx="65">
                  <c:v>0.65</c:v>
                </c:pt>
                <c:pt idx="66">
                  <c:v>0.66</c:v>
                </c:pt>
                <c:pt idx="67">
                  <c:v>0.67</c:v>
                </c:pt>
                <c:pt idx="68">
                  <c:v>0.68</c:v>
                </c:pt>
                <c:pt idx="69">
                  <c:v>0.69</c:v>
                </c:pt>
                <c:pt idx="70">
                  <c:v>0.7</c:v>
                </c:pt>
                <c:pt idx="71">
                  <c:v>0.71</c:v>
                </c:pt>
                <c:pt idx="72">
                  <c:v>0.72</c:v>
                </c:pt>
                <c:pt idx="73">
                  <c:v>0.73</c:v>
                </c:pt>
                <c:pt idx="74">
                  <c:v>0.74</c:v>
                </c:pt>
                <c:pt idx="75">
                  <c:v>0.75</c:v>
                </c:pt>
                <c:pt idx="76">
                  <c:v>0.76</c:v>
                </c:pt>
                <c:pt idx="77">
                  <c:v>0.77</c:v>
                </c:pt>
                <c:pt idx="78">
                  <c:v>0.78</c:v>
                </c:pt>
                <c:pt idx="79">
                  <c:v>0.79</c:v>
                </c:pt>
                <c:pt idx="80">
                  <c:v>0.8</c:v>
                </c:pt>
                <c:pt idx="81">
                  <c:v>0.81</c:v>
                </c:pt>
                <c:pt idx="82">
                  <c:v>0.82</c:v>
                </c:pt>
                <c:pt idx="83">
                  <c:v>0.83</c:v>
                </c:pt>
                <c:pt idx="84">
                  <c:v>0.84</c:v>
                </c:pt>
                <c:pt idx="85">
                  <c:v>0.85</c:v>
                </c:pt>
                <c:pt idx="86">
                  <c:v>0.86</c:v>
                </c:pt>
                <c:pt idx="87">
                  <c:v>0.87</c:v>
                </c:pt>
                <c:pt idx="88">
                  <c:v>0.88</c:v>
                </c:pt>
                <c:pt idx="89">
                  <c:v>0.89</c:v>
                </c:pt>
                <c:pt idx="90">
                  <c:v>0.9</c:v>
                </c:pt>
                <c:pt idx="91">
                  <c:v>0.91</c:v>
                </c:pt>
                <c:pt idx="92">
                  <c:v>0.92</c:v>
                </c:pt>
                <c:pt idx="93">
                  <c:v>0.93</c:v>
                </c:pt>
                <c:pt idx="94">
                  <c:v>0.94</c:v>
                </c:pt>
                <c:pt idx="95">
                  <c:v>0.95</c:v>
                </c:pt>
                <c:pt idx="96">
                  <c:v>0.96</c:v>
                </c:pt>
                <c:pt idx="97">
                  <c:v>0.97</c:v>
                </c:pt>
                <c:pt idx="98">
                  <c:v>0.98</c:v>
                </c:pt>
                <c:pt idx="99">
                  <c:v>0.99</c:v>
                </c:pt>
                <c:pt idx="100">
                  <c:v>1</c:v>
                </c:pt>
              </c:numCache>
            </c:numRef>
          </c:xVal>
          <c:yVal>
            <c:numRef>
              <c:f>'Chart Data'!$J$2:$J$102</c:f>
              <c:numCache>
                <c:formatCode>General</c:formatCode>
                <c:ptCount val="10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3.6120373</c:v>
                </c:pt>
                <c:pt idx="32">
                  <c:v>8.6508871</c:v>
                </c:pt>
                <c:pt idx="33">
                  <c:v>13.507487</c:v>
                </c:pt>
                <c:pt idx="34">
                  <c:v>18.244514</c:v>
                </c:pt>
                <c:pt idx="35">
                  <c:v>22.871862</c:v>
                </c:pt>
                <c:pt idx="36">
                  <c:v>27.393887</c:v>
                </c:pt>
                <c:pt idx="37">
                  <c:v>31.815945</c:v>
                </c:pt>
                <c:pt idx="38">
                  <c:v>36.143657</c:v>
                </c:pt>
                <c:pt idx="39">
                  <c:v>41.26947</c:v>
                </c:pt>
                <c:pt idx="40">
                  <c:v>46.892523</c:v>
                </c:pt>
                <c:pt idx="41">
                  <c:v>52.379588</c:v>
                </c:pt>
                <c:pt idx="42">
                  <c:v>57.762207</c:v>
                </c:pt>
                <c:pt idx="43">
                  <c:v>63.047529</c:v>
                </c:pt>
                <c:pt idx="44">
                  <c:v>68.239781</c:v>
                </c:pt>
                <c:pt idx="45">
                  <c:v>73.34344</c:v>
                </c:pt>
                <c:pt idx="46">
                  <c:v>78.362946</c:v>
                </c:pt>
                <c:pt idx="47">
                  <c:v>83.302481</c:v>
                </c:pt>
                <c:pt idx="48">
                  <c:v>88.165941</c:v>
                </c:pt>
                <c:pt idx="49">
                  <c:v>92.956954</c:v>
                </c:pt>
                <c:pt idx="50">
                  <c:v>97.678903</c:v>
                </c:pt>
                <c:pt idx="51">
                  <c:v>102.33495</c:v>
                </c:pt>
                <c:pt idx="52">
                  <c:v>106.92803</c:v>
                </c:pt>
                <c:pt idx="53">
                  <c:v>111.4609</c:v>
                </c:pt>
                <c:pt idx="54">
                  <c:v>115.93614</c:v>
                </c:pt>
                <c:pt idx="55">
                  <c:v>120.35613</c:v>
                </c:pt>
                <c:pt idx="56">
                  <c:v>124.72313</c:v>
                </c:pt>
                <c:pt idx="57">
                  <c:v>129.03924</c:v>
                </c:pt>
                <c:pt idx="58">
                  <c:v>133.30642</c:v>
                </c:pt>
                <c:pt idx="59">
                  <c:v>137.5265</c:v>
                </c:pt>
                <c:pt idx="60">
                  <c:v>141.70122</c:v>
                </c:pt>
                <c:pt idx="61">
                  <c:v>145.83219</c:v>
                </c:pt>
                <c:pt idx="62">
                  <c:v>149.92091</c:v>
                </c:pt>
                <c:pt idx="63">
                  <c:v>154.4449</c:v>
                </c:pt>
                <c:pt idx="64">
                  <c:v>159.1846</c:v>
                </c:pt>
                <c:pt idx="65">
                  <c:v>163.86324</c:v>
                </c:pt>
                <c:pt idx="66">
                  <c:v>162.89385</c:v>
                </c:pt>
                <c:pt idx="67">
                  <c:v>160.54731</c:v>
                </c:pt>
                <c:pt idx="68">
                  <c:v>158.2274</c:v>
                </c:pt>
                <c:pt idx="69">
                  <c:v>156.07202</c:v>
                </c:pt>
                <c:pt idx="70">
                  <c:v>154.03802</c:v>
                </c:pt>
                <c:pt idx="71">
                  <c:v>152.10154</c:v>
                </c:pt>
                <c:pt idx="72">
                  <c:v>150.25357</c:v>
                </c:pt>
                <c:pt idx="73">
                  <c:v>148.48837</c:v>
                </c:pt>
                <c:pt idx="74">
                  <c:v>146.80061</c:v>
                </c:pt>
                <c:pt idx="75">
                  <c:v>145.18519</c:v>
                </c:pt>
                <c:pt idx="76">
                  <c:v>143.63736</c:v>
                </c:pt>
                <c:pt idx="77">
                  <c:v>142.15269</c:v>
                </c:pt>
                <c:pt idx="78">
                  <c:v>140.72707</c:v>
                </c:pt>
                <c:pt idx="79">
                  <c:v>139.35671</c:v>
                </c:pt>
                <c:pt idx="80">
                  <c:v>138.03806</c:v>
                </c:pt>
                <c:pt idx="81">
                  <c:v>136.76783</c:v>
                </c:pt>
                <c:pt idx="82">
                  <c:v>135.54299</c:v>
                </c:pt>
                <c:pt idx="83">
                  <c:v>134.36069</c:v>
                </c:pt>
                <c:pt idx="84">
                  <c:v>133.2183</c:v>
                </c:pt>
                <c:pt idx="85">
                  <c:v>132.11338</c:v>
                </c:pt>
                <c:pt idx="86">
                  <c:v>131.04367</c:v>
                </c:pt>
                <c:pt idx="87">
                  <c:v>130.00704</c:v>
                </c:pt>
                <c:pt idx="88">
                  <c:v>129.00154</c:v>
                </c:pt>
                <c:pt idx="89">
                  <c:v>128.02534</c:v>
                </c:pt>
                <c:pt idx="90">
                  <c:v>127.07675</c:v>
                </c:pt>
                <c:pt idx="91">
                  <c:v>126.1542</c:v>
                </c:pt>
                <c:pt idx="92">
                  <c:v>125.25621</c:v>
                </c:pt>
                <c:pt idx="93">
                  <c:v>124.38144</c:v>
                </c:pt>
                <c:pt idx="94">
                  <c:v>123.52859</c:v>
                </c:pt>
                <c:pt idx="95">
                  <c:v>122.69651</c:v>
                </c:pt>
                <c:pt idx="96">
                  <c:v>121.88409</c:v>
                </c:pt>
                <c:pt idx="97">
                  <c:v>121.0903</c:v>
                </c:pt>
                <c:pt idx="98">
                  <c:v>120.3142</c:v>
                </c:pt>
                <c:pt idx="99">
                  <c:v>119.5549</c:v>
                </c:pt>
                <c:pt idx="100">
                  <c:v>118.81156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CEEEF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56A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1"/>
          <c:min val="0"/>
        </c:scaling>
        <c:delete val="0"/>
        <c:axPos val="b"/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656A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0.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Current motion + force</c:v>
          </c:tx>
          <c:spPr>
            <a:solidFill xmlns:a="http://schemas.openxmlformats.org/drawingml/2006/main">
              <a:srgbClr val="656A70"/>
            </a:solidFill>
            <a:ln xmlns:a="http://schemas.openxmlformats.org/drawingml/2006/main" w="28575">
              <a:solidFill>
                <a:srgbClr val="656A70"/>
              </a:solidFill>
              <a:prstDash val="solid"/>
            </a:ln>
          </c:spPr>
          <c:marker>
            <c:symbol val="none"/>
            <c:size val="7"/>
            <c:spPr>
              <a:solidFill xmlns:a="http://schemas.openxmlformats.org/drawingml/2006/main">
                <a:srgbClr val="656A70"/>
              </a:solidFill>
            </c:spPr>
          </c:marker>
          <c:xVal>
            <c:numRef>
              <c:f>'Chart Data'!$A$2:$A$102</c:f>
              <c:numCache>
                <c:formatCode>General</c:formatCode>
                <c:ptCount val="10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0.07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</c:v>
                </c:pt>
                <c:pt idx="29">
                  <c:v>0.29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  <c:pt idx="51">
                  <c:v>0.51</c:v>
                </c:pt>
                <c:pt idx="52">
                  <c:v>0.52</c:v>
                </c:pt>
                <c:pt idx="53">
                  <c:v>0.53</c:v>
                </c:pt>
                <c:pt idx="54">
                  <c:v>0.54</c:v>
                </c:pt>
                <c:pt idx="55">
                  <c:v>0.55</c:v>
                </c:pt>
                <c:pt idx="56">
                  <c:v>0.56</c:v>
                </c:pt>
                <c:pt idx="57">
                  <c:v>0.57</c:v>
                </c:pt>
                <c:pt idx="58">
                  <c:v>0.58</c:v>
                </c:pt>
                <c:pt idx="59">
                  <c:v>0.59</c:v>
                </c:pt>
                <c:pt idx="60">
                  <c:v>0.6</c:v>
                </c:pt>
                <c:pt idx="61">
                  <c:v>0.61</c:v>
                </c:pt>
                <c:pt idx="62">
                  <c:v>0.62</c:v>
                </c:pt>
                <c:pt idx="63">
                  <c:v>0.63</c:v>
                </c:pt>
                <c:pt idx="64">
                  <c:v>0.64</c:v>
                </c:pt>
                <c:pt idx="65">
                  <c:v>0.65</c:v>
                </c:pt>
                <c:pt idx="66">
                  <c:v>0.66</c:v>
                </c:pt>
                <c:pt idx="67">
                  <c:v>0.67</c:v>
                </c:pt>
                <c:pt idx="68">
                  <c:v>0.68</c:v>
                </c:pt>
                <c:pt idx="69">
                  <c:v>0.69</c:v>
                </c:pt>
                <c:pt idx="70">
                  <c:v>0.7</c:v>
                </c:pt>
                <c:pt idx="71">
                  <c:v>0.71</c:v>
                </c:pt>
                <c:pt idx="72">
                  <c:v>0.72</c:v>
                </c:pt>
                <c:pt idx="73">
                  <c:v>0.73</c:v>
                </c:pt>
                <c:pt idx="74">
                  <c:v>0.74</c:v>
                </c:pt>
                <c:pt idx="75">
                  <c:v>0.75</c:v>
                </c:pt>
                <c:pt idx="76">
                  <c:v>0.76</c:v>
                </c:pt>
                <c:pt idx="77">
                  <c:v>0.77</c:v>
                </c:pt>
                <c:pt idx="78">
                  <c:v>0.78</c:v>
                </c:pt>
                <c:pt idx="79">
                  <c:v>0.79</c:v>
                </c:pt>
                <c:pt idx="80">
                  <c:v>0.8</c:v>
                </c:pt>
                <c:pt idx="81">
                  <c:v>0.81</c:v>
                </c:pt>
                <c:pt idx="82">
                  <c:v>0.82</c:v>
                </c:pt>
                <c:pt idx="83">
                  <c:v>0.83</c:v>
                </c:pt>
                <c:pt idx="84">
                  <c:v>0.84</c:v>
                </c:pt>
                <c:pt idx="85">
                  <c:v>0.85</c:v>
                </c:pt>
                <c:pt idx="86">
                  <c:v>0.86</c:v>
                </c:pt>
                <c:pt idx="87">
                  <c:v>0.87</c:v>
                </c:pt>
                <c:pt idx="88">
                  <c:v>0.88</c:v>
                </c:pt>
                <c:pt idx="89">
                  <c:v>0.89</c:v>
                </c:pt>
                <c:pt idx="90">
                  <c:v>0.9</c:v>
                </c:pt>
                <c:pt idx="91">
                  <c:v>0.91</c:v>
                </c:pt>
                <c:pt idx="92">
                  <c:v>0.92</c:v>
                </c:pt>
                <c:pt idx="93">
                  <c:v>0.93</c:v>
                </c:pt>
                <c:pt idx="94">
                  <c:v>0.94</c:v>
                </c:pt>
                <c:pt idx="95">
                  <c:v>0.95</c:v>
                </c:pt>
                <c:pt idx="96">
                  <c:v>0.96</c:v>
                </c:pt>
                <c:pt idx="97">
                  <c:v>0.97</c:v>
                </c:pt>
                <c:pt idx="98">
                  <c:v>0.98</c:v>
                </c:pt>
                <c:pt idx="99">
                  <c:v>0.99</c:v>
                </c:pt>
                <c:pt idx="100">
                  <c:v>1</c:v>
                </c:pt>
              </c:numCache>
            </c:numRef>
          </c:xVal>
          <c:yVal>
            <c:numRef>
              <c:f>'Chart Data'!$B$2:$B$102</c:f>
              <c:numCache>
                <c:formatCode>General</c:formatCode>
                <c:ptCount val="10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1.5236441</c:v>
                </c:pt>
                <c:pt idx="28">
                  <c:v>6.6530829</c:v>
                </c:pt>
                <c:pt idx="29">
                  <c:v>11.540678</c:v>
                </c:pt>
                <c:pt idx="30">
                  <c:v>16.298666</c:v>
                </c:pt>
                <c:pt idx="31">
                  <c:v>17.332914</c:v>
                </c:pt>
                <c:pt idx="32">
                  <c:v>16.832684</c:v>
                </c:pt>
                <c:pt idx="33">
                  <c:v>16.412049</c:v>
                </c:pt>
                <c:pt idx="34">
                  <c:v>16.01405</c:v>
                </c:pt>
                <c:pt idx="35">
                  <c:v>15.634313</c:v>
                </c:pt>
                <c:pt idx="36">
                  <c:v>15.273618</c:v>
                </c:pt>
                <c:pt idx="37">
                  <c:v>15.563275</c:v>
                </c:pt>
                <c:pt idx="38">
                  <c:v>16.719473</c:v>
                </c:pt>
                <c:pt idx="39">
                  <c:v>16.938692</c:v>
                </c:pt>
                <c:pt idx="40">
                  <c:v>16.560898</c:v>
                </c:pt>
                <c:pt idx="41">
                  <c:v>16.227273</c:v>
                </c:pt>
                <c:pt idx="42">
                  <c:v>15.910055</c:v>
                </c:pt>
                <c:pt idx="43">
                  <c:v>15.606167</c:v>
                </c:pt>
                <c:pt idx="44">
                  <c:v>15.31551</c:v>
                </c:pt>
                <c:pt idx="45">
                  <c:v>15.037522</c:v>
                </c:pt>
                <c:pt idx="46">
                  <c:v>14.771405</c:v>
                </c:pt>
                <c:pt idx="47">
                  <c:v>14.516375</c:v>
                </c:pt>
                <c:pt idx="48">
                  <c:v>14.271703</c:v>
                </c:pt>
                <c:pt idx="49">
                  <c:v>14.036717</c:v>
                </c:pt>
                <c:pt idx="50">
                  <c:v>13.810793</c:v>
                </c:pt>
                <c:pt idx="51">
                  <c:v>13.593353</c:v>
                </c:pt>
                <c:pt idx="52">
                  <c:v>13.383857</c:v>
                </c:pt>
                <c:pt idx="53">
                  <c:v>13.181807</c:v>
                </c:pt>
                <c:pt idx="54">
                  <c:v>12.986739</c:v>
                </c:pt>
                <c:pt idx="55">
                  <c:v>12.798221</c:v>
                </c:pt>
                <c:pt idx="56">
                  <c:v>12.615855</c:v>
                </c:pt>
                <c:pt idx="57">
                  <c:v>12.439267</c:v>
                </c:pt>
                <c:pt idx="58">
                  <c:v>12.268112</c:v>
                </c:pt>
                <c:pt idx="59">
                  <c:v>12.102069</c:v>
                </c:pt>
                <c:pt idx="60">
                  <c:v>11.94084</c:v>
                </c:pt>
                <c:pt idx="61">
                  <c:v>11.784146</c:v>
                </c:pt>
                <c:pt idx="62">
                  <c:v>11.63173</c:v>
                </c:pt>
                <c:pt idx="63">
                  <c:v>11.17662</c:v>
                </c:pt>
                <c:pt idx="64">
                  <c:v>11.048762</c:v>
                </c:pt>
                <c:pt idx="65">
                  <c:v>10.912305</c:v>
                </c:pt>
                <c:pt idx="66">
                  <c:v>10.777876</c:v>
                </c:pt>
                <c:pt idx="67">
                  <c:v>10.646848</c:v>
                </c:pt>
                <c:pt idx="68">
                  <c:v>10.518899</c:v>
                </c:pt>
                <c:pt idx="69">
                  <c:v>10.393758</c:v>
                </c:pt>
                <c:pt idx="70">
                  <c:v>10.271264</c:v>
                </c:pt>
                <c:pt idx="71">
                  <c:v>10.151288</c:v>
                </c:pt>
                <c:pt idx="72">
                  <c:v>10.033712</c:v>
                </c:pt>
                <c:pt idx="73">
                  <c:v>9.9184236</c:v>
                </c:pt>
                <c:pt idx="74">
                  <c:v>9.80532</c:v>
                </c:pt>
                <c:pt idx="75">
                  <c:v>9.6943035</c:v>
                </c:pt>
                <c:pt idx="76">
                  <c:v>9.5852837</c:v>
                </c:pt>
                <c:pt idx="77">
                  <c:v>9.4781756</c:v>
                </c:pt>
                <c:pt idx="78">
                  <c:v>9.3729004</c:v>
                </c:pt>
                <c:pt idx="79">
                  <c:v>9.2693842</c:v>
                </c:pt>
                <c:pt idx="80">
                  <c:v>9.1675579</c:v>
                </c:pt>
                <c:pt idx="81">
                  <c:v>9.067357</c:v>
                </c:pt>
                <c:pt idx="82">
                  <c:v>8.9687209</c:v>
                </c:pt>
                <c:pt idx="83">
                  <c:v>8.8715931</c:v>
                </c:pt>
                <c:pt idx="84">
                  <c:v>8.7759205</c:v>
                </c:pt>
                <c:pt idx="85">
                  <c:v>8.6816534</c:v>
                </c:pt>
                <c:pt idx="86">
                  <c:v>8.588745</c:v>
                </c:pt>
                <c:pt idx="87">
                  <c:v>8.4971516</c:v>
                </c:pt>
                <c:pt idx="88">
                  <c:v>8.406832</c:v>
                </c:pt>
                <c:pt idx="89">
                  <c:v>8.3177475</c:v>
                </c:pt>
                <c:pt idx="90">
                  <c:v>8.2298617</c:v>
                </c:pt>
                <c:pt idx="91">
                  <c:v>8.1431404</c:v>
                </c:pt>
                <c:pt idx="92">
                  <c:v>8.0575511</c:v>
                </c:pt>
                <c:pt idx="93">
                  <c:v>7.9730635</c:v>
                </c:pt>
                <c:pt idx="94">
                  <c:v>7.8896488</c:v>
                </c:pt>
                <c:pt idx="95">
                  <c:v>7.8072797</c:v>
                </c:pt>
                <c:pt idx="96">
                  <c:v>7.7259307</c:v>
                </c:pt>
                <c:pt idx="97">
                  <c:v>7.6455773</c:v>
                </c:pt>
                <c:pt idx="98">
                  <c:v>7.5661966</c:v>
                </c:pt>
                <c:pt idx="99">
                  <c:v>7.4877666</c:v>
                </c:pt>
                <c:pt idx="100">
                  <c:v>7.4102667</c:v>
                </c:pt>
              </c:numCache>
            </c:numRef>
          </c:yVal>
          <c:smooth val="0"/>
        </c:ser>
        <c:ser>
          <c:idx val="1"/>
          <c:order val="1"/>
          <c:tx>
            <c:v>Current + lateral shape</c:v>
          </c:tx>
          <c:spPr>
            <a:solidFill xmlns:a="http://schemas.openxmlformats.org/drawingml/2006/main">
              <a:srgbClr val="2866AB"/>
            </a:solidFill>
            <a:ln xmlns:a="http://schemas.openxmlformats.org/drawingml/2006/main" w="28575">
              <a:solidFill>
                <a:srgbClr val="2866AB"/>
              </a:solidFill>
              <a:prstDash val="solid"/>
            </a:ln>
          </c:spPr>
          <c:marker>
            <c:symbol val="none"/>
            <c:size val="7"/>
            <c:spPr>
              <a:solidFill xmlns:a="http://schemas.openxmlformats.org/drawingml/2006/main">
                <a:srgbClr val="2866AB"/>
              </a:solidFill>
            </c:spPr>
          </c:marker>
          <c:xVal>
            <c:numRef>
              <c:f>'Chart Data'!$C$2:$C$102</c:f>
              <c:numCache>
                <c:formatCode>General</c:formatCode>
                <c:ptCount val="10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0.07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</c:v>
                </c:pt>
                <c:pt idx="29">
                  <c:v>0.29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  <c:pt idx="51">
                  <c:v>0.51</c:v>
                </c:pt>
                <c:pt idx="52">
                  <c:v>0.52</c:v>
                </c:pt>
                <c:pt idx="53">
                  <c:v>0.53</c:v>
                </c:pt>
                <c:pt idx="54">
                  <c:v>0.54</c:v>
                </c:pt>
                <c:pt idx="55">
                  <c:v>0.55</c:v>
                </c:pt>
                <c:pt idx="56">
                  <c:v>0.56</c:v>
                </c:pt>
                <c:pt idx="57">
                  <c:v>0.57</c:v>
                </c:pt>
                <c:pt idx="58">
                  <c:v>0.58</c:v>
                </c:pt>
                <c:pt idx="59">
                  <c:v>0.59</c:v>
                </c:pt>
                <c:pt idx="60">
                  <c:v>0.6</c:v>
                </c:pt>
                <c:pt idx="61">
                  <c:v>0.61</c:v>
                </c:pt>
                <c:pt idx="62">
                  <c:v>0.62</c:v>
                </c:pt>
                <c:pt idx="63">
                  <c:v>0.63</c:v>
                </c:pt>
                <c:pt idx="64">
                  <c:v>0.64</c:v>
                </c:pt>
                <c:pt idx="65">
                  <c:v>0.65</c:v>
                </c:pt>
                <c:pt idx="66">
                  <c:v>0.66</c:v>
                </c:pt>
                <c:pt idx="67">
                  <c:v>0.67</c:v>
                </c:pt>
                <c:pt idx="68">
                  <c:v>0.68</c:v>
                </c:pt>
                <c:pt idx="69">
                  <c:v>0.69</c:v>
                </c:pt>
                <c:pt idx="70">
                  <c:v>0.7</c:v>
                </c:pt>
                <c:pt idx="71">
                  <c:v>0.71</c:v>
                </c:pt>
                <c:pt idx="72">
                  <c:v>0.72</c:v>
                </c:pt>
                <c:pt idx="73">
                  <c:v>0.73</c:v>
                </c:pt>
                <c:pt idx="74">
                  <c:v>0.74</c:v>
                </c:pt>
                <c:pt idx="75">
                  <c:v>0.75</c:v>
                </c:pt>
                <c:pt idx="76">
                  <c:v>0.76</c:v>
                </c:pt>
                <c:pt idx="77">
                  <c:v>0.77</c:v>
                </c:pt>
                <c:pt idx="78">
                  <c:v>0.78</c:v>
                </c:pt>
                <c:pt idx="79">
                  <c:v>0.79</c:v>
                </c:pt>
                <c:pt idx="80">
                  <c:v>0.8</c:v>
                </c:pt>
                <c:pt idx="81">
                  <c:v>0.81</c:v>
                </c:pt>
                <c:pt idx="82">
                  <c:v>0.82</c:v>
                </c:pt>
                <c:pt idx="83">
                  <c:v>0.83</c:v>
                </c:pt>
                <c:pt idx="84">
                  <c:v>0.84</c:v>
                </c:pt>
                <c:pt idx="85">
                  <c:v>0.85</c:v>
                </c:pt>
                <c:pt idx="86">
                  <c:v>0.86</c:v>
                </c:pt>
                <c:pt idx="87">
                  <c:v>0.87</c:v>
                </c:pt>
                <c:pt idx="88">
                  <c:v>0.88</c:v>
                </c:pt>
                <c:pt idx="89">
                  <c:v>0.89</c:v>
                </c:pt>
                <c:pt idx="90">
                  <c:v>0.9</c:v>
                </c:pt>
                <c:pt idx="91">
                  <c:v>0.91</c:v>
                </c:pt>
                <c:pt idx="92">
                  <c:v>0.92</c:v>
                </c:pt>
                <c:pt idx="93">
                  <c:v>0.93</c:v>
                </c:pt>
                <c:pt idx="94">
                  <c:v>0.94</c:v>
                </c:pt>
                <c:pt idx="95">
                  <c:v>0.95</c:v>
                </c:pt>
                <c:pt idx="96">
                  <c:v>0.96</c:v>
                </c:pt>
                <c:pt idx="97">
                  <c:v>0.97</c:v>
                </c:pt>
                <c:pt idx="98">
                  <c:v>0.98</c:v>
                </c:pt>
                <c:pt idx="99">
                  <c:v>0.99</c:v>
                </c:pt>
                <c:pt idx="100">
                  <c:v>1</c:v>
                </c:pt>
              </c:numCache>
            </c:numRef>
          </c:xVal>
          <c:yVal>
            <c:numRef>
              <c:f>'Chart Data'!$D$2:$D$102</c:f>
              <c:numCache>
                <c:formatCode>General</c:formatCode>
                <c:ptCount val="10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3.0872734</c:v>
                </c:pt>
                <c:pt idx="31">
                  <c:v>4.5001018</c:v>
                </c:pt>
                <c:pt idx="32">
                  <c:v>4.293017</c:v>
                </c:pt>
                <c:pt idx="33">
                  <c:v>4.14893</c:v>
                </c:pt>
                <c:pt idx="34">
                  <c:v>4.0167456</c:v>
                </c:pt>
                <c:pt idx="35">
                  <c:v>3.8906794</c:v>
                </c:pt>
                <c:pt idx="36">
                  <c:v>3.7714784</c:v>
                </c:pt>
                <c:pt idx="37">
                  <c:v>3.6592712</c:v>
                </c:pt>
                <c:pt idx="38">
                  <c:v>3.5536536</c:v>
                </c:pt>
                <c:pt idx="39">
                  <c:v>3.0077135</c:v>
                </c:pt>
                <c:pt idx="40">
                  <c:v>2.9391616</c:v>
                </c:pt>
                <c:pt idx="41">
                  <c:v>2.8598153</c:v>
                </c:pt>
                <c:pt idx="42">
                  <c:v>2.7833219</c:v>
                </c:pt>
                <c:pt idx="43">
                  <c:v>2.7114236</c:v>
                </c:pt>
                <c:pt idx="44">
                  <c:v>2.6436298</c:v>
                </c:pt>
                <c:pt idx="45">
                  <c:v>2.5795052</c:v>
                </c:pt>
                <c:pt idx="46">
                  <c:v>2.5187635</c:v>
                </c:pt>
                <c:pt idx="47">
                  <c:v>2.4611694</c:v>
                </c:pt>
                <c:pt idx="48">
                  <c:v>2.4065068</c:v>
                </c:pt>
                <c:pt idx="49">
                  <c:v>2.354574</c:v>
                </c:pt>
                <c:pt idx="50">
                  <c:v>2.3051836</c:v>
                </c:pt>
                <c:pt idx="51">
                  <c:v>2.2581618</c:v>
                </c:pt>
                <c:pt idx="52">
                  <c:v>2.2133476</c:v>
                </c:pt>
                <c:pt idx="53">
                  <c:v>2.1705914</c:v>
                </c:pt>
                <c:pt idx="54">
                  <c:v>2.1297546</c:v>
                </c:pt>
                <c:pt idx="55">
                  <c:v>2.0907089</c:v>
                </c:pt>
                <c:pt idx="56">
                  <c:v>2.0533348</c:v>
                </c:pt>
                <c:pt idx="57">
                  <c:v>2.017522</c:v>
                </c:pt>
                <c:pt idx="58">
                  <c:v>1.9831676</c:v>
                </c:pt>
                <c:pt idx="59">
                  <c:v>1.9501767</c:v>
                </c:pt>
                <c:pt idx="60">
                  <c:v>1.9184609</c:v>
                </c:pt>
                <c:pt idx="61">
                  <c:v>1.8879382</c:v>
                </c:pt>
                <c:pt idx="62">
                  <c:v>1.8585326</c:v>
                </c:pt>
                <c:pt idx="63">
                  <c:v>1.3540944</c:v>
                </c:pt>
                <c:pt idx="64">
                  <c:v>1.1224754</c:v>
                </c:pt>
                <c:pt idx="65">
                  <c:v>1.1179945</c:v>
                </c:pt>
                <c:pt idx="66">
                  <c:v>1.1028165</c:v>
                </c:pt>
                <c:pt idx="67">
                  <c:v>1.0875301</c:v>
                </c:pt>
                <c:pt idx="68">
                  <c:v>1.0730321</c:v>
                </c:pt>
                <c:pt idx="69">
                  <c:v>1.0589896</c:v>
                </c:pt>
                <c:pt idx="70">
                  <c:v>1.0452559</c:v>
                </c:pt>
                <c:pt idx="71">
                  <c:v>1.0317982</c:v>
                </c:pt>
                <c:pt idx="72">
                  <c:v>1.0186049</c:v>
                </c:pt>
                <c:pt idx="73">
                  <c:v>1.0056644</c:v>
                </c:pt>
                <c:pt idx="74">
                  <c:v>0.99296517</c:v>
                </c:pt>
                <c:pt idx="75">
                  <c:v>0.98049601</c:v>
                </c:pt>
                <c:pt idx="76">
                  <c:v>0.96824678</c:v>
                </c:pt>
                <c:pt idx="77">
                  <c:v>0.95620769</c:v>
                </c:pt>
                <c:pt idx="78">
                  <c:v>0.94437004</c:v>
                </c:pt>
                <c:pt idx="79">
                  <c:v>0.93272562</c:v>
                </c:pt>
                <c:pt idx="80">
                  <c:v>0.92126683</c:v>
                </c:pt>
                <c:pt idx="81">
                  <c:v>0.90998658</c:v>
                </c:pt>
                <c:pt idx="82">
                  <c:v>0.8988783</c:v>
                </c:pt>
                <c:pt idx="83">
                  <c:v>0.88793585</c:v>
                </c:pt>
                <c:pt idx="84">
                  <c:v>0.87715355</c:v>
                </c:pt>
                <c:pt idx="85">
                  <c:v>0.86652607</c:v>
                </c:pt>
                <c:pt idx="86">
                  <c:v>0.85604847</c:v>
                </c:pt>
                <c:pt idx="87">
                  <c:v>0.8457161</c:v>
                </c:pt>
                <c:pt idx="88">
                  <c:v>0.83552467</c:v>
                </c:pt>
                <c:pt idx="89">
                  <c:v>0.82547011</c:v>
                </c:pt>
                <c:pt idx="90">
                  <c:v>0.81554865</c:v>
                </c:pt>
                <c:pt idx="91">
                  <c:v>0.80575674</c:v>
                </c:pt>
                <c:pt idx="92">
                  <c:v>0.79609105</c:v>
                </c:pt>
                <c:pt idx="93">
                  <c:v>0.78654846</c:v>
                </c:pt>
                <c:pt idx="94">
                  <c:v>0.77712602</c:v>
                </c:pt>
                <c:pt idx="95">
                  <c:v>0.76782096</c:v>
                </c:pt>
                <c:pt idx="96">
                  <c:v>0.75863068</c:v>
                </c:pt>
                <c:pt idx="97">
                  <c:v>0.74955272</c:v>
                </c:pt>
                <c:pt idx="98">
                  <c:v>0.74058473</c:v>
                </c:pt>
                <c:pt idx="99">
                  <c:v>0.73172451</c:v>
                </c:pt>
                <c:pt idx="100">
                  <c:v>0.72296998</c:v>
                </c:pt>
              </c:numCache>
            </c:numRef>
          </c:yVal>
          <c:smooth val="0"/>
        </c:ser>
        <c:ser>
          <c:idx val="2"/>
          <c:order val="2"/>
          <c:tx>
            <c:v>0.8 s motion + force</c:v>
          </c:tx>
          <c:spPr>
            <a:solidFill xmlns:a="http://schemas.openxmlformats.org/drawingml/2006/main">
              <a:srgbClr val="C27838"/>
            </a:solidFill>
            <a:ln xmlns:a="http://schemas.openxmlformats.org/drawingml/2006/main" w="28575">
              <a:solidFill>
                <a:srgbClr val="C27838"/>
              </a:solidFill>
              <a:prstDash val="solid"/>
            </a:ln>
          </c:spPr>
          <c:marker>
            <c:symbol val="none"/>
            <c:size val="7"/>
            <c:spPr>
              <a:solidFill xmlns:a="http://schemas.openxmlformats.org/drawingml/2006/main">
                <a:srgbClr val="C27838"/>
              </a:solidFill>
            </c:spPr>
          </c:marker>
          <c:xVal>
            <c:numRef>
              <c:f>'Chart Data'!$E$2:$E$102</c:f>
              <c:numCache>
                <c:formatCode>General</c:formatCode>
                <c:ptCount val="10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0.07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</c:v>
                </c:pt>
                <c:pt idx="29">
                  <c:v>0.29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  <c:pt idx="51">
                  <c:v>0.51</c:v>
                </c:pt>
                <c:pt idx="52">
                  <c:v>0.52</c:v>
                </c:pt>
                <c:pt idx="53">
                  <c:v>0.53</c:v>
                </c:pt>
                <c:pt idx="54">
                  <c:v>0.54</c:v>
                </c:pt>
                <c:pt idx="55">
                  <c:v>0.55</c:v>
                </c:pt>
                <c:pt idx="56">
                  <c:v>0.56</c:v>
                </c:pt>
                <c:pt idx="57">
                  <c:v>0.57</c:v>
                </c:pt>
                <c:pt idx="58">
                  <c:v>0.58</c:v>
                </c:pt>
                <c:pt idx="59">
                  <c:v>0.59</c:v>
                </c:pt>
                <c:pt idx="60">
                  <c:v>0.6</c:v>
                </c:pt>
                <c:pt idx="61">
                  <c:v>0.61</c:v>
                </c:pt>
                <c:pt idx="62">
                  <c:v>0.62</c:v>
                </c:pt>
                <c:pt idx="63">
                  <c:v>0.63</c:v>
                </c:pt>
                <c:pt idx="64">
                  <c:v>0.64</c:v>
                </c:pt>
                <c:pt idx="65">
                  <c:v>0.65</c:v>
                </c:pt>
                <c:pt idx="66">
                  <c:v>0.66</c:v>
                </c:pt>
                <c:pt idx="67">
                  <c:v>0.67</c:v>
                </c:pt>
                <c:pt idx="68">
                  <c:v>0.68</c:v>
                </c:pt>
                <c:pt idx="69">
                  <c:v>0.69</c:v>
                </c:pt>
                <c:pt idx="70">
                  <c:v>0.7</c:v>
                </c:pt>
                <c:pt idx="71">
                  <c:v>0.71</c:v>
                </c:pt>
                <c:pt idx="72">
                  <c:v>0.72</c:v>
                </c:pt>
                <c:pt idx="73">
                  <c:v>0.73</c:v>
                </c:pt>
                <c:pt idx="74">
                  <c:v>0.74</c:v>
                </c:pt>
                <c:pt idx="75">
                  <c:v>0.75</c:v>
                </c:pt>
                <c:pt idx="76">
                  <c:v>0.76</c:v>
                </c:pt>
                <c:pt idx="77">
                  <c:v>0.77</c:v>
                </c:pt>
                <c:pt idx="78">
                  <c:v>0.78</c:v>
                </c:pt>
                <c:pt idx="79">
                  <c:v>0.79</c:v>
                </c:pt>
                <c:pt idx="80">
                  <c:v>0.8</c:v>
                </c:pt>
                <c:pt idx="81">
                  <c:v>0.81</c:v>
                </c:pt>
                <c:pt idx="82">
                  <c:v>0.82</c:v>
                </c:pt>
                <c:pt idx="83">
                  <c:v>0.83</c:v>
                </c:pt>
                <c:pt idx="84">
                  <c:v>0.84</c:v>
                </c:pt>
                <c:pt idx="85">
                  <c:v>0.85</c:v>
                </c:pt>
                <c:pt idx="86">
                  <c:v>0.86</c:v>
                </c:pt>
                <c:pt idx="87">
                  <c:v>0.87</c:v>
                </c:pt>
                <c:pt idx="88">
                  <c:v>0.88</c:v>
                </c:pt>
                <c:pt idx="89">
                  <c:v>0.89</c:v>
                </c:pt>
                <c:pt idx="90">
                  <c:v>0.9</c:v>
                </c:pt>
                <c:pt idx="91">
                  <c:v>0.91</c:v>
                </c:pt>
                <c:pt idx="92">
                  <c:v>0.92</c:v>
                </c:pt>
                <c:pt idx="93">
                  <c:v>0.93</c:v>
                </c:pt>
                <c:pt idx="94">
                  <c:v>0.94</c:v>
                </c:pt>
                <c:pt idx="95">
                  <c:v>0.95</c:v>
                </c:pt>
                <c:pt idx="96">
                  <c:v>0.96</c:v>
                </c:pt>
                <c:pt idx="97">
                  <c:v>0.97</c:v>
                </c:pt>
                <c:pt idx="98">
                  <c:v>0.98</c:v>
                </c:pt>
                <c:pt idx="99">
                  <c:v>0.99</c:v>
                </c:pt>
                <c:pt idx="100">
                  <c:v>1</c:v>
                </c:pt>
              </c:numCache>
            </c:numRef>
          </c:xVal>
          <c:yVal>
            <c:numRef>
              <c:f>'Chart Data'!$F$2:$F$102</c:f>
              <c:numCache>
                <c:formatCode>General</c:formatCode>
                <c:ptCount val="10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-2.2277827</c:v>
                </c:pt>
                <c:pt idx="32">
                  <c:v>-2.101544</c:v>
                </c:pt>
                <c:pt idx="33">
                  <c:v>-2.0390559</c:v>
                </c:pt>
                <c:pt idx="34">
                  <c:v>-1.9867729</c:v>
                </c:pt>
                <c:pt idx="35">
                  <c:v>-1.9361287</c:v>
                </c:pt>
                <c:pt idx="36">
                  <c:v>-1.8875459</c:v>
                </c:pt>
                <c:pt idx="37">
                  <c:v>-1.5064092</c:v>
                </c:pt>
                <c:pt idx="38">
                  <c:v>0.028242164</c:v>
                </c:pt>
                <c:pt idx="39">
                  <c:v>0.59771628</c:v>
                </c:pt>
                <c:pt idx="40">
                  <c:v>0.55226864</c:v>
                </c:pt>
                <c:pt idx="41">
                  <c:v>0.53557125</c:v>
                </c:pt>
                <c:pt idx="42">
                  <c:v>0.52080009</c:v>
                </c:pt>
                <c:pt idx="43">
                  <c:v>0.50575588</c:v>
                </c:pt>
                <c:pt idx="44">
                  <c:v>0.49123137</c:v>
                </c:pt>
                <c:pt idx="45">
                  <c:v>0.47750903</c:v>
                </c:pt>
                <c:pt idx="46">
                  <c:v>0.46457924</c:v>
                </c:pt>
                <c:pt idx="47">
                  <c:v>0.45238456</c:v>
                </c:pt>
                <c:pt idx="48">
                  <c:v>0.440873</c:v>
                </c:pt>
                <c:pt idx="49">
                  <c:v>0.42999901</c:v>
                </c:pt>
                <c:pt idx="50">
                  <c:v>0.4197208</c:v>
                </c:pt>
                <c:pt idx="51">
                  <c:v>0.40999934</c:v>
                </c:pt>
                <c:pt idx="52">
                  <c:v>0.40079821</c:v>
                </c:pt>
                <c:pt idx="53">
                  <c:v>0.39208336</c:v>
                </c:pt>
                <c:pt idx="54">
                  <c:v>0.38382302</c:v>
                </c:pt>
                <c:pt idx="55">
                  <c:v>0.37598751</c:v>
                </c:pt>
                <c:pt idx="56">
                  <c:v>0.36854915</c:v>
                </c:pt>
                <c:pt idx="57">
                  <c:v>0.36148208</c:v>
                </c:pt>
                <c:pt idx="58">
                  <c:v>0.35476218</c:v>
                </c:pt>
                <c:pt idx="59">
                  <c:v>0.34836691</c:v>
                </c:pt>
                <c:pt idx="60">
                  <c:v>0.34227526</c:v>
                </c:pt>
                <c:pt idx="61">
                  <c:v>0.33646761</c:v>
                </c:pt>
                <c:pt idx="62">
                  <c:v>0.33092564</c:v>
                </c:pt>
                <c:pt idx="63">
                  <c:v>0.56549168</c:v>
                </c:pt>
                <c:pt idx="64">
                  <c:v>0.5435903</c:v>
                </c:pt>
                <c:pt idx="65">
                  <c:v>0.53181107</c:v>
                </c:pt>
                <c:pt idx="66">
                  <c:v>0.52150833</c:v>
                </c:pt>
                <c:pt idx="67">
                  <c:v>0.51142838</c:v>
                </c:pt>
                <c:pt idx="68">
                  <c:v>0.50167165</c:v>
                </c:pt>
                <c:pt idx="69">
                  <c:v>0.49230809</c:v>
                </c:pt>
                <c:pt idx="70">
                  <c:v>0.48333038</c:v>
                </c:pt>
                <c:pt idx="71">
                  <c:v>0.47471395</c:v>
                </c:pt>
                <c:pt idx="72">
                  <c:v>0.46643511</c:v>
                </c:pt>
                <c:pt idx="73">
                  <c:v>0.45847249</c:v>
                </c:pt>
                <c:pt idx="74">
                  <c:v>0.45080646</c:v>
                </c:pt>
                <c:pt idx="75">
                  <c:v>0.44341874</c:v>
                </c:pt>
                <c:pt idx="76">
                  <c:v>0.43629235</c:v>
                </c:pt>
                <c:pt idx="77">
                  <c:v>0.42941143</c:v>
                </c:pt>
                <c:pt idx="78">
                  <c:v>0.42276125</c:v>
                </c:pt>
                <c:pt idx="79">
                  <c:v>0.41632809</c:v>
                </c:pt>
                <c:pt idx="80">
                  <c:v>0.41009916</c:v>
                </c:pt>
                <c:pt idx="81">
                  <c:v>0.40406255</c:v>
                </c:pt>
                <c:pt idx="82">
                  <c:v>0.39820717</c:v>
                </c:pt>
                <c:pt idx="83">
                  <c:v>0.3925227</c:v>
                </c:pt>
                <c:pt idx="84">
                  <c:v>0.38699951</c:v>
                </c:pt>
                <c:pt idx="85">
                  <c:v>0.38162861</c:v>
                </c:pt>
                <c:pt idx="86">
                  <c:v>0.37640167</c:v>
                </c:pt>
                <c:pt idx="87">
                  <c:v>0.37131087</c:v>
                </c:pt>
                <c:pt idx="88">
                  <c:v>0.36634895</c:v>
                </c:pt>
                <c:pt idx="89">
                  <c:v>0.36150913</c:v>
                </c:pt>
                <c:pt idx="90">
                  <c:v>0.3567851</c:v>
                </c:pt>
                <c:pt idx="91">
                  <c:v>0.35217094</c:v>
                </c:pt>
                <c:pt idx="92">
                  <c:v>0.34766116</c:v>
                </c:pt>
                <c:pt idx="93">
                  <c:v>0.34325062</c:v>
                </c:pt>
                <c:pt idx="94">
                  <c:v>0.33893451</c:v>
                </c:pt>
                <c:pt idx="95">
                  <c:v>0.33470837</c:v>
                </c:pt>
                <c:pt idx="96">
                  <c:v>0.33056799</c:v>
                </c:pt>
                <c:pt idx="97">
                  <c:v>0.32650948</c:v>
                </c:pt>
                <c:pt idx="98">
                  <c:v>0.32252917</c:v>
                </c:pt>
                <c:pt idx="99">
                  <c:v>0.31862364</c:v>
                </c:pt>
                <c:pt idx="100">
                  <c:v>0.3147897</c:v>
                </c:pt>
              </c:numCache>
            </c:numRef>
          </c:yVal>
          <c:smooth val="0"/>
        </c:ser>
        <c:ser>
          <c:idx val="3"/>
          <c:order val="3"/>
          <c:tx>
            <c:v>0.8 s + lateral shape</c:v>
          </c:tx>
          <c:spPr>
            <a:solidFill xmlns:a="http://schemas.openxmlformats.org/drawingml/2006/main">
              <a:srgbClr val="178479"/>
            </a:solidFill>
            <a:ln xmlns:a="http://schemas.openxmlformats.org/drawingml/2006/main" w="28575">
              <a:solidFill>
                <a:srgbClr val="178479"/>
              </a:solidFill>
              <a:prstDash val="solid"/>
            </a:ln>
          </c:spPr>
          <c:marker>
            <c:symbol val="none"/>
            <c:size val="7"/>
            <c:spPr>
              <a:solidFill xmlns:a="http://schemas.openxmlformats.org/drawingml/2006/main">
                <a:srgbClr val="178479"/>
              </a:solidFill>
            </c:spPr>
          </c:marker>
          <c:xVal>
            <c:numRef>
              <c:f>'Chart Data'!$G$2:$G$102</c:f>
              <c:numCache>
                <c:formatCode>General</c:formatCode>
                <c:ptCount val="10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0.07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</c:v>
                </c:pt>
                <c:pt idx="29">
                  <c:v>0.29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  <c:pt idx="51">
                  <c:v>0.51</c:v>
                </c:pt>
                <c:pt idx="52">
                  <c:v>0.52</c:v>
                </c:pt>
                <c:pt idx="53">
                  <c:v>0.53</c:v>
                </c:pt>
                <c:pt idx="54">
                  <c:v>0.54</c:v>
                </c:pt>
                <c:pt idx="55">
                  <c:v>0.55</c:v>
                </c:pt>
                <c:pt idx="56">
                  <c:v>0.56</c:v>
                </c:pt>
                <c:pt idx="57">
                  <c:v>0.57</c:v>
                </c:pt>
                <c:pt idx="58">
                  <c:v>0.58</c:v>
                </c:pt>
                <c:pt idx="59">
                  <c:v>0.59</c:v>
                </c:pt>
                <c:pt idx="60">
                  <c:v>0.6</c:v>
                </c:pt>
                <c:pt idx="61">
                  <c:v>0.61</c:v>
                </c:pt>
                <c:pt idx="62">
                  <c:v>0.62</c:v>
                </c:pt>
                <c:pt idx="63">
                  <c:v>0.63</c:v>
                </c:pt>
                <c:pt idx="64">
                  <c:v>0.64</c:v>
                </c:pt>
                <c:pt idx="65">
                  <c:v>0.65</c:v>
                </c:pt>
                <c:pt idx="66">
                  <c:v>0.66</c:v>
                </c:pt>
                <c:pt idx="67">
                  <c:v>0.67</c:v>
                </c:pt>
                <c:pt idx="68">
                  <c:v>0.68</c:v>
                </c:pt>
                <c:pt idx="69">
                  <c:v>0.69</c:v>
                </c:pt>
                <c:pt idx="70">
                  <c:v>0.7</c:v>
                </c:pt>
                <c:pt idx="71">
                  <c:v>0.71</c:v>
                </c:pt>
                <c:pt idx="72">
                  <c:v>0.72</c:v>
                </c:pt>
                <c:pt idx="73">
                  <c:v>0.73</c:v>
                </c:pt>
                <c:pt idx="74">
                  <c:v>0.74</c:v>
                </c:pt>
                <c:pt idx="75">
                  <c:v>0.75</c:v>
                </c:pt>
                <c:pt idx="76">
                  <c:v>0.76</c:v>
                </c:pt>
                <c:pt idx="77">
                  <c:v>0.77</c:v>
                </c:pt>
                <c:pt idx="78">
                  <c:v>0.78</c:v>
                </c:pt>
                <c:pt idx="79">
                  <c:v>0.79</c:v>
                </c:pt>
                <c:pt idx="80">
                  <c:v>0.8</c:v>
                </c:pt>
                <c:pt idx="81">
                  <c:v>0.81</c:v>
                </c:pt>
                <c:pt idx="82">
                  <c:v>0.82</c:v>
                </c:pt>
                <c:pt idx="83">
                  <c:v>0.83</c:v>
                </c:pt>
                <c:pt idx="84">
                  <c:v>0.84</c:v>
                </c:pt>
                <c:pt idx="85">
                  <c:v>0.85</c:v>
                </c:pt>
                <c:pt idx="86">
                  <c:v>0.86</c:v>
                </c:pt>
                <c:pt idx="87">
                  <c:v>0.87</c:v>
                </c:pt>
                <c:pt idx="88">
                  <c:v>0.88</c:v>
                </c:pt>
                <c:pt idx="89">
                  <c:v>0.89</c:v>
                </c:pt>
                <c:pt idx="90">
                  <c:v>0.9</c:v>
                </c:pt>
                <c:pt idx="91">
                  <c:v>0.91</c:v>
                </c:pt>
                <c:pt idx="92">
                  <c:v>0.92</c:v>
                </c:pt>
                <c:pt idx="93">
                  <c:v>0.93</c:v>
                </c:pt>
                <c:pt idx="94">
                  <c:v>0.94</c:v>
                </c:pt>
                <c:pt idx="95">
                  <c:v>0.95</c:v>
                </c:pt>
                <c:pt idx="96">
                  <c:v>0.96</c:v>
                </c:pt>
                <c:pt idx="97">
                  <c:v>0.97</c:v>
                </c:pt>
                <c:pt idx="98">
                  <c:v>0.98</c:v>
                </c:pt>
                <c:pt idx="99">
                  <c:v>0.99</c:v>
                </c:pt>
                <c:pt idx="100">
                  <c:v>1</c:v>
                </c:pt>
              </c:numCache>
            </c:numRef>
          </c:xVal>
          <c:yVal>
            <c:numRef>
              <c:f>'Chart Data'!$H$2:$H$102</c:f>
              <c:numCache>
                <c:formatCode>General</c:formatCode>
                <c:ptCount val="10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-2.2263833</c:v>
                </c:pt>
                <c:pt idx="32">
                  <c:v>-2.10008</c:v>
                </c:pt>
                <c:pt idx="33">
                  <c:v>-2.0375035</c:v>
                </c:pt>
                <c:pt idx="34">
                  <c:v>-1.9851368</c:v>
                </c:pt>
                <c:pt idx="35">
                  <c:v>-1.9344177</c:v>
                </c:pt>
                <c:pt idx="36">
                  <c:v>-1.8857678</c:v>
                </c:pt>
                <c:pt idx="37">
                  <c:v>-1.3941517</c:v>
                </c:pt>
                <c:pt idx="38">
                  <c:v>0.13362305</c:v>
                </c:pt>
                <c:pt idx="39">
                  <c:v>0.7002648</c:v>
                </c:pt>
                <c:pt idx="40">
                  <c:v>0.65253522</c:v>
                </c:pt>
                <c:pt idx="41">
                  <c:v>0.63358491</c:v>
                </c:pt>
                <c:pt idx="42">
                  <c:v>0.61663042</c:v>
                </c:pt>
                <c:pt idx="43">
                  <c:v>0.59950492</c:v>
                </c:pt>
                <c:pt idx="44">
                  <c:v>0.58300195</c:v>
                </c:pt>
                <c:pt idx="45">
                  <c:v>0.56739721</c:v>
                </c:pt>
                <c:pt idx="46">
                  <c:v>0.55267433</c:v>
                </c:pt>
                <c:pt idx="47">
                  <c:v>0.53876986</c:v>
                </c:pt>
                <c:pt idx="48">
                  <c:v>0.52562632</c:v>
                </c:pt>
                <c:pt idx="49">
                  <c:v>0.51319309</c:v>
                </c:pt>
                <c:pt idx="50">
                  <c:v>0.50142363</c:v>
                </c:pt>
                <c:pt idx="51">
                  <c:v>0.49027452</c:v>
                </c:pt>
                <c:pt idx="52">
                  <c:v>0.47970523</c:v>
                </c:pt>
                <c:pt idx="53">
                  <c:v>0.4696779</c:v>
                </c:pt>
                <c:pt idx="54">
                  <c:v>0.46015721</c:v>
                </c:pt>
                <c:pt idx="55">
                  <c:v>0.4511102</c:v>
                </c:pt>
                <c:pt idx="56">
                  <c:v>0.44250609</c:v>
                </c:pt>
                <c:pt idx="57">
                  <c:v>0.43431619</c:v>
                </c:pt>
                <c:pt idx="58">
                  <c:v>0.4265137</c:v>
                </c:pt>
                <c:pt idx="59">
                  <c:v>0.41907362</c:v>
                </c:pt>
                <c:pt idx="60">
                  <c:v>0.41197263</c:v>
                </c:pt>
                <c:pt idx="61">
                  <c:v>0.40518897</c:v>
                </c:pt>
                <c:pt idx="62">
                  <c:v>0.40800058</c:v>
                </c:pt>
                <c:pt idx="63">
                  <c:v>0.67891499</c:v>
                </c:pt>
                <c:pt idx="64">
                  <c:v>0.65370739</c:v>
                </c:pt>
                <c:pt idx="65">
                  <c:v>0.64021619</c:v>
                </c:pt>
                <c:pt idx="66">
                  <c:v>0.6284043</c:v>
                </c:pt>
                <c:pt idx="67">
                  <c:v>0.61682849</c:v>
                </c:pt>
                <c:pt idx="68">
                  <c:v>0.60560969</c:v>
                </c:pt>
                <c:pt idx="69">
                  <c:v>0.59483068</c:v>
                </c:pt>
                <c:pt idx="70">
                  <c:v>0.58448426</c:v>
                </c:pt>
                <c:pt idx="71">
                  <c:v>0.57454262</c:v>
                </c:pt>
                <c:pt idx="72">
                  <c:v>0.56497979</c:v>
                </c:pt>
                <c:pt idx="73">
                  <c:v>0.55577181</c:v>
                </c:pt>
                <c:pt idx="74">
                  <c:v>0.54689683</c:v>
                </c:pt>
                <c:pt idx="75">
                  <c:v>0.53833452</c:v>
                </c:pt>
                <c:pt idx="76">
                  <c:v>0.53006594</c:v>
                </c:pt>
                <c:pt idx="77">
                  <c:v>0.52207346</c:v>
                </c:pt>
                <c:pt idx="78">
                  <c:v>0.51434066</c:v>
                </c:pt>
                <c:pt idx="79">
                  <c:v>0.50685225</c:v>
                </c:pt>
                <c:pt idx="80">
                  <c:v>0.49959398</c:v>
                </c:pt>
                <c:pt idx="81">
                  <c:v>0.49255259</c:v>
                </c:pt>
                <c:pt idx="82">
                  <c:v>0.48571571</c:v>
                </c:pt>
                <c:pt idx="83">
                  <c:v>0.47907183</c:v>
                </c:pt>
                <c:pt idx="84">
                  <c:v>0.47261021</c:v>
                </c:pt>
                <c:pt idx="85">
                  <c:v>0.46632085</c:v>
                </c:pt>
                <c:pt idx="86">
                  <c:v>0.46019441</c:v>
                </c:pt>
                <c:pt idx="87">
                  <c:v>0.45422221</c:v>
                </c:pt>
                <c:pt idx="88">
                  <c:v>0.44839611</c:v>
                </c:pt>
                <c:pt idx="89">
                  <c:v>0.44270857</c:v>
                </c:pt>
                <c:pt idx="90">
                  <c:v>0.43715251</c:v>
                </c:pt>
                <c:pt idx="91">
                  <c:v>0.43172135</c:v>
                </c:pt>
                <c:pt idx="92">
                  <c:v>0.42640893</c:v>
                </c:pt>
                <c:pt idx="93">
                  <c:v>0.42120952</c:v>
                </c:pt>
                <c:pt idx="94">
                  <c:v>0.41611774</c:v>
                </c:pt>
                <c:pt idx="95">
                  <c:v>0.41112859</c:v>
                </c:pt>
                <c:pt idx="96">
                  <c:v>0.40623738</c:v>
                </c:pt>
                <c:pt idx="97">
                  <c:v>0.40143973</c:v>
                </c:pt>
                <c:pt idx="98">
                  <c:v>0.39673155</c:v>
                </c:pt>
                <c:pt idx="99">
                  <c:v>0.39210901</c:v>
                </c:pt>
                <c:pt idx="100">
                  <c:v>0.38756852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0"/>
          <c:min val="-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CEEEF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56A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5"/>
      </c:valAx>
      <c:valAx>
        <c:axId val="48650112"/>
        <c:scaling>
          <c:orientation val="minMax"/>
          <c:max val="1"/>
          <c:min val="0"/>
        </c:scaling>
        <c:delete val="0"/>
        <c:axPos val="b"/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656A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0.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Force RMSE</c:v>
          </c:tx>
          <c:spPr>
            <a:solidFill xmlns:a="http://schemas.openxmlformats.org/drawingml/2006/main">
              <a:srgbClr val="2866AB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656A7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866AB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Current motion + force</c:v>
                </c:pt>
                <c:pt idx="1">
                  <c:v>Current + lateral shape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11.503533</c:v>
                </c:pt>
                <c:pt idx="1">
                  <c:v>2.1981787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25" b="1">
                  <a:solidFill>
                    <a:srgbClr val="22242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56A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CEEE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Observed force</c:v>
          </c:tx>
          <c:spPr>
            <a:solidFill xmlns:a="http://schemas.openxmlformats.org/drawingml/2006/main">
              <a:srgbClr val="656A70"/>
            </a:solidFill>
            <a:ln xmlns:a="http://schemas.openxmlformats.org/drawingml/2006/main" w="28575">
              <a:solidFill>
                <a:srgbClr val="656A70"/>
              </a:solidFill>
              <a:prstDash val="solid"/>
            </a:ln>
          </c:spPr>
          <c:marker>
            <c:symbol val="none"/>
            <c:size val="7"/>
            <c:spPr>
              <a:solidFill xmlns:a="http://schemas.openxmlformats.org/drawingml/2006/main">
                <a:srgbClr val="656A70"/>
              </a:solidFill>
            </c:spPr>
          </c:marker>
          <c:xVal>
            <c:numRef>
              <c:f>'Chart Data'!$A$2:$A$142</c:f>
              <c:numCache>
                <c:formatCode>General</c:formatCode>
                <c:ptCount val="14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0.07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</c:v>
                </c:pt>
                <c:pt idx="29">
                  <c:v>0.29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  <c:pt idx="51">
                  <c:v>0.51</c:v>
                </c:pt>
                <c:pt idx="52">
                  <c:v>0.52</c:v>
                </c:pt>
                <c:pt idx="53">
                  <c:v>0.53</c:v>
                </c:pt>
                <c:pt idx="54">
                  <c:v>0.54</c:v>
                </c:pt>
                <c:pt idx="55">
                  <c:v>0.55</c:v>
                </c:pt>
                <c:pt idx="56">
                  <c:v>0.56</c:v>
                </c:pt>
                <c:pt idx="57">
                  <c:v>0.57</c:v>
                </c:pt>
                <c:pt idx="58">
                  <c:v>0.58</c:v>
                </c:pt>
                <c:pt idx="59">
                  <c:v>0.59</c:v>
                </c:pt>
                <c:pt idx="60">
                  <c:v>0.6</c:v>
                </c:pt>
                <c:pt idx="61">
                  <c:v>0.61</c:v>
                </c:pt>
                <c:pt idx="62">
                  <c:v>0.62</c:v>
                </c:pt>
                <c:pt idx="63">
                  <c:v>0.63</c:v>
                </c:pt>
                <c:pt idx="64">
                  <c:v>0.64</c:v>
                </c:pt>
                <c:pt idx="65">
                  <c:v>0.65</c:v>
                </c:pt>
                <c:pt idx="66">
                  <c:v>0.66</c:v>
                </c:pt>
                <c:pt idx="67">
                  <c:v>0.67</c:v>
                </c:pt>
                <c:pt idx="68">
                  <c:v>0.68</c:v>
                </c:pt>
                <c:pt idx="69">
                  <c:v>0.69</c:v>
                </c:pt>
                <c:pt idx="70">
                  <c:v>0.7</c:v>
                </c:pt>
                <c:pt idx="71">
                  <c:v>0.71</c:v>
                </c:pt>
                <c:pt idx="72">
                  <c:v>0.72</c:v>
                </c:pt>
                <c:pt idx="73">
                  <c:v>0.73</c:v>
                </c:pt>
                <c:pt idx="74">
                  <c:v>0.74</c:v>
                </c:pt>
                <c:pt idx="75">
                  <c:v>0.75</c:v>
                </c:pt>
                <c:pt idx="76">
                  <c:v>0.76</c:v>
                </c:pt>
                <c:pt idx="77">
                  <c:v>0.77</c:v>
                </c:pt>
                <c:pt idx="78">
                  <c:v>0.78</c:v>
                </c:pt>
                <c:pt idx="79">
                  <c:v>0.79</c:v>
                </c:pt>
                <c:pt idx="80">
                  <c:v>0.8</c:v>
                </c:pt>
                <c:pt idx="81">
                  <c:v>0.81</c:v>
                </c:pt>
                <c:pt idx="82">
                  <c:v>0.82</c:v>
                </c:pt>
                <c:pt idx="83">
                  <c:v>0.83</c:v>
                </c:pt>
                <c:pt idx="84">
                  <c:v>0.84</c:v>
                </c:pt>
                <c:pt idx="85">
                  <c:v>0.85</c:v>
                </c:pt>
                <c:pt idx="86">
                  <c:v>0.86</c:v>
                </c:pt>
                <c:pt idx="87">
                  <c:v>0.87</c:v>
                </c:pt>
                <c:pt idx="88">
                  <c:v>0.88</c:v>
                </c:pt>
                <c:pt idx="89">
                  <c:v>0.89</c:v>
                </c:pt>
                <c:pt idx="90">
                  <c:v>0.9</c:v>
                </c:pt>
                <c:pt idx="91">
                  <c:v>0.91</c:v>
                </c:pt>
                <c:pt idx="92">
                  <c:v>0.92</c:v>
                </c:pt>
                <c:pt idx="93">
                  <c:v>0.93</c:v>
                </c:pt>
                <c:pt idx="94">
                  <c:v>0.94</c:v>
                </c:pt>
                <c:pt idx="95">
                  <c:v>0.95</c:v>
                </c:pt>
                <c:pt idx="96">
                  <c:v>0.96</c:v>
                </c:pt>
                <c:pt idx="97">
                  <c:v>0.97</c:v>
                </c:pt>
                <c:pt idx="98">
                  <c:v>0.98</c:v>
                </c:pt>
                <c:pt idx="99">
                  <c:v>0.99</c:v>
                </c:pt>
                <c:pt idx="100">
                  <c:v>1</c:v>
                </c:pt>
                <c:pt idx="101">
                  <c:v>1.01</c:v>
                </c:pt>
                <c:pt idx="102">
                  <c:v>1.02</c:v>
                </c:pt>
                <c:pt idx="103">
                  <c:v>1.03</c:v>
                </c:pt>
                <c:pt idx="104">
                  <c:v>1.04</c:v>
                </c:pt>
                <c:pt idx="105">
                  <c:v>1.05</c:v>
                </c:pt>
                <c:pt idx="106">
                  <c:v>1.06</c:v>
                </c:pt>
                <c:pt idx="107">
                  <c:v>1.07</c:v>
                </c:pt>
                <c:pt idx="108">
                  <c:v>1.08</c:v>
                </c:pt>
                <c:pt idx="109">
                  <c:v>1.09</c:v>
                </c:pt>
                <c:pt idx="110">
                  <c:v>1.1</c:v>
                </c:pt>
                <c:pt idx="111">
                  <c:v>1.11</c:v>
                </c:pt>
                <c:pt idx="112">
                  <c:v>1.12</c:v>
                </c:pt>
                <c:pt idx="113">
                  <c:v>1.13</c:v>
                </c:pt>
                <c:pt idx="114">
                  <c:v>1.14</c:v>
                </c:pt>
                <c:pt idx="115">
                  <c:v>1.15</c:v>
                </c:pt>
                <c:pt idx="116">
                  <c:v>1.16</c:v>
                </c:pt>
                <c:pt idx="117">
                  <c:v>1.17</c:v>
                </c:pt>
                <c:pt idx="118">
                  <c:v>1.18</c:v>
                </c:pt>
                <c:pt idx="119">
                  <c:v>1.19</c:v>
                </c:pt>
                <c:pt idx="120">
                  <c:v>1.2</c:v>
                </c:pt>
                <c:pt idx="121">
                  <c:v>1.21</c:v>
                </c:pt>
                <c:pt idx="122">
                  <c:v>1.22</c:v>
                </c:pt>
                <c:pt idx="123">
                  <c:v>1.23</c:v>
                </c:pt>
                <c:pt idx="124">
                  <c:v>1.24</c:v>
                </c:pt>
                <c:pt idx="125">
                  <c:v>1.25</c:v>
                </c:pt>
                <c:pt idx="126">
                  <c:v>1.26</c:v>
                </c:pt>
                <c:pt idx="127">
                  <c:v>1.27</c:v>
                </c:pt>
                <c:pt idx="128">
                  <c:v>1.28</c:v>
                </c:pt>
                <c:pt idx="129">
                  <c:v>1.29</c:v>
                </c:pt>
                <c:pt idx="130">
                  <c:v>1.3</c:v>
                </c:pt>
                <c:pt idx="131">
                  <c:v>1.31</c:v>
                </c:pt>
                <c:pt idx="132">
                  <c:v>1.32</c:v>
                </c:pt>
                <c:pt idx="133">
                  <c:v>1.33</c:v>
                </c:pt>
                <c:pt idx="134">
                  <c:v>1.34</c:v>
                </c:pt>
                <c:pt idx="135">
                  <c:v>1.35</c:v>
                </c:pt>
                <c:pt idx="136">
                  <c:v>1.36</c:v>
                </c:pt>
                <c:pt idx="137">
                  <c:v>1.37</c:v>
                </c:pt>
                <c:pt idx="138">
                  <c:v>1.38</c:v>
                </c:pt>
                <c:pt idx="139">
                  <c:v>1.39</c:v>
                </c:pt>
                <c:pt idx="140">
                  <c:v>1.4</c:v>
                </c:pt>
              </c:numCache>
            </c:numRef>
          </c:xVal>
          <c:yVal>
            <c:numRef>
              <c:f>'Chart Data'!$B$2:$B$142</c:f>
              <c:numCache>
                <c:formatCode>General</c:formatCode>
                <c:ptCount val="141"/>
                <c:pt idx="0">
                  <c:v>0.43245563</c:v>
                </c:pt>
                <c:pt idx="1">
                  <c:v>1.6061364</c:v>
                </c:pt>
                <c:pt idx="2">
                  <c:v>-2.8097871</c:v>
                </c:pt>
                <c:pt idx="3">
                  <c:v>-2.2019095</c:v>
                </c:pt>
                <c:pt idx="4">
                  <c:v>1.2090649</c:v>
                </c:pt>
                <c:pt idx="5">
                  <c:v>0.80067032</c:v>
                </c:pt>
                <c:pt idx="6">
                  <c:v>1.5498661</c:v>
                </c:pt>
                <c:pt idx="7">
                  <c:v>0.89204108</c:v>
                </c:pt>
                <c:pt idx="8">
                  <c:v>1.3125331</c:v>
                </c:pt>
                <c:pt idx="9">
                  <c:v>0.25590126</c:v>
                </c:pt>
                <c:pt idx="10">
                  <c:v>-0.98434897</c:v>
                </c:pt>
                <c:pt idx="11">
                  <c:v>-0.49955927</c:v>
                </c:pt>
                <c:pt idx="12">
                  <c:v>4.9693212</c:v>
                </c:pt>
                <c:pt idx="13">
                  <c:v>8.9703971</c:v>
                </c:pt>
                <c:pt idx="14">
                  <c:v>20.539262</c:v>
                </c:pt>
                <c:pt idx="15">
                  <c:v>25.196165</c:v>
                </c:pt>
                <c:pt idx="16">
                  <c:v>34.153967</c:v>
                </c:pt>
                <c:pt idx="17">
                  <c:v>40.823749</c:v>
                </c:pt>
                <c:pt idx="18">
                  <c:v>46.959562</c:v>
                </c:pt>
                <c:pt idx="19">
                  <c:v>55.698908</c:v>
                </c:pt>
                <c:pt idx="20">
                  <c:v>60.697995</c:v>
                </c:pt>
                <c:pt idx="21">
                  <c:v>66.866318</c:v>
                </c:pt>
                <c:pt idx="22">
                  <c:v>78.812554</c:v>
                </c:pt>
                <c:pt idx="23">
                  <c:v>86.290605</c:v>
                </c:pt>
                <c:pt idx="24">
                  <c:v>94.537386</c:v>
                </c:pt>
                <c:pt idx="25">
                  <c:v>103.01103</c:v>
                </c:pt>
                <c:pt idx="26">
                  <c:v>111.56999</c:v>
                </c:pt>
                <c:pt idx="27">
                  <c:v>117.23662</c:v>
                </c:pt>
                <c:pt idx="28">
                  <c:v>124.3471</c:v>
                </c:pt>
                <c:pt idx="29">
                  <c:v>134.6561</c:v>
                </c:pt>
                <c:pt idx="30">
                  <c:v>136.91522</c:v>
                </c:pt>
                <c:pt idx="31">
                  <c:v>148.03621</c:v>
                </c:pt>
                <c:pt idx="32">
                  <c:v>154.01443</c:v>
                </c:pt>
                <c:pt idx="33">
                  <c:v>164.45675</c:v>
                </c:pt>
                <c:pt idx="34">
                  <c:v>169.78302</c:v>
                </c:pt>
                <c:pt idx="35">
                  <c:v>176.66873</c:v>
                </c:pt>
                <c:pt idx="36">
                  <c:v>182.60093</c:v>
                </c:pt>
                <c:pt idx="37">
                  <c:v>179.76162</c:v>
                </c:pt>
                <c:pt idx="38">
                  <c:v>179.55125</c:v>
                </c:pt>
                <c:pt idx="39">
                  <c:v>173.96082</c:v>
                </c:pt>
                <c:pt idx="40">
                  <c:v>171.98606</c:v>
                </c:pt>
                <c:pt idx="41">
                  <c:v>169.36625</c:v>
                </c:pt>
                <c:pt idx="42">
                  <c:v>167.89943</c:v>
                </c:pt>
                <c:pt idx="43">
                  <c:v>162.8557</c:v>
                </c:pt>
                <c:pt idx="44">
                  <c:v>162.45258</c:v>
                </c:pt>
                <c:pt idx="45">
                  <c:v>158.95982</c:v>
                </c:pt>
                <c:pt idx="46">
                  <c:v>156.86111</c:v>
                </c:pt>
                <c:pt idx="47">
                  <c:v>154.77684</c:v>
                </c:pt>
                <c:pt idx="48">
                  <c:v>155.06534</c:v>
                </c:pt>
                <c:pt idx="49">
                  <c:v>150.47497</c:v>
                </c:pt>
                <c:pt idx="50">
                  <c:v>151.11501</c:v>
                </c:pt>
                <c:pt idx="51">
                  <c:v>150.49153</c:v>
                </c:pt>
                <c:pt idx="52">
                  <c:v>149.53047</c:v>
                </c:pt>
                <c:pt idx="53">
                  <c:v>147.44328</c:v>
                </c:pt>
                <c:pt idx="54">
                  <c:v>144.18524</c:v>
                </c:pt>
                <c:pt idx="55">
                  <c:v>142.68196</c:v>
                </c:pt>
                <c:pt idx="56">
                  <c:v>140.34288</c:v>
                </c:pt>
                <c:pt idx="57">
                  <c:v>139.38003</c:v>
                </c:pt>
                <c:pt idx="58">
                  <c:v>139.47805</c:v>
                </c:pt>
                <c:pt idx="59">
                  <c:v>137.28151</c:v>
                </c:pt>
                <c:pt idx="60">
                  <c:v>132.4088</c:v>
                </c:pt>
                <c:pt idx="61">
                  <c:v>135.40181</c:v>
                </c:pt>
                <c:pt idx="62">
                  <c:v>133.12943</c:v>
                </c:pt>
                <c:pt idx="63">
                  <c:v>133.30711</c:v>
                </c:pt>
                <c:pt idx="64">
                  <c:v>132.39078</c:v>
                </c:pt>
                <c:pt idx="65">
                  <c:v>128.32468</c:v>
                </c:pt>
                <c:pt idx="66">
                  <c:v>130.47588</c:v>
                </c:pt>
                <c:pt idx="67">
                  <c:v>130.35738</c:v>
                </c:pt>
                <c:pt idx="68">
                  <c:v>126.87799</c:v>
                </c:pt>
                <c:pt idx="69">
                  <c:v>126.59108</c:v>
                </c:pt>
                <c:pt idx="70">
                  <c:v>127.0872</c:v>
                </c:pt>
                <c:pt idx="71">
                  <c:v>120.74323</c:v>
                </c:pt>
                <c:pt idx="72">
                  <c:v>124.80871</c:v>
                </c:pt>
                <c:pt idx="73">
                  <c:v>123.32524</c:v>
                </c:pt>
                <c:pt idx="74">
                  <c:v>122.63009</c:v>
                </c:pt>
                <c:pt idx="75">
                  <c:v>119.8844</c:v>
                </c:pt>
                <c:pt idx="76">
                  <c:v>121.41428</c:v>
                </c:pt>
                <c:pt idx="77">
                  <c:v>117.01261</c:v>
                </c:pt>
                <c:pt idx="78">
                  <c:v>118.7089</c:v>
                </c:pt>
                <c:pt idx="79">
                  <c:v>116.09785</c:v>
                </c:pt>
                <c:pt idx="80">
                  <c:v>116.91182</c:v>
                </c:pt>
                <c:pt idx="81">
                  <c:v>115.97686</c:v>
                </c:pt>
                <c:pt idx="82">
                  <c:v>114.87607</c:v>
                </c:pt>
                <c:pt idx="83">
                  <c:v>115.41178</c:v>
                </c:pt>
                <c:pt idx="84">
                  <c:v>110.97981</c:v>
                </c:pt>
                <c:pt idx="85">
                  <c:v>102.72959</c:v>
                </c:pt>
                <c:pt idx="86">
                  <c:v>87.713697</c:v>
                </c:pt>
                <c:pt idx="87">
                  <c:v>72.555889</c:v>
                </c:pt>
                <c:pt idx="88">
                  <c:v>61.398463</c:v>
                </c:pt>
                <c:pt idx="89">
                  <c:v>45.917186</c:v>
                </c:pt>
                <c:pt idx="90">
                  <c:v>32.933675</c:v>
                </c:pt>
                <c:pt idx="91">
                  <c:v>21.691557</c:v>
                </c:pt>
                <c:pt idx="92">
                  <c:v>9.8521308</c:v>
                </c:pt>
                <c:pt idx="93">
                  <c:v>-0.98710739</c:v>
                </c:pt>
                <c:pt idx="94">
                  <c:v>-1.8408432</c:v>
                </c:pt>
                <c:pt idx="95">
                  <c:v>2.4896069</c:v>
                </c:pt>
                <c:pt idx="96">
                  <c:v>3.5250869</c:v>
                </c:pt>
                <c:pt idx="97">
                  <c:v>2.1895911</c:v>
                </c:pt>
                <c:pt idx="98">
                  <c:v>-0.74918099</c:v>
                </c:pt>
                <c:pt idx="99">
                  <c:v>2.4355366</c:v>
                </c:pt>
                <c:pt idx="100">
                  <c:v>-0.74580231</c:v>
                </c:pt>
                <c:pt idx="101">
                  <c:v>0.7659496</c:v>
                </c:pt>
                <c:pt idx="102">
                  <c:v>-1.9780084</c:v>
                </c:pt>
                <c:pt idx="103">
                  <c:v>1.9137097</c:v>
                </c:pt>
                <c:pt idx="104">
                  <c:v>1.0123388</c:v>
                </c:pt>
                <c:pt idx="105">
                  <c:v>0.14707637</c:v>
                </c:pt>
                <c:pt idx="106">
                  <c:v>1.0061254</c:v>
                </c:pt>
                <c:pt idx="107">
                  <c:v>0.73234307</c:v>
                </c:pt>
                <c:pt idx="108">
                  <c:v>-1.765798</c:v>
                </c:pt>
                <c:pt idx="109">
                  <c:v>1.3816249</c:v>
                </c:pt>
                <c:pt idx="110">
                  <c:v>-1.5541125</c:v>
                </c:pt>
                <c:pt idx="111">
                  <c:v>-0.82616186</c:v>
                </c:pt>
                <c:pt idx="112">
                  <c:v>2.4877644</c:v>
                </c:pt>
                <c:pt idx="113">
                  <c:v>-0.45418833</c:v>
                </c:pt>
                <c:pt idx="114">
                  <c:v>0.4080406</c:v>
                </c:pt>
                <c:pt idx="115">
                  <c:v>-2.0976565</c:v>
                </c:pt>
                <c:pt idx="116">
                  <c:v>1.434122</c:v>
                </c:pt>
                <c:pt idx="117">
                  <c:v>-0.4693966</c:v>
                </c:pt>
                <c:pt idx="118">
                  <c:v>0.34431362</c:v>
                </c:pt>
                <c:pt idx="119">
                  <c:v>1.4463175</c:v>
                </c:pt>
                <c:pt idx="120">
                  <c:v>-2.0246982</c:v>
                </c:pt>
                <c:pt idx="121">
                  <c:v>-0.087777952</c:v>
                </c:pt>
                <c:pt idx="122">
                  <c:v>1.3721757</c:v>
                </c:pt>
                <c:pt idx="123">
                  <c:v>1.0555861</c:v>
                </c:pt>
                <c:pt idx="124">
                  <c:v>1.1562581</c:v>
                </c:pt>
                <c:pt idx="125">
                  <c:v>0.87371284</c:v>
                </c:pt>
                <c:pt idx="126">
                  <c:v>-1.363567</c:v>
                </c:pt>
                <c:pt idx="127">
                  <c:v>-0.69581252</c:v>
                </c:pt>
                <c:pt idx="128">
                  <c:v>-0.01755726</c:v>
                </c:pt>
                <c:pt idx="129">
                  <c:v>0.15895328</c:v>
                </c:pt>
                <c:pt idx="130">
                  <c:v>0.21582991</c:v>
                </c:pt>
                <c:pt idx="131">
                  <c:v>1.6828932</c:v>
                </c:pt>
                <c:pt idx="132">
                  <c:v>-0.26558655</c:v>
                </c:pt>
                <c:pt idx="133">
                  <c:v>-2.4416501</c:v>
                </c:pt>
                <c:pt idx="134">
                  <c:v>0.29222625</c:v>
                </c:pt>
                <c:pt idx="135">
                  <c:v>1.2645464</c:v>
                </c:pt>
                <c:pt idx="136">
                  <c:v>-1.6181287</c:v>
                </c:pt>
                <c:pt idx="137">
                  <c:v>-1.4768809</c:v>
                </c:pt>
                <c:pt idx="138">
                  <c:v>-1.0921419</c:v>
                </c:pt>
                <c:pt idx="139">
                  <c:v>0.69248577</c:v>
                </c:pt>
                <c:pt idx="140">
                  <c:v>1.1795438</c:v>
                </c:pt>
              </c:numCache>
            </c:numRef>
          </c:yVal>
          <c:smooth val="0"/>
        </c:ser>
        <c:ser>
          <c:idx val="1"/>
          <c:order val="1"/>
          <c:tx>
            <c:v>Contact threshold</c:v>
          </c:tx>
          <c:spPr>
            <a:solidFill xmlns:a="http://schemas.openxmlformats.org/drawingml/2006/main">
              <a:srgbClr val="C27838"/>
            </a:solidFill>
            <a:ln xmlns:a="http://schemas.openxmlformats.org/drawingml/2006/main" w="19050">
              <a:solidFill>
                <a:srgbClr val="C27838"/>
              </a:solidFill>
              <a:prstDash val="solid"/>
            </a:ln>
          </c:spPr>
          <c:marker>
            <c:symbol val="none"/>
            <c:size val="7"/>
            <c:spPr>
              <a:solidFill xmlns:a="http://schemas.openxmlformats.org/drawingml/2006/main">
                <a:srgbClr val="C27838"/>
              </a:solidFill>
            </c:spPr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1.4</c:v>
                </c:pt>
              </c:numCache>
            </c:numRef>
          </c:xVal>
          <c:yVal>
            <c:numRef>
              <c:f>'Chart Data'!$D$2:$D$3</c:f>
              <c:numCache>
                <c:formatCode>General</c:formatCode>
                <c:ptCount val="2"/>
                <c:pt idx="0">
                  <c:v>4.5</c:v>
                </c:pt>
                <c:pt idx="1">
                  <c:v>4.5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00"/>
          <c:min val="-1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CEEEF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56A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1.4"/>
          <c:min val="0"/>
        </c:scaling>
        <c:delete val="0"/>
        <c:axPos val="b"/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656A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0.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Without lateral</c:v>
          </c:tx>
          <c:spPr>
            <a:solidFill xmlns:a="http://schemas.openxmlformats.org/drawingml/2006/main">
              <a:srgbClr val="656A70"/>
            </a:solidFill>
            <a:ln xmlns:a="http://schemas.openxmlformats.org/drawingml/2006/main" w="28575">
              <a:solidFill>
                <a:srgbClr val="656A70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656A70"/>
              </a:solidFill>
            </c:spPr>
          </c:marker>
          <c:xVal>
            <c:numRef>
              <c:f>'Chart Data'!$A$2:$A$4</c:f>
              <c:numCache>
                <c:formatCode>General</c:formatCode>
                <c:ptCount val="3"/>
                <c:pt idx="0">
                  <c:v>0</c:v>
                </c:pt>
                <c:pt idx="1">
                  <c:v>0.2</c:v>
                </c:pt>
                <c:pt idx="2">
                  <c:v>0.8</c:v>
                </c:pt>
              </c:numCache>
            </c:numRef>
          </c:xVal>
          <c:yVal>
            <c:numRef>
              <c:f>'Chart Data'!$B$2:$B$4</c:f>
              <c:numCache>
                <c:formatCode>General</c:formatCode>
                <c:ptCount val="3"/>
                <c:pt idx="0">
                  <c:v>11.503533</c:v>
                </c:pt>
                <c:pt idx="1">
                  <c:v>12.753014</c:v>
                </c:pt>
                <c:pt idx="2">
                  <c:v>0.3138211</c:v>
                </c:pt>
              </c:numCache>
            </c:numRef>
          </c:yVal>
          <c:smooth val="0"/>
        </c:ser>
        <c:ser>
          <c:idx val="1"/>
          <c:order val="1"/>
          <c:tx>
            <c:v>With lateral</c:v>
          </c:tx>
          <c:spPr>
            <a:solidFill xmlns:a="http://schemas.openxmlformats.org/drawingml/2006/main">
              <a:srgbClr val="2866AB"/>
            </a:solidFill>
            <a:ln xmlns:a="http://schemas.openxmlformats.org/drawingml/2006/main" w="28575">
              <a:solidFill>
                <a:srgbClr val="2866AB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2866AB"/>
              </a:solidFill>
            </c:spPr>
          </c:marker>
          <c:xVal>
            <c:numRef>
              <c:f>'Chart Data'!$C$2:$C$4</c:f>
              <c:numCache>
                <c:formatCode>General</c:formatCode>
                <c:ptCount val="3"/>
                <c:pt idx="0">
                  <c:v>0</c:v>
                </c:pt>
                <c:pt idx="1">
                  <c:v>0.2</c:v>
                </c:pt>
                <c:pt idx="2">
                  <c:v>0.8</c:v>
                </c:pt>
              </c:numCache>
            </c:numRef>
          </c:xVal>
          <c:yVal>
            <c:numRef>
              <c:f>'Chart Data'!$D$2:$D$4</c:f>
              <c:numCache>
                <c:formatCode>General</c:formatCode>
                <c:ptCount val="3"/>
                <c:pt idx="0">
                  <c:v>2.1981787</c:v>
                </c:pt>
                <c:pt idx="1">
                  <c:v>1.2863597</c:v>
                </c:pt>
                <c:pt idx="2">
                  <c:v>0.23041406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CEEEF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56A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"/>
      </c:valAx>
      <c:valAx>
        <c:axId val="48650112"/>
        <c:scaling>
          <c:orientation val="minMax"/>
          <c:max val="0.8"/>
          <c:min val="0"/>
        </c:scaling>
        <c:delete val="0"/>
        <c:axPos val="b"/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656A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0.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24 histories</c:v>
          </c:tx>
          <c:spPr>
            <a:solidFill xmlns:a="http://schemas.openxmlformats.org/drawingml/2006/main">
              <a:srgbClr val="BAC3C9"/>
            </a:solidFill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BAC3C9"/>
              </a:solidFill>
            </c:spPr>
          </c:marker>
          <c:xVal>
            <c:numRef>
              <c:f>'Chart Data'!$A$2:$A$25</c:f>
              <c:numCache>
                <c:formatCode>General</c:formatCode>
                <c:ptCount val="24"/>
                <c:pt idx="0">
                  <c:v>8.8336355</c:v>
                </c:pt>
                <c:pt idx="1">
                  <c:v>17.297893</c:v>
                </c:pt>
                <c:pt idx="2">
                  <c:v>13.433184</c:v>
                </c:pt>
                <c:pt idx="3">
                  <c:v>4.4673041</c:v>
                </c:pt>
                <c:pt idx="4">
                  <c:v>12.423369</c:v>
                </c:pt>
                <c:pt idx="5">
                  <c:v>9.5722055</c:v>
                </c:pt>
                <c:pt idx="6">
                  <c:v>9.8690114</c:v>
                </c:pt>
                <c:pt idx="7">
                  <c:v>-0.038856044</c:v>
                </c:pt>
                <c:pt idx="8">
                  <c:v>0.80852306</c:v>
                </c:pt>
                <c:pt idx="9">
                  <c:v>13.781941</c:v>
                </c:pt>
                <c:pt idx="10">
                  <c:v>3.522638</c:v>
                </c:pt>
                <c:pt idx="11">
                  <c:v>6.8453523</c:v>
                </c:pt>
                <c:pt idx="12">
                  <c:v>19.053939</c:v>
                </c:pt>
                <c:pt idx="13">
                  <c:v>14.326623</c:v>
                </c:pt>
                <c:pt idx="14">
                  <c:v>14.018747</c:v>
                </c:pt>
                <c:pt idx="15">
                  <c:v>-0.16143372</c:v>
                </c:pt>
                <c:pt idx="16">
                  <c:v>13.310014</c:v>
                </c:pt>
                <c:pt idx="17">
                  <c:v>19.454444</c:v>
                </c:pt>
                <c:pt idx="18">
                  <c:v>7.8353156</c:v>
                </c:pt>
                <c:pt idx="19">
                  <c:v>5.4516546</c:v>
                </c:pt>
                <c:pt idx="20">
                  <c:v>1.2490055</c:v>
                </c:pt>
                <c:pt idx="21">
                  <c:v>11.672473</c:v>
                </c:pt>
                <c:pt idx="22">
                  <c:v>8.8118515</c:v>
                </c:pt>
                <c:pt idx="23">
                  <c:v>7.4896701</c:v>
                </c:pt>
              </c:numCache>
            </c:numRef>
          </c:xVal>
          <c:yVal>
            <c:numRef>
              <c:f>'Chart Data'!$B$2:$B$25</c:f>
              <c:numCache>
                <c:formatCode>General</c:formatCode>
                <c:ptCount val="24"/>
                <c:pt idx="0">
                  <c:v>-0.18</c:v>
                </c:pt>
                <c:pt idx="1">
                  <c:v>-0.09</c:v>
                </c:pt>
                <c:pt idx="2">
                  <c:v>0</c:v>
                </c:pt>
                <c:pt idx="3">
                  <c:v>0.09</c:v>
                </c:pt>
                <c:pt idx="4">
                  <c:v>0.18</c:v>
                </c:pt>
                <c:pt idx="5">
                  <c:v>-0.18</c:v>
                </c:pt>
                <c:pt idx="6">
                  <c:v>-0.09</c:v>
                </c:pt>
                <c:pt idx="7">
                  <c:v>0</c:v>
                </c:pt>
                <c:pt idx="8">
                  <c:v>0.09</c:v>
                </c:pt>
                <c:pt idx="9">
                  <c:v>0.18</c:v>
                </c:pt>
                <c:pt idx="10">
                  <c:v>-0.18</c:v>
                </c:pt>
                <c:pt idx="11">
                  <c:v>-0.09</c:v>
                </c:pt>
                <c:pt idx="12">
                  <c:v>0</c:v>
                </c:pt>
                <c:pt idx="13">
                  <c:v>0.09</c:v>
                </c:pt>
                <c:pt idx="14">
                  <c:v>0.18</c:v>
                </c:pt>
                <c:pt idx="15">
                  <c:v>-0.18</c:v>
                </c:pt>
                <c:pt idx="16">
                  <c:v>-0.09</c:v>
                </c:pt>
                <c:pt idx="17">
                  <c:v>0</c:v>
                </c:pt>
                <c:pt idx="18">
                  <c:v>0.09</c:v>
                </c:pt>
                <c:pt idx="19">
                  <c:v>0.18</c:v>
                </c:pt>
                <c:pt idx="20">
                  <c:v>-0.18</c:v>
                </c:pt>
                <c:pt idx="21">
                  <c:v>-0.09</c:v>
                </c:pt>
                <c:pt idx="22">
                  <c:v>0</c:v>
                </c:pt>
                <c:pt idx="23">
                  <c:v>0.09</c:v>
                </c:pt>
              </c:numCache>
            </c:numRef>
          </c:yVal>
          <c:smooth val="0"/>
        </c:ser>
        <c:ser>
          <c:idx val="1"/>
          <c:order val="1"/>
          <c:tx>
            <c:v>95% interval</c:v>
          </c:tx>
          <c:spPr>
            <a:solidFill xmlns:a="http://schemas.openxmlformats.org/drawingml/2006/main">
              <a:srgbClr val="2866AB"/>
            </a:solidFill>
            <a:ln xmlns:a="http://schemas.openxmlformats.org/drawingml/2006/main" w="38100">
              <a:solidFill>
                <a:srgbClr val="2866AB"/>
              </a:solidFill>
              <a:prstDash val="solid"/>
            </a:ln>
          </c:spPr>
          <c:marker>
            <c:symbol val="none"/>
            <c:size val="7"/>
            <c:spPr>
              <a:solidFill xmlns:a="http://schemas.openxmlformats.org/drawingml/2006/main">
                <a:srgbClr val="2866AB"/>
              </a:solidFill>
            </c:spPr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7.0565326</c:v>
                </c:pt>
                <c:pt idx="1">
                  <c:v>11.57421</c:v>
                </c:pt>
              </c:numCache>
            </c:numRef>
          </c:xVal>
          <c:yVal>
            <c:numRef>
              <c:f>'Chart Data'!$D$2:$D$3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  <c:smooth val="0"/>
        </c:ser>
        <c:ser>
          <c:idx val="2"/>
          <c:order val="2"/>
          <c:tx>
            <c:v>Mean</c:v>
          </c:tx>
          <c:spPr>
            <a:solidFill xmlns:a="http://schemas.openxmlformats.org/drawingml/2006/main">
              <a:srgbClr val="2866AB"/>
            </a:solidFill>
            <a:ln xmlns:a="http://schemas.openxmlformats.org/drawingml/2006/main" w="0">
              <a:noFill/>
            </a:ln>
          </c:spPr>
          <c:marker>
            <c:symbol val="diamond"/>
            <c:size val="7"/>
            <c:spPr>
              <a:solidFill xmlns:a="http://schemas.openxmlformats.org/drawingml/2006/main">
                <a:srgbClr val="2866AB"/>
              </a:solidFill>
            </c:spPr>
          </c:marker>
          <c:xVal>
            <c:numRef>
              <c:f>'Chart Data'!$E$2:$E$2</c:f>
              <c:numCache>
                <c:formatCode>General</c:formatCode>
                <c:ptCount val="1"/>
                <c:pt idx="0">
                  <c:v>9.3053543</c:v>
                </c:pt>
              </c:numCache>
            </c:numRef>
          </c:xVal>
          <c:yVal>
            <c:numRef>
              <c:f>'Chart Data'!$F$2:$F$2</c:f>
              <c:numCache>
                <c:formatCode>General</c:formatCode>
                <c:ptCount val="1"/>
                <c:pt idx="0">
                  <c:v>0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5"/>
          <c:min val="-0.5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56A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25"/>
          <c:min val="-5"/>
        </c:scaling>
        <c:delete val="0"/>
        <c:axPos val="b"/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ADDE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24 histories</c:v>
          </c:tx>
          <c:spPr>
            <a:solidFill xmlns:a="http://schemas.openxmlformats.org/drawingml/2006/main">
              <a:srgbClr val="BAC3C9"/>
            </a:solidFill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BAC3C9"/>
              </a:solidFill>
            </c:spPr>
          </c:marker>
          <c:xVal>
            <c:numRef>
              <c:f>'Chart Data'!$A$2:$A$25</c:f>
              <c:numCache>
                <c:formatCode>General</c:formatCode>
                <c:ptCount val="24"/>
                <c:pt idx="0">
                  <c:v>-1.1581864</c:v>
                </c:pt>
                <c:pt idx="1">
                  <c:v>0.80323766</c:v>
                </c:pt>
                <c:pt idx="2">
                  <c:v>1.2763668</c:v>
                </c:pt>
                <c:pt idx="3">
                  <c:v>2.199763</c:v>
                </c:pt>
                <c:pt idx="4">
                  <c:v>1.0274193</c:v>
                </c:pt>
                <c:pt idx="5">
                  <c:v>0.44547809</c:v>
                </c:pt>
                <c:pt idx="6">
                  <c:v>-0.43476294</c:v>
                </c:pt>
                <c:pt idx="7">
                  <c:v>1.0428918</c:v>
                </c:pt>
                <c:pt idx="8">
                  <c:v>2.4127628</c:v>
                </c:pt>
                <c:pt idx="9">
                  <c:v>0.40790782</c:v>
                </c:pt>
                <c:pt idx="10">
                  <c:v>0.92803142</c:v>
                </c:pt>
                <c:pt idx="11">
                  <c:v>2.1981743</c:v>
                </c:pt>
                <c:pt idx="12">
                  <c:v>0.38665096</c:v>
                </c:pt>
                <c:pt idx="13">
                  <c:v>0.81686587</c:v>
                </c:pt>
                <c:pt idx="14">
                  <c:v>1.4746337</c:v>
                </c:pt>
                <c:pt idx="15">
                  <c:v>0.49908863</c:v>
                </c:pt>
                <c:pt idx="16">
                  <c:v>2.1860167</c:v>
                </c:pt>
                <c:pt idx="17">
                  <c:v>0.94345981</c:v>
                </c:pt>
                <c:pt idx="18">
                  <c:v>1.5925044</c:v>
                </c:pt>
                <c:pt idx="19">
                  <c:v>0.099429687</c:v>
                </c:pt>
                <c:pt idx="20">
                  <c:v>1.4891375</c:v>
                </c:pt>
                <c:pt idx="21">
                  <c:v>0.6091326</c:v>
                </c:pt>
                <c:pt idx="22">
                  <c:v>0.7013753</c:v>
                </c:pt>
                <c:pt idx="23">
                  <c:v>-0.063723844</c:v>
                </c:pt>
              </c:numCache>
            </c:numRef>
          </c:xVal>
          <c:yVal>
            <c:numRef>
              <c:f>'Chart Data'!$B$2:$B$25</c:f>
              <c:numCache>
                <c:formatCode>General</c:formatCode>
                <c:ptCount val="24"/>
                <c:pt idx="0">
                  <c:v>-0.18</c:v>
                </c:pt>
                <c:pt idx="1">
                  <c:v>-0.09</c:v>
                </c:pt>
                <c:pt idx="2">
                  <c:v>0</c:v>
                </c:pt>
                <c:pt idx="3">
                  <c:v>0.09</c:v>
                </c:pt>
                <c:pt idx="4">
                  <c:v>0.18</c:v>
                </c:pt>
                <c:pt idx="5">
                  <c:v>-0.18</c:v>
                </c:pt>
                <c:pt idx="6">
                  <c:v>-0.09</c:v>
                </c:pt>
                <c:pt idx="7">
                  <c:v>0</c:v>
                </c:pt>
                <c:pt idx="8">
                  <c:v>0.09</c:v>
                </c:pt>
                <c:pt idx="9">
                  <c:v>0.18</c:v>
                </c:pt>
                <c:pt idx="10">
                  <c:v>-0.18</c:v>
                </c:pt>
                <c:pt idx="11">
                  <c:v>-0.09</c:v>
                </c:pt>
                <c:pt idx="12">
                  <c:v>0</c:v>
                </c:pt>
                <c:pt idx="13">
                  <c:v>0.09</c:v>
                </c:pt>
                <c:pt idx="14">
                  <c:v>0.18</c:v>
                </c:pt>
                <c:pt idx="15">
                  <c:v>-0.18</c:v>
                </c:pt>
                <c:pt idx="16">
                  <c:v>-0.09</c:v>
                </c:pt>
                <c:pt idx="17">
                  <c:v>0</c:v>
                </c:pt>
                <c:pt idx="18">
                  <c:v>0.09</c:v>
                </c:pt>
                <c:pt idx="19">
                  <c:v>0.18</c:v>
                </c:pt>
                <c:pt idx="20">
                  <c:v>-0.18</c:v>
                </c:pt>
                <c:pt idx="21">
                  <c:v>-0.09</c:v>
                </c:pt>
                <c:pt idx="22">
                  <c:v>0</c:v>
                </c:pt>
                <c:pt idx="23">
                  <c:v>0.09</c:v>
                </c:pt>
              </c:numCache>
            </c:numRef>
          </c:yVal>
          <c:smooth val="0"/>
        </c:ser>
        <c:ser>
          <c:idx val="1"/>
          <c:order val="1"/>
          <c:tx>
            <c:v>95% interval</c:v>
          </c:tx>
          <c:spPr>
            <a:solidFill xmlns:a="http://schemas.openxmlformats.org/drawingml/2006/main">
              <a:srgbClr val="178479"/>
            </a:solidFill>
            <a:ln xmlns:a="http://schemas.openxmlformats.org/drawingml/2006/main" w="38100">
              <a:solidFill>
                <a:srgbClr val="178479"/>
              </a:solidFill>
              <a:prstDash val="solid"/>
            </a:ln>
          </c:spPr>
          <c:marker>
            <c:symbol val="none"/>
            <c:size val="7"/>
            <c:spPr>
              <a:solidFill xmlns:a="http://schemas.openxmlformats.org/drawingml/2006/main">
                <a:srgbClr val="178479"/>
              </a:solidFill>
            </c:spPr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0.57087321</c:v>
                </c:pt>
                <c:pt idx="1">
                  <c:v>1.2680169</c:v>
                </c:pt>
              </c:numCache>
            </c:numRef>
          </c:xVal>
          <c:yVal>
            <c:numRef>
              <c:f>'Chart Data'!$D$2:$D$3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  <c:smooth val="0"/>
        </c:ser>
        <c:ser>
          <c:idx val="2"/>
          <c:order val="2"/>
          <c:tx>
            <c:v>Mean</c:v>
          </c:tx>
          <c:spPr>
            <a:solidFill xmlns:a="http://schemas.openxmlformats.org/drawingml/2006/main">
              <a:srgbClr val="178479"/>
            </a:solidFill>
            <a:ln xmlns:a="http://schemas.openxmlformats.org/drawingml/2006/main" w="0">
              <a:noFill/>
            </a:ln>
          </c:spPr>
          <c:marker>
            <c:symbol val="diamond"/>
            <c:size val="7"/>
            <c:spPr>
              <a:solidFill xmlns:a="http://schemas.openxmlformats.org/drawingml/2006/main">
                <a:srgbClr val="178479"/>
              </a:solidFill>
            </c:spPr>
          </c:marker>
          <c:xVal>
            <c:numRef>
              <c:f>'Chart Data'!$E$2:$E$2</c:f>
              <c:numCache>
                <c:formatCode>General</c:formatCode>
                <c:ptCount val="1"/>
                <c:pt idx="0">
                  <c:v>0.91181895</c:v>
                </c:pt>
              </c:numCache>
            </c:numRef>
          </c:xVal>
          <c:yVal>
            <c:numRef>
              <c:f>'Chart Data'!$F$2:$F$2</c:f>
              <c:numCache>
                <c:formatCode>General</c:formatCode>
                <c:ptCount val="1"/>
                <c:pt idx="0">
                  <c:v>0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5"/>
          <c:min val="-0.5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56A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4"/>
          <c:min val="-2"/>
        </c:scaling>
        <c:delete val="0"/>
        <c:axPos val="b"/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ADDE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24 histories</c:v>
          </c:tx>
          <c:spPr>
            <a:solidFill xmlns:a="http://schemas.openxmlformats.org/drawingml/2006/main">
              <a:srgbClr val="BAC3C9"/>
            </a:solidFill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BAC3C9"/>
              </a:solidFill>
            </c:spPr>
          </c:marker>
          <c:xVal>
            <c:numRef>
              <c:f>'Chart Data'!$A$2:$A$25</c:f>
              <c:numCache>
                <c:formatCode>General</c:formatCode>
                <c:ptCount val="24"/>
                <c:pt idx="0">
                  <c:v>0.98589542</c:v>
                </c:pt>
                <c:pt idx="1">
                  <c:v>1.9181155</c:v>
                </c:pt>
                <c:pt idx="2">
                  <c:v>2.0190219</c:v>
                </c:pt>
                <c:pt idx="3">
                  <c:v>2.8875149</c:v>
                </c:pt>
                <c:pt idx="4">
                  <c:v>2.2292544</c:v>
                </c:pt>
                <c:pt idx="5">
                  <c:v>1.1749816</c:v>
                </c:pt>
                <c:pt idx="6">
                  <c:v>1.0537575</c:v>
                </c:pt>
                <c:pt idx="7">
                  <c:v>2.5831834</c:v>
                </c:pt>
                <c:pt idx="8">
                  <c:v>3.5612028</c:v>
                </c:pt>
                <c:pt idx="9">
                  <c:v>2.0287316</c:v>
                </c:pt>
                <c:pt idx="10">
                  <c:v>1.7989672</c:v>
                </c:pt>
                <c:pt idx="11">
                  <c:v>3.3165945</c:v>
                </c:pt>
                <c:pt idx="12">
                  <c:v>0.76046619</c:v>
                </c:pt>
                <c:pt idx="13">
                  <c:v>1.6504241</c:v>
                </c:pt>
                <c:pt idx="14">
                  <c:v>1.5814082</c:v>
                </c:pt>
                <c:pt idx="15">
                  <c:v>2.26377</c:v>
                </c:pt>
                <c:pt idx="16">
                  <c:v>3.2673515</c:v>
                </c:pt>
                <c:pt idx="17">
                  <c:v>1.4896182</c:v>
                </c:pt>
                <c:pt idx="18">
                  <c:v>2.6006016</c:v>
                </c:pt>
                <c:pt idx="19">
                  <c:v>1.0948974</c:v>
                </c:pt>
                <c:pt idx="20">
                  <c:v>2.2822191</c:v>
                </c:pt>
                <c:pt idx="21">
                  <c:v>1.9413945</c:v>
                </c:pt>
                <c:pt idx="22">
                  <c:v>1.3009086</c:v>
                </c:pt>
                <c:pt idx="23">
                  <c:v>1.4360709</c:v>
                </c:pt>
              </c:numCache>
            </c:numRef>
          </c:xVal>
          <c:yVal>
            <c:numRef>
              <c:f>'Chart Data'!$B$2:$B$25</c:f>
              <c:numCache>
                <c:formatCode>General</c:formatCode>
                <c:ptCount val="24"/>
                <c:pt idx="0">
                  <c:v>-0.18</c:v>
                </c:pt>
                <c:pt idx="1">
                  <c:v>-0.09</c:v>
                </c:pt>
                <c:pt idx="2">
                  <c:v>0</c:v>
                </c:pt>
                <c:pt idx="3">
                  <c:v>0.09</c:v>
                </c:pt>
                <c:pt idx="4">
                  <c:v>0.18</c:v>
                </c:pt>
                <c:pt idx="5">
                  <c:v>-0.18</c:v>
                </c:pt>
                <c:pt idx="6">
                  <c:v>-0.09</c:v>
                </c:pt>
                <c:pt idx="7">
                  <c:v>0</c:v>
                </c:pt>
                <c:pt idx="8">
                  <c:v>0.09</c:v>
                </c:pt>
                <c:pt idx="9">
                  <c:v>0.18</c:v>
                </c:pt>
                <c:pt idx="10">
                  <c:v>-0.18</c:v>
                </c:pt>
                <c:pt idx="11">
                  <c:v>-0.09</c:v>
                </c:pt>
                <c:pt idx="12">
                  <c:v>0</c:v>
                </c:pt>
                <c:pt idx="13">
                  <c:v>0.09</c:v>
                </c:pt>
                <c:pt idx="14">
                  <c:v>0.18</c:v>
                </c:pt>
                <c:pt idx="15">
                  <c:v>-0.18</c:v>
                </c:pt>
                <c:pt idx="16">
                  <c:v>-0.09</c:v>
                </c:pt>
                <c:pt idx="17">
                  <c:v>0</c:v>
                </c:pt>
                <c:pt idx="18">
                  <c:v>0.09</c:v>
                </c:pt>
                <c:pt idx="19">
                  <c:v>0.18</c:v>
                </c:pt>
                <c:pt idx="20">
                  <c:v>-0.18</c:v>
                </c:pt>
                <c:pt idx="21">
                  <c:v>-0.09</c:v>
                </c:pt>
                <c:pt idx="22">
                  <c:v>0</c:v>
                </c:pt>
                <c:pt idx="23">
                  <c:v>0.09</c:v>
                </c:pt>
              </c:numCache>
            </c:numRef>
          </c:yVal>
          <c:smooth val="0"/>
        </c:ser>
        <c:ser>
          <c:idx val="1"/>
          <c:order val="1"/>
          <c:tx>
            <c:v>95% interval</c:v>
          </c:tx>
          <c:spPr>
            <a:solidFill xmlns:a="http://schemas.openxmlformats.org/drawingml/2006/main">
              <a:srgbClr val="178479"/>
            </a:solidFill>
            <a:ln xmlns:a="http://schemas.openxmlformats.org/drawingml/2006/main" w="38100">
              <a:solidFill>
                <a:srgbClr val="178479"/>
              </a:solidFill>
              <a:prstDash val="solid"/>
            </a:ln>
          </c:spPr>
          <c:marker>
            <c:symbol val="none"/>
            <c:size val="7"/>
            <c:spPr>
              <a:solidFill xmlns:a="http://schemas.openxmlformats.org/drawingml/2006/main">
                <a:srgbClr val="178479"/>
              </a:solidFill>
            </c:spPr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1.6784017</c:v>
                </c:pt>
                <c:pt idx="1">
                  <c:v>2.2997945</c:v>
                </c:pt>
              </c:numCache>
            </c:numRef>
          </c:xVal>
          <c:yVal>
            <c:numRef>
              <c:f>'Chart Data'!$D$2:$D$3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  <c:smooth val="0"/>
        </c:ser>
        <c:ser>
          <c:idx val="2"/>
          <c:order val="2"/>
          <c:tx>
            <c:v>Mean</c:v>
          </c:tx>
          <c:spPr>
            <a:solidFill xmlns:a="http://schemas.openxmlformats.org/drawingml/2006/main">
              <a:srgbClr val="178479"/>
            </a:solidFill>
            <a:ln xmlns:a="http://schemas.openxmlformats.org/drawingml/2006/main" w="0">
              <a:noFill/>
            </a:ln>
          </c:spPr>
          <c:marker>
            <c:symbol val="diamond"/>
            <c:size val="7"/>
            <c:spPr>
              <a:solidFill xmlns:a="http://schemas.openxmlformats.org/drawingml/2006/main">
                <a:srgbClr val="178479"/>
              </a:solidFill>
            </c:spPr>
          </c:marker>
          <c:xVal>
            <c:numRef>
              <c:f>'Chart Data'!$E$2:$E$2</c:f>
              <c:numCache>
                <c:formatCode>General</c:formatCode>
                <c:ptCount val="1"/>
                <c:pt idx="0">
                  <c:v>1.9677646</c:v>
                </c:pt>
              </c:numCache>
            </c:numRef>
          </c:xVal>
          <c:yVal>
            <c:numRef>
              <c:f>'Chart Data'!$F$2:$F$2</c:f>
              <c:numCache>
                <c:formatCode>General</c:formatCode>
                <c:ptCount val="1"/>
                <c:pt idx="0">
                  <c:v>0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5"/>
          <c:min val="-0.5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56A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4"/>
          <c:min val="-2"/>
        </c:scaling>
        <c:delete val="0"/>
        <c:axPos val="b"/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ADDE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24 histories</c:v>
          </c:tx>
          <c:spPr>
            <a:solidFill xmlns:a="http://schemas.openxmlformats.org/drawingml/2006/main">
              <a:srgbClr val="BAC3C9"/>
            </a:solidFill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BAC3C9"/>
              </a:solidFill>
            </c:spPr>
          </c:marker>
          <c:xVal>
            <c:numRef>
              <c:f>'Chart Data'!$A$2:$A$25</c:f>
              <c:numCache>
                <c:formatCode>General</c:formatCode>
                <c:ptCount val="24"/>
                <c:pt idx="0">
                  <c:v>1.9485133</c:v>
                </c:pt>
                <c:pt idx="1">
                  <c:v>1.0447813</c:v>
                </c:pt>
                <c:pt idx="2">
                  <c:v>0.61502783</c:v>
                </c:pt>
                <c:pt idx="3">
                  <c:v>0.53543502</c:v>
                </c:pt>
                <c:pt idx="4">
                  <c:v>1.0504259</c:v>
                </c:pt>
                <c:pt idx="5">
                  <c:v>0.64252744</c:v>
                </c:pt>
                <c:pt idx="6">
                  <c:v>1.3842806</c:v>
                </c:pt>
                <c:pt idx="7">
                  <c:v>1.4963941</c:v>
                </c:pt>
                <c:pt idx="8">
                  <c:v>0.62622678</c:v>
                </c:pt>
                <c:pt idx="9">
                  <c:v>1.3289273</c:v>
                </c:pt>
                <c:pt idx="10">
                  <c:v>0.66747288</c:v>
                </c:pt>
                <c:pt idx="11">
                  <c:v>0.93916985</c:v>
                </c:pt>
                <c:pt idx="12">
                  <c:v>0.2647179</c:v>
                </c:pt>
                <c:pt idx="13">
                  <c:v>0.69154342</c:v>
                </c:pt>
                <c:pt idx="14">
                  <c:v>0.086390438</c:v>
                </c:pt>
                <c:pt idx="15">
                  <c:v>1.6913244</c:v>
                </c:pt>
                <c:pt idx="16">
                  <c:v>0.77118216</c:v>
                </c:pt>
                <c:pt idx="17">
                  <c:v>0.42768524</c:v>
                </c:pt>
                <c:pt idx="18">
                  <c:v>0.93269457</c:v>
                </c:pt>
                <c:pt idx="19">
                  <c:v>0.83501442</c:v>
                </c:pt>
                <c:pt idx="20">
                  <c:v>0.50960028</c:v>
                </c:pt>
                <c:pt idx="21">
                  <c:v>1.2781891</c:v>
                </c:pt>
                <c:pt idx="22">
                  <c:v>0.46591738</c:v>
                </c:pt>
                <c:pt idx="23">
                  <c:v>1.3050223</c:v>
                </c:pt>
              </c:numCache>
            </c:numRef>
          </c:xVal>
          <c:yVal>
            <c:numRef>
              <c:f>'Chart Data'!$B$2:$B$25</c:f>
              <c:numCache>
                <c:formatCode>General</c:formatCode>
                <c:ptCount val="24"/>
                <c:pt idx="0">
                  <c:v>-0.18</c:v>
                </c:pt>
                <c:pt idx="1">
                  <c:v>-0.09</c:v>
                </c:pt>
                <c:pt idx="2">
                  <c:v>0</c:v>
                </c:pt>
                <c:pt idx="3">
                  <c:v>0.09</c:v>
                </c:pt>
                <c:pt idx="4">
                  <c:v>0.18</c:v>
                </c:pt>
                <c:pt idx="5">
                  <c:v>-0.18</c:v>
                </c:pt>
                <c:pt idx="6">
                  <c:v>-0.09</c:v>
                </c:pt>
                <c:pt idx="7">
                  <c:v>0</c:v>
                </c:pt>
                <c:pt idx="8">
                  <c:v>0.09</c:v>
                </c:pt>
                <c:pt idx="9">
                  <c:v>0.18</c:v>
                </c:pt>
                <c:pt idx="10">
                  <c:v>-0.18</c:v>
                </c:pt>
                <c:pt idx="11">
                  <c:v>-0.09</c:v>
                </c:pt>
                <c:pt idx="12">
                  <c:v>0</c:v>
                </c:pt>
                <c:pt idx="13">
                  <c:v>0.09</c:v>
                </c:pt>
                <c:pt idx="14">
                  <c:v>0.18</c:v>
                </c:pt>
                <c:pt idx="15">
                  <c:v>-0.18</c:v>
                </c:pt>
                <c:pt idx="16">
                  <c:v>-0.09</c:v>
                </c:pt>
                <c:pt idx="17">
                  <c:v>0</c:v>
                </c:pt>
                <c:pt idx="18">
                  <c:v>0.09</c:v>
                </c:pt>
                <c:pt idx="19">
                  <c:v>0.18</c:v>
                </c:pt>
                <c:pt idx="20">
                  <c:v>-0.18</c:v>
                </c:pt>
                <c:pt idx="21">
                  <c:v>-0.09</c:v>
                </c:pt>
                <c:pt idx="22">
                  <c:v>0</c:v>
                </c:pt>
                <c:pt idx="23">
                  <c:v>0.09</c:v>
                </c:pt>
              </c:numCache>
            </c:numRef>
          </c:yVal>
          <c:smooth val="0"/>
        </c:ser>
        <c:ser>
          <c:idx val="1"/>
          <c:order val="1"/>
          <c:tx>
            <c:v>95% interval</c:v>
          </c:tx>
          <c:spPr>
            <a:solidFill xmlns:a="http://schemas.openxmlformats.org/drawingml/2006/main">
              <a:srgbClr val="178479"/>
            </a:solidFill>
            <a:ln xmlns:a="http://schemas.openxmlformats.org/drawingml/2006/main" w="38100">
              <a:solidFill>
                <a:srgbClr val="178479"/>
              </a:solidFill>
              <a:prstDash val="solid"/>
            </a:ln>
          </c:spPr>
          <c:marker>
            <c:symbol val="none"/>
            <c:size val="7"/>
            <c:spPr>
              <a:solidFill xmlns:a="http://schemas.openxmlformats.org/drawingml/2006/main">
                <a:srgbClr val="178479"/>
              </a:solidFill>
            </c:spPr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0.72112485</c:v>
                </c:pt>
                <c:pt idx="1">
                  <c:v>1.0836372</c:v>
                </c:pt>
              </c:numCache>
            </c:numRef>
          </c:xVal>
          <c:yVal>
            <c:numRef>
              <c:f>'Chart Data'!$D$2:$D$3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  <c:smooth val="0"/>
        </c:ser>
        <c:ser>
          <c:idx val="2"/>
          <c:order val="2"/>
          <c:tx>
            <c:v>Mean</c:v>
          </c:tx>
          <c:spPr>
            <a:solidFill xmlns:a="http://schemas.openxmlformats.org/drawingml/2006/main">
              <a:srgbClr val="178479"/>
            </a:solidFill>
            <a:ln xmlns:a="http://schemas.openxmlformats.org/drawingml/2006/main" w="0">
              <a:noFill/>
            </a:ln>
          </c:spPr>
          <c:marker>
            <c:symbol val="diamond"/>
            <c:size val="7"/>
            <c:spPr>
              <a:solidFill xmlns:a="http://schemas.openxmlformats.org/drawingml/2006/main">
                <a:srgbClr val="178479"/>
              </a:solidFill>
            </c:spPr>
          </c:marker>
          <c:xVal>
            <c:numRef>
              <c:f>'Chart Data'!$E$2:$E$2</c:f>
              <c:numCache>
                <c:formatCode>General</c:formatCode>
                <c:ptCount val="1"/>
                <c:pt idx="0">
                  <c:v>0.897436</c:v>
                </c:pt>
              </c:numCache>
            </c:numRef>
          </c:xVal>
          <c:yVal>
            <c:numRef>
              <c:f>'Chart Data'!$F$2:$F$2</c:f>
              <c:numCache>
                <c:formatCode>General</c:formatCode>
                <c:ptCount val="1"/>
                <c:pt idx="0">
                  <c:v>0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5"/>
          <c:min val="-0.5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56A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4"/>
          <c:min val="-2"/>
        </c:scaling>
        <c:delete val="0"/>
        <c:axPos val="b"/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ADDE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2A686D-0C52-4A8C-AE4F-F51E2A18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22426"/>
                </a:solidFill>
                <a:latin typeface="Arial"/>
                <a:ea typeface="Arial"/>
                <a:cs typeface="Arial"/>
              </a:rPr>
              <a:t>Object state between contacts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47BE4F-34BC-4E6E-BBB6-AF61037C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81534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526889-2247-4682-ADFA-77E08B6D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811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Second-week research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CDD2E9-3F2B-4FAD-B0EE-BEA5EB90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13239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22426"/>
                </a:solidFill>
                <a:latin typeface="Arial"/>
                <a:ea typeface="Arial"/>
                <a:cs typeface="Arial"/>
              </a:rPr>
              <a:t>What does current shape reveal,</a:t>
            </a:r>
          </a:p>
          <a:p xmlns:a="http://schemas.openxmlformats.org/drawingml/2006/main">
            <a:pPr>
              <a:defRPr sz="33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22426"/>
                </a:solidFill>
                <a:latin typeface="Arial"/>
                <a:ea typeface="Arial"/>
                <a:cs typeface="Arial"/>
              </a:rPr>
              <a:t>and what does interaction history add?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F56FA1-FFA8-4D47-967E-AECD2FB6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1257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2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22426"/>
                </a:solidFill>
                <a:latin typeface="Arial"/>
                <a:ea typeface="Arial"/>
                <a:cs typeface="Arial"/>
              </a:rPr>
              <a:t>Spatial 2D contact with fast and slow internal relaxation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7D0D19-6883-408C-A6AC-89E219FC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48325"/>
            <a:ext cx="1247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2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The current shape carries substantial information.</a:t>
            </a:r>
          </a:p>
          <a:p xmlns:a="http://schemas.openxmlformats.org/drawingml/2006/main">
            <a:pPr>
              <a:defRPr sz="22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Contact and recovery history reduce the remaining prediction error.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F7BE71-C06F-4051-A2DB-70F93956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781925"/>
            <a:ext cx="1295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28 October 2026</a:t>
            </a:r>
          </a:p>
        </p:txBody>
      </p:sp>
    </p:spTree>
    <p:extLst>
      <p:ext uri="{BB962C8B-B14F-4D97-AF65-F5344CB8AC3E}">
        <p14:creationId xmlns:p14="http://schemas.microsoft.com/office/powerpoint/2010/main" val="5046349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44C112-1DB3-494C-8C5B-53E83477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22426"/>
                </a:solidFill>
                <a:latin typeface="Arial"/>
                <a:ea typeface="Arial"/>
                <a:cs typeface="Arial"/>
              </a:rPr>
              <a:t>What changed since the first report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6AEE5A-21C6-4EB7-B56F-8BD55F82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81534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8A6C6F-E312-4377-80BA-B6CF182F6129}"/>
              </a:ext>
            </a:extLst>
          </p:cNvPr>
          <p:cNvGraphicFramePr/>
          <p:nvPr/>
        </p:nvGraphicFramePr>
        <p:xfrm>
          <a:off xmlns:a="http://schemas.openxmlformats.org/drawingml/2006/main" x="914400" y="1657350"/>
          <a:ext xmlns:a="http://schemas.openxmlformats.org/drawingml/2006/main" cx="134112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096000"/>
                <a:gridCol w="7315200"/>
              </a:tblGrid>
              <a:tr h="952500">
                <a:tc>
                  <a:txBody>
                    <a:bodyPr lIns="95250" tIns="76200" rIns="171450" bIns="76200"/>
                    <a:lstStyle/>
                    <a:p>
                      <a:r>
                        <a:rPr sz="2100" b="1">
                          <a:solidFill>
                            <a:srgbClr val="656A70"/>
                          </a:solidFill>
                          <a:latin typeface="Arial"/>
                          <a:ea typeface="Arial"/>
                          <a:cs typeface="Arial"/>
                        </a:rPr>
                        <a:t>First report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2100" b="1">
                          <a:solidFill>
                            <a:srgbClr val="656A70"/>
                          </a:solidFill>
                          <a:latin typeface="Arial"/>
                          <a:ea typeface="Arial"/>
                          <a:cs typeface="Arial"/>
                        </a:rPr>
                        <a:t>This week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lIns="95250" tIns="76200" rIns="171450" bIns="76200"/>
                    <a:lstStyle/>
                    <a:p>
                      <a:r>
                        <a:rPr sz="2100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1D motion with two internal variables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2100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Spatial 2D FEM with lateral deformation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lIns="95250" tIns="76200" rIns="171450" bIns="76200"/>
                    <a:lstStyle/>
                    <a:p>
                      <a:r>
                        <a:rPr sz="2100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History predicts different future responses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2100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Separate current shape from additional history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lIns="95250" tIns="76200" rIns="171450" bIns="76200"/>
                    <a:lstStyle/>
                    <a:p>
                      <a:r>
                        <a:rPr sz="2100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A short classical observer can already work well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2100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Separate waiting time from informative contact data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lIns="95250" tIns="76200" rIns="171450" bIns="76200"/>
                    <a:lstStyle/>
                    <a:p>
                      <a:r>
                        <a:rPr sz="2100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Shared feedback gave little extra action benefit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2100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Keep action benefit as a separate, unfinished test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1BD0B1-5D2B-4676-8256-6C1E286D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91325"/>
            <a:ext cx="1323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22426"/>
                </a:solidFill>
                <a:latin typeface="Arial"/>
                <a:ea typeface="Arial"/>
                <a:cs typeface="Arial"/>
              </a:rPr>
              <a:t>The meeting feedback motivated the 2D contact and lateral-response test.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777FCC-5C94-47FE-8D22-1BD9D5F4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781925"/>
            <a:ext cx="1295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The 2D-to-3D and lateral-response feedback comes from the recorded meeting recap.</a:t>
            </a:r>
          </a:p>
        </p:txBody>
      </p:sp>
    </p:spTree>
    <p:extLst>
      <p:ext uri="{BB962C8B-B14F-4D97-AF65-F5344CB8AC3E}">
        <p14:creationId xmlns:p14="http://schemas.microsoft.com/office/powerpoint/2010/main" val="19259076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1791F8-A130-4437-885F-F19D0B38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22426"/>
                </a:solidFill>
                <a:latin typeface="Arial"/>
                <a:ea typeface="Arial"/>
                <a:cs typeface="Arial"/>
              </a:rPr>
              <a:t>A spatial body produces the force and lateral response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34249C-DCB8-4589-9F9F-D5CD92B8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57300"/>
            <a:ext cx="1343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Fixed bottom, free sides, one round rigid indenter. The deformation comes from the FEM solution.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CECD73-AD1A-4285-984E-DD8C16E1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81534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171B5C-7B70-4100-9576-3AE7802AFE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2833d5c28049b5"/>
          <a:stretch xmlns:a="http://schemas.openxmlformats.org/drawingml/2006/main"/>
        </p:blipFill>
        <p:spPr>
          <a:xfrm xmlns:a="http://schemas.openxmlformats.org/drawingml/2006/main">
            <a:off x="2273710" y="1866900"/>
            <a:ext cx="10692581" cy="5715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174E16-5425-4B54-B0CD-4BEDFB1F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781925"/>
            <a:ext cx="1295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Recorded 2D pilot. Synthetic material. Quasistatic body with a dynamic tool. Deformation shown at 1x scale.</a:t>
            </a:r>
          </a:p>
        </p:txBody>
      </p:sp>
    </p:spTree>
    <p:extLst>
      <p:ext uri="{BB962C8B-B14F-4D97-AF65-F5344CB8AC3E}">
        <p14:creationId xmlns:p14="http://schemas.microsoft.com/office/powerpoint/2010/main" val="13779201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312499-4325-4BD7-84EF-3ED03CCB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22426"/>
                </a:solidFill>
                <a:latin typeface="Arial"/>
                <a:ea typeface="Arial"/>
                <a:cs typeface="Arial"/>
              </a:rPr>
              <a:t>The physical state contains more than the current measurement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DEB7F1-C7F3-4709-AA98-3DC1D861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81534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B67122-C8B9-4438-82DB-CDF327A5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22426"/>
                </a:solidFill>
                <a:latin typeface="Arial"/>
                <a:ea typeface="Arial"/>
                <a:cs typeface="Arial"/>
              </a:rPr>
              <a:t>Physical state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6E215B-331D-4EEE-9119-679F2482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3625"/>
            <a:ext cx="6096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32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22426"/>
                </a:solidFill>
                <a:latin typeface="Arial"/>
                <a:ea typeface="Arial"/>
                <a:cs typeface="Arial"/>
              </a:rPr>
              <a:t>Fast and slow internal strain fields</a:t>
            </a:r>
          </a:p>
          <a:p xmlns:a="http://schemas.openxmlformats.org/drawingml/2006/main">
            <a:pPr>
              <a:defRPr sz="232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22426"/>
                </a:solidFill>
                <a:latin typeface="Arial"/>
                <a:ea typeface="Arial"/>
                <a:cs typeface="Arial"/>
              </a:rPr>
              <a:t>Tool position and velocity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B008F6-90C3-4CAB-AD35-2067128B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43325"/>
            <a:ext cx="609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9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Relaxation times: 0.12 s and 0.90 s</a:t>
            </a:r>
          </a:p>
          <a:p xmlns:a="http://schemas.openxmlformats.org/drawingml/2006/main">
            <a:pPr>
              <a:defRPr sz="19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Equilibrium determines deformation and contact.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85F62C-0D82-4E9B-8C07-8427B1A0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7640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22426"/>
                </a:solidFill>
                <a:latin typeface="Arial"/>
                <a:ea typeface="Arial"/>
                <a:cs typeface="Arial"/>
              </a:rPr>
              <a:t>Available 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25D092-A3E6-4E27-AF26-F64F266C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33625"/>
            <a:ext cx="6477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32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22426"/>
                </a:solidFill>
                <a:latin typeface="Arial"/>
                <a:ea typeface="Arial"/>
                <a:cs typeface="Arial"/>
              </a:rPr>
              <a:t>Tool position, velocity and total force</a:t>
            </a:r>
          </a:p>
          <a:p xmlns:a="http://schemas.openxmlformats.org/drawingml/2006/main">
            <a:pPr>
              <a:defRPr sz="232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22426"/>
                </a:solidFill>
                <a:latin typeface="Arial"/>
                <a:ea typeface="Arial"/>
                <a:cs typeface="Arial"/>
              </a:rPr>
              <a:t>Optional left/right lateral displacement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7D8E7A-EDD7-448C-BA98-D5848577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43325"/>
            <a:ext cx="647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9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During detached waiting, force is zero.</a:t>
            </a:r>
          </a:p>
          <a:p xmlns:a="http://schemas.openxmlformats.org/drawingml/2006/main">
            <a:pPr>
              <a:defRPr sz="19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Lateral shape still changes during recovery.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1FDDDD-D486-47DD-B97D-35FB3CF6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0200"/>
            <a:ext cx="1190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22426"/>
                </a:solidFill>
                <a:latin typeface="Arial"/>
                <a:ea typeface="Arial"/>
                <a:cs typeface="Arial"/>
              </a:rPr>
              <a:t>Classical state estimate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1B9B8D-E7BA-42F8-8360-3B40FD37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48375"/>
            <a:ext cx="1304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2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22426"/>
                </a:solidFill>
                <a:latin typeface="Arial"/>
                <a:ea typeface="Arial"/>
                <a:cs typeface="Arial"/>
              </a:rPr>
              <a:t>Fit six nonnegative coefficients for the two internal fields.</a:t>
            </a:r>
          </a:p>
          <a:p xmlns:a="http://schemas.openxmlformats.org/drawingml/2006/main">
            <a:pPr>
              <a:defRPr sz="22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22426"/>
                </a:solidFill>
                <a:latin typeface="Arial"/>
                <a:ea typeface="Arial"/>
                <a:cs typeface="Arial"/>
              </a:rPr>
              <a:t>Propagate the estimate with the same FEM and a future command.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083563-C8B8-46A4-962E-DD0F44A9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781925"/>
            <a:ext cx="1295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The estimate is a restricted physical representation. Current shape alone is not a sufficiency proof.</a:t>
            </a:r>
          </a:p>
        </p:txBody>
      </p:sp>
    </p:spTree>
    <p:extLst>
      <p:ext uri="{BB962C8B-B14F-4D97-AF65-F5344CB8AC3E}">
        <p14:creationId xmlns:p14="http://schemas.microsoft.com/office/powerpoint/2010/main" val="20400554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4A89B8-94EE-4BE2-9BDE-1329A486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22426"/>
                </a:solidFill>
                <a:latin typeface="Arial"/>
                <a:ea typeface="Arial"/>
                <a:cs typeface="Arial"/>
              </a:rPr>
              <a:t>The comparison changes only the available information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774290-8034-4A6A-9184-B2194858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57300"/>
            <a:ext cx="1343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Same physical histories, prediction time, future solver and observed noise draw.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A46783-0073-4FAA-95D2-CC45B85C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81534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918380-2AD5-4BF6-AFB6-E7E9BAB71812}"/>
              </a:ext>
            </a:extLst>
          </p:cNvPr>
          <p:cNvGraphicFramePr/>
          <p:nvPr/>
        </p:nvGraphicFramePr>
        <p:xfrm>
          <a:off xmlns:a="http://schemas.openxmlformats.org/drawingml/2006/main" x="914400" y="2076450"/>
          <a:ext xmlns:a="http://schemas.openxmlformats.org/drawingml/2006/main" cx="13411200" cy="3086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762500"/>
                <a:gridCol w="5791200"/>
              </a:tblGrid>
              <a:tr h="1028700">
                <a:tc>
                  <a:txBody>
                    <a:bodyPr lIns="95250" tIns="76200" rIns="171450" bIns="76200"/>
                    <a:lstStyle/>
                    <a:p>
                      <a:r>
                        <a:rPr sz="1950" b="1">
                          <a:solidFill>
                            <a:srgbClr val="656A70"/>
                          </a:solidFill>
                          <a:latin typeface="Arial"/>
                          <a:ea typeface="Arial"/>
                          <a:cs typeface="Arial"/>
                        </a:rPr>
                        <a:t>Information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950" b="1">
                          <a:solidFill>
                            <a:srgbClr val="656A70"/>
                          </a:solidFill>
                          <a:latin typeface="Arial"/>
                          <a:ea typeface="Arial"/>
                          <a:cs typeface="Arial"/>
                        </a:rPr>
                        <a:t>Motion + force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950" b="1">
                          <a:solidFill>
                            <a:srgbClr val="656A70"/>
                          </a:solidFill>
                          <a:latin typeface="Arial"/>
                          <a:ea typeface="Arial"/>
                          <a:cs typeface="Arial"/>
                        </a:rPr>
                        <a:t>Motion + force + lateral shape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 lIns="95250" tIns="76200" rIns="171450" bIns="76200"/>
                    <a:lstStyle/>
                    <a:p>
                      <a:r>
                        <a:rPr sz="1950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Current sample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950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Position, velocity, total force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950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The same sample plus two lateral markers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 lIns="95250" tIns="76200" rIns="171450" bIns="76200"/>
                    <a:lstStyle/>
                    <a:p>
                      <a:r>
                        <a:rPr sz="1950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Recent history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950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The same channels over 0.2 or 0.8 s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950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The same window plus lateral history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D35307-B73B-4515-B398-23A3D4B1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647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22426"/>
                </a:solidFill>
                <a:latin typeface="Arial"/>
                <a:ea typeface="Arial"/>
                <a:cs typeface="Arial"/>
              </a:rPr>
              <a:t>24 independent loading histories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2B232B-AA0E-4935-B1F3-DCFE8BD8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24600"/>
            <a:ext cx="647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9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2426"/>
                </a:solidFill>
                <a:latin typeface="Arial"/>
                <a:ea typeface="Arial"/>
                <a:cs typeface="Arial"/>
              </a:rPr>
              <a:t>Three noise draws per history.</a:t>
            </a:r>
          </a:p>
          <a:p xmlns:a="http://schemas.openxmlformats.org/drawingml/2006/main">
            <a:pPr>
              <a:defRPr sz="19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2426"/>
                </a:solidFill>
                <a:latin typeface="Arial"/>
                <a:ea typeface="Arial"/>
                <a:cs typeface="Arial"/>
              </a:rPr>
              <a:t>History, rather than noise draw, is the statistical unit.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BA0589-38F6-4B68-A968-FCCD7AE8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772150"/>
            <a:ext cx="647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22426"/>
                </a:solidFill>
                <a:latin typeface="Arial"/>
                <a:ea typeface="Arial"/>
                <a:cs typeface="Arial"/>
              </a:rPr>
              <a:t>Three separate calibration histories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251C95-6F86-4855-8601-9B73B3D3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324600"/>
            <a:ext cx="647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9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2426"/>
                </a:solidFill>
                <a:latin typeface="Arial"/>
                <a:ea typeface="Arial"/>
                <a:cs typeface="Arial"/>
              </a:rPr>
              <a:t>Equal tuning budgets select one shared preset.</a:t>
            </a:r>
          </a:p>
          <a:p xmlns:a="http://schemas.openxmlformats.org/drawingml/2006/main">
            <a:pPr>
              <a:defRPr sz="19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2426"/>
                </a:solidFill>
                <a:latin typeface="Arial"/>
                <a:ea typeface="Arial"/>
                <a:cs typeface="Arial"/>
              </a:rPr>
              <a:t>Estimate once, then predict Slow and Fast press.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53708D-2D1D-4638-B438-795BAF0A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781925"/>
            <a:ext cx="1295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Prediction starts at 1.40 s. Disabled channels are absent from both initialization and fitting.</a:t>
            </a:r>
          </a:p>
        </p:txBody>
      </p:sp>
    </p:spTree>
    <p:extLst>
      <p:ext uri="{BB962C8B-B14F-4D97-AF65-F5344CB8AC3E}">
        <p14:creationId xmlns:p14="http://schemas.microsoft.com/office/powerpoint/2010/main" val="1925740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428A34-4672-4277-BD68-1FE15CAC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22426"/>
                </a:solidFill>
                <a:latin typeface="Arial"/>
                <a:ea typeface="Arial"/>
                <a:cs typeface="Arial"/>
              </a:rPr>
              <a:t>The same future command exposes different prediction errors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7E8880-1022-4C15-AC67-95A883B5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57300"/>
            <a:ext cx="1343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First prespecified test history, noise draw 0, Slow press. History conditions use the recent 0.8 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F8E265-DD99-44D4-BDD0-96080F05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81534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26136B-906F-4E7E-85F1-5BD06D6D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7167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650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56A70"/>
                </a:solidFill>
                <a:latin typeface="Arial"/>
                <a:ea typeface="Arial"/>
                <a:cs typeface="Arial"/>
              </a:rPr>
              <a:t>Current motion + force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84DE8F-DF62-419E-9566-900A77F0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7167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650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66AB"/>
                </a:solidFill>
                <a:latin typeface="Arial"/>
                <a:ea typeface="Arial"/>
                <a:cs typeface="Arial"/>
              </a:rPr>
              <a:t>Current + lateral shape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7501A5-1BEA-471B-A988-A6DE124E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7167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650" b="1">
                <a:solidFill>
                  <a:srgbClr val="C27838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C27838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C27838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C27838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C27838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C27838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C27838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C27838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C27838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C278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C278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27838"/>
                </a:solidFill>
                <a:latin typeface="Arial"/>
                <a:ea typeface="Arial"/>
                <a:cs typeface="Arial"/>
              </a:rPr>
              <a:t>0.8 s motion + force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4030DE-2385-4ED7-AEA1-7D61F118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7167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650" b="1">
                <a:solidFill>
                  <a:srgbClr val="17847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7847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7847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7847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7847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7847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7847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7847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7847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784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847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8479"/>
                </a:solidFill>
                <a:latin typeface="Arial"/>
                <a:ea typeface="Arial"/>
                <a:cs typeface="Arial"/>
              </a:rPr>
              <a:t>0.8 s + lateral shape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C011C1-7847-4149-BA06-E78782C7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197167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True response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2DC985-730A-48C1-836B-45F51CA0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609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2426"/>
                </a:solidFill>
                <a:latin typeface="Arial"/>
                <a:ea typeface="Arial"/>
                <a:cs typeface="Arial"/>
              </a:rPr>
              <a:t>Contact force (mN)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8A2DE5-BBEE-48A0-9ECC-6140E0DD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28900"/>
            <a:ext cx="609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2426"/>
                </a:solidFill>
                <a:latin typeface="Arial"/>
                <a:ea typeface="Arial"/>
                <a:cs typeface="Arial"/>
              </a:rPr>
              <a:t>Prediction error (mN)</a:t>
            </a:r>
          </a:p>
        </p:txBody>
      </p:sp>
      <p:graphicFrame>
        <p:nvGraphicFramePr>
          <p:cNvPr id="11" name="Chart">
            <a:extLst xmlns:a="http://schemas.openxmlformats.org/drawingml/2006/main">
              <a:ext uri="{FF2B5EF4-FFF2-40B4-BE49-F238E27FC236}">
                <a16:creationId xmlns:a16="http://schemas.microsoft.com/office/drawing/2014/main" id="{D1E68D60-6D99-4E05-8F86-01FA7E3833D8}"/>
              </a:ext>
            </a:extLst>
          </p:cNvPr>
          <p:cNvGraphicFramePr/>
          <p:nvPr/>
        </p:nvGraphicFramePr>
        <p:xfrm>
          <a:off xmlns:a="http://schemas.openxmlformats.org/drawingml/2006/main" x="800100" y="3133725"/>
          <a:ext xmlns:a="http://schemas.openxmlformats.org/drawingml/2006/main" cx="6572250" cy="3867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beddb1878b0443a"/>
          </a:graphicData>
        </a:graphic>
      </p:graphicFrame>
      <p:graphicFrame>
        <p:nvGraphicFramePr>
          <p:cNvPr id="12" name="Chart">
            <a:extLst xmlns:a="http://schemas.openxmlformats.org/drawingml/2006/main">
              <a:ext uri="{FF2B5EF4-FFF2-40B4-BE49-F238E27FC236}">
                <a16:creationId xmlns:a16="http://schemas.microsoft.com/office/drawing/2014/main" id="{2E7C5878-BD52-48D9-8DBD-B3CBF64F13CB}"/>
              </a:ext>
            </a:extLst>
          </p:cNvPr>
          <p:cNvGraphicFramePr/>
          <p:nvPr/>
        </p:nvGraphicFramePr>
        <p:xfrm>
          <a:off xmlns:a="http://schemas.openxmlformats.org/drawingml/2006/main" x="7734300" y="3133725"/>
          <a:ext xmlns:a="http://schemas.openxmlformats.org/drawingml/2006/main" cx="6572250" cy="3867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ecf55ad4cb6460f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AFF385-E7EE-4E04-AC08-4CE4B3A5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17232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7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Time after prediction start (s)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22164B-924D-4DB0-8BC1-2E937665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717232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7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Time after prediction start (s)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33198D-9D1F-4AF4-ABF2-67AB8171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781925"/>
            <a:ext cx="1295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All predictions start from the same observed tool state. Future achieved motion is not supplied to the estimator.</a:t>
            </a:r>
          </a:p>
        </p:txBody>
      </p:sp>
    </p:spTree>
    <p:extLst>
      <p:ext uri="{BB962C8B-B14F-4D97-AF65-F5344CB8AC3E}">
        <p14:creationId xmlns:p14="http://schemas.microsoft.com/office/powerpoint/2010/main" val="4619511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ABFAB8-55B7-41C2-8293-F80425DF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22426"/>
                </a:solidFill>
                <a:latin typeface="Arial"/>
                <a:ea typeface="Arial"/>
                <a:cs typeface="Arial"/>
              </a:rPr>
              <a:t>Current lateral shape carries substantial predictive information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10BC4C-8B9E-4A69-AF39-01749E47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57300"/>
            <a:ext cx="1343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Force RMSE for Slow press, averaged within history and then across 24 histories.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D3FB8B-11B5-4FFB-AA3E-10D09712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81534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C3EFF1FF-2C6A-4EE4-A2B8-4D5001AE78FD}"/>
              </a:ext>
            </a:extLst>
          </p:cNvPr>
          <p:cNvGraphicFramePr/>
          <p:nvPr/>
        </p:nvGraphicFramePr>
        <p:xfrm>
          <a:off xmlns:a="http://schemas.openxmlformats.org/drawingml/2006/main" x="952500" y="2371725"/>
          <a:ext xmlns:a="http://schemas.openxmlformats.org/drawingml/2006/main" cx="7810500" cy="4343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c9a3b1cf7004d6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935C2E-B524-48FD-8CCC-58A99DBD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621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2426"/>
                </a:solidFill>
                <a:latin typeface="Arial"/>
                <a:ea typeface="Arial"/>
                <a:cs typeface="Arial"/>
              </a:rPr>
              <a:t>Force RMSE (mN)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64A7FC-408F-4D9D-AA79-0E271913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52750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900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defPPr>
            <a:lvl1pPr>
              <a:defRPr sz="3900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lvl1pPr>
            <a:lvl2pPr>
              <a:defRPr sz="3900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lvl2pPr>
            <a:lvl3pPr>
              <a:defRPr sz="3900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lvl3pPr>
            <a:lvl4pPr>
              <a:defRPr sz="3900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lvl4pPr>
            <a:lvl5pPr>
              <a:defRPr sz="3900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lvl5pPr>
            <a:lvl6pPr>
              <a:defRPr sz="3900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lvl6pPr>
            <a:lvl7pPr>
              <a:defRPr sz="3900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lvl7pPr>
            <a:lvl8pPr>
              <a:defRPr sz="3900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lvl8pPr>
            <a:lvl9pPr>
              <a:defRPr sz="3900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866AB"/>
                </a:solidFill>
                <a:latin typeface="Arial"/>
                <a:ea typeface="Arial"/>
                <a:cs typeface="Arial"/>
              </a:rPr>
              <a:t>9.31 mN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028EEF-6CE1-4F4A-A536-DD8CEA1B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5762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22426"/>
                </a:solidFill>
                <a:latin typeface="Arial"/>
                <a:ea typeface="Arial"/>
                <a:cs typeface="Arial"/>
              </a:rPr>
              <a:t>paired reduction in error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974C14-BE02-4467-B42B-7ADF4453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14850"/>
            <a:ext cx="438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95% interval: 7.06 to 11.57 mN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61329F-64E4-4FF7-BCB4-4EAB19C0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762625"/>
            <a:ext cx="447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22426"/>
                </a:solidFill>
                <a:latin typeface="Arial"/>
                <a:ea typeface="Arial"/>
                <a:cs typeface="Arial"/>
              </a:rPr>
              <a:t>Shape exposes recovery</a:t>
            </a:r>
          </a:p>
          <a:p xmlns:a="http://schemas.openxmlformats.org/drawingml/2006/main">
            <a:pPr>
              <a:defRPr sz="21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22426"/>
                </a:solidFill>
                <a:latin typeface="Arial"/>
                <a:ea typeface="Arial"/>
                <a:cs typeface="Arial"/>
              </a:rPr>
              <a:t>while contact force is zero.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E28533-8EF4-447D-B472-96C73516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781925"/>
            <a:ext cx="1295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Both lateral markers share one underlying mode in this symmetric model. Their measurement noise is independent.</a:t>
            </a:r>
          </a:p>
        </p:txBody>
      </p:sp>
    </p:spTree>
    <p:extLst>
      <p:ext uri="{BB962C8B-B14F-4D97-AF65-F5344CB8AC3E}">
        <p14:creationId xmlns:p14="http://schemas.microsoft.com/office/powerpoint/2010/main" val="20157204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6F7F47-CDBE-45A5-8535-8F3F149E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22426"/>
                </a:solidFill>
                <a:latin typeface="Arial"/>
                <a:ea typeface="Arial"/>
                <a:cs typeface="Arial"/>
              </a:rPr>
              <a:t>The recent 0.2 s contains waiting, while earlier data contain contact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0644F5-43E1-4EC4-9655-6CDE8B5B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57300"/>
            <a:ext cx="1343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Example history: load to 0.36 s, hold to 0.84 s, release to 1.10 s, wait to 1.40 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ABADDE-714B-4465-88F4-2C9EE1DA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81534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36B96F-1E9D-4AA9-80E0-E2A4DF5D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2426"/>
                </a:solidFill>
                <a:latin typeface="Arial"/>
                <a:ea typeface="Arial"/>
                <a:cs typeface="Arial"/>
              </a:rPr>
              <a:t>Observed contact force (mN)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70291AA9-E1E8-4E77-B513-96C32854D936}"/>
              </a:ext>
            </a:extLst>
          </p:cNvPr>
          <p:cNvGraphicFramePr/>
          <p:nvPr/>
        </p:nvGraphicFramePr>
        <p:xfrm>
          <a:off xmlns:a="http://schemas.openxmlformats.org/drawingml/2006/main" x="800100" y="2524125"/>
          <a:ext xmlns:a="http://schemas.openxmlformats.org/drawingml/2006/main" cx="13449300" cy="2305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bebcbb7b25f4502"/>
          </a:graphicData>
        </a:graphic>
      </p:graphicFrame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E05C41-EDFF-4F84-8A29-C5645EB2B2CE}"/>
              </a:ext>
            </a:extLst>
          </p:cNvPr>
          <p:cNvGraphicFramePr/>
          <p:nvPr/>
        </p:nvGraphicFramePr>
        <p:xfrm>
          <a:off xmlns:a="http://schemas.openxmlformats.org/drawingml/2006/main" x="914400" y="5172075"/>
          <a:ext xmlns:a="http://schemas.openxmlformats.org/drawingml/2006/main" cx="13411200" cy="2209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333750"/>
                <a:gridCol w="3333750"/>
                <a:gridCol w="3124200"/>
              </a:tblGrid>
              <a:tr h="552450">
                <a:tc>
                  <a:txBody>
                    <a:bodyPr lIns="95250" tIns="76200" rIns="171450" bIns="76200"/>
                    <a:lstStyle/>
                    <a:p>
                      <a:r>
                        <a:rPr sz="1725" b="1">
                          <a:solidFill>
                            <a:srgbClr val="656A70"/>
                          </a:solidFill>
                          <a:latin typeface="Arial"/>
                          <a:ea typeface="Arial"/>
                          <a:cs typeface="Arial"/>
                        </a:rPr>
                        <a:t>Estimator input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725" b="1">
                          <a:solidFill>
                            <a:srgbClr val="656A70"/>
                          </a:solidFill>
                          <a:latin typeface="Arial"/>
                          <a:ea typeface="Arial"/>
                          <a:cs typeface="Arial"/>
                        </a:rPr>
                        <a:t>Observation update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725" b="1">
                          <a:solidFill>
                            <a:srgbClr val="656A70"/>
                          </a:solidFill>
                          <a:latin typeface="Arial"/>
                          <a:ea typeface="Arial"/>
                          <a:cs typeface="Arial"/>
                        </a:rPr>
                        <a:t>Propagation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725" b="1">
                          <a:solidFill>
                            <a:srgbClr val="656A70"/>
                          </a:solidFill>
                          <a:latin typeface="Arial"/>
                          <a:ea typeface="Arial"/>
                          <a:cs typeface="Arial"/>
                        </a:rPr>
                        <a:t>Contact duration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lIns="95250" tIns="76200" rIns="171450" bIns="76200"/>
                    <a:lstStyle/>
                    <a:p>
                      <a:r>
                        <a:rPr sz="172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Recent wait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72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1.20-1.40 s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72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None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72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0 s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lIns="95250" tIns="76200" rIns="171450" bIns="76200"/>
                    <a:lstStyle/>
                    <a:p>
                      <a:r>
                        <a:rPr sz="172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Recent 0.8 s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72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0.60-1.40 s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72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None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72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0.32 s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lIns="95250" tIns="76200" rIns="171450" bIns="76200"/>
                    <a:lstStyle/>
                    <a:p>
                      <a:r>
                        <a:rPr sz="172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Earlier contact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72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0.72-0.92 s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72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0.92-1.40 s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72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0.20 s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D1B18F-27D2-4939-A1F7-A9DE0327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781925"/>
            <a:ext cx="1295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Contact selection uses observed force &gt; 4.5 mN and scans prior force. The contact method spans 0.68 s of motion here.</a:t>
            </a:r>
          </a:p>
        </p:txBody>
      </p:sp>
    </p:spTree>
    <p:extLst>
      <p:ext uri="{BB962C8B-B14F-4D97-AF65-F5344CB8AC3E}">
        <p14:creationId xmlns:p14="http://schemas.microsoft.com/office/powerpoint/2010/main" val="20760602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5F27DE-88A2-4F30-9D22-7AEE799D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22426"/>
                </a:solidFill>
                <a:latin typeface="Arial"/>
                <a:ea typeface="Arial"/>
                <a:cs typeface="Arial"/>
              </a:rPr>
              <a:t>History helps when it includes informative observations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D1F4C7-589A-4FC1-B534-8CA75D0E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57300"/>
            <a:ext cx="1343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Mean Slow-press force RMSE. The nominal-noise result uses all 24 independent histories.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E3182A-769C-4178-B1A3-D144644B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81534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842168-1D33-47BA-9969-4D88E616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71675"/>
            <a:ext cx="600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22426"/>
                </a:solidFill>
                <a:latin typeface="Arial"/>
                <a:ea typeface="Arial"/>
                <a:cs typeface="Arial"/>
              </a:rPr>
              <a:t>Recent window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315039-31D6-4DBA-AE0B-AE7125E0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22426"/>
                </a:solidFill>
                <a:latin typeface="Arial"/>
                <a:ea typeface="Arial"/>
                <a:cs typeface="Arial"/>
              </a:rPr>
              <a:t>Earlier contact plus propagation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410DF215-7225-4804-8035-972513A3628C}"/>
              </a:ext>
            </a:extLst>
          </p:cNvPr>
          <p:cNvGraphicFramePr/>
          <p:nvPr/>
        </p:nvGraphicFramePr>
        <p:xfrm>
          <a:off xmlns:a="http://schemas.openxmlformats.org/drawingml/2006/main" x="800100" y="2667000"/>
          <a:ext xmlns:a="http://schemas.openxmlformats.org/drawingml/2006/main" cx="6572250" cy="3790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455f52118974821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8D0132-FB6F-4A50-8D05-C2267C0C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98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7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Force RMSE (mN)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9DE8C2-0DE7-48B8-9291-2C978021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677025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0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Window duration (s)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A5EBB4-4D58-4A3F-94DB-0C7BABCD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1818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7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56A70"/>
                </a:solidFill>
                <a:latin typeface="Arial"/>
                <a:ea typeface="Arial"/>
                <a:cs typeface="Arial"/>
              </a:rPr>
              <a:t>Without lateral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8CA55B-718F-40C2-A214-C7FDD28B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718185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75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866AB"/>
                </a:solidFill>
                <a:latin typeface="Arial"/>
                <a:ea typeface="Arial"/>
                <a:cs typeface="Arial"/>
              </a:rPr>
              <a:t>With lateral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46B836-99AD-4DAE-8EA7-FC2712220E29}"/>
              </a:ext>
            </a:extLst>
          </p:cNvPr>
          <p:cNvGraphicFramePr/>
          <p:nvPr/>
        </p:nvGraphicFramePr>
        <p:xfrm>
          <a:off xmlns:a="http://schemas.openxmlformats.org/drawingml/2006/main" x="7848600" y="2705100"/>
          <a:ext xmlns:a="http://schemas.openxmlformats.org/drawingml/2006/main" cx="63817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2000250"/>
                <a:gridCol w="2000250"/>
              </a:tblGrid>
              <a:tr h="952500">
                <a:tc>
                  <a:txBody>
                    <a:bodyPr lIns="95250" tIns="76200" rIns="171450" bIns="76200"/>
                    <a:lstStyle/>
                    <a:p>
                      <a:r>
                        <a:rPr sz="1800" b="1">
                          <a:solidFill>
                            <a:srgbClr val="656A70"/>
                          </a:solidFill>
                          <a:latin typeface="Arial"/>
                          <a:ea typeface="Arial"/>
                          <a:cs typeface="Arial"/>
                        </a:rPr>
                        <a:t>Channels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800" b="1">
                          <a:solidFill>
                            <a:srgbClr val="656A70"/>
                          </a:solidFill>
                          <a:latin typeface="Arial"/>
                          <a:ea typeface="Arial"/>
                          <a:cs typeface="Arial"/>
                        </a:rPr>
                        <a:t>Recent wait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800" b="1">
                          <a:solidFill>
                            <a:srgbClr val="656A70"/>
                          </a:solidFill>
                          <a:latin typeface="Arial"/>
                          <a:ea typeface="Arial"/>
                          <a:cs typeface="Arial"/>
                        </a:rPr>
                        <a:t>Earlier contact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lIns="95250" tIns="76200" rIns="171450" bIns="76200"/>
                    <a:lstStyle/>
                    <a:p>
                      <a:r>
                        <a:rPr sz="1800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Without lateral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800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12.75 mN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800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0.48 mN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lIns="95250" tIns="76200" rIns="171450" bIns="76200"/>
                    <a:lstStyle/>
                    <a:p>
                      <a:r>
                        <a:rPr sz="1800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With lateral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800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1.29 mN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800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0.39 mN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B3E6EE-9939-4895-ADD4-72573741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6115050"/>
            <a:ext cx="6238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0">
                <a:solidFill>
                  <a:srgbClr val="2866A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866A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866A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866A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866A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866A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866A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866A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866A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866A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66A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66AB"/>
                </a:solidFill>
                <a:latin typeface="Arial"/>
                <a:ea typeface="Arial"/>
                <a:cs typeface="Arial"/>
              </a:rPr>
              <a:t>Current lateral: 2.20 mN</a:t>
            </a:r>
          </a:p>
          <a:p xmlns:a="http://schemas.openxmlformats.org/drawingml/2006/main">
            <a:pPr>
              <a:defRPr sz="2025" b="0">
                <a:solidFill>
                  <a:srgbClr val="2866A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66AB"/>
                </a:solidFill>
                <a:latin typeface="Arial"/>
                <a:ea typeface="Arial"/>
                <a:cs typeface="Arial"/>
              </a:rPr>
              <a:t>Recent lateral wait: 1.29 mN</a:t>
            </a:r>
          </a:p>
          <a:p xmlns:a="http://schemas.openxmlformats.org/drawingml/2006/main">
            <a:pPr>
              <a:defRPr sz="2025" b="0">
                <a:solidFill>
                  <a:srgbClr val="2866A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66AB"/>
                </a:solidFill>
                <a:latin typeface="Arial"/>
                <a:ea typeface="Arial"/>
                <a:cs typeface="Arial"/>
              </a:rPr>
              <a:t>Recent 0.8 s with lateral: 0.23 mN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52F01B-F368-4BD9-9976-C9765C55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781925"/>
            <a:ext cx="1295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Recovery dynamics and noise averaging both may help. Contact and duration are not completely disentangled.</a:t>
            </a:r>
          </a:p>
        </p:txBody>
      </p:sp>
    </p:spTree>
    <p:extLst>
      <p:ext uri="{BB962C8B-B14F-4D97-AF65-F5344CB8AC3E}">
        <p14:creationId xmlns:p14="http://schemas.microsoft.com/office/powerpoint/2010/main" val="669327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2D3FDB-53E5-41BB-8043-F3B86045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22426"/>
                </a:solidFill>
                <a:latin typeface="Arial"/>
                <a:ea typeface="Arial"/>
                <a:cs typeface="Arial"/>
              </a:rPr>
              <a:t>The same estimate also predicts a faster press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FF2BD-B6AF-4200-BA78-1F0BD598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57300"/>
            <a:ext cx="1343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No refitting on the future action. Slow press alone selects the calibration preset.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E9B4AF-B11B-4971-8470-149EBC0F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81534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6C642E-A81F-47FC-B6A0-BADF861735B0}"/>
              </a:ext>
            </a:extLst>
          </p:cNvPr>
          <p:cNvGraphicFramePr/>
          <p:nvPr/>
        </p:nvGraphicFramePr>
        <p:xfrm>
          <a:off xmlns:a="http://schemas.openxmlformats.org/drawingml/2006/main" x="914400" y="2028825"/>
          <a:ext xmlns:a="http://schemas.openxmlformats.org/drawingml/2006/main" cx="13411200" cy="4810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0"/>
                <a:gridCol w="2419350"/>
                <a:gridCol w="2419350"/>
              </a:tblGrid>
              <a:tr h="962025">
                <a:tc>
                  <a:txBody>
                    <a:bodyPr lIns="95250" tIns="76200" rIns="171450" bIns="76200"/>
                    <a:lstStyle/>
                    <a:p>
                      <a:r>
                        <a:rPr sz="2175" b="1">
                          <a:solidFill>
                            <a:srgbClr val="656A70"/>
                          </a:solidFill>
                          <a:latin typeface="Arial"/>
                          <a:ea typeface="Arial"/>
                          <a:cs typeface="Arial"/>
                        </a:rPr>
                        <a:t>Information used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2175" b="1">
                          <a:solidFill>
                            <a:srgbClr val="656A70"/>
                          </a:solidFill>
                          <a:latin typeface="Arial"/>
                          <a:ea typeface="Arial"/>
                          <a:cs typeface="Arial"/>
                        </a:rPr>
                        <a:t>Slow press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2175" b="1">
                          <a:solidFill>
                            <a:srgbClr val="656A70"/>
                          </a:solidFill>
                          <a:latin typeface="Arial"/>
                          <a:ea typeface="Arial"/>
                          <a:cs typeface="Arial"/>
                        </a:rPr>
                        <a:t>Fast press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62025">
                <a:tc>
                  <a:txBody>
                    <a:bodyPr lIns="95250" tIns="76200" rIns="171450" bIns="76200"/>
                    <a:lstStyle/>
                    <a:p>
                      <a:r>
                        <a:rPr sz="217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Current + lateral shape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217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2.20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217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2.52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62025">
                <a:tc>
                  <a:txBody>
                    <a:bodyPr lIns="95250" tIns="76200" rIns="171450" bIns="76200"/>
                    <a:lstStyle/>
                    <a:p>
                      <a:r>
                        <a:rPr sz="217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Recent 0.2 s + lateral shape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217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1.29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217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1.26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62025">
                <a:tc>
                  <a:txBody>
                    <a:bodyPr lIns="95250" tIns="76200" rIns="171450" bIns="76200"/>
                    <a:lstStyle/>
                    <a:p>
                      <a:r>
                        <a:rPr sz="217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Earlier contact + propagation, with lateral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217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0.39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217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0.42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62025">
                <a:tc>
                  <a:txBody>
                    <a:bodyPr lIns="95250" tIns="76200" rIns="171450" bIns="76200"/>
                    <a:lstStyle/>
                    <a:p>
                      <a:r>
                        <a:rPr sz="217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Recent 0.8 s + lateral shape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217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0.23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217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0.21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D97241-8885-4C6B-B3A7-2B422279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124700"/>
            <a:ext cx="13335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32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22426"/>
                </a:solidFill>
                <a:latin typeface="Arial"/>
                <a:ea typeface="Arial"/>
                <a:cs typeface="Arial"/>
              </a:rPr>
              <a:t>The estimate transfers across these two future commands.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34A4E4-973C-4D07-9B4D-877E0E5B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781925"/>
            <a:ext cx="1295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Units: mN force RMSE. This is prediction reuse. The 2D study has not yet tested improvement in closed-loop actions.</a:t>
            </a:r>
          </a:p>
        </p:txBody>
      </p:sp>
    </p:spTree>
    <p:extLst>
      <p:ext uri="{BB962C8B-B14F-4D97-AF65-F5344CB8AC3E}">
        <p14:creationId xmlns:p14="http://schemas.microsoft.com/office/powerpoint/2010/main" val="5828917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124D81-4309-430C-83E8-F8E97A51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22426"/>
                </a:solidFill>
                <a:latin typeface="Arial"/>
                <a:ea typeface="Arial"/>
                <a:cs typeface="Arial"/>
              </a:rPr>
              <a:t>The classical observer is accurate, but repeated fitting is costly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5FCA42-D77B-44A5-96CF-963EBB1C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81534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14520D-04F7-488C-91E2-B0723427026F}"/>
              </a:ext>
            </a:extLst>
          </p:cNvPr>
          <p:cNvGraphicFramePr/>
          <p:nvPr/>
        </p:nvGraphicFramePr>
        <p:xfrm>
          <a:off xmlns:a="http://schemas.openxmlformats.org/drawingml/2006/main" x="914400" y="1685925"/>
          <a:ext xmlns:a="http://schemas.openxmlformats.org/drawingml/2006/main" cx="134112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048500"/>
                <a:gridCol w="6362700"/>
              </a:tblGrid>
              <a:tr h="952500">
                <a:tc>
                  <a:txBody>
                    <a:bodyPr lIns="95250" tIns="76200" rIns="171450" bIns="76200"/>
                    <a:lstStyle/>
                    <a:p>
                      <a:r>
                        <a:rPr sz="2025" b="1">
                          <a:solidFill>
                            <a:srgbClr val="656A70"/>
                          </a:solidFill>
                          <a:latin typeface="Arial"/>
                          <a:ea typeface="Arial"/>
                          <a:cs typeface="Arial"/>
                        </a:rPr>
                        <a:t>Recorded result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2025" b="1">
                          <a:solidFill>
                            <a:srgbClr val="656A70"/>
                          </a:solidFill>
                          <a:latin typeface="Arial"/>
                          <a:ea typeface="Arial"/>
                          <a:cs typeface="Arial"/>
                        </a:rPr>
                        <a:t>What it changes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lIns="95250" tIns="76200" rIns="171450" bIns="76200"/>
                    <a:lstStyle/>
                    <a:p>
                      <a:r>
                        <a:rPr sz="202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0.23 mN with the recent 0.8 s and lateral sensing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202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A neural model has no demonstrated accuracy gap to fill.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lIns="95250" tIns="76200" rIns="171450" bIns="76200"/>
                    <a:lstStyle/>
                    <a:p>
                      <a:r>
                        <a:rPr sz="202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27.24 s median inference for that window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202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A recursive update should avoid refitting the same past.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lIns="95250" tIns="76200" rIns="171450" bIns="76200"/>
                    <a:lstStyle/>
                    <a:p>
                      <a:r>
                        <a:rPr sz="202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201 of 576 fits reached the evaluation limit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202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Optimization status and update cost need separate checks.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lIns="95250" tIns="76200" rIns="171450" bIns="76200"/>
                    <a:lstStyle/>
                    <a:p>
                      <a:r>
                        <a:rPr sz="202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All 72 force-only wait fits retained the initial coefficients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202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Waiting force cannot supply the missing state information.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3F4B30-9E49-463B-8FF9-3BAD144F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91325"/>
            <a:ext cx="1333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22426"/>
                </a:solidFill>
                <a:latin typeface="Arial"/>
                <a:ea typeface="Arial"/>
                <a:cs typeface="Arial"/>
              </a:rPr>
              <a:t>The current estimate has no uncertainty and uses a restricted six-coefficient basis.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FA02F7-C8B4-4C99-939C-5D0BBD7C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781925"/>
            <a:ext cx="1295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Timing is measured during an eight-worker CPU batch. Accurate simulation prediction does not imply real-time control.</a:t>
            </a:r>
          </a:p>
        </p:txBody>
      </p:sp>
    </p:spTree>
    <p:extLst>
      <p:ext uri="{BB962C8B-B14F-4D97-AF65-F5344CB8AC3E}">
        <p14:creationId xmlns:p14="http://schemas.microsoft.com/office/powerpoint/2010/main" val="180398043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D4B4CE-3778-4F78-96B5-008DF0D0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22426"/>
                </a:solidFill>
                <a:latin typeface="Arial"/>
                <a:ea typeface="Arial"/>
                <a:cs typeface="Arial"/>
              </a:rPr>
              <a:t>Next: retain the contact estimate through release and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265DD5-986E-4B78-838D-ABE6712A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81534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8FC2FD-2BD6-4245-AACD-37C49689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04975"/>
            <a:ext cx="1190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22426"/>
                </a:solidFill>
                <a:latin typeface="Arial"/>
                <a:ea typeface="Arial"/>
                <a:cs typeface="Arial"/>
              </a:rPr>
              <a:t>Immediate experiment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A26AB7-085E-4A1D-98D5-46458687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3625"/>
            <a:ext cx="13239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2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22426"/>
                </a:solidFill>
                <a:latin typeface="Arial"/>
                <a:ea typeface="Arial"/>
                <a:cs typeface="Arial"/>
              </a:rPr>
              <a:t>Compare recursive classical updates with the current window fits.</a:t>
            </a:r>
          </a:p>
          <a:p xmlns:a="http://schemas.openxmlformats.org/drawingml/2006/main">
            <a:pPr>
              <a:defRPr sz="22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22426"/>
                </a:solidFill>
                <a:latin typeface="Arial"/>
                <a:ea typeface="Arial"/>
                <a:cs typeface="Arial"/>
              </a:rPr>
              <a:t>Measure prediction error, update time and uncertainty at several prediction times.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BE1621-E196-4CD0-BD73-8CCD488F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1285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22426"/>
                </a:solidFill>
                <a:latin typeface="Arial"/>
                <a:ea typeface="Arial"/>
                <a:cs typeface="Arial"/>
              </a:rPr>
              <a:t>A small control to explain the history gain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3E60FA-FD1C-4097-84EF-73F12AC6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81525"/>
            <a:ext cx="13144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2426"/>
                </a:solidFill>
                <a:latin typeface="Arial"/>
                <a:ea typeface="Arial"/>
                <a:cs typeface="Arial"/>
              </a:rPr>
              <a:t>Compare evolving recovery observations with repeated measurements of a fixed state.</a:t>
            </a:r>
          </a:p>
          <a:p xmlns:a="http://schemas.openxmlformats.org/drawingml/2006/main">
            <a:pPr>
              <a:defRPr sz="210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2426"/>
                </a:solidFill>
                <a:latin typeface="Arial"/>
                <a:ea typeface="Arial"/>
                <a:cs typeface="Arial"/>
              </a:rPr>
              <a:t>This separates dynamic information from noise averaging.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9A89AC-F236-47B0-9764-40B6D219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76950"/>
            <a:ext cx="1304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22426"/>
                </a:solidFill>
                <a:latin typeface="Arial"/>
                <a:ea typeface="Arial"/>
                <a:cs typeface="Arial"/>
              </a:rPr>
              <a:t>Then test actions under common feedback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DC2ADF-B384-4A42-8CA3-2841425E3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677025"/>
            <a:ext cx="1314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2426"/>
                </a:solidFill>
                <a:latin typeface="Arial"/>
                <a:ea typeface="Arial"/>
                <a:cs typeface="Arial"/>
              </a:rPr>
              <a:t>First check whether true-state information can help the selected task.</a:t>
            </a:r>
          </a:p>
          <a:p xmlns:a="http://schemas.openxmlformats.org/drawingml/2006/main">
            <a:pPr>
              <a:defRPr sz="210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2426"/>
                </a:solidFill>
                <a:latin typeface="Arial"/>
                <a:ea typeface="Arial"/>
                <a:cs typeface="Arial"/>
              </a:rPr>
              <a:t>Full 3D robot simulation follows the 2D decision test, before real robot operation.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967C97-EE1C-4FC1-BA47-65D2241E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781925"/>
            <a:ext cx="1295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For discussion: which manipulation needs this state before feedback catches up, and which observable should define success?</a:t>
            </a:r>
          </a:p>
        </p:txBody>
      </p:sp>
    </p:spTree>
    <p:extLst>
      <p:ext uri="{BB962C8B-B14F-4D97-AF65-F5344CB8AC3E}">
        <p14:creationId xmlns:p14="http://schemas.microsoft.com/office/powerpoint/2010/main" val="105286116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2AB6B1-EDA3-43EA-806E-7CEBE08D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22426"/>
                </a:solidFill>
                <a:latin typeface="Arial"/>
                <a:ea typeface="Arial"/>
                <a:cs typeface="Arial"/>
              </a:rPr>
              <a:t>Appendix: all recorded prediction errors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F81904-3545-49C3-A8B8-C9639DC5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57300"/>
            <a:ext cx="1343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Force RMSE in mN. Twenty-four histories, three independent nominal-noise draws per history.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C48162-0A29-4075-B7D1-9C6D581A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81534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D96326-47D0-4EA5-9B4E-F3E03B285F2A}"/>
              </a:ext>
            </a:extLst>
          </p:cNvPr>
          <p:cNvGraphicFramePr/>
          <p:nvPr/>
        </p:nvGraphicFramePr>
        <p:xfrm>
          <a:off xmlns:a="http://schemas.openxmlformats.org/drawingml/2006/main" x="914400" y="1952625"/>
          <a:ext xmlns:a="http://schemas.openxmlformats.org/drawingml/2006/main" cx="134112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048750"/>
                <a:gridCol w="2181225"/>
                <a:gridCol w="2181225"/>
              </a:tblGrid>
              <a:tr h="495300">
                <a:tc>
                  <a:txBody>
                    <a:bodyPr lIns="95250" tIns="76200" rIns="171450" bIns="76200"/>
                    <a:lstStyle/>
                    <a:p>
                      <a:r>
                        <a:rPr sz="1725" b="1">
                          <a:solidFill>
                            <a:srgbClr val="656A70"/>
                          </a:solidFill>
                          <a:latin typeface="Arial"/>
                          <a:ea typeface="Arial"/>
                          <a:cs typeface="Arial"/>
                        </a:rPr>
                        <a:t>Information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725" b="1">
                          <a:solidFill>
                            <a:srgbClr val="656A70"/>
                          </a:solidFill>
                          <a:latin typeface="Arial"/>
                          <a:ea typeface="Arial"/>
                          <a:cs typeface="Arial"/>
                        </a:rPr>
                        <a:t>Slow press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725" b="1">
                          <a:solidFill>
                            <a:srgbClr val="656A70"/>
                          </a:solidFill>
                          <a:latin typeface="Arial"/>
                          <a:ea typeface="Arial"/>
                          <a:cs typeface="Arial"/>
                        </a:rPr>
                        <a:t>Fast press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lIns="95250" tIns="76200" rIns="171450" bIns="76200"/>
                    <a:lstStyle/>
                    <a:p>
                      <a:r>
                        <a:rPr sz="172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Current motion + force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72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11.504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72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12.764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lIns="95250" tIns="76200" rIns="171450" bIns="76200"/>
                    <a:lstStyle/>
                    <a:p>
                      <a:r>
                        <a:rPr sz="172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Current + lateral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72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2.198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72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2.516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lIns="95250" tIns="76200" rIns="171450" bIns="76200"/>
                    <a:lstStyle/>
                    <a:p>
                      <a:r>
                        <a:rPr sz="172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Recent 0.2 s, without lateral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72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12.753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72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14.323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lIns="95250" tIns="76200" rIns="171450" bIns="76200"/>
                    <a:lstStyle/>
                    <a:p>
                      <a:r>
                        <a:rPr sz="172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Recent 0.2 s, with lateral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72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1.286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72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1.256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lIns="95250" tIns="76200" rIns="171450" bIns="76200"/>
                    <a:lstStyle/>
                    <a:p>
                      <a:r>
                        <a:rPr sz="172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Recent 0.8 s, without lateral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72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0.314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72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0.317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lIns="95250" tIns="76200" rIns="171450" bIns="76200"/>
                    <a:lstStyle/>
                    <a:p>
                      <a:r>
                        <a:rPr sz="172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Recent 0.8 s, with lateral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72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0.230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72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0.207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lIns="95250" tIns="76200" rIns="171450" bIns="76200"/>
                    <a:lstStyle/>
                    <a:p>
                      <a:r>
                        <a:rPr sz="172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Earlier contact + propagation, without lateral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72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0.476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72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0.514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lIns="95250" tIns="76200" rIns="171450" bIns="76200"/>
                    <a:lstStyle/>
                    <a:p>
                      <a:r>
                        <a:rPr sz="172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Earlier contact + propagation, with lateral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72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0.389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72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0.415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lIns="95250" tIns="76200" rIns="171450" bIns="76200"/>
                    <a:lstStyle/>
                    <a:p>
                      <a:r>
                        <a:rPr sz="172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Full replay from a known relaxed start [privileged]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72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0.0065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72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0.0075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lIns="95250" tIns="76200" rIns="171450" bIns="76200"/>
                    <a:lstStyle/>
                    <a:p>
                      <a:r>
                        <a:rPr sz="172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True internal fields and the same solver [privileged]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72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0.000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72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0.000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F9AC94-9735-460C-9682-1901C926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781925"/>
            <a:ext cx="1295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The references supply privileged state or initialization. They are not absolute optimal-control bounds.</a:t>
            </a:r>
          </a:p>
        </p:txBody>
      </p:sp>
    </p:spTree>
    <p:extLst>
      <p:ext uri="{BB962C8B-B14F-4D97-AF65-F5344CB8AC3E}">
        <p14:creationId xmlns:p14="http://schemas.microsoft.com/office/powerpoint/2010/main" val="8981692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3556A9-1E6A-4194-BC7C-E157795B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22426"/>
                </a:solidFill>
                <a:latin typeface="Arial"/>
                <a:ea typeface="Arial"/>
                <a:cs typeface="Arial"/>
              </a:rPr>
              <a:t>Appendix: paired gains across complete loading histories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77307E-2C4E-4725-96F3-D83342DD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57300"/>
            <a:ext cx="1343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Positive values mean lower force prediction error for Slow press.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429E84-2528-4956-857D-58DA4F36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81534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19DD8F-461D-470D-ACE4-5B3636B4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22426"/>
                </a:solidFill>
                <a:latin typeface="Arial"/>
                <a:ea typeface="Arial"/>
                <a:cs typeface="Arial"/>
              </a:rPr>
              <a:t>Add current lateral shape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B58DC1B8-C3EB-445F-9FC6-A5EC530AE556}"/>
              </a:ext>
            </a:extLst>
          </p:cNvPr>
          <p:cNvGraphicFramePr/>
          <p:nvPr/>
        </p:nvGraphicFramePr>
        <p:xfrm>
          <a:off xmlns:a="http://schemas.openxmlformats.org/drawingml/2006/main" x="6705600" y="2152650"/>
          <a:ext xmlns:a="http://schemas.openxmlformats.org/drawingml/2006/main" cx="5191125" cy="1009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d2333cf5fe342db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AC473F-1990-47C9-A08E-9F2D3F89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314575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950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866AB"/>
                </a:solidFill>
                <a:latin typeface="Arial"/>
                <a:ea typeface="Arial"/>
                <a:cs typeface="Arial"/>
              </a:rPr>
              <a:t>9.31 mN</a:t>
            </a:r>
          </a:p>
          <a:p xmlns:a="http://schemas.openxmlformats.org/drawingml/2006/main">
            <a:pPr>
              <a:defRPr sz="1950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866AB"/>
                </a:solidFill>
                <a:latin typeface="Arial"/>
                <a:ea typeface="Arial"/>
                <a:cs typeface="Arial"/>
              </a:rPr>
              <a:t>[7.06, 11.57]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E77A2A-7D94-4AFD-A78F-F57E5219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045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2426"/>
                </a:solidFill>
                <a:latin typeface="Arial"/>
                <a:ea typeface="Arial"/>
                <a:cs typeface="Arial"/>
              </a:rPr>
              <a:t>Add 0.2 s lateral wait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CA62A537-6CD1-4455-AE7B-3C03F91C4D6D}"/>
              </a:ext>
            </a:extLst>
          </p:cNvPr>
          <p:cNvGraphicFramePr/>
          <p:nvPr/>
        </p:nvGraphicFramePr>
        <p:xfrm>
          <a:off xmlns:a="http://schemas.openxmlformats.org/drawingml/2006/main" x="6705600" y="3390900"/>
          <a:ext xmlns:a="http://schemas.openxmlformats.org/drawingml/2006/main" cx="5191125" cy="1009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f5be2ede4cd4ba6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F0616C-6B31-42EF-A3F3-DC61BD94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552825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950" b="1">
                <a:solidFill>
                  <a:srgbClr val="178479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8479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8479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8479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8479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8479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8479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8479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8479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84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847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8479"/>
                </a:solidFill>
                <a:latin typeface="Arial"/>
                <a:ea typeface="Arial"/>
                <a:cs typeface="Arial"/>
              </a:rPr>
              <a:t>0.91 mN</a:t>
            </a:r>
          </a:p>
          <a:p xmlns:a="http://schemas.openxmlformats.org/drawingml/2006/main">
            <a:pPr>
              <a:defRPr sz="1950" b="1">
                <a:solidFill>
                  <a:srgbClr val="17847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8479"/>
                </a:solidFill>
                <a:latin typeface="Arial"/>
                <a:ea typeface="Arial"/>
                <a:cs typeface="Arial"/>
              </a:rPr>
              <a:t>[0.57, 1.27]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812F4A-851D-4910-A9DC-802B07865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3870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2426"/>
                </a:solidFill>
                <a:latin typeface="Arial"/>
                <a:ea typeface="Arial"/>
                <a:cs typeface="Arial"/>
              </a:rPr>
              <a:t>Add 0.8 s lateral history</a:t>
            </a:r>
          </a:p>
        </p:txBody>
      </p:sp>
      <p:graphicFrame>
        <p:nvGraphicFramePr>
          <p:cNvPr id="11" name="Chart">
            <a:extLst xmlns:a="http://schemas.openxmlformats.org/drawingml/2006/main">
              <a:ext uri="{FF2B5EF4-FFF2-40B4-BE49-F238E27FC236}">
                <a16:creationId xmlns:a16="http://schemas.microsoft.com/office/drawing/2014/main" id="{87D3FDBF-4191-448A-B7C8-6D52FAE9E47B}"/>
              </a:ext>
            </a:extLst>
          </p:cNvPr>
          <p:cNvGraphicFramePr/>
          <p:nvPr/>
        </p:nvGraphicFramePr>
        <p:xfrm>
          <a:off xmlns:a="http://schemas.openxmlformats.org/drawingml/2006/main" x="6705600" y="4629150"/>
          <a:ext xmlns:a="http://schemas.openxmlformats.org/drawingml/2006/main" cx="5191125" cy="1009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3a2875aee644a90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D68184-928C-41EF-9240-075098BB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791075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950" b="1">
                <a:solidFill>
                  <a:srgbClr val="178479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8479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8479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8479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8479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8479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8479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8479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8479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84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847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8479"/>
                </a:solidFill>
                <a:latin typeface="Arial"/>
                <a:ea typeface="Arial"/>
                <a:cs typeface="Arial"/>
              </a:rPr>
              <a:t>1.97 mN</a:t>
            </a:r>
          </a:p>
          <a:p xmlns:a="http://schemas.openxmlformats.org/drawingml/2006/main">
            <a:pPr>
              <a:defRPr sz="1950" b="1">
                <a:solidFill>
                  <a:srgbClr val="17847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8479"/>
                </a:solidFill>
                <a:latin typeface="Arial"/>
                <a:ea typeface="Arial"/>
                <a:cs typeface="Arial"/>
              </a:rPr>
              <a:t>[1.68, 2.30]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EF28FC-E6EC-4EA9-85CC-25FCDAFA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7695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2426"/>
                </a:solidFill>
                <a:latin typeface="Arial"/>
                <a:ea typeface="Arial"/>
                <a:cs typeface="Arial"/>
              </a:rPr>
              <a:t>Contact + propagation vs lateral wait</a:t>
            </a:r>
          </a:p>
        </p:txBody>
      </p:sp>
      <p:graphicFrame>
        <p:nvGraphicFramePr>
          <p:cNvPr id="14" name="Chart">
            <a:extLst xmlns:a="http://schemas.openxmlformats.org/drawingml/2006/main">
              <a:ext uri="{FF2B5EF4-FFF2-40B4-BE49-F238E27FC236}">
                <a16:creationId xmlns:a16="http://schemas.microsoft.com/office/drawing/2014/main" id="{2C86C764-16F1-47D9-BE78-A69278E198D1}"/>
              </a:ext>
            </a:extLst>
          </p:cNvPr>
          <p:cNvGraphicFramePr/>
          <p:nvPr/>
        </p:nvGraphicFramePr>
        <p:xfrm>
          <a:off xmlns:a="http://schemas.openxmlformats.org/drawingml/2006/main" x="6705600" y="5867400"/>
          <a:ext xmlns:a="http://schemas.openxmlformats.org/drawingml/2006/main" cx="5191125" cy="1009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f957ad065a64bb9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2C198F-60CE-47EF-80CA-FC054309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029325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950" b="1">
                <a:solidFill>
                  <a:srgbClr val="178479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8479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8479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8479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8479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8479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8479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8479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8479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84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847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8479"/>
                </a:solidFill>
                <a:latin typeface="Arial"/>
                <a:ea typeface="Arial"/>
                <a:cs typeface="Arial"/>
              </a:rPr>
              <a:t>0.90 mN</a:t>
            </a:r>
          </a:p>
          <a:p xmlns:a="http://schemas.openxmlformats.org/drawingml/2006/main">
            <a:pPr>
              <a:defRPr sz="1950" b="1">
                <a:solidFill>
                  <a:srgbClr val="17847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8479"/>
                </a:solidFill>
                <a:latin typeface="Arial"/>
                <a:ea typeface="Arial"/>
                <a:cs typeface="Arial"/>
              </a:rPr>
              <a:t>[0.72, 1.08]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367A85-E4AC-4C9A-B40B-62906719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781925"/>
            <a:ext cx="1295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Three noise draws average within each history. 2,000 history bootstrap resamples. Pointwise exploratory 95% intervals.</a:t>
            </a:r>
          </a:p>
        </p:txBody>
      </p:sp>
    </p:spTree>
    <p:extLst>
      <p:ext uri="{BB962C8B-B14F-4D97-AF65-F5344CB8AC3E}">
        <p14:creationId xmlns:p14="http://schemas.microsoft.com/office/powerpoint/2010/main" val="6526132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5572F3-C5D6-4E3C-A291-C2414305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22426"/>
                </a:solidFill>
                <a:latin typeface="Arial"/>
                <a:ea typeface="Arial"/>
                <a:cs typeface="Arial"/>
              </a:rPr>
              <a:t>Appendix: physical checks and reproducibility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8DF593-87E9-4702-B11B-8F78D843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81534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EB7C0D-3F43-4EA2-80C1-BAAADDB4DEB8}"/>
              </a:ext>
            </a:extLst>
          </p:cNvPr>
          <p:cNvGraphicFramePr/>
          <p:nvPr/>
        </p:nvGraphicFramePr>
        <p:xfrm>
          <a:off xmlns:a="http://schemas.openxmlformats.org/drawingml/2006/main" x="914400" y="1638300"/>
          <a:ext xmlns:a="http://schemas.openxmlformats.org/drawingml/2006/main" cx="13411200" cy="5867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9220200"/>
              </a:tblGrid>
              <a:tr h="838200">
                <a:tc>
                  <a:txBody>
                    <a:bodyPr lIns="95250" tIns="76200" rIns="171450" bIns="76200"/>
                    <a:lstStyle/>
                    <a:p>
                      <a:r>
                        <a:rPr sz="1875" b="1">
                          <a:solidFill>
                            <a:srgbClr val="656A70"/>
                          </a:solidFill>
                          <a:latin typeface="Arial"/>
                          <a:ea typeface="Arial"/>
                          <a:cs typeface="Arial"/>
                        </a:rPr>
                        <a:t>Item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875" b="1">
                          <a:solidFill>
                            <a:srgbClr val="656A70"/>
                          </a:solidFill>
                          <a:latin typeface="Arial"/>
                          <a:ea typeface="Arial"/>
                          <a:cs typeface="Arial"/>
                        </a:rPr>
                        <a:t>Recorded status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lIns="95250" tIns="76200" rIns="171450" bIns="76200"/>
                    <a:lstStyle/>
                    <a:p>
                      <a:r>
                        <a:rPr sz="187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Material and geometry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87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40 x 20 mm body, 10 mm thickness, 576 triangles, dt = 0.01 s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lIns="95250" tIns="76200" rIns="171450" bIns="76200"/>
                    <a:lstStyle/>
                    <a:p>
                      <a:r>
                        <a:rPr sz="187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Synthetic relaxation model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87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E = 20 / 40 / 60 kPa, Poisson ratio 0.35, relaxation 0.12 / 0.90 s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lIns="95250" tIns="76200" rIns="171450" bIns="76200"/>
                    <a:lstStyle/>
                    <a:p>
                      <a:r>
                        <a:rPr sz="187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Nominal sensor noise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87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Position 0.5 um, velocity 0.01 mm/s, force 1.5 mN, lateral 1 um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lIns="95250" tIns="76200" rIns="171450" bIns="76200"/>
                    <a:lstStyle/>
                    <a:p>
                      <a:r>
                        <a:rPr sz="187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Physics exceptions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87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Test penetration 5.030 um and calibration 5.015 um exceed the 5 um limit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lIns="95250" tIns="76200" rIns="171450" bIns="76200"/>
                    <a:lstStyle/>
                    <a:p>
                      <a:r>
                        <a:rPr sz="187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Computation and consistency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87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0 computation exceptions, 10 regression tests and 7 data checks passed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lIns="95250" tIns="76200" rIns="171450" bIns="76200"/>
                    <a:lstStyle/>
                    <a:p>
                      <a:r>
                        <a:rPr sz="187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Notebook and batch runtime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875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Fresh Docker kernel Run All: 7.61 s. Main batch: 965.85 s on 8 CPU workers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576F30-AEAE-4599-85D9-D981618F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77150"/>
            <a:ext cx="13335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7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Both penetration overruns remain in the data. Real-material calibration is still missing.</a:t>
            </a:r>
          </a:p>
        </p:txBody>
      </p:sp>
    </p:spTree>
    <p:extLst>
      <p:ext uri="{BB962C8B-B14F-4D97-AF65-F5344CB8AC3E}">
        <p14:creationId xmlns:p14="http://schemas.microsoft.com/office/powerpoint/2010/main" val="110146455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0E2E4D-F3F8-4079-B368-CA733035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22426"/>
                </a:solidFill>
                <a:latin typeface="Arial"/>
                <a:ea typeface="Arial"/>
                <a:cs typeface="Arial"/>
              </a:rPr>
              <a:t>Questions for discussion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454517-49F3-4B9E-A7A7-E4F0BDBD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81534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A3FB2E-9E0B-40E3-8B17-562B1FB8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24025"/>
            <a:ext cx="1295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56A70"/>
                </a:solidFill>
                <a:latin typeface="Arial"/>
                <a:ea typeface="Arial"/>
                <a:cs typeface="Arial"/>
              </a:rPr>
              <a:t>Research focus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C1BE40-1286-4C21-8586-F88E235A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1333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222426"/>
                </a:solidFill>
                <a:latin typeface="Arial"/>
                <a:ea typeface="Arial"/>
                <a:cs typeface="Arial"/>
              </a:rPr>
              <a:t>We want to study hidden state beyond the current observation.</a:t>
            </a:r>
          </a:p>
          <a:p xmlns:a="http://schemas.openxmlformats.org/drawingml/2006/main">
            <a: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222426"/>
                </a:solidFill>
                <a:latin typeface="Arial"/>
                <a:ea typeface="Arial"/>
                <a:cs typeface="Arial"/>
              </a:rPr>
              <a:t>Could too much focus on elasticity shift the project toward soft robotics?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01B8D-F292-4F7E-A626-CC847713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24275"/>
            <a:ext cx="1295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56A70"/>
                </a:solidFill>
                <a:latin typeface="Arial"/>
                <a:ea typeface="Arial"/>
                <a:cs typeface="Arial"/>
              </a:rPr>
              <a:t>Physical experiment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F792A-9D77-4742-8D2C-18C0E324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5775"/>
            <a:ext cx="1333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222426"/>
                </a:solidFill>
                <a:latin typeface="Arial"/>
                <a:ea typeface="Arial"/>
                <a:cs typeface="Arial"/>
              </a:rPr>
              <a:t>We can build the model. How should we carry out</a:t>
            </a:r>
          </a:p>
          <a:p xmlns:a="http://schemas.openxmlformats.org/drawingml/2006/main">
            <a: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222426"/>
                </a:solidFill>
                <a:latin typeface="Arial"/>
                <a:ea typeface="Arial"/>
                <a:cs typeface="Arial"/>
              </a:rPr>
              <a:t>these experiments on a real robot?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775097-0CC9-4236-A045-A901364E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24525"/>
            <a:ext cx="1295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56A70"/>
                </a:solidFill>
                <a:latin typeface="Arial"/>
                <a:ea typeface="Arial"/>
                <a:cs typeface="Arial"/>
              </a:rPr>
              <a:t>Broader research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9F5B82-537C-408B-9C1F-EB335385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96025"/>
            <a:ext cx="1333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222426"/>
                </a:solidFill>
                <a:latin typeface="Arial"/>
                <a:ea typeface="Arial"/>
                <a:cs typeface="Arial"/>
              </a:rPr>
              <a:t>After studying hidden state through fast and slow forces,</a:t>
            </a:r>
          </a:p>
          <a:p xmlns:a="http://schemas.openxmlformats.org/drawingml/2006/main">
            <a: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222426"/>
                </a:solidFill>
                <a:latin typeface="Arial"/>
                <a:ea typeface="Arial"/>
                <a:cs typeface="Arial"/>
              </a:rPr>
              <a:t>how do we develop the broader idea from this specific case?</a:t>
            </a:r>
          </a:p>
        </p:txBody>
      </p:sp>
    </p:spTree>
    <p:extLst>
      <p:ext uri="{BB962C8B-B14F-4D97-AF65-F5344CB8AC3E}">
        <p14:creationId xmlns:p14="http://schemas.microsoft.com/office/powerpoint/2010/main" val="6285819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2026-10-28T22:56:37.6840000Z</dcterms:created>
  <dcterms:modified xsi:type="dcterms:W3CDTF">2026-10-28T22:56:37.6850000Z</dcterms:modified>
</coreProperties>
</file>