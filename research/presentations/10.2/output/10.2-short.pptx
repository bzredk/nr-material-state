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922" autoAdjust="0"/>
  </p:normalViewPr>
  <p:slideViewPr>
    <p:cSldViewPr snapToGrid="0">
      <p:cViewPr varScale="1">
        <p:scale>
          <a:sx n="112" d="100"/>
          <a:sy n="112" d="100"/>
        </p:scale>
        <p:origin x="106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Force RMSE</c:v>
          </c:tx>
          <c:spPr>
            <a:solidFill>
              <a:srgbClr val="2866AB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656A70"/>
              </a:solidFill>
            </c:spPr>
            <c:extLst>
              <c:ext xmlns:c16="http://schemas.microsoft.com/office/drawing/2014/chart" uri="{C3380CC4-5D6E-409C-BE32-E72D297353CC}">
                <c16:uniqueId val="{00000001-907A-42AA-BD56-A8FC4D44D9E6}"/>
              </c:ext>
            </c:extLst>
          </c:dPt>
          <c:dPt>
            <c:idx val="1"/>
            <c:invertIfNegative val="0"/>
            <c:bubble3D val="0"/>
            <c:spPr>
              <a:solidFill>
                <a:srgbClr val="2866AB"/>
              </a:solidFill>
            </c:spPr>
            <c:extLst>
              <c:ext xmlns:c16="http://schemas.microsoft.com/office/drawing/2014/chart" uri="{C3380CC4-5D6E-409C-BE32-E72D297353CC}">
                <c16:uniqueId val="{00000003-907A-42AA-BD56-A8FC4D44D9E6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2025" b="1">
                    <a:solidFill>
                      <a:srgbClr val="222426"/>
                    </a:solidFill>
                    <a:latin typeface="Arial"/>
                    <a:ea typeface="Arial"/>
                    <a:cs typeface="Arial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Current motion + force</c:v>
                </c:pt>
                <c:pt idx="1">
                  <c:v>Current + lateral shape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11.503533</c:v>
                </c:pt>
                <c:pt idx="1">
                  <c:v>2.1981787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07A-42AA-BD56-A8FC4D44D9E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656A70"/>
            </a:solidFill>
          </a:ln>
        </c:spPr>
        <c:txPr>
          <a:bodyPr anchorCtr="1"/>
          <a:lstStyle/>
          <a:p>
            <a:pPr>
              <a:defRPr sz="1800">
                <a:solidFill>
                  <a:srgbClr val="222426"/>
                </a:solidFill>
                <a:latin typeface="Arial"/>
                <a:ea typeface="Arial"/>
                <a:cs typeface="Arial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4"/>
          <c:min val="0"/>
        </c:scaling>
        <c:delete val="0"/>
        <c:axPos val="l"/>
        <c:majorGridlines>
          <c:spPr>
            <a:ln w="9525">
              <a:solidFill>
                <a:srgbClr val="ECEEEF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650">
                <a:solidFill>
                  <a:srgbClr val="656A70"/>
                </a:solidFill>
                <a:latin typeface="Arial"/>
                <a:ea typeface="Arial"/>
                <a:cs typeface="Arial"/>
              </a:defRPr>
            </a:pPr>
            <a:endParaRPr lang="zh-CN"/>
          </a:p>
        </c:txPr>
        <c:crossAx val="48650112"/>
        <c:crosses val="autoZero"/>
        <c:crossBetween val="between"/>
        <c:majorUnit val="2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Without lateral</c:v>
          </c:tx>
          <c:spPr>
            <a:ln w="28575">
              <a:solidFill>
                <a:srgbClr val="656A70"/>
              </a:solidFill>
              <a:prstDash val="solid"/>
            </a:ln>
          </c:spPr>
          <c:marker>
            <c:symbol val="circle"/>
            <c:size val="7"/>
            <c:spPr>
              <a:solidFill>
                <a:srgbClr val="656A70"/>
              </a:solidFill>
            </c:spPr>
          </c:marker>
          <c:xVal>
            <c:numRef>
              <c:f>'Chart Data'!$A$2:$A$4</c:f>
              <c:numCache>
                <c:formatCode>General</c:formatCode>
                <c:ptCount val="3"/>
                <c:pt idx="0">
                  <c:v>0</c:v>
                </c:pt>
                <c:pt idx="1">
                  <c:v>0.2</c:v>
                </c:pt>
                <c:pt idx="2">
                  <c:v>0.8</c:v>
                </c:pt>
              </c:numCache>
            </c:numRef>
          </c:xVal>
          <c:yVal>
            <c:numRef>
              <c:f>'Chart Data'!$B$2:$B$4</c:f>
              <c:numCache>
                <c:formatCode>General</c:formatCode>
                <c:ptCount val="3"/>
                <c:pt idx="0">
                  <c:v>11.503533</c:v>
                </c:pt>
                <c:pt idx="1">
                  <c:v>12.753014</c:v>
                </c:pt>
                <c:pt idx="2">
                  <c:v>0.3138211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9AB-42D3-AC20-1B15429A4E38}"/>
            </c:ext>
          </c:extLst>
        </c:ser>
        <c:ser>
          <c:idx val="1"/>
          <c:order val="1"/>
          <c:tx>
            <c:v>With lateral</c:v>
          </c:tx>
          <c:spPr>
            <a:ln w="28575">
              <a:solidFill>
                <a:srgbClr val="2866AB"/>
              </a:solidFill>
              <a:prstDash val="solid"/>
            </a:ln>
          </c:spPr>
          <c:marker>
            <c:symbol val="circle"/>
            <c:size val="7"/>
            <c:spPr>
              <a:solidFill>
                <a:srgbClr val="2866AB"/>
              </a:solidFill>
            </c:spPr>
          </c:marker>
          <c:xVal>
            <c:numRef>
              <c:f>'Chart Data'!$C$2:$C$4</c:f>
              <c:numCache>
                <c:formatCode>General</c:formatCode>
                <c:ptCount val="3"/>
                <c:pt idx="0">
                  <c:v>0</c:v>
                </c:pt>
                <c:pt idx="1">
                  <c:v>0.2</c:v>
                </c:pt>
                <c:pt idx="2">
                  <c:v>0.8</c:v>
                </c:pt>
              </c:numCache>
            </c:numRef>
          </c:xVal>
          <c:yVal>
            <c:numRef>
              <c:f>'Chart Data'!$D$2:$D$4</c:f>
              <c:numCache>
                <c:formatCode>General</c:formatCode>
                <c:ptCount val="3"/>
                <c:pt idx="0">
                  <c:v>2.1981787</c:v>
                </c:pt>
                <c:pt idx="1">
                  <c:v>1.2863597</c:v>
                </c:pt>
                <c:pt idx="2">
                  <c:v>0.23041406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49AB-42D3-AC20-1B15429A4E3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4"/>
          <c:min val="0"/>
        </c:scaling>
        <c:delete val="0"/>
        <c:axPos val="l"/>
        <c:majorGridlines>
          <c:spPr>
            <a:ln w="9525">
              <a:solidFill>
                <a:srgbClr val="ECEEEF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656A70"/>
            </a:solidFill>
          </a:ln>
        </c:spPr>
        <c:txPr>
          <a:bodyPr anchorCtr="1"/>
          <a:lstStyle/>
          <a:p>
            <a:pPr>
              <a:defRPr sz="1575">
                <a:solidFill>
                  <a:srgbClr val="656A70"/>
                </a:solidFill>
                <a:latin typeface="Arial"/>
                <a:ea typeface="Arial"/>
                <a:cs typeface="Arial"/>
              </a:defRPr>
            </a:pPr>
            <a:endParaRPr lang="zh-CN"/>
          </a:p>
        </c:txPr>
        <c:crossAx val="48650112"/>
        <c:crosses val="autoZero"/>
        <c:crossBetween val="midCat"/>
        <c:majorUnit val="2"/>
      </c:valAx>
      <c:valAx>
        <c:axId val="48650112"/>
        <c:scaling>
          <c:orientation val="minMax"/>
          <c:max val="0.8"/>
          <c:min val="0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656A70"/>
            </a:solidFill>
          </a:ln>
        </c:spPr>
        <c:txPr>
          <a:bodyPr anchorCtr="1"/>
          <a:lstStyle/>
          <a:p>
            <a:pPr>
              <a:defRPr sz="1575">
                <a:solidFill>
                  <a:srgbClr val="656A70"/>
                </a:solidFill>
                <a:latin typeface="Arial"/>
                <a:ea typeface="Arial"/>
                <a:cs typeface="Arial"/>
              </a:defRPr>
            </a:pPr>
            <a:endParaRPr lang="zh-CN"/>
          </a:p>
        </c:txPr>
        <c:crossAx val="48672768"/>
        <c:crosses val="autoZero"/>
        <c:crossBetween val="midCat"/>
        <c:majorUnit val="0.2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上周已经看到历史能帮助预测，但经典估计器很强，共同反馈下还没有有效动作收益。这周我把一维例子扩展成空间二维接触模型，进一步检查当前观测和历史分别提供什么信息。物体底边固定、侧边自由，压头加载、保持、释放、等待和再接触。压头离开后力为零，侧向形状仍在恢复。这是合成材料仿真。</a:t>
            </a:r>
          </a:p>
          <a:p>
            <a:endParaRPr/>
          </a:p>
          <a:p>
            <a:r>
              <a:t>Sources (relative to the repository):</a:t>
            </a:r>
          </a:p>
          <a:p>
            <a:r>
              <a:t>2D/runs/2d_contact/pilot_c9dd23016896/figures/01_spatial_process.json</a:t>
            </a:r>
          </a:p>
          <a:p>
            <a:r>
              <a:t>2D/runs/information/channels_contact_20261026/physics.json</a:t>
            </a:r>
          </a:p>
          <a:p>
            <a:r>
              <a:t>2D/src/nr2d/physics.py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固定物理系统和未来预测模型，只改变允许使用的观测通道和历史。比较当前运动与力、当前加侧向、运动与力的历史，以及加入侧向历史。使用24条独立加载历史，每条三次独立噪声；独立样本数仍是24。三条另外的校准历史选择共同设置。</a:t>
            </a:r>
          </a:p>
          <a:p>
            <a:endParaRPr/>
          </a:p>
          <a:p>
            <a:r>
              <a:t>Sources (relative to the repository):</a:t>
            </a:r>
          </a:p>
          <a:p>
            <a:r>
              <a:t>2D/runs/information/channels_contact_20261026/study.json</a:t>
            </a:r>
          </a:p>
          <a:p>
            <a:r>
              <a:t>2D/runs/information/channels_contact_20261026/calibration.json</a:t>
            </a:r>
          </a:p>
          <a:p>
            <a:r>
              <a:t>2D/runs/information/channels_contact_20261026/verification/data_contract.json</a:t>
            </a:r>
          </a:p>
          <a:p>
            <a:r>
              <a:t>2D/tests/test_observer_config.py</a:t>
            </a:r>
          </a:p>
          <a:p>
            <a:r>
              <a:rPr lang="zh-CN"/>
              <a:t>补充说明：本页比较24条独立加载历史，每条3次独立噪声重复；完整历史是统计单位。另用3条校准历史，以相同预算选择共同参数。在1.40秒估计状态，再预测慢压和快压。屏蔽的通道不用于初始化或拟合。TRF为带边界非线性最小二乘的信赖域反射算法，用于拟合内部应变场的6个非负系数；它本身不进行未来力学仿真，后续响应由相同的FEM模型预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当前侧向形变已经提供大量预测信息。在慢压预测中，力RMSE从约11.5毫牛降到2.2毫牛。这说明研究隐藏状态时，首先需要说清楚当前传感器能够看到什么。本实验的两个对称侧向标记主要反映同一个形变模式。</a:t>
            </a:r>
          </a:p>
          <a:p>
            <a:endParaRPr/>
          </a:p>
          <a:p>
            <a:r>
              <a:t>Sources (relative to the repository):</a:t>
            </a:r>
          </a:p>
          <a:p>
            <a:r>
              <a:t>2D/runs/information/channels_contact_20261026/summary.json</a:t>
            </a:r>
          </a:p>
          <a:p>
            <a:r>
              <a:t>2D/runs/information/channels_contact_20261026/metrics.csv</a:t>
            </a:r>
          </a:p>
          <a:p>
            <a:r>
              <a:t>Intervals: 2,000 whole-history bootstrap resamples, pointwise exploratory 95% intervals.</a:t>
            </a:r>
          </a:p>
          <a:p>
            <a:r>
              <a:rPr lang="zh-CN"/>
              <a:t>补充统计与传感说明：先在每条完整历史内平均三次噪声重复，再对24条历史求平均。加入当前侧向观测的配对误差改善为9.31 mN，按完整历史进行2,000次bootstrap得到探索性逐项95%区间[7.06, 11.57] mN。两个对称标记主要对应同一种形变模式，测量噪声相互独立，不能当作两个独立物理自由度。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加入侧向后，0.2秒历史的误差约1.29毫牛，0.8秒约0.23毫牛。但最近0.2秒全是脱离后的等待，0.8秒包含接触，不能只按时间长度解释。更早接触估计再传播也有帮助，但它额外使用了传播区间的运动记录，目前还没有完全分离接触、时长和降噪。下一步先用经典递推观察器，把接触信息带过释放与等待，再检查共同反馈下是否有动作收益。</a:t>
            </a:r>
          </a:p>
          <a:p>
            <a:endParaRPr/>
          </a:p>
          <a:p>
            <a:r>
              <a:t>Sources (relative to the repository):</a:t>
            </a:r>
          </a:p>
          <a:p>
            <a:r>
              <a:t>2D/runs/information/channels_contact_20261026/summary.json</a:t>
            </a:r>
          </a:p>
          <a:p>
            <a:r>
              <a:t>2D/runs/information/channels_contact_20261026/RESULTS.md</a:t>
            </a:r>
          </a:p>
          <a:p>
            <a:r>
              <a:t>2D/runs/information/channels_contact_20261026/coverage.json</a:t>
            </a:r>
          </a:p>
          <a:p>
            <a:r>
              <a:t>2D/runs/2d_contact/pilot_c9dd23016896/RESULTS.md</a:t>
            </a:r>
          </a:p>
          <a:p>
            <a:r>
              <a:rPr lang="zh-CN"/>
              <a:t>补充解释：恢复动力学和重复测量降噪都可能带来历史收益，当前实验尚未分开两者。较早接触方案使用0.20秒观测更新，再利用实际压头运动记录传播0.46—0.49秒，总输入跨度约0.66—0.69秒；选择接触片段还扫描了先前的力信号，不能称为仅使用0.2秒历史。无侧向观测的等待窗口拟合保留了初始系数，其误差变化还受先验放置时刻和传播影响，不能据此判定历史有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我想讨论三个问题。第一，我们研究的是当前观测之外的隐藏状态。如果太关注弹性，会不会让研究方向偏向软体机器人？第二，模型可以建立，但真正上实机时，这个实验应该怎么做？第三，我们已经把 hidden state 具体化到快慢力这个点，接下来如何再升华回来，回到更一般的隐藏状态研究问题？</a:t>
            </a:r>
          </a:p>
          <a:p>
            <a:endParaRPr/>
          </a:p>
          <a:p>
            <a:r>
              <a:t>Sources (relative to the repository):</a:t>
            </a:r>
          </a:p>
          <a:p>
            <a:r>
              <a:t>User-provided voice memo: Penn Engineering.m4a (78.396 s). Research focus: 00:00-00:30; real-robot experiments: 00:31-00:46; broader research question: 00:54-01:16. The user confirmed the final word as shenghua (conceptual development).</a:t>
            </a:r>
          </a:p>
          <a:p>
            <a:r>
              <a:t>research/presentations/10.2/assets/question_source.json</a:t>
            </a:r>
          </a:p>
          <a:p>
            <a:r>
              <a:t>These are discussion questions paraphrased from the user-provided memo, not additional experimental findings or attributed adviser instructions.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2305843A-4A1D-4C86-A586-2AD8B4B61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F6DDF2B-34F9-40FD-B9B0-5A4FEFA417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C28EE95-0CB4-425F-91C8-DE89F0E90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8DF08AD-719A-42A2-B389-3F239BBF0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05E6A6A-15F7-4FBF-93D6-7BE9E5227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435A7E24-DF71-4C15-AB30-E2C77651C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6A71E2B-8669-4BC8-A59C-DE32666D79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39A51FFC-0649-4364-8E71-BF1B288E8F6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4C35A06-679F-4FF2-84B0-606870BF7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B8D4F4-B5A4-429C-9635-28CE983B2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0345E056-19D3-47FA-9EF1-97B7ECBF3A90}"/>
              </a:ext>
            </a:extLst>
          </p:cNvPr>
          <p:cNvSpPr>
            <a:spLocks noGrp="1"/>
          </p:cNvSpPr>
          <p:nvPr/>
        </p:nvSpPr>
        <p:spPr>
          <a:xfrm>
            <a:off x="914400" y="571500"/>
            <a:ext cx="134302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22426"/>
                </a:solidFill>
                <a:latin typeface="Arial"/>
                <a:ea typeface="Arial"/>
                <a:cs typeface="Arial"/>
              </a:rPr>
              <a:t>Spatial 2D contact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CF0BF8B-15C4-48BC-BAAC-A925B37BC001}"/>
              </a:ext>
            </a:extLst>
          </p:cNvPr>
          <p:cNvSpPr>
            <a:spLocks noGrp="1"/>
          </p:cNvSpPr>
          <p:nvPr/>
        </p:nvSpPr>
        <p:spPr>
          <a:xfrm>
            <a:off x="914400" y="1257300"/>
            <a:ext cx="134302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56A70"/>
                </a:solidFill>
                <a:latin typeface="Arial"/>
                <a:ea typeface="Arial"/>
                <a:cs typeface="Arial"/>
              </a:rPr>
              <a:t>Fixed bottom, free sides, one round rigid indenter. The deformation comes from the FEM solution.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E0B8C6F-BC54-46F6-98F9-F6DDB0DE2EB8}"/>
              </a:ext>
            </a:extLst>
          </p:cNvPr>
          <p:cNvSpPr>
            <a:spLocks noGrp="1"/>
          </p:cNvSpPr>
          <p:nvPr/>
        </p:nvSpPr>
        <p:spPr>
          <a:xfrm>
            <a:off x="14173200" y="8153400"/>
            <a:ext cx="4191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56A7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D337D16-A2E7-4363-8276-580C894C3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273710" y="1866900"/>
            <a:ext cx="10692581" cy="57150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080CF74E-AAE4-4615-9ACA-12076711B7BE}"/>
              </a:ext>
            </a:extLst>
          </p:cNvPr>
          <p:cNvSpPr>
            <a:spLocks noGrp="1"/>
          </p:cNvSpPr>
          <p:nvPr/>
        </p:nvSpPr>
        <p:spPr>
          <a:xfrm>
            <a:off x="914400" y="7781925"/>
            <a:ext cx="129540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13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3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6A70"/>
                </a:solidFill>
                <a:latin typeface="Arial"/>
                <a:ea typeface="Arial"/>
                <a:cs typeface="Arial"/>
              </a:rPr>
              <a:t>Recorded 2D pilot. Synthetic material. Quasistatic body with a dynamic tool. Deformation shown at 1x scale.</a:t>
            </a:r>
          </a:p>
        </p:txBody>
      </p:sp>
    </p:spTree>
    <p:extLst>
      <p:ext uri="{BB962C8B-B14F-4D97-AF65-F5344CB8AC3E}">
        <p14:creationId xmlns:p14="http://schemas.microsoft.com/office/powerpoint/2010/main" val="8153748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EE4C5E82-9099-4C0D-91DA-96EF1E2310FD}"/>
              </a:ext>
            </a:extLst>
          </p:cNvPr>
          <p:cNvSpPr>
            <a:spLocks noGrp="1"/>
          </p:cNvSpPr>
          <p:nvPr/>
        </p:nvSpPr>
        <p:spPr>
          <a:xfrm>
            <a:off x="914400" y="571500"/>
            <a:ext cx="134302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22426"/>
                </a:solidFill>
                <a:latin typeface="Arial"/>
                <a:ea typeface="Arial"/>
                <a:cs typeface="Arial"/>
              </a:rPr>
              <a:t>Observations and history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9AC23D2-266F-4585-9947-F556F13E1C77}"/>
              </a:ext>
            </a:extLst>
          </p:cNvPr>
          <p:cNvSpPr>
            <a:spLocks noGrp="1"/>
          </p:cNvSpPr>
          <p:nvPr/>
        </p:nvSpPr>
        <p:spPr>
          <a:xfrm>
            <a:off x="914400" y="1257300"/>
            <a:ext cx="134302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56A70"/>
                </a:solidFill>
                <a:latin typeface="Arial"/>
                <a:ea typeface="Arial"/>
                <a:cs typeface="Arial"/>
              </a:rPr>
              <a:t>Same physical histories, prediction time, future solver and observed noise draw.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DE6F1CE-FDCA-4357-AD0D-244DF3154D18}"/>
              </a:ext>
            </a:extLst>
          </p:cNvPr>
          <p:cNvSpPr>
            <a:spLocks noGrp="1"/>
          </p:cNvSpPr>
          <p:nvPr/>
        </p:nvSpPr>
        <p:spPr>
          <a:xfrm>
            <a:off x="14173200" y="8153400"/>
            <a:ext cx="4191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56A7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D9B74D3-118A-45BB-B882-DCBC38C64689}"/>
              </a:ext>
            </a:extLst>
          </p:cNvPr>
          <p:cNvGraphicFramePr/>
          <p:nvPr/>
        </p:nvGraphicFramePr>
        <p:xfrm>
          <a:off x="914400" y="2381250"/>
          <a:ext cx="13411200" cy="4000500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9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656A70"/>
                          </a:solidFill>
                          <a:latin typeface="Arial"/>
                          <a:ea typeface="Arial"/>
                          <a:cs typeface="Arial"/>
                        </a:rPr>
                        <a:t>Information</a:t>
                      </a:r>
                    </a:p>
                  </a:txBody>
                  <a:tcPr anchor="ctr">
                    <a:lnL w="0">
                      <a:solidFill>
                        <a:srgbClr val="FFFFFF"/>
                      </a:solidFill>
                    </a:lnL>
                    <a:lnR w="0">
                      <a:solidFill>
                        <a:srgbClr val="FFFFFF"/>
                      </a:solidFill>
                    </a:lnR>
                    <a:lnT w="0">
                      <a:solidFill>
                        <a:srgbClr val="FFFFFF"/>
                      </a:solidFill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656A70"/>
                          </a:solidFill>
                          <a:latin typeface="Arial"/>
                          <a:ea typeface="Arial"/>
                          <a:cs typeface="Arial"/>
                        </a:rPr>
                        <a:t>Motion + force</a:t>
                      </a:r>
                    </a:p>
                  </a:txBody>
                  <a:tcPr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solidFill>
                        <a:srgbClr val="FFFFFF"/>
                      </a:solidFill>
                    </a:lnR>
                    <a:lnT w="0">
                      <a:solidFill>
                        <a:srgbClr val="FFFFFF"/>
                      </a:solidFill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 dirty="0">
                          <a:solidFill>
                            <a:srgbClr val="656A70"/>
                          </a:solidFill>
                          <a:latin typeface="Arial"/>
                          <a:ea typeface="Arial"/>
                          <a:cs typeface="Arial"/>
                        </a:rPr>
                        <a:t>Motion + force + lateral shape</a:t>
                      </a:r>
                    </a:p>
                  </a:txBody>
                  <a:tcPr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solidFill>
                        <a:srgbClr val="FFFFFF"/>
                      </a:solidFill>
                    </a:lnR>
                    <a:lnT w="0">
                      <a:solidFill>
                        <a:srgbClr val="FFFFFF"/>
                      </a:solidFill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22426"/>
                          </a:solidFill>
                          <a:latin typeface="Arial"/>
                          <a:ea typeface="Arial"/>
                          <a:cs typeface="Arial"/>
                        </a:rPr>
                        <a:t>Current sample</a:t>
                      </a:r>
                    </a:p>
                  </a:txBody>
                  <a:tcPr anchor="ctr">
                    <a:lnL w="0">
                      <a:solidFill>
                        <a:srgbClr val="FFFFFF"/>
                      </a:solidFill>
                    </a:lnL>
                    <a:lnR w="0">
                      <a:solidFill>
                        <a:srgbClr val="FFFFFF"/>
                      </a:solidFill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>
                          <a:solidFill>
                            <a:srgbClr val="222426"/>
                          </a:solidFill>
                          <a:latin typeface="Arial"/>
                          <a:ea typeface="Arial"/>
                          <a:cs typeface="Arial"/>
                        </a:rPr>
                        <a:t>Position, velocity, total force</a:t>
                      </a:r>
                    </a:p>
                  </a:txBody>
                  <a:tcPr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solidFill>
                        <a:srgbClr val="FFFFFF"/>
                      </a:solidFill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22426"/>
                          </a:solidFill>
                          <a:latin typeface="Arial"/>
                          <a:ea typeface="Arial"/>
                          <a:cs typeface="Arial"/>
                        </a:rPr>
                        <a:t>The same sample plus two lateral markers</a:t>
                      </a:r>
                    </a:p>
                  </a:txBody>
                  <a:tcPr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solidFill>
                        <a:srgbClr val="FFFFFF"/>
                      </a:solidFill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22426"/>
                          </a:solidFill>
                          <a:latin typeface="Arial"/>
                          <a:ea typeface="Arial"/>
                          <a:cs typeface="Arial"/>
                        </a:rPr>
                        <a:t>Recent history</a:t>
                      </a:r>
                    </a:p>
                  </a:txBody>
                  <a:tcPr anchor="ctr">
                    <a:lnL w="0">
                      <a:solidFill>
                        <a:srgbClr val="FFFFFF"/>
                      </a:solidFill>
                    </a:lnL>
                    <a:lnR w="0">
                      <a:solidFill>
                        <a:srgbClr val="FFFFFF"/>
                      </a:solidFill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>
                          <a:solidFill>
                            <a:srgbClr val="222426"/>
                          </a:solidFill>
                          <a:latin typeface="Arial"/>
                          <a:ea typeface="Arial"/>
                          <a:cs typeface="Arial"/>
                        </a:rPr>
                        <a:t>The same channels over 0.2 or 0.8 s</a:t>
                      </a:r>
                    </a:p>
                  </a:txBody>
                  <a:tcPr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solidFill>
                        <a:srgbClr val="FFFFFF"/>
                      </a:solidFill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>
                          <a:solidFill>
                            <a:srgbClr val="222426"/>
                          </a:solidFill>
                          <a:latin typeface="Arial"/>
                          <a:ea typeface="Arial"/>
                          <a:cs typeface="Arial"/>
                        </a:rPr>
                        <a:t>The same window plus lateral history</a:t>
                      </a:r>
                    </a:p>
                  </a:txBody>
                  <a:tcPr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solidFill>
                        <a:srgbClr val="FFFFFF"/>
                      </a:solidFill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文本框 11">
            <a:extLst>
              <a:ext uri="{FF2B5EF4-FFF2-40B4-BE49-F238E27FC236}">
                <a16:creationId xmlns:a16="http://schemas.microsoft.com/office/drawing/2014/main" id="{347B475C-5CC4-E690-C6C4-B868A7FF49B6}"/>
              </a:ext>
            </a:extLst>
          </p:cNvPr>
          <p:cNvSpPr txBox="1"/>
          <p:nvPr/>
        </p:nvSpPr>
        <p:spPr>
          <a:xfrm>
            <a:off x="914400" y="7696200"/>
            <a:ext cx="13411200" cy="4191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650">
                <a:solidFill>
                  <a:srgbClr val="FF0000"/>
                </a:solidFill>
                <a:latin typeface="Arial"/>
              </a:rPr>
              <a:t>TRF (Trust Region Reflective) estimates internal state. FEM predicts the future response.</a:t>
            </a:r>
          </a:p>
        </p:txBody>
      </p:sp>
    </p:spTree>
    <p:extLst>
      <p:ext uri="{BB962C8B-B14F-4D97-AF65-F5344CB8AC3E}">
        <p14:creationId xmlns:p14="http://schemas.microsoft.com/office/powerpoint/2010/main" val="17930550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C74B026A-D9A1-4CAE-833F-CE15E9D985F9}"/>
              </a:ext>
            </a:extLst>
          </p:cNvPr>
          <p:cNvSpPr>
            <a:spLocks noGrp="1"/>
          </p:cNvSpPr>
          <p:nvPr/>
        </p:nvSpPr>
        <p:spPr>
          <a:xfrm>
            <a:off x="914400" y="571500"/>
            <a:ext cx="134302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22426"/>
                </a:solidFill>
                <a:latin typeface="Arial"/>
                <a:ea typeface="Arial"/>
                <a:cs typeface="Arial"/>
              </a:rPr>
              <a:t>Current lateral shape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ECF4360-0138-4D36-860B-0D8AAD65DBA9}"/>
              </a:ext>
            </a:extLst>
          </p:cNvPr>
          <p:cNvSpPr>
            <a:spLocks noGrp="1"/>
          </p:cNvSpPr>
          <p:nvPr/>
        </p:nvSpPr>
        <p:spPr>
          <a:xfrm>
            <a:off x="914400" y="1257300"/>
            <a:ext cx="134302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56A70"/>
                </a:solidFill>
                <a:latin typeface="Arial"/>
                <a:ea typeface="Arial"/>
                <a:cs typeface="Arial"/>
              </a:rPr>
              <a:t>Slow press, 24 histories.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AE945B8-81F0-46B6-8248-ABD43452B3EC}"/>
              </a:ext>
            </a:extLst>
          </p:cNvPr>
          <p:cNvSpPr>
            <a:spLocks noGrp="1"/>
          </p:cNvSpPr>
          <p:nvPr/>
        </p:nvSpPr>
        <p:spPr>
          <a:xfrm>
            <a:off x="14173200" y="8153400"/>
            <a:ext cx="4191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56A7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4" name="Chart">
            <a:extLst>
              <a:ext uri="{FF2B5EF4-FFF2-40B4-BE49-F238E27FC236}">
                <a16:creationId xmlns:a16="http://schemas.microsoft.com/office/drawing/2014/main" id="{468869BB-2F86-4BEE-89E6-E9E4CB85ADCF}"/>
              </a:ext>
            </a:extLst>
          </p:cNvPr>
          <p:cNvGraphicFramePr/>
          <p:nvPr/>
        </p:nvGraphicFramePr>
        <p:xfrm>
          <a:off x="952500" y="2371725"/>
          <a:ext cx="781050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463599D5-CDDD-40F5-9A46-D385A4659D21}"/>
              </a:ext>
            </a:extLst>
          </p:cNvPr>
          <p:cNvSpPr>
            <a:spLocks noGrp="1"/>
          </p:cNvSpPr>
          <p:nvPr/>
        </p:nvSpPr>
        <p:spPr>
          <a:xfrm>
            <a:off x="1047750" y="1962150"/>
            <a:ext cx="6858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18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2426"/>
                </a:solidFill>
                <a:latin typeface="Arial"/>
                <a:ea typeface="Arial"/>
                <a:cs typeface="Arial"/>
              </a:rPr>
              <a:t>Force RMSE (mN)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D273BC8-AA50-4BDC-840E-893A66014D08}"/>
              </a:ext>
            </a:extLst>
          </p:cNvPr>
          <p:cNvSpPr>
            <a:spLocks noGrp="1"/>
          </p:cNvSpPr>
          <p:nvPr/>
        </p:nvSpPr>
        <p:spPr>
          <a:xfrm>
            <a:off x="9620250" y="3905250"/>
            <a:ext cx="447675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21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2426"/>
                </a:solidFill>
                <a:latin typeface="Arial"/>
                <a:ea typeface="Arial"/>
                <a:cs typeface="Arial"/>
              </a:rPr>
              <a:t>Current lateral shape reduces</a:t>
            </a:r>
          </a:p>
          <a:p>
            <a:pPr>
              <a:defRPr sz="217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2426"/>
                </a:solidFill>
                <a:latin typeface="Arial"/>
                <a:ea typeface="Arial"/>
                <a:cs typeface="Arial"/>
              </a:rPr>
              <a:t>force RMSE by about 81%.</a:t>
            </a:r>
          </a:p>
        </p:txBody>
      </p:sp>
    </p:spTree>
    <p:extLst>
      <p:ext uri="{BB962C8B-B14F-4D97-AF65-F5344CB8AC3E}">
        <p14:creationId xmlns:p14="http://schemas.microsoft.com/office/powerpoint/2010/main" val="1451951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528431AB-98E0-44AF-9D45-F57C13CD9709}"/>
              </a:ext>
            </a:extLst>
          </p:cNvPr>
          <p:cNvSpPr>
            <a:spLocks noGrp="1"/>
          </p:cNvSpPr>
          <p:nvPr/>
        </p:nvSpPr>
        <p:spPr>
          <a:xfrm>
            <a:off x="914400" y="571500"/>
            <a:ext cx="134302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22426"/>
                </a:solidFill>
                <a:latin typeface="Arial"/>
                <a:ea typeface="Arial"/>
                <a:cs typeface="Arial"/>
              </a:rPr>
              <a:t>History and contact data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DA184A7-577E-4F92-AD53-DF6738A5FF0E}"/>
              </a:ext>
            </a:extLst>
          </p:cNvPr>
          <p:cNvSpPr>
            <a:spLocks noGrp="1"/>
          </p:cNvSpPr>
          <p:nvPr/>
        </p:nvSpPr>
        <p:spPr>
          <a:xfrm>
            <a:off x="914400" y="1257300"/>
            <a:ext cx="134302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56A70"/>
                </a:solidFill>
                <a:latin typeface="Arial"/>
                <a:ea typeface="Arial"/>
                <a:cs typeface="Arial"/>
              </a:rPr>
              <a:t>0.2 s: wait only. 0.8 s: includes contact.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C844AF7-7AD8-42FA-982D-917FA03EFF2F}"/>
              </a:ext>
            </a:extLst>
          </p:cNvPr>
          <p:cNvSpPr>
            <a:spLocks noGrp="1"/>
          </p:cNvSpPr>
          <p:nvPr/>
        </p:nvSpPr>
        <p:spPr>
          <a:xfrm>
            <a:off x="14173200" y="8153400"/>
            <a:ext cx="4191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56A7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FFB127D-6B2C-481D-A25B-695805238219}"/>
              </a:ext>
            </a:extLst>
          </p:cNvPr>
          <p:cNvSpPr>
            <a:spLocks noGrp="1"/>
          </p:cNvSpPr>
          <p:nvPr/>
        </p:nvSpPr>
        <p:spPr>
          <a:xfrm>
            <a:off x="914400" y="1971675"/>
            <a:ext cx="6000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202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2426"/>
                </a:solidFill>
                <a:latin typeface="Arial"/>
                <a:ea typeface="Arial"/>
                <a:cs typeface="Arial"/>
              </a:rPr>
              <a:t>Recent window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2142D65-9248-4C0F-B433-09005CC8B56A}"/>
              </a:ext>
            </a:extLst>
          </p:cNvPr>
          <p:cNvSpPr>
            <a:spLocks noGrp="1"/>
          </p:cNvSpPr>
          <p:nvPr/>
        </p:nvSpPr>
        <p:spPr>
          <a:xfrm>
            <a:off x="7848600" y="1971675"/>
            <a:ext cx="6286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202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2426"/>
                </a:solidFill>
                <a:latin typeface="Arial"/>
                <a:ea typeface="Arial"/>
                <a:cs typeface="Arial"/>
              </a:rPr>
              <a:t>Earlier contact plus propagation</a:t>
            </a:r>
          </a:p>
        </p:txBody>
      </p:sp>
      <p:graphicFrame>
        <p:nvGraphicFramePr>
          <p:cNvPr id="6" name="Chart">
            <a:extLst>
              <a:ext uri="{FF2B5EF4-FFF2-40B4-BE49-F238E27FC236}">
                <a16:creationId xmlns:a16="http://schemas.microsoft.com/office/drawing/2014/main" id="{D89655F5-B6FA-4639-AA4E-D24AA195A07A}"/>
              </a:ext>
            </a:extLst>
          </p:cNvPr>
          <p:cNvGraphicFramePr/>
          <p:nvPr/>
        </p:nvGraphicFramePr>
        <p:xfrm>
          <a:off x="800100" y="2667000"/>
          <a:ext cx="6572250" cy="37909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矩形 6">
            <a:extLst>
              <a:ext uri="{FF2B5EF4-FFF2-40B4-BE49-F238E27FC236}">
                <a16:creationId xmlns:a16="http://schemas.microsoft.com/office/drawing/2014/main" id="{145E72F0-BFE7-4F13-98E0-16F87C8EEB32}"/>
              </a:ext>
            </a:extLst>
          </p:cNvPr>
          <p:cNvSpPr>
            <a:spLocks noGrp="1"/>
          </p:cNvSpPr>
          <p:nvPr/>
        </p:nvSpPr>
        <p:spPr>
          <a:xfrm>
            <a:off x="1047750" y="2409825"/>
            <a:ext cx="4953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172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725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56A70"/>
                </a:solidFill>
                <a:latin typeface="Arial"/>
                <a:ea typeface="Arial"/>
                <a:cs typeface="Arial"/>
              </a:rPr>
              <a:t>Force RMSE (mN)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13BFC6F-0C3C-4332-8A3F-CAB4DE26694F}"/>
              </a:ext>
            </a:extLst>
          </p:cNvPr>
          <p:cNvSpPr>
            <a:spLocks noGrp="1"/>
          </p:cNvSpPr>
          <p:nvPr/>
        </p:nvSpPr>
        <p:spPr>
          <a:xfrm>
            <a:off x="2667000" y="6677025"/>
            <a:ext cx="3810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180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6A70"/>
                </a:solidFill>
                <a:latin typeface="Arial"/>
                <a:ea typeface="Arial"/>
                <a:cs typeface="Arial"/>
              </a:rPr>
              <a:t>Window duration (s)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CA43F43-67E8-4674-B659-0656957BA7D3}"/>
              </a:ext>
            </a:extLst>
          </p:cNvPr>
          <p:cNvSpPr>
            <a:spLocks noGrp="1"/>
          </p:cNvSpPr>
          <p:nvPr/>
        </p:nvSpPr>
        <p:spPr>
          <a:xfrm>
            <a:off x="1000125" y="7181850"/>
            <a:ext cx="304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187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6A70"/>
                </a:solidFill>
                <a:latin typeface="Arial"/>
                <a:ea typeface="Arial"/>
                <a:cs typeface="Arial"/>
              </a:rPr>
              <a:t>Without lateral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D6D5DA5-8EFD-4E19-915B-2468085858AF}"/>
              </a:ext>
            </a:extLst>
          </p:cNvPr>
          <p:cNvSpPr>
            <a:spLocks noGrp="1"/>
          </p:cNvSpPr>
          <p:nvPr/>
        </p:nvSpPr>
        <p:spPr>
          <a:xfrm>
            <a:off x="4429125" y="7181850"/>
            <a:ext cx="27622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1875" b="1">
                <a:solidFill>
                  <a:srgbClr val="2866AB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866AB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866AB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866AB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866AB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866AB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866AB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866AB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866AB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866AB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866A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866AB"/>
                </a:solidFill>
                <a:latin typeface="Arial"/>
                <a:ea typeface="Arial"/>
                <a:cs typeface="Arial"/>
              </a:rPr>
              <a:t>With lateral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DEDD416A-EDA4-47F0-9590-E8E3142D52D2}"/>
              </a:ext>
            </a:extLst>
          </p:cNvPr>
          <p:cNvGraphicFramePr/>
          <p:nvPr/>
        </p:nvGraphicFramePr>
        <p:xfrm>
          <a:off x="7848600" y="2705100"/>
          <a:ext cx="6381750" cy="2857500"/>
        </p:xfrm>
        <a:graphic>
          <a:graphicData uri="http://schemas.openxmlformats.org/drawingml/2006/table">
            <a:tbl>
              <a:tblPr/>
              <a:tblGrid>
                <a:gridCol w="238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25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656A70"/>
                          </a:solidFill>
                          <a:latin typeface="Arial"/>
                          <a:ea typeface="Arial"/>
                          <a:cs typeface="Arial"/>
                        </a:rPr>
                        <a:t>Channels</a:t>
                      </a:r>
                    </a:p>
                  </a:txBody>
                  <a:tcPr anchor="ctr">
                    <a:lnL w="0">
                      <a:solidFill>
                        <a:srgbClr val="FFFFFF"/>
                      </a:solidFill>
                    </a:lnL>
                    <a:lnR w="0">
                      <a:solidFill>
                        <a:srgbClr val="FFFFFF"/>
                      </a:solidFill>
                    </a:lnR>
                    <a:lnT w="0">
                      <a:solidFill>
                        <a:srgbClr val="FFFFFF"/>
                      </a:solidFill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656A70"/>
                          </a:solidFill>
                          <a:latin typeface="Arial"/>
                          <a:ea typeface="Arial"/>
                          <a:cs typeface="Arial"/>
                        </a:rPr>
                        <a:t>Recent wait</a:t>
                      </a:r>
                    </a:p>
                  </a:txBody>
                  <a:tcPr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solidFill>
                        <a:srgbClr val="FFFFFF"/>
                      </a:solidFill>
                    </a:lnR>
                    <a:lnT w="0">
                      <a:solidFill>
                        <a:srgbClr val="FFFFFF"/>
                      </a:solidFill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656A70"/>
                          </a:solidFill>
                          <a:latin typeface="Arial"/>
                          <a:ea typeface="Arial"/>
                          <a:cs typeface="Arial"/>
                        </a:rPr>
                        <a:t>Earlier contact</a:t>
                      </a:r>
                    </a:p>
                  </a:txBody>
                  <a:tcPr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solidFill>
                        <a:srgbClr val="FFFFFF"/>
                      </a:solidFill>
                    </a:lnR>
                    <a:lnT w="0">
                      <a:solidFill>
                        <a:srgbClr val="FFFFFF"/>
                      </a:solidFill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2426"/>
                          </a:solidFill>
                          <a:latin typeface="Arial"/>
                          <a:ea typeface="Arial"/>
                          <a:cs typeface="Arial"/>
                        </a:rPr>
                        <a:t>Without lateral</a:t>
                      </a:r>
                    </a:p>
                  </a:txBody>
                  <a:tcPr anchor="ctr">
                    <a:lnL w="0">
                      <a:solidFill>
                        <a:srgbClr val="FFFFFF"/>
                      </a:solidFill>
                    </a:lnL>
                    <a:lnR w="0">
                      <a:solidFill>
                        <a:srgbClr val="FFFFFF"/>
                      </a:solidFill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2426"/>
                          </a:solidFill>
                          <a:latin typeface="Arial"/>
                          <a:ea typeface="Arial"/>
                          <a:cs typeface="Arial"/>
                        </a:rPr>
                        <a:t>12.75 mN</a:t>
                      </a:r>
                    </a:p>
                  </a:txBody>
                  <a:tcPr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solidFill>
                        <a:srgbClr val="FFFFFF"/>
                      </a:solidFill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2426"/>
                          </a:solidFill>
                          <a:latin typeface="Arial"/>
                          <a:ea typeface="Arial"/>
                          <a:cs typeface="Arial"/>
                        </a:rPr>
                        <a:t>0.48 mN</a:t>
                      </a:r>
                    </a:p>
                  </a:txBody>
                  <a:tcPr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solidFill>
                        <a:srgbClr val="FFFFFF"/>
                      </a:solidFill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2426"/>
                          </a:solidFill>
                          <a:latin typeface="Arial"/>
                          <a:ea typeface="Arial"/>
                          <a:cs typeface="Arial"/>
                        </a:rPr>
                        <a:t>With lateral</a:t>
                      </a:r>
                    </a:p>
                  </a:txBody>
                  <a:tcPr anchor="ctr">
                    <a:lnL w="0">
                      <a:solidFill>
                        <a:srgbClr val="FFFFFF"/>
                      </a:solidFill>
                    </a:lnL>
                    <a:lnR w="0">
                      <a:solidFill>
                        <a:srgbClr val="FFFFFF"/>
                      </a:solidFill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2426"/>
                          </a:solidFill>
                          <a:latin typeface="Arial"/>
                          <a:ea typeface="Arial"/>
                          <a:cs typeface="Arial"/>
                        </a:rPr>
                        <a:t>1.29 mN</a:t>
                      </a:r>
                    </a:p>
                  </a:txBody>
                  <a:tcPr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solidFill>
                        <a:srgbClr val="FFFFFF"/>
                      </a:solidFill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2426"/>
                          </a:solidFill>
                          <a:latin typeface="Arial"/>
                          <a:ea typeface="Arial"/>
                          <a:cs typeface="Arial"/>
                        </a:rPr>
                        <a:t>0.39 mN</a:t>
                      </a:r>
                    </a:p>
                  </a:txBody>
                  <a:tcPr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solidFill>
                        <a:srgbClr val="FFFFFF"/>
                      </a:solidFill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矩形 12">
            <a:extLst>
              <a:ext uri="{FF2B5EF4-FFF2-40B4-BE49-F238E27FC236}">
                <a16:creationId xmlns:a16="http://schemas.microsoft.com/office/drawing/2014/main" id="{17BAFBBC-0A48-42A1-8690-F704256F5D38}"/>
              </a:ext>
            </a:extLst>
          </p:cNvPr>
          <p:cNvSpPr>
            <a:spLocks noGrp="1"/>
          </p:cNvSpPr>
          <p:nvPr/>
        </p:nvSpPr>
        <p:spPr>
          <a:xfrm>
            <a:off x="914400" y="7781925"/>
            <a:ext cx="129540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13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3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6A70"/>
                </a:solidFill>
                <a:latin typeface="Arial"/>
                <a:ea typeface="Arial"/>
                <a:cs typeface="Arial"/>
              </a:rPr>
              <a:t>Contact and duration are not fully separated.</a:t>
            </a:r>
          </a:p>
        </p:txBody>
      </p:sp>
    </p:spTree>
    <p:extLst>
      <p:ext uri="{BB962C8B-B14F-4D97-AF65-F5344CB8AC3E}">
        <p14:creationId xmlns:p14="http://schemas.microsoft.com/office/powerpoint/2010/main" val="20022488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14B22B81-02E3-4C9F-9649-AE77658B5352}"/>
              </a:ext>
            </a:extLst>
          </p:cNvPr>
          <p:cNvSpPr>
            <a:spLocks noGrp="1"/>
          </p:cNvSpPr>
          <p:nvPr/>
        </p:nvSpPr>
        <p:spPr>
          <a:xfrm>
            <a:off x="914400" y="571500"/>
            <a:ext cx="134302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1">
                <a:solidFill>
                  <a:srgbClr val="22242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22426"/>
                </a:solidFill>
                <a:latin typeface="Arial"/>
                <a:ea typeface="Arial"/>
                <a:cs typeface="Arial"/>
              </a:rPr>
              <a:t>Questions for discussion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04901AE-4A17-408A-A8F2-A292081CFDAD}"/>
              </a:ext>
            </a:extLst>
          </p:cNvPr>
          <p:cNvSpPr>
            <a:spLocks noGrp="1"/>
          </p:cNvSpPr>
          <p:nvPr/>
        </p:nvSpPr>
        <p:spPr>
          <a:xfrm>
            <a:off x="14173200" y="8153400"/>
            <a:ext cx="4191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656A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56A7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C73ABF3-5B53-4B01-BD39-93C800AE9F5F}"/>
              </a:ext>
            </a:extLst>
          </p:cNvPr>
          <p:cNvSpPr>
            <a:spLocks noGrp="1"/>
          </p:cNvSpPr>
          <p:nvPr/>
        </p:nvSpPr>
        <p:spPr>
          <a:xfrm>
            <a:off x="914400" y="1724025"/>
            <a:ext cx="12954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656A70"/>
                </a:solidFill>
                <a:latin typeface="Arial"/>
                <a:ea typeface="Arial"/>
                <a:cs typeface="Arial"/>
              </a:rPr>
              <a:t>Research focus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9586A31-5CD5-4508-BB4B-2B8DD4B8B63E}"/>
              </a:ext>
            </a:extLst>
          </p:cNvPr>
          <p:cNvSpPr>
            <a:spLocks noGrp="1"/>
          </p:cNvSpPr>
          <p:nvPr/>
        </p:nvSpPr>
        <p:spPr>
          <a:xfrm>
            <a:off x="914400" y="2295525"/>
            <a:ext cx="133350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defPPr>
            <a:lvl1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1pPr>
            <a:lvl2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2pPr>
            <a:lvl3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3pPr>
            <a:lvl4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4pPr>
            <a:lvl5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5pPr>
            <a:lvl6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6pPr>
            <a:lvl7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7pPr>
            <a:lvl8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8pPr>
            <a:lvl9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222426"/>
                </a:solidFill>
                <a:latin typeface="Arial"/>
                <a:ea typeface="Arial"/>
                <a:cs typeface="Arial"/>
              </a:rPr>
              <a:t>We want to study hidden state beyond the current observation.</a:t>
            </a:r>
          </a:p>
          <a:p>
            <a: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222426"/>
                </a:solidFill>
                <a:latin typeface="Arial"/>
                <a:ea typeface="Arial"/>
                <a:cs typeface="Arial"/>
              </a:rPr>
              <a:t>Could too much focus on elasticity shift the project toward soft robotics?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00894F9-F5E4-43A8-8DBE-6AD87EF55A77}"/>
              </a:ext>
            </a:extLst>
          </p:cNvPr>
          <p:cNvSpPr>
            <a:spLocks noGrp="1"/>
          </p:cNvSpPr>
          <p:nvPr/>
        </p:nvSpPr>
        <p:spPr>
          <a:xfrm>
            <a:off x="914400" y="3724275"/>
            <a:ext cx="12954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656A70"/>
                </a:solidFill>
                <a:latin typeface="Arial"/>
                <a:ea typeface="Arial"/>
                <a:cs typeface="Arial"/>
              </a:rPr>
              <a:t>Physical experiment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3DD1FDC-71A8-4336-85F0-58D6F153671C}"/>
              </a:ext>
            </a:extLst>
          </p:cNvPr>
          <p:cNvSpPr>
            <a:spLocks noGrp="1"/>
          </p:cNvSpPr>
          <p:nvPr/>
        </p:nvSpPr>
        <p:spPr>
          <a:xfrm>
            <a:off x="914400" y="4295775"/>
            <a:ext cx="133350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defPPr>
            <a:lvl1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1pPr>
            <a:lvl2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2pPr>
            <a:lvl3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3pPr>
            <a:lvl4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4pPr>
            <a:lvl5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5pPr>
            <a:lvl6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6pPr>
            <a:lvl7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7pPr>
            <a:lvl8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8pPr>
            <a:lvl9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222426"/>
                </a:solidFill>
                <a:latin typeface="Arial"/>
                <a:ea typeface="Arial"/>
                <a:cs typeface="Arial"/>
              </a:rPr>
              <a:t>We can build the model. How should we carry out</a:t>
            </a:r>
          </a:p>
          <a:p>
            <a: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222426"/>
                </a:solidFill>
                <a:latin typeface="Arial"/>
                <a:ea typeface="Arial"/>
                <a:cs typeface="Arial"/>
              </a:rPr>
              <a:t>these experiments on a real robot?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1EA6A34-8CF6-4D1D-A509-24C770A0224D}"/>
              </a:ext>
            </a:extLst>
          </p:cNvPr>
          <p:cNvSpPr>
            <a:spLocks noGrp="1"/>
          </p:cNvSpPr>
          <p:nvPr/>
        </p:nvSpPr>
        <p:spPr>
          <a:xfrm>
            <a:off x="914400" y="5724525"/>
            <a:ext cx="12954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1">
                <a:solidFill>
                  <a:srgbClr val="656A7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656A70"/>
                </a:solidFill>
                <a:latin typeface="Arial"/>
                <a:ea typeface="Arial"/>
                <a:cs typeface="Arial"/>
              </a:rPr>
              <a:t>Broader research question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B3E0032-DDB3-4672-A5BB-865B05413DAE}"/>
              </a:ext>
            </a:extLst>
          </p:cNvPr>
          <p:cNvSpPr>
            <a:spLocks noGrp="1"/>
          </p:cNvSpPr>
          <p:nvPr/>
        </p:nvSpPr>
        <p:spPr>
          <a:xfrm>
            <a:off x="914400" y="6296025"/>
            <a:ext cx="133350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>
            <a:def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defPPr>
            <a:lvl1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1pPr>
            <a:lvl2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2pPr>
            <a:lvl3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3pPr>
            <a:lvl4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4pPr>
            <a:lvl5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5pPr>
            <a:lvl6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6pPr>
            <a:lvl7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7pPr>
            <a:lvl8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8pPr>
            <a:lvl9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222426"/>
                </a:solidFill>
                <a:latin typeface="Arial"/>
                <a:ea typeface="Arial"/>
                <a:cs typeface="Arial"/>
              </a:rPr>
              <a:t>After studying hidden state through fast and slow forces,</a:t>
            </a:r>
          </a:p>
          <a:p>
            <a:pPr>
              <a:defRPr sz="2475" b="0">
                <a:solidFill>
                  <a:srgbClr val="222426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222426"/>
                </a:solidFill>
                <a:latin typeface="Arial"/>
                <a:ea typeface="Arial"/>
                <a:cs typeface="Arial"/>
              </a:rPr>
              <a:t>how do we develop the broader idea from this specific case?</a:t>
            </a:r>
          </a:p>
        </p:txBody>
      </p:sp>
    </p:spTree>
    <p:extLst>
      <p:ext uri="{BB962C8B-B14F-4D97-AF65-F5344CB8AC3E}">
        <p14:creationId xmlns:p14="http://schemas.microsoft.com/office/powerpoint/2010/main" val="35885988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856</Words>
  <Application>Microsoft Office PowerPoint</Application>
  <DocSecurity>0</DocSecurity>
  <PresentationFormat>自定义</PresentationFormat>
  <Paragraphs>99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7" baseType="lpstr">
      <vt:lpstr>Arial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Zhirui Bian</cp:lastModifiedBy>
  <cp:revision>1</cp:revision>
  <dcterms:created xsi:type="dcterms:W3CDTF">2026-10-30T20:17:58Z</dcterms:created>
  <dcterms:modified xsi:type="dcterms:W3CDTF">2026-10-30T21:35:16Z</dcterms:modified>
</cp:coreProperties>
</file>