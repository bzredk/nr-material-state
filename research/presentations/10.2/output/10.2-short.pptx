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67822759c64c14" /><Relationship Type="http://schemas.openxmlformats.org/officeDocument/2006/relationships/extended-properties" Target="/docProps/app.xml" Id="R995dcb5acf174fbf" /><Relationship Type="http://schemas.openxmlformats.org/officeDocument/2006/relationships/officeDocument" Target="/ppt/presentation.xml" Id="Rae72da1668af49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76e6d13eb4c97"/>
  </p:sldMasterIdLst>
  <p:notesMasterIdLst>
    <p:notesMasterId xmlns:r="http://schemas.openxmlformats.org/officeDocument/2006/relationships" r:id="R97397b7709bc4eb5"/>
  </p:notesMasterIdLst>
  <p:sldIdLst>
    <p:sldId xmlns:r="http://schemas.openxmlformats.org/officeDocument/2006/relationships" id="256" r:id="Rfb9cc0be95754add"/>
    <p:sldId xmlns:r="http://schemas.openxmlformats.org/officeDocument/2006/relationships" id="257" r:id="Rc3b970f631a243c9"/>
    <p:sldId xmlns:r="http://schemas.openxmlformats.org/officeDocument/2006/relationships" id="258" r:id="R5b8ddcfdc1d844f1"/>
    <p:sldId xmlns:r="http://schemas.openxmlformats.org/officeDocument/2006/relationships" id="259" r:id="R1a0fb15999a44189"/>
    <p:sldId xmlns:r="http://schemas.openxmlformats.org/officeDocument/2006/relationships" id="260" r:id="Rab6642622aa643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f8e87da574d19" /><Relationship Type="http://schemas.openxmlformats.org/officeDocument/2006/relationships/slideMaster" Target="/ppt/slideMasters/slideMaster1.xml" Id="Ra6176e6d13eb4c97" /><Relationship Type="http://schemas.openxmlformats.org/officeDocument/2006/relationships/notesMaster" Target="/ppt/notesMasters/notesMaster1.xml" Id="R97397b7709bc4eb5" /><Relationship Type="http://schemas.openxmlformats.org/officeDocument/2006/relationships/presProps" Target="/ppt/presProps.xml" Id="R179340871ba64d3b" /><Relationship Type="http://schemas.openxmlformats.org/officeDocument/2006/relationships/tableStyles" Target="/ppt/tableStyles.xml" Id="Rdfce9244c1b34274" /><Relationship Type="http://schemas.openxmlformats.org/officeDocument/2006/relationships/slide" Target="/ppt/slides/slide1.xml" Id="Rfb9cc0be95754add" /><Relationship Type="http://schemas.openxmlformats.org/officeDocument/2006/relationships/slide" Target="/ppt/slides/slide2.xml" Id="Rc3b970f631a243c9" /><Relationship Type="http://schemas.openxmlformats.org/officeDocument/2006/relationships/slide" Target="/ppt/slides/slide3.xml" Id="R5b8ddcfdc1d844f1" /><Relationship Type="http://schemas.openxmlformats.org/officeDocument/2006/relationships/slide" Target="/ppt/slides/slide4.xml" Id="R1a0fb15999a44189" /><Relationship Type="http://schemas.openxmlformats.org/officeDocument/2006/relationships/slide" Target="/ppt/slides/slide5.xml" Id="Rab6642622aa643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7f076a055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214f475924b0e" /><Relationship Type="http://schemas.openxmlformats.org/officeDocument/2006/relationships/notesMaster" Target="/ppt/notesMasters/notesMaster1.xml" Id="R2922ad294916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91522dde464d2a" /><Relationship Type="http://schemas.openxmlformats.org/officeDocument/2006/relationships/notesMaster" Target="/ppt/notesMasters/notesMaster1.xml" Id="Rfdc8b21d0ac24d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82e4b032244b8e" /><Relationship Type="http://schemas.openxmlformats.org/officeDocument/2006/relationships/notesMaster" Target="/ppt/notesMasters/notesMaster1.xml" Id="R182dcc2f5fc1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64fb5e6e2c428d" /><Relationship Type="http://schemas.openxmlformats.org/officeDocument/2006/relationships/notesMaster" Target="/ppt/notesMasters/notesMaster1.xml" Id="R39ff575f579949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18b9668b0c4d95" /><Relationship Type="http://schemas.openxmlformats.org/officeDocument/2006/relationships/notesMaster" Target="/ppt/notesMasters/notesMaster1.xml" Id="R2db1d044624044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周已经看到历史能帮助预测，但经典估计器很强，共同反馈下还没有有效动作收益。这周我把一维例子扩展成空间二维接触模型，进一步检查当前观测和历史分别提供什么信息。物体底边固定、侧边自由，压头加载、保持、释放、等待和再接触。压头离开后力为零，侧向形状仍在恢复。这是合成材料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2D/runs/2d_contact/pilot_c9dd23016896/figures/01_spatial_process.json</a:t>
            </a:r>
          </a:p>
          <a:p xmlns:a="http://schemas.openxmlformats.org/drawingml/2006/main">
            <a:r>
              <a:t>2D/runs/information/channels_contact_20261026/physics.json</a:t>
            </a:r>
          </a:p>
          <a:p xmlns:a="http://schemas.openxmlformats.org/drawingml/2006/main">
            <a:r>
              <a:t>2D/src/nr2d/physics.py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固定物理系统和未来预测模型，只改变允许使用的观测通道和历史。比较当前运动与力、当前加侧向、运动与力的历史，以及加入侧向历史。使用24条独立加载历史，每条三次独立噪声；独立样本数仍是24。三条另外的校准历史选择共同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2D/runs/information/channels_contact_20261026/study.json</a:t>
            </a:r>
          </a:p>
          <a:p xmlns:a="http://schemas.openxmlformats.org/drawingml/2006/main">
            <a:r>
              <a:t>2D/runs/information/channels_contact_20261026/calibration.json</a:t>
            </a:r>
          </a:p>
          <a:p xmlns:a="http://schemas.openxmlformats.org/drawingml/2006/main">
            <a:r>
              <a:t>2D/runs/information/channels_contact_20261026/verification/data_contract.json</a:t>
            </a:r>
          </a:p>
          <a:p xmlns:a="http://schemas.openxmlformats.org/drawingml/2006/main">
            <a:r>
              <a:t>2D/tests/test_observer_config.py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当前侧向形变已经提供大量预测信息。在慢压预测中，力RMSE从约11.5毫牛降到2.2毫牛。这说明研究隐藏状态时，首先需要说清楚当前传感器能够看到什么。本实验的两个对称侧向标记主要反映同一个形变模式。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2D/runs/information/channels_contact_20261026/metrics.csv</a:t>
            </a:r>
          </a:p>
          <a:p xmlns:a="http://schemas.openxmlformats.org/drawingml/2006/main">
            <a:r>
              <a:t>Intervals: 2,000 whole-history bootstrap resamples, pointwise exploratory 95%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加入侧向后，0.2秒历史的误差约1.29毫牛，0.8秒约0.23毫牛。但最近0.2秒全是脱离后的等待，0.8秒包含接触，不能只按时间长度解释。更早接触估计再传播也有帮助，但它额外使用了传播区间的运动记录，目前还没有完全分离接触、时长和降噪。下一步先用经典递推观察器，把接触信息带过释放与等待，再检查共同反馈下是否有动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2D/runs/information/channels_contact_20261026/summary.json</a:t>
            </a:r>
          </a:p>
          <a:p xmlns:a="http://schemas.openxmlformats.org/drawingml/2006/main">
            <a:r>
              <a:t>2D/runs/information/channels_contact_20261026/RESULTS.md</a:t>
            </a:r>
          </a:p>
          <a:p xmlns:a="http://schemas.openxmlformats.org/drawingml/2006/main">
            <a:r>
              <a:t>2D/runs/information/channels_contact_20261026/coverage.json</a:t>
            </a:r>
          </a:p>
          <a:p xmlns:a="http://schemas.openxmlformats.org/drawingml/2006/main">
            <a:r>
              <a:t>2D/runs/2d_contact/pilot_c9dd23016896/RESULTS.md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我想讨论三个问题。第一，我们研究的是当前观测之外的隐藏状态。如果太关注弹性，会不会让研究方向偏向软体机器人？第二，模型可以建立，但真正上实机时，这个实验应该怎么做？第三，我们已经把 hidden state 具体化到快慢力这个点，接下来如何再升华回来，回到更一般的隐藏状态研究问题？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(relative to the repository):</a:t>
            </a:r>
          </a:p>
          <a:p xmlns:a="http://schemas.openxmlformats.org/drawingml/2006/main">
            <a:r>
              <a:t>User-provided voice memo: Penn Engineering.m4a (78.396 s). Research focus: 00:00-00:30; real-robot experiments: 00:31-00:46; broader research question: 00:54-01:16. The user confirmed the final word as shenghua (conceptual development).</a:t>
            </a:r>
          </a:p>
          <a:p xmlns:a="http://schemas.openxmlformats.org/drawingml/2006/main">
            <a:r>
              <a:t>research/presentations/10.2/assets/question_source.json</a:t>
            </a:r>
          </a:p>
          <a:p xmlns:a="http://schemas.openxmlformats.org/drawingml/2006/main">
            <a:r>
              <a:t>These are discussion questions paraphrased from the user-provided memo, not additional experimental findings or attributed adviser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4037adcb245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234f34cd84e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51f24254442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b03ee0dab44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f685360444d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ec968d3ac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05843A-4A1D-4C86-A586-2AD8B4B61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6DDF2B-34F9-40FD-B9B0-5A4FEFA417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28EE95-0CB4-425F-91C8-DE89F0E90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DF08AD-719A-42A2-B389-3F239BBF0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5E6A6A-15F7-4FBF-93D6-7BE9E5227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5A7E24-DF71-4C15-AB30-E2C77651C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A71E2B-8669-4BC8-A59C-DE32666D7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A51FFC-0649-4364-8E71-BF1B288E8F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C35A06-679F-4FF2-84B0-606870BF7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B8D4F4-B5A4-429C-9635-28CE983B2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75fa602e3d4cea" /><Relationship Type="http://schemas.openxmlformats.org/officeDocument/2006/relationships/slideLayout" Target="/ppt/slideLayouts/slideLayout1.xml" Id="Rfdc420a11c0541f8" /><Relationship Type="http://schemas.openxmlformats.org/officeDocument/2006/relationships/slideLayout" Target="/ppt/slideLayouts/slideLayout2.xml" Id="R9a1e71a7cc9344de" /><Relationship Type="http://schemas.openxmlformats.org/officeDocument/2006/relationships/slideLayout" Target="/ppt/slideLayouts/slideLayout3.xml" Id="R87f43566a01b4d29" /><Relationship Type="http://schemas.openxmlformats.org/officeDocument/2006/relationships/slideLayout" Target="/ppt/slideLayouts/slideLayout4.xml" Id="R70b9fb0156d44edb" /><Relationship Type="http://schemas.openxmlformats.org/officeDocument/2006/relationships/slideLayout" Target="/ppt/slideLayouts/slideLayout5.xml" Id="R4a14c2117e6c4d23" /><Relationship Type="http://schemas.openxmlformats.org/officeDocument/2006/relationships/slideLayout" Target="/ppt/slideLayouts/slideLayout6.xml" Id="R0c6928aeb5f241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420a11c0541f8"/>
    <p:sldLayoutId xmlns:r="http://schemas.openxmlformats.org/officeDocument/2006/relationships" id="2147483650" r:id="R9a1e71a7cc9344de"/>
    <p:sldLayoutId xmlns:r="http://schemas.openxmlformats.org/officeDocument/2006/relationships" id="2147483651" r:id="R87f43566a01b4d29"/>
    <p:sldLayoutId xmlns:r="http://schemas.openxmlformats.org/officeDocument/2006/relationships" id="2147483652" r:id="R70b9fb0156d44edb"/>
    <p:sldLayoutId xmlns:r="http://schemas.openxmlformats.org/officeDocument/2006/relationships" id="2147483653" r:id="R4a14c2117e6c4d23"/>
    <p:sldLayoutId xmlns:r="http://schemas.openxmlformats.org/officeDocument/2006/relationships" id="2147483654" r:id="R0c6928aeb5f241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6265c88d14518" /><Relationship Type="http://schemas.openxmlformats.org/officeDocument/2006/relationships/image" Target="/ppt/media/image.png" Id="R552df8bd59f64676" /><Relationship Type="http://schemas.openxmlformats.org/officeDocument/2006/relationships/notesSlide" Target="/ppt/notesSlides/notesSlide1.xml" Id="R7294a0d77933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dd7c856e04bf0" /><Relationship Type="http://schemas.openxmlformats.org/officeDocument/2006/relationships/notesSlide" Target="/ppt/notesSlides/notesSlide2.xml" Id="R61528cfb43c44f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4a62487714236" /><Relationship Type="http://schemas.openxmlformats.org/officeDocument/2006/relationships/chart" Target="/ppt/slides/charts/chart1.xml" Id="R59b37ab1cb7b40a6" /><Relationship Type="http://schemas.openxmlformats.org/officeDocument/2006/relationships/notesSlide" Target="/ppt/notesSlides/notesSlide3.xml" Id="R60045da4270c40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c49dff4484cc4" /><Relationship Type="http://schemas.openxmlformats.org/officeDocument/2006/relationships/chart" Target="/ppt/slides/charts/chart2.xml" Id="R4f9ee85762834554" /><Relationship Type="http://schemas.openxmlformats.org/officeDocument/2006/relationships/notesSlide" Target="/ppt/notesSlides/notesSlide4.xml" Id="R276a235a15a9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484fdfb9041a0" /><Relationship Type="http://schemas.openxmlformats.org/officeDocument/2006/relationships/notesSlide" Target="/ppt/notesSlides/notesSlide5.xml" Id="Re8ad78ab147b4a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Force RMSE</c:v>
          </c:tx>
          <c:spPr>
            <a:solidFill xmlns:a="http://schemas.openxmlformats.org/drawingml/2006/main">
              <a:srgbClr val="2866A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656A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6A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Current motion + force</c:v>
                </c:pt>
                <c:pt idx="1">
                  <c:v>Current + lateral shape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11.503533</c:v>
                </c:pt>
                <c:pt idx="1">
                  <c:v>2.1981787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22242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Without lateral</c:v>
          </c:tx>
          <c:spPr>
            <a:solidFill xmlns:a="http://schemas.openxmlformats.org/drawingml/2006/main">
              <a:srgbClr val="656A70"/>
            </a:solidFill>
            <a:ln xmlns:a="http://schemas.openxmlformats.org/drawingml/2006/main" w="28575">
              <a:solidFill>
                <a:srgbClr val="656A7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656A70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</c:numCache>
            </c:numRef>
          </c:xVal>
          <c:yVal>
            <c:numRef>
              <c:f>'Chart Data'!$B$2:$B$4</c:f>
              <c:numCache>
                <c:formatCode>General</c:formatCode>
                <c:ptCount val="3"/>
                <c:pt idx="0">
                  <c:v>11.503533</c:v>
                </c:pt>
                <c:pt idx="1">
                  <c:v>12.753014</c:v>
                </c:pt>
                <c:pt idx="2">
                  <c:v>0.3138211</c:v>
                </c:pt>
              </c:numCache>
            </c:numRef>
          </c:yVal>
          <c:smooth val="0"/>
        </c:ser>
        <c:ser>
          <c:idx val="1"/>
          <c:order val="1"/>
          <c:tx>
            <c:v>With lateral</c:v>
          </c:tx>
          <c:spPr>
            <a:solidFill xmlns:a="http://schemas.openxmlformats.org/drawingml/2006/main">
              <a:srgbClr val="2866AB"/>
            </a:solidFill>
            <a:ln xmlns:a="http://schemas.openxmlformats.org/drawingml/2006/main" w="28575">
              <a:solidFill>
                <a:srgbClr val="2866A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866AB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2.1981787</c:v>
                </c:pt>
                <c:pt idx="1">
                  <c:v>1.2863597</c:v>
                </c:pt>
                <c:pt idx="2">
                  <c:v>0.23041406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E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0.8"/>
          <c:min val="0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6A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5E056-19D3-47FA-9EF1-97B7ECB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Spatial 2D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0BF8B-15C4-48BC-BAAC-A925B37B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Fixed bottom, free sides, one round rigid indenter. The deformation comes from the FEM solution.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B8C6F-BC54-46F6-98F9-F6DDB0D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37D16-A2E7-4363-8276-580C894C3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df8bd59f64676"/>
          <a:stretch xmlns:a="http://schemas.openxmlformats.org/drawingml/2006/main"/>
        </p:blipFill>
        <p:spPr>
          <a:xfrm xmlns:a="http://schemas.openxmlformats.org/drawingml/2006/main">
            <a:off x="2273710" y="1866900"/>
            <a:ext cx="10692581" cy="5715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CF74E-AAE4-4615-9ACA-1207671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Recorded 2D pilot. Synthetic material. Quasistatic body with a dynamic tool. Deformation shown at 1x scale.</a:t>
            </a:r>
          </a:p>
        </p:txBody>
      </p:sp>
    </p:spTree>
    <p:extLst>
      <p:ext uri="{BB962C8B-B14F-4D97-AF65-F5344CB8AC3E}">
        <p14:creationId xmlns:p14="http://schemas.microsoft.com/office/powerpoint/2010/main" val="815374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C5E82-9099-4C0D-91DA-96EF1E23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Observations and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C23D2-266F-4585-9947-F556F13E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Same physical histories, prediction time, future solver and observed noise draw.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F1CE-FDCA-4357-AD0D-244DF31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B74D3-118A-45BB-B882-DCBC38C64689}"/>
              </a:ext>
            </a:extLst>
          </p:cNvPr>
          <p:cNvGraphicFramePr/>
          <p:nvPr/>
        </p:nvGraphicFramePr>
        <p:xfrm>
          <a:off xmlns:a="http://schemas.openxmlformats.org/drawingml/2006/main" x="914400" y="2076450"/>
          <a:ext xmlns:a="http://schemas.openxmlformats.org/drawingml/2006/main" cx="134112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762500"/>
                <a:gridCol w="5791200"/>
              </a:tblGrid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Information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Motion + force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Motion + force + lateral shape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Current sample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Position, velocity, total force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sample plus two lateral markers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Recent history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channels over 0.2 or 0.8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95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The same window plus lateral history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7482A-C27E-4EF2-981B-FEEF729E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24 independent loading histories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05FDE-ABE3-436A-BF71-4DA2FA4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Three noise draws per history.</a:t>
            </a:r>
          </a:p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History, rather than noise draw, is the statistical unit.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4DC5E-D2E9-4ADF-8158-043033B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721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Three separate calibration histories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AC78E-A9D9-438A-804A-939ACD7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3246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Equal tuning budgets select one shared preset.</a:t>
            </a:r>
          </a:p>
          <a:p xmlns:a="http://schemas.openxmlformats.org/drawingml/2006/main">
            <a:pPr>
              <a:defRPr sz="1950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Estimate once, then predict Slow and Fast press.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D1A8B-C321-4C35-8B11-D9344B7D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Prediction starts at 1.40 s. Disabled channels are absent from both initialization and fitting.</a:t>
            </a:r>
          </a:p>
        </p:txBody>
      </p:sp>
    </p:spTree>
    <p:extLst>
      <p:ext uri="{BB962C8B-B14F-4D97-AF65-F5344CB8AC3E}">
        <p14:creationId xmlns:p14="http://schemas.microsoft.com/office/powerpoint/2010/main" val="1793055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B026A-D9A1-4CAE-833F-CE15E9D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Current lateral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F4360-0138-4D36-860B-0D8AAD6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Force RMSE for Slow press, averaged within history and then across 24 histories.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945B8-81F0-46B6-8248-ABD4345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68869BB-2F86-4BEE-89E6-E9E4CB85ADCF}"/>
              </a:ext>
            </a:extLst>
          </p:cNvPr>
          <p:cNvGraphicFramePr/>
          <p:nvPr/>
        </p:nvGraphicFramePr>
        <p:xfrm>
          <a:off xmlns:a="http://schemas.openxmlformats.org/drawingml/2006/main" x="952500" y="2371725"/>
          <a:ext xmlns:a="http://schemas.openxmlformats.org/drawingml/2006/main" cx="78105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b37ab1cb7b40a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599D5-CDDD-40F5-9A46-D385A46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Force RMSE (mN)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23202-4A7D-467A-8DBD-ACEB19C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9.31 mN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1CA82-B6FF-4C2F-A4C5-1B1178A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paired reduction in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B5A4D-8CEA-49A9-A3CC-0C5E78A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148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95% interval: 7.06 to 11.57 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73BC8-AA50-4BDC-840E-893A66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6262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Shape exposes recovery</a:t>
            </a:r>
          </a:p>
          <a:p xmlns:a="http://schemas.openxmlformats.org/drawingml/2006/main">
            <a:pPr>
              <a:defRPr sz="217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while contact force is zero.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7E3D5-A902-4490-8B6E-530643D2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Both lateral markers share one underlying mode in this symmetric model. Their measurement noise is independent.</a:t>
            </a:r>
          </a:p>
        </p:txBody>
      </p:sp>
    </p:spTree>
    <p:extLst>
      <p:ext uri="{BB962C8B-B14F-4D97-AF65-F5344CB8AC3E}">
        <p14:creationId xmlns:p14="http://schemas.microsoft.com/office/powerpoint/2010/main" val="145195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431AB-98E0-44AF-9D45-F57C13CD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History and contact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84A7-577E-4F92-AD53-DF6738A5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Latest 0.2 s: detached wait. Latest 0.8 s: contact, release and recovery.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44AF7-7AD8-42FA-982D-917FA03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B127D-6B2C-481D-A25B-6958052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Recent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42D65-9248-4C0F-B433-09005CC8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Earlier contact plus propagation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89655F5-B6FA-4639-AA4E-D24AA195A07A}"/>
              </a:ext>
            </a:extLst>
          </p:cNvPr>
          <p:cNvGraphicFramePr/>
          <p:nvPr/>
        </p:nvGraphicFramePr>
        <p:xfrm>
          <a:off xmlns:a="http://schemas.openxmlformats.org/drawingml/2006/main" x="800100" y="2667000"/>
          <a:ext xmlns:a="http://schemas.openxmlformats.org/drawingml/2006/main" cx="65722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9ee8576283455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E72F0-BFE7-4F13-98E0-16F87C8E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Force RMSE (mN)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BFC6F-0C3C-4332-8A3F-CAB4DE2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6770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Window duration (s)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3F43-67E8-4674-B659-0656957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8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Without lateral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D5DA5-8EFD-4E19-915B-24680858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181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66AB"/>
                </a:solidFill>
                <a:latin typeface="Arial"/>
                <a:ea typeface="Arial"/>
                <a:cs typeface="Arial"/>
              </a:rPr>
              <a:t>With lateral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D416A-EDA4-47F0-9590-E8E3142D52D2}"/>
              </a:ext>
            </a:extLst>
          </p:cNvPr>
          <p:cNvGraphicFramePr/>
          <p:nvPr/>
        </p:nvGraphicFramePr>
        <p:xfrm>
          <a:off xmlns:a="http://schemas.openxmlformats.org/drawingml/2006/main" x="7848600" y="2705100"/>
          <a:ext xmlns:a="http://schemas.openxmlformats.org/drawingml/2006/main" cx="6381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000250"/>
                <a:gridCol w="2000250"/>
              </a:tblGrid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Channels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Recent wait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1">
                          <a:solidFill>
                            <a:srgbClr val="656A70"/>
                          </a:solidFill>
                          <a:latin typeface="Arial"/>
                          <a:ea typeface="Arial"/>
                          <a:cs typeface="Arial"/>
                        </a:rPr>
                        <a:t>Earlier contact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Without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12.75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0.48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With lateral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1.29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171450" bIns="76200"/>
                    <a:lstStyle/>
                    <a:p>
                      <a:r>
                        <a:rPr sz="1800" b="0">
                          <a:solidFill>
                            <a:srgbClr val="222426"/>
                          </a:solidFill>
                          <a:latin typeface="Arial"/>
                          <a:ea typeface="Arial"/>
                          <a:cs typeface="Arial"/>
                        </a:rPr>
                        <a:t>0.39 mN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A12C3-8A1C-4ABC-A9EA-389D05CD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15050"/>
            <a:ext cx="6238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Current lateral: 2.20 mN</a:t>
            </a:r>
          </a:p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Recent lateral wait: 1.29 mN</a:t>
            </a:r>
          </a:p>
          <a:p xmlns:a="http://schemas.openxmlformats.org/drawingml/2006/main">
            <a:pPr>
              <a:defRPr sz="2025" b="0">
                <a:solidFill>
                  <a:srgbClr val="2866A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66AB"/>
                </a:solidFill>
                <a:latin typeface="Arial"/>
                <a:ea typeface="Arial"/>
                <a:cs typeface="Arial"/>
              </a:rPr>
              <a:t>Recent 0.8 s with lateral: 0.23 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AFBBC-0A48-42A1-8690-F704256F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81925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Recovery dynamics and noise averaging both may help. Contact and duration are not completely disentangled.</a:t>
            </a:r>
          </a:p>
        </p:txBody>
      </p:sp>
    </p:spTree>
    <p:extLst>
      <p:ext uri="{BB962C8B-B14F-4D97-AF65-F5344CB8AC3E}">
        <p14:creationId xmlns:p14="http://schemas.microsoft.com/office/powerpoint/2010/main" val="2002248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22B81-02E3-4C9F-9649-AE77658B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426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901AE-4A17-408A-A8F2-A292081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5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6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3ABF3-5B53-4B01-BD39-93C800A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Research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86A31-5CD5-4508-BB4B-2B8DD4B8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We want to study hidden state beyond the current observation.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Could too much focus on elasticity shift the project toward soft robotics?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94F9-F5E4-43A8-8DBE-6AD87EF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Physical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D1FDC-71A8-4336-85F0-58D6F1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We can build the model. How should we carry out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these experiments on a real robot?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A6A34-8CF6-4D1D-A509-24C770A0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24525"/>
            <a:ext cx="1295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56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6A70"/>
                </a:solidFill>
                <a:latin typeface="Arial"/>
                <a:ea typeface="Arial"/>
                <a:cs typeface="Arial"/>
              </a:rPr>
              <a:t>Broader 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0032-DDB3-4672-A5BB-865B054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960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After studying hidden state through fast and slow forces,</a:t>
            </a:r>
          </a:p>
          <a:p xmlns:a="http://schemas.openxmlformats.org/drawingml/2006/main">
            <a:pPr>
              <a:defRPr sz="2475" b="0">
                <a:solidFill>
                  <a:srgbClr val="22242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22426"/>
                </a:solidFill>
                <a:latin typeface="Arial"/>
                <a:ea typeface="Arial"/>
                <a:cs typeface="Arial"/>
              </a:rPr>
              <a:t>how do we develop the broader idea from this specific case?</a:t>
            </a:r>
          </a:p>
        </p:txBody>
      </p:sp>
    </p:spTree>
    <p:extLst>
      <p:ext uri="{BB962C8B-B14F-4D97-AF65-F5344CB8AC3E}">
        <p14:creationId xmlns:p14="http://schemas.microsoft.com/office/powerpoint/2010/main" val="358859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2026-10-30T20:17:58.4410000Z</dcterms:created>
  <dcterms:modified xsi:type="dcterms:W3CDTF">2026-10-30T20:17:58.4410000Z</dcterms:modified>
</coreProperties>
</file>