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66" r:id="rId3"/>
    <p:sldId id="257" r:id="rId4"/>
    <p:sldId id="267" r:id="rId5"/>
    <p:sldId id="259" r:id="rId6"/>
    <p:sldId id="260" r:id="rId7"/>
    <p:sldId id="258" r:id="rId8"/>
    <p:sldId id="268" r:id="rId9"/>
    <p:sldId id="269" r:id="rId10"/>
    <p:sldId id="271" r:id="rId11"/>
    <p:sldId id="270" r:id="rId12"/>
    <p:sldId id="265" r:id="rId13"/>
  </p:sldIdLst>
  <p:sldSz cx="15240000" cy="85725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7382" autoAdjust="0"/>
  </p:normalViewPr>
  <p:slideViewPr>
    <p:cSldViewPr snapToGrid="0">
      <p:cViewPr varScale="1">
        <p:scale>
          <a:sx n="128" d="100"/>
          <a:sy n="128" d="100"/>
        </p:scale>
        <p:origin x="318"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中文讲稿</a:t>
            </a:r>
          </a:p>
          <a:p>
            <a:r>
              <a:t>这条 thesis 路线关心：机器人怎样把交互经验变成对下一次行动有用的物理理解。NR 当前连接其中的状态接地与变化预测。我们从一次按压留下的力、运动和命令记录出发，估计材料现在处于什么状态，再预测下一次动作会产生什么响应。</a:t>
            </a:r>
          </a:p>
          <a:p>
            <a:endParaRPr/>
          </a:p>
          <a:p>
            <a:r>
              <a:t>这里最重要的连接是“过去怎样影响未来”。如果每次接触都只从当前读数重新开始，先前加载造成的内部变化就可能丢失；如果保留一个可以继续演化的物理状态，就能把压缩、释放、等待和再次接触连接起来。状态负责概括过去，演化模型负责把它推进到下一次动作。</a:t>
            </a:r>
          </a:p>
          <a:p>
            <a:endParaRPr/>
          </a:p>
          <a:p>
            <a:r>
              <a:t>这也给早期 policy reuse 一个具体入口：要复用旧的按压策略，先弄清旧经验对应的材料条件是否还成立。今天的报告先说明缺少什么状态信息、怎样恢复它、怎样用于新的控制条件，再讨论这份信息在反馈控制中能保留多久。</a:t>
            </a:r>
          </a:p>
          <a:p>
            <a:endParaRPr/>
          </a:p>
          <a:p>
            <a:r>
              <a:t>Sources</a:t>
            </a:r>
          </a:p>
          <a:p>
            <a:r>
              <a:t>[1] Thesis narrative and NR scope. Saved project snapshot, 2026.</a:t>
            </a:r>
          </a:p>
          <a:p>
            <a:r>
              <a:t>D:/capp/NR/Documents/Codex/embodied-research-rebuild-2026-10-18/sources/thesis-spine-live.txt</a:t>
            </a:r>
          </a:p>
          <a:p>
            <a:r>
              <a:t>Project narrative and proposed scope, not a completed-capability claim. Original site: https://thesis-spine.link. LT and NR are parallel research projects.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中文讲稿</a:t>
            </a:r>
          </a:p>
          <a:p>
            <a:r>
              <a:t>最早的 policy reuse 问的是：以前有效的按压策略，换一个情况还能不能用？我们现在把“情况变了”具体化为材料的恢复状态变了。同一块材料刚被压过，和放置一段时间之后，再执行同一命令可能产生不同的力。</a:t>
            </a:r>
          </a:p>
          <a:p>
            <a:endParaRPr/>
          </a:p>
          <a:p>
            <a:r>
              <a:t>这里的 interaction history 是过去动作与观测的记录，包括命令、运动和接触响应。材料实验中的 loading history 是它在加载过程中的具体形式。历史先支持当前物理状态的推断，再通过状态预测新动作的后果。</a:t>
            </a:r>
          </a:p>
          <a:p>
            <a:endParaRPr/>
          </a:p>
          <a:p>
            <a:r>
              <a:t>于是，复用需要判断的对象更清楚了：旧策略面对的是怎样的材料状态，现在又是什么状态？先用交互历史估计当前状态，再结合候选动作预测响应，才有依据讨论照用原动作、调整节奏或增加等待。这些是后续策略层可以使用的接口。</a:t>
            </a:r>
          </a:p>
          <a:p>
            <a:endParaRPr/>
          </a:p>
          <a:p>
            <a:r>
              <a:t>当前实验已经把这条链的前半段做成了可检验系统：从历史估计材料状态，并将同一状态用于不同未来控制参数下的响应预测。接下来的问题是，这种提前获得的信息在持续反馈中什么时候能改变动作选择。</a:t>
            </a:r>
          </a:p>
          <a:p>
            <a:endParaRPr/>
          </a:p>
          <a:p>
            <a:r>
              <a:t>Sources</a:t>
            </a:r>
          </a:p>
          <a:p>
            <a:r>
              <a:t>[1] Project narrative and NR scope; research framing clarified in the project discussion, 2026-10-22.</a:t>
            </a:r>
          </a:p>
          <a:p>
            <a:r>
              <a:t>D:/capp/NR/Documents/Codex/embodied-research-rebuild-2026-10-18/sources/thesis-spine-live.txt</a:t>
            </a:r>
          </a:p>
          <a:p>
            <a:r>
              <a:t>The policy-reuse connection is an intended research direction, not an established experimental result. The two questions on this slide use wording selected by the project author in the discussion.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中文讲稿</a:t>
            </a:r>
          </a:p>
          <a:p>
            <a:r>
              <a:t>前面讲的是，过去有效的策略在当前条件下还能不能用。我把这个问题放到一个具体场景里：机器人按压软垫，抬起，等待，然后再次按压。第一次按压留下的影响，可能改变第二次按压的结果。</a:t>
            </a:r>
          </a:p>
          <a:p>
            <a:endParaRPr/>
          </a:p>
          <a:p>
            <a:r>
              <a:t>我们要检验的是，把之前怎么按、测到了什么保留下来，能不能比只看当前读数，更准确地预测下一次按压。研究分三步：先检查历史能否改善预测，再检查换动作后是否仍然有效，最后检查这种预测是否帮助机器人选择动作。</a:t>
            </a:r>
          </a:p>
          <a:p>
            <a:endParaRPr/>
          </a:p>
          <a:p>
            <a:r>
              <a:t>在看仿真结果前，先用一个含水凝胶的实际材料例子，解释为什么同一块材料、同一次按压会同时引起不同的内部变化。</a:t>
            </a:r>
          </a:p>
          <a:p>
            <a:endParaRPr/>
          </a:p>
          <a:p>
            <a:r>
              <a:t>Sources</a:t>
            </a:r>
          </a:p>
          <a:p>
            <a:r>
              <a:t>[4] Kaelbling, Littman &amp; Cassandra (1998). Planning and acting in partially observable stochastic domains.</a:t>
            </a:r>
          </a:p>
          <a:p>
            <a:r>
              <a:t>https://cs.brown.edu/courses/csci2951-k/papers/kaelbling98.pdf</a:t>
            </a:r>
          </a:p>
          <a:p>
            <a:r>
              <a:t>Actions and observations update a belief state used for decisions.</a:t>
            </a:r>
          </a:p>
          <a:p>
            <a:endParaRPr/>
          </a:p>
          <a:p>
            <a:r>
              <a:t>[5] Hafner et al. (ICML 2019). Learning Latent Dynamics for Planning from Pixels (PlaNet).</a:t>
            </a:r>
          </a:p>
          <a:p>
            <a:r>
              <a:t>https://proceedings.mlr.press/v97/hafner19a.html</a:t>
            </a:r>
          </a:p>
          <a:p>
            <a:r>
              <a:t>Latent state inferred from observation and action history supports action-conditioned prediction and planning.</a:t>
            </a:r>
          </a:p>
          <a:p>
            <a:endParaRPr/>
          </a:p>
          <a:p>
            <a:r>
              <a:t>[6] Rosenkranz et al. (Computational Mechanics 2024). Viscoelasticty with physics-augmented neural networks: model formulation and training methods without prescribed internal variables.</a:t>
            </a:r>
          </a:p>
          <a:p>
            <a:r>
              <a:t>https://doi.org/10.1007/s00466-024-02477-1</a:t>
            </a:r>
          </a:p>
          <a:p>
            <a:r>
              <a:t>An auxiliary recurrent network provides internal variables during training. This is a material-model precedent, not a demonstrated robot control loop.</a:t>
            </a:r>
          </a:p>
          <a:p>
            <a:endParaRPr/>
          </a:p>
          <a:p>
            <a:r>
              <a:t>[E1] Project R2: matched histories and state inference.</a:t>
            </a:r>
          </a:p>
          <a:p>
            <a:r>
              <a:t>D:/capp/NR/Documents/Codex/material-state-round2-2026-10-19/第二轮实验结论.md</a:t>
            </a:r>
          </a:p>
          <a:p>
            <a:r>
              <a:t>Synthetic known-material experiment. Different pasts, matched present observations, common future commands. Classical and short-window estimators remain strong.</a:t>
            </a:r>
          </a:p>
          <a:p>
            <a:endParaRPr/>
          </a:p>
          <a:p>
            <a:r>
              <a:t>[E2] Project R3: prediction across future controllers.</a:t>
            </a:r>
          </a:p>
          <a:p>
            <a:r>
              <a:t>D:/capp/NR/Documents/Codex/material-state-control-transfer-2026-10-19/本轮结果与研究判断.md</a:t>
            </a:r>
          </a:p>
          <a:p>
            <a:r>
              <a:t>Controlled-release transfer_v2. Held-out force RMSE [N]: current .03505, history .00376, conditional GRU .21725, classical integral .00048, 0.2 s observer .00313. History-collection control stays fixed. Inputs and supplied physical structure differ across comparisons.</a:t>
            </a:r>
          </a:p>
          <a:p>
            <a:endParaRPr/>
          </a:p>
          <a:p>
            <a:r>
              <a:t>[E3] Project frozen bridge: common feedback and control.</a:t>
            </a:r>
          </a:p>
          <a:p>
            <a:r>
              <a:t>D:/capp/NR/Documents/Codex/material-state-frozen-bridge-2026-10-20/闭环衔接简报.md</a:t>
            </a:r>
          </a:p>
          <a:p>
            <a:r>
              <a:t>Frozen R3 encoders in shared feedback. No useful added action gain from history initialization in this tested setting. This is not an optimal-fusion upper bound.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中文讲稿</a:t>
            </a:r>
          </a:p>
          <a:p>
            <a:r>
              <a:t>可以用按一块果冻状的含水凝胶来理解。它内部像一张细密的软网，网里充满水。按住之后，外面的压头停在固定深度，里面仍会发生变化。</a:t>
            </a:r>
          </a:p>
          <a:p>
            <a:endParaRPr/>
          </a:p>
          <a:p>
            <a:r>
              <a:t>看左边示意图，紫色网线表示聚合物网络，蓝色点表示水。同一次按压，一方面会让网络中原来绷紧的部分逐渐放松，另一方面会驱动水穿过孔隙，从受压区域向周围移动，内部压力重新分布。这两件事可以同时发生。</a:t>
            </a:r>
          </a:p>
          <a:p>
            <a:endParaRPr/>
          </a:p>
          <a:p>
            <a:r>
              <a:t>右边两行对应一项 PEG 水凝胶压入研究的解释。Bush 等在保持压入深度不变时测量受力随时间的变化，将较快的松弛归于聚合物网络，将较慢的松弛归于水迁移。因此，即使手或压头不再继续向下，抵抗力仍会变化。快慢的相对关系会随材料和接触尺度改变。</a:t>
            </a:r>
          </a:p>
          <a:p>
            <a:endParaRPr/>
          </a:p>
          <a:p>
            <a:r>
              <a:t>这个例子给多个内部变量提供了具体物理动机：同一块材料里，可以同时有网络的调整和水的重新分布。回到本项目，两个变量记录简化 Maxwell 模型的等效松弛状态。接下来先看其他研究怎样从传感记录中估计看不见的物理量，再看它们如何利用历史，最后回到我们的仿真对照。</a:t>
            </a:r>
          </a:p>
          <a:p>
            <a:endParaRPr/>
          </a:p>
          <a:p>
            <a:r>
              <a:t>Sources</a:t>
            </a:r>
          </a:p>
          <a:p>
            <a:r>
              <a:t>[8] Bush, B. G., Shapiro, J. M., DelRio, F. W., Cook, R. F. &amp; Oyen, M. L. (2015). Mechanical measurements of heterogeneity and length scale effects in PEG-based hydrogels. Soft Matter 11, 7191–7200.</a:t>
            </a:r>
          </a:p>
          <a:p>
            <a:r>
              <a:t>https://doi.org/10.1039/C5SM01210D</a:t>
            </a:r>
          </a:p>
          <a:p>
            <a:r>
              <a:t>https://pmc.ncbi.nlm.nih.gov/articles/PMC4571184/</a:t>
            </a:r>
          </a:p>
          <a:p>
            <a:r>
              <a:t>Section 3.2: the authors interpret the faster relaxation as polymer-network viscoelasticity and the slower relaxation as poroelastic fluid transport. The study uses spherical indentation with a 3 micrometre probe. Relative time scales depend on material and contact geometry.</a:t>
            </a:r>
          </a:p>
          <a:p>
            <a:endParaRPr/>
          </a:p>
          <a:p>
            <a:r>
              <a:t>The schematic is an editable conceptual illustration, not a reconstruction of an experimental micrograph. The numerical time constants in the project simulation are not taken from this paper.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中文讲稿</a:t>
            </a:r>
          </a:p>
          <a:p>
            <a:r>
              <a:t>RME 和 CPF 展示了两种具体的物理推断。RME 从本体反馈里的动力学失配估计附加载荷的质量和质心，使控制器能够补偿负载变化。CPF 把动量残差与接触候选、摩擦约束结合起来，推断外部接触的位置与力。</a:t>
            </a:r>
          </a:p>
          <a:p>
            <a:endParaRPr/>
          </a:p>
          <a:p>
            <a:r>
              <a:t>我们从中采用的思路是：把传感器里的变化对应到明确的物理未知量，再用这个估计支持行动。NR 选择的未知量是材料内部的恢复状态。即使材料参数相同、接触位置相同，过去的加载仍可让内部状态不同。</a:t>
            </a:r>
          </a:p>
          <a:p>
            <a:endParaRPr/>
          </a:p>
          <a:p>
            <a:r>
              <a:t>因此估计之后还要做一步：在释放、等待和新的命令下推进这份状态。这个演化过程将当前估计与下一次接触连接起来，也使我们能够讨论一份状态怎样服务多种未来控制条件。</a:t>
            </a:r>
          </a:p>
          <a:p>
            <a:endParaRPr/>
          </a:p>
          <a:p>
            <a:endParaRPr/>
          </a:p>
          <a:p>
            <a:r>
              <a:t>RME 和 CPF 帮我们明确了要估计什么。下一页进一步看，已有研究怎样把过去的动作与观测变成可以用于预测和控制的状态。</a:t>
            </a:r>
          </a:p>
          <a:p>
            <a:r>
              <a:t>Sources</a:t>
            </a:r>
          </a:p>
          <a:p>
            <a:r>
              <a:t>[2] Jaszczuk &amp; Figueroa (CoRL 2025). Rapid Mismatch Estimation via Neural Network Informed Variational Inference.</a:t>
            </a:r>
          </a:p>
          <a:p>
            <a:r>
              <a:t>https://proceedings.mlr.press/v305/jaszczuk25a.html</a:t>
            </a:r>
          </a:p>
          <a:p>
            <a:r>
              <a:t>Physical inference of changing load mass and center of mass supports compliant control. Not integrated in the present material pilot.</a:t>
            </a:r>
          </a:p>
          <a:p>
            <a:endParaRPr/>
          </a:p>
          <a:p>
            <a:r>
              <a:t>[3] Manuelli &amp; Tedrake (IROS 2016). Localizing External Contact Using Proprioceptive Sensors: The Contact Particle Filter.</a:t>
            </a:r>
          </a:p>
          <a:p>
            <a:r>
              <a:t>https://groups.csail.mit.edu/robotics-center/public_papers/Manuelli16.pdf</a:t>
            </a:r>
          </a:p>
          <a:p>
            <a:r>
              <a:t>Contact hypotheses and constrained force fitting explain momentum residuals. Temporal inference is already present.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中文讲稿</a:t>
            </a:r>
          </a:p>
          <a:p>
            <a:r>
              <a:t>这四项工作帮助我们选择“历史应该被压缩成什么”。POMDP 将过去动作与观测压缩成当前状态的概率分布：既保留估计，也保留不确定性。它对应我们后续要处理的一个问题——历史初值有多可信，新反馈应当把它改写多少。</a:t>
            </a:r>
          </a:p>
          <a:p>
            <a:endParaRPr/>
          </a:p>
          <a:p>
            <a:r>
              <a:t>PlaNet 将图像和动作历史转成潜在动态状态，再用这个状态预测候选动作的后果。我们采用同样清楚的接口划分：历史负责状态推断，未来动作进入向前预测。</a:t>
            </a:r>
          </a:p>
          <a:p>
            <a:endParaRPr/>
          </a:p>
          <a:p>
            <a:r>
              <a:t>RMA 从近期本体状态和动作中估计环境因素编码，交给已有行走策略使用。它使早期 policy reuse 的想法更具体：可以保持基础策略，同时更新策略所面对的环境条件。</a:t>
            </a:r>
          </a:p>
          <a:p>
            <a:endParaRPr/>
          </a:p>
          <a:p>
            <a:r>
              <a:t>Rosenkranz 等在材料模型训练中，用递归网络提供内部变量，并配合物理约束描述黏弹性响应。这给材料状态的学习提供了直接参照：用过去的应变、应力和时间信息推断内部变量，再检查这些变量能否解释后续响应。</a:t>
            </a:r>
          </a:p>
          <a:p>
            <a:endParaRPr/>
          </a:p>
          <a:p>
            <a:r>
              <a:t>NR 目前采用具有物理含义的二维材料状态。我们关注它怎样从历史中恢复，怎样在改变未来控制时继续使用，以及进入反馈之后，初始估计的可信度如何与新观测结合。</a:t>
            </a:r>
          </a:p>
          <a:p>
            <a:endParaRPr/>
          </a:p>
          <a:p>
            <a:endParaRPr/>
          </a:p>
          <a:p>
            <a:r>
              <a:t>沿着这些思路，我们先做一个直接对照：当前读数相同，过去不同，后续响应会不会不同？下一页展示这个实验。</a:t>
            </a:r>
          </a:p>
          <a:p>
            <a:r>
              <a:t>Sources</a:t>
            </a:r>
          </a:p>
          <a:p>
            <a:r>
              <a:t>[4] Kaelbling, Littman &amp; Cassandra (1998). Planning and acting in partially observable stochastic domains.</a:t>
            </a:r>
          </a:p>
          <a:p>
            <a:r>
              <a:t>https://cs.brown.edu/courses/csci2951-k/papers/kaelbling98.pdf</a:t>
            </a:r>
          </a:p>
          <a:p>
            <a:r>
              <a:t>Actions and observations update a belief state used for decisions.</a:t>
            </a:r>
          </a:p>
          <a:p>
            <a:endParaRPr/>
          </a:p>
          <a:p>
            <a:r>
              <a:t>[5] Hafner et al. (ICML 2019). Learning Latent Dynamics for Planning from Pixels (PlaNet).</a:t>
            </a:r>
          </a:p>
          <a:p>
            <a:r>
              <a:t>https://proceedings.mlr.press/v97/hafner19a.html</a:t>
            </a:r>
          </a:p>
          <a:p>
            <a:r>
              <a:t>Latent state inferred from observation and action history supports action-conditioned prediction and planning.</a:t>
            </a:r>
          </a:p>
          <a:p>
            <a:endParaRPr/>
          </a:p>
          <a:p>
            <a:r>
              <a:t>[6] Rosenkranz et al. (Computational Mechanics 2024). Viscoelasticty with physics-augmented neural networks: model formulation and training methods without prescribed internal variables.</a:t>
            </a:r>
          </a:p>
          <a:p>
            <a:r>
              <a:t>https://doi.org/10.1007/s00466-024-02477-1</a:t>
            </a:r>
          </a:p>
          <a:p>
            <a:r>
              <a:t>An auxiliary recurrent network provides internal variables during training. This is a material-model precedent, not a demonstrated robot control loop.</a:t>
            </a:r>
          </a:p>
          <a:p>
            <a:endParaRPr/>
          </a:p>
          <a:p>
            <a:r>
              <a:t>[7] Kumar, Fu, Pathak &amp; Malik (RSS 2021). RMA: Rapid Motor Adaptation for Legged Robots.</a:t>
            </a:r>
          </a:p>
          <a:p>
            <a:r>
              <a:t>https://www.roboticsproceedings.org/rss17/p011.html</a:t>
            </a:r>
          </a:p>
          <a:p>
            <a:r>
              <a:t>Recent proprioceptive state and action history estimates an extrinsics encoding for a base locomotion policy. This is policy adaptation, not an explicitly interpretable material-state model. Project: https://ashish-kmr.github.io/rma-legged-robots/.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中文讲稿</a:t>
            </a:r>
          </a:p>
          <a:p>
            <a:r>
              <a:t>前面的工作说明了怎样从记录估计状态。现在用本项目的对照实验，检验历史到底补充了什么信息。这里是一维按压仿真，材料内部用两个等效松弛变量表示，两段试验使用相同的材料参数。</a:t>
            </a:r>
          </a:p>
          <a:p>
            <a:endParaRPr/>
          </a:p>
          <a:p>
            <a:r>
              <a:t>先看上图。蓝线和橙线表示两段不同的按压过程。我们让它们在比较时刻的位置、速度、接触力和当前命令一致，过去的运动轨迹则不同。</a:t>
            </a:r>
          </a:p>
          <a:p>
            <a:endParaRPr/>
          </a:p>
          <a:p>
            <a:r>
              <a:t>再看中图。从这个时刻开始，两次试验执行相同的释放、等待和再次按压命令。再次接触时，两条受力曲线出现了差异，说明当前这些读数还没有包含预测未来所需的全部信息。</a:t>
            </a:r>
          </a:p>
          <a:p>
            <a:endParaRPr/>
          </a:p>
          <a:p>
            <a:r>
              <a:t>最后看下图，这里画的是两次试验的力之差。带圆点的黑色虚线是仿真的真实差异。只看当前读数的方法收到相同输入，给出相同预测，所以紫线的预测差异为零。利用过去记录的历史模型能够预测这份差异，蓝色实线接近带圆点的黑色真值线。紫线为零表示两次预测的差为零，不是接触力为零。</a:t>
            </a:r>
          </a:p>
          <a:p>
            <a:endParaRPr/>
          </a:p>
          <a:p>
            <a:r>
              <a:t>这一页回答的是，在这个有记忆的测试环境里，交互历史能补充瞬时读数遗漏的信息，帮助预测下一次接触。对应的内部状态是一个包含两个分量的向量；两分量分别记录不同响应速度的等效内部变形。</a:t>
            </a:r>
          </a:p>
          <a:p>
            <a:endParaRPr/>
          </a:p>
          <a:p>
            <a:endParaRPr/>
          </a:p>
          <a:p>
            <a:r>
              <a:t>下一页说明具体怎么学：把交互历史编码成当前状态，再用后续的受力和运动检验这个估计。</a:t>
            </a:r>
          </a:p>
          <a:p>
            <a:r>
              <a:t>Sources</a:t>
            </a:r>
          </a:p>
          <a:p>
            <a:r>
              <a:t>[E1] Project R2: matched histories and state inference.</a:t>
            </a:r>
          </a:p>
          <a:p>
            <a:r>
              <a:t>D:/capp/NR/Documents/Codex/material-state-round2-2026-10-19/第二轮实验结论.md</a:t>
            </a:r>
          </a:p>
          <a:p>
            <a:r>
              <a:t>Synthetic known-material experiment. Different pasts, matched present observations, common future commands. Classical and short-window estimators remain strong.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中文讲稿</a:t>
            </a:r>
          </a:p>
          <a:p>
            <a:r>
              <a:t>蓝线来自训练过的历史状态模型。这一页把它具体怎么做讲清楚。</a:t>
            </a:r>
          </a:p>
          <a:p>
            <a:endParaRPr/>
          </a:p>
          <a:p>
            <a:r>
              <a:t>第一步，输入过去三秒的按压记录，每隔0.01秒记录位置、速度、接触力、控制命令和时间间隔。GRU按时间顺序读取这些记录，因此能区分先深压再松开和持续浅压这类不同过程。</a:t>
            </a:r>
          </a:p>
          <a:p>
            <a:endParaRPr/>
          </a:p>
          <a:p>
            <a:r>
              <a:t>第二步，估计此刻的二维材料状态。代码里，当前的位置和力约束了k1乘z1加k2乘z2这个加权总量，GRU主要学习它在快、慢分量之间的分配比例，再得到z1和z2。两者描述的是同一时刻的材料状态。</a:t>
            </a:r>
          </a:p>
          <a:p>
            <a:endParaRPr/>
          </a:p>
          <a:p>
            <a:r>
              <a:t>第三步，把状态和当前位置、速度放进固定动力学，输入未来准备执行的命令，计算后续的力和位置。材料参数先用训练记录辨识，再固定下来。</a:t>
            </a:r>
          </a:p>
          <a:p>
            <a:endParaRPr/>
          </a:p>
          <a:p>
            <a:r>
              <a:t>第四步，用仿真保存的后续力和位置检查预测。如果预测有误差，误差会反向更新GRU，让它从历史中估计出更合适的状态。训练监督来自后续可观测响应，真实隐藏状态用于事后检查。</a:t>
            </a:r>
          </a:p>
          <a:p>
            <a:endParaRPr/>
          </a:p>
          <a:p>
            <a:r>
              <a:t>图里的蓝线是分别预测A、B两次受力后再相减得到的。当前实验是一维按压运动，材料状态包含两个分量。下一页把各轮实验回答的问题放在一起，作为讨论研究方向的依据。</a:t>
            </a:r>
          </a:p>
          <a:p>
            <a:endParaRPr/>
          </a:p>
          <a:p>
            <a:r>
              <a:t>Sources</a:t>
            </a:r>
          </a:p>
          <a:p>
            <a:r>
              <a:t>[E1] Project R2: matched histories and state inference.</a:t>
            </a:r>
          </a:p>
          <a:p>
            <a:r>
              <a:t>D:/capp/NR/Documents/Codex/material-state-round2-2026-10-19/第二轮实验结论.md</a:t>
            </a:r>
          </a:p>
          <a:p>
            <a:endParaRPr/>
          </a:p>
          <a:p>
            <a:r>
              <a:t>Implementation and recorded run:</a:t>
            </a:r>
          </a:p>
          <a:p>
            <a:r>
              <a:t>D:/capp/NR/Documents/Codex/material-state-round2-2026-10-19/models.py</a:t>
            </a:r>
          </a:p>
          <a:p>
            <a:r>
              <a:t>D:/capp/NR/Documents/Codex/material-state-round2-2026-10-19/experiment.py</a:t>
            </a:r>
          </a:p>
          <a:p>
            <a:r>
              <a:t>D:/capp/NR/Documents/Codex/material-state-round2-2026-10-19/runs/round2_v1/config.json</a:t>
            </a:r>
          </a:p>
          <a:p>
            <a:r>
              <a:t>D:/capp/NR/Documents/Codex/material-state-round2-2026-10-19/runs/round2_v1/fixed_material.json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中文讲稿</a:t>
            </a:r>
          </a:p>
          <a:p>
            <a:r>
              <a:t>这一页把状态估计、物理预测和训练放在同一个模型里。先看左上，再看右侧，最后回到左下的训练目标。</a:t>
            </a:r>
          </a:p>
          <a:p>
            <a:endParaRPr/>
          </a:p>
          <a:p>
            <a:r>
              <a:t>左上是历史到状态。Hₜ包含过去三秒的位置x、速度v、接触力F、命令u和时间间隔，采样间隔为0.01秒。GRU把这段时间序列编码为hₜ，线性输出层加sigmoid得到0到1之间的分配比例α。</a:t>
            </a:r>
          </a:p>
          <a:p>
            <a:endParaRPr/>
          </a:p>
          <a:p>
            <a:r>
              <a:t>当前接触读数约束了一个加权总量：Sₜ等于总刚度kΣ乘当前位置，再减去当前力。代码用很小的正数ε做数值下限。分配比例α确定k₁z₁占多少，1减α确定k₂z₂占多少，因而得到同一个时刻的两个状态估计。这里kΣ等于k∞加k₁加k₂。</a:t>
            </a:r>
          </a:p>
          <a:p>
            <a:endParaRPr/>
          </a:p>
          <a:p>
            <a:r>
              <a:t>右侧是预测方程。第一行受力公式把位置和两个内部变量联系起来，max保证没有拉力。q(z)是没有外部接触力时材料表面的残余压缩。内部变量以不同的时间常数τᵢ向有效压缩max(x,q)演化，因此释放之后材料状态仍会继续变化。i取1和2。</a:t>
            </a:r>
          </a:p>
          <a:p>
            <a:endParaRPr/>
          </a:p>
          <a:p>
            <a:r>
              <a:t>压头的位置和速度由执行器方程推进。u是接下来准备执行的位置命令，K和D是控制刚度与阻尼，m是执行器等效质量。用当前的位置、速度和估计内态作为初值，就可以计算未来的受力和运动。这里给出连续形式，第二轮代码用0.01秒的隐式Euler步进联合求解材料和执行器。</a:t>
            </a:r>
          </a:p>
          <a:p>
            <a:endParaRPr/>
          </a:p>
          <a:p>
            <a:r>
              <a:t>左下是训练。预测量带帽，记录中的后续力和位置作为监督。损失是归一化的力误差和位置误差的均方和，尖括号表示对训练批次与未来时间步取平均，sF为8 N、sx为0.006 m。误差通过物理预测对初始状态的导数传回GRU和分配输出层。材料参数在训练数据上先辨识，再固定；真实隐藏状态用于评估。</a:t>
            </a:r>
          </a:p>
          <a:p>
            <a:endParaRPr/>
          </a:p>
          <a:p>
            <a:r>
              <a:t>这张图的状态估计和响应预测是第七页蓝线的来源。下一页归纳这些实验说明了什么。</a:t>
            </a:r>
          </a:p>
          <a:p>
            <a:endParaRPr/>
          </a:p>
          <a:p>
            <a:r>
              <a:t>Sources</a:t>
            </a:r>
          </a:p>
          <a:p>
            <a:r>
              <a:t>[E1] Project R2: matched histories and state inference.</a:t>
            </a:r>
          </a:p>
          <a:p>
            <a:r>
              <a:t>D:/capp/NR/Documents/Codex/material-state-round2-2026-10-19/第二轮实验结论.md</a:t>
            </a:r>
          </a:p>
          <a:p>
            <a:endParaRPr/>
          </a:p>
          <a:p>
            <a:r>
              <a:t>Implementation and recorded run:</a:t>
            </a:r>
          </a:p>
          <a:p>
            <a:r>
              <a:t>D:/capp/NR/Documents/Codex/material-state-round2-2026-10-19/models.py</a:t>
            </a:r>
          </a:p>
          <a:p>
            <a:r>
              <a:t>D:/capp/NR/Documents/Codex/material-state-round2-2026-10-19/experiment.py</a:t>
            </a:r>
          </a:p>
          <a:p>
            <a:r>
              <a:t>D:/capp/NR/Documents/Codex/material-state-round2-2026-10-19/runs/round2_v1/config.json</a:t>
            </a:r>
          </a:p>
          <a:p>
            <a:r>
              <a:t>D:/capp/NR/Documents/Codex/material-state-round2-2026-10-19/runs/round2_v1/fixed_material.json</a:t>
            </a:r>
          </a:p>
          <a:p>
            <a:r>
              <a:t>D:/capp/NR/Documents/Codex/material-state-round2-2026-10-19/physics.py</a:t>
            </a:r>
          </a:p>
          <a:p>
            <a:r>
              <a:t>D:/capp/NR/Documents/Codex/material-state-round2-2026-10-19/differentiable.py</a:t>
            </a:r>
          </a:p>
          <a:p>
            <a:r>
              <a:t>The equations match StateModel.state, MaxwellRollout and the unilateral Maxwell material law. ε = 1e-6 N is the state-parameterization floor. The displayed differential equations are integrated with backward Euler in R2.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中文讲稿</a:t>
            </a:r>
          </a:p>
          <a:p>
            <a:r>
              <a:t>这一页把四种方法的特点和比较目的对应起来。前三行比较材料响应模型，第四行比较在同一材料规律下怎样估计当前状态。RME 的适配最直接承接老师给的物理推断工作，并能检验我们现有历史编码器之后是否需要概率校正。</a:t>
            </a:r>
          </a:p>
          <a:p>
            <a:r>
              <a:t/>
            </a:r>
          </a:p>
          <a:p>
            <a:r>
              <a:t>广义 Maxwell／Prony 模型使用固定松弛模式，刚度和时间常数有明确含义，不需要神经网络。Park 与 Schapery 1999 提供材料函数的 Prony 表示依据，我们采用自己的拟合、状态积分和接触实现。它是固定材料规律的经典对照；真实数据上由验证集选择模态数。</a:t>
            </a:r>
          </a:p>
          <a:p>
            <a:r>
              <a:t/>
            </a:r>
          </a:p>
          <a:p>
            <a:r>
              <a:t>Rosenkranz 2023 的直接应力预测器把应变和时间增量输入 LSTM，用内部记忆和输出网络预测应力。它不预先指定材料演化定律，适合检验直接时序学习与显式物理结构的差别。现有项目 GRU 仍属于自建对照，论文中的 LSTM 模型需另行实现。</a:t>
            </a:r>
          </a:p>
          <a:p>
            <a:r>
              <a:t/>
            </a:r>
          </a:p>
          <a:p>
            <a:r>
              <a:t>Rosenkranz 2024 学习自由能和耗散势，模型结构满足热力学约束。辅助 LSTM 只帮助训练时构造内部变量；预测通过学到的势函数和演化方程进行。我们计划适配为一维模型，用于比较学习材料演化规律的路线。</a:t>
            </a:r>
          </a:p>
          <a:p>
            <a:r>
              <a:t/>
            </a:r>
          </a:p>
          <a:p>
            <a:r>
              <a:t>RME 原论文的特点是神经网络提供先验，变分推断结合本体反馈和动力学继续校正，并量化不确定性；原任务估计末端负载质量与质心。这里提出 RME-inspired material-state estimator：将待估计未知量换成材料内态 z，固定与我们相同的材料参数和执行器／接触模型，用观测与模型的偏差推断状态分布。它是基于 RME 思路的新适配方案，原论文没有报告我们的材料记忆任务。</a:t>
            </a:r>
          </a:p>
          <a:p>
            <a:r>
              <a:t/>
            </a:r>
          </a:p>
          <a:p>
            <a:r>
              <a:t>这个适配的具体实验可分两步。第一步从较早的历史前缀产生某时刻状态的均值与协方差先验，再用后续的一段位置／力观测做变分校正，通过共同材料动力学传播到预测切点。先验输入与校正观测分开，避免将同一段观测作为两份独立证据；所有对照使用相同总历史和相同传感噪声。第二步比较历史编码器、历史先验加变分校正、经典完整历史估计和短窗观测器。各方法都只使用预测起点以前的信息。</a:t>
            </a:r>
          </a:p>
          <a:p>
            <a:r>
              <a:t/>
            </a:r>
          </a:p>
          <a:p>
            <a:r>
              <a:t>状态估计比较固定材料动力学和未来控制输入，报告未来力 RMSE、配对响应差误差、每次更新耗时，以及预测区间覆盖率和宽度。仿真可额外检查 z 的误差与状态区间覆盖；真实材料以内态推断带来的可观测响应预测为主。闭环实验使用共同控制器，并统一新反馈的可用性。</a:t>
            </a:r>
          </a:p>
          <a:p>
            <a:r>
              <a:t/>
            </a:r>
          </a:p>
          <a:p>
            <a:r>
              <a:t>前三行的材料模型比较先使用相同给定变形路径和相同几何映射；参数与容量只在训练／验证集选择，完整交互历史留出。之后接入共同单侧接触和执行器模型测试未来命令条件预测；这一步不输入未来实测位移或力。分别报告材料模型与状态估计两类结果，避免把学规律与估初值的收益混在一起。</a:t>
            </a:r>
          </a:p>
          <a:p>
            <a:r>
              <a:t/>
            </a:r>
          </a:p>
          <a:p>
            <a:r>
              <a:t>Sources</a:t>
            </a:r>
          </a:p>
          <a:p>
            <a:r>
              <a:t>[B1] Park, S. W. &amp; Schapery, R. A. (1999). Methods of interconversion between linear viscoelastic material functions. Part I—a numerical method based on Prony series. International Journal of Solids and Structures 36(11), 1653–1675.</a:t>
            </a:r>
          </a:p>
          <a:p>
            <a:r>
              <a:t>https://doi.org/10.1016/S0020-7683(98)00055-9</a:t>
            </a:r>
          </a:p>
          <a:p>
            <a:r>
              <a:t>Role: classical Prony-series formulation reference; the proposed NR baseline is not a reproduction of the paper's interconversion experiment.</a:t>
            </a:r>
          </a:p>
          <a:p>
            <a:r>
              <a:t/>
            </a:r>
          </a:p>
          <a:p>
            <a:r>
              <a:t>[B2] Rosenkranz, M., Kalina, K. A., Brummund, J. &amp; Kästner, M. (2023). A comparative study on different neural network architectures to model inelasticity. International Journal for Numerical Methods in Engineering 124(21), 4802–4840.</a:t>
            </a:r>
          </a:p>
          <a:p>
            <a:r>
              <a:t>https://doi.org/10.1002/nme.7319</a:t>
            </a:r>
          </a:p>
          <a:p>
            <a:r>
              <a:t>https://arxiv.org/abs/2303.03402</a:t>
            </a:r>
          </a:p>
          <a:p>
            <a:r>
              <a:t>Selected comparator: Sec. 4.1.2, RNN^sigma; strain and time increments drive an LSTM and stress output network. Proposed reproduction/adaptation; no results from this paper-specific implementation are reported in the current deck.</a:t>
            </a:r>
          </a:p>
          <a:p>
            <a:r>
              <a:t/>
            </a:r>
          </a:p>
          <a:p>
            <a:r>
              <a:t>[6] Rosenkranz, M., Kalina, K. A., Brummund, J., Sun, W. &amp; Kästner, M. (2024). Viscoelasticty with physics-augmented neural networks: model formulation and training methods without prescribed internal variables. Computational Mechanics 74, 1279–1301.</a:t>
            </a:r>
          </a:p>
          <a:p>
            <a:r>
              <a:t>https://doi.org/10.1007/s00466-024-02477-1</a:t>
            </a:r>
          </a:p>
          <a:p>
            <a:r>
              <a:t>Selected comparator: Sec. 3 potential-based material model and Sec. 4.3 auxiliary recurrent training. Sec. 3.2 describes prediction through the evolution equation. Proposed 1D adaptation; the auxiliary training LSTM is distinct from the 2023 direct stress predictor.</a:t>
            </a:r>
          </a:p>
          <a:p>
            <a:r>
              <a:t/>
            </a:r>
          </a:p>
          <a:p>
            <a:r>
              <a:t>Project implementation evidence</a:t>
            </a:r>
          </a:p>
          <a:p>
            <a:r>
              <a:t>D:/capp/NR/Documents/Codex/material-state-round2-2026-10-19/第二轮实验结论.md</a:t>
            </a:r>
          </a:p>
          <a:p>
            <a:r>
              <a:t>D:/capp/NR/Documents/Codex/material-state-control-transfer-2026-10-19/本轮结果与研究判断.md</a:t>
            </a:r>
          </a:p>
          <a:p>
            <a:r>
              <a:t>Existing project comparisons: current/history state encoders, full-history classical integration, local 0.2 s least-squares observer and custom GRU variants. Internal states are evaluated only where simulator truth is available.</a:t>
            </a:r>
          </a:p>
          <a:p>
            <a:r>
              <a:t/>
            </a:r>
          </a:p>
          <a:p>
            <a:r>
              <a:t/>
            </a:r>
          </a:p>
          <a:p>
            <a:r>
              <a:t>[2] Jaszczuk, M. &amp; Figueroa, N. (2025). Rapid Mismatch Estimation via Neural Network Informed Variational Inference. Proceedings of the 9th Conference on Robot Learning, PMLR 305, 5256–5277.</a:t>
            </a:r>
          </a:p>
          <a:p>
            <a:r>
              <a:t>https://proceedings.mlr.press/v305/jaszczuk25a.html</a:t>
            </a:r>
          </a:p>
          <a:p>
            <a:r>
              <a:t>Verified paper method: a neural network model mismatch estimator supplies a prior to variational inference; proprioceptive measurements inform unknown payload mass and center of mass with uncertainty. Proposed NR adaptation: a posterior over evolving material state under shared fixed dynamics. This adaptation is planned and is not an experiment reported in the original RME paper.</a:t>
            </a:r>
          </a:p>
          <a:p>
            <a:r>
              <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121219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中文讲稿</a:t>
            </a:r>
          </a:p>
          <a:p>
            <a:r>
              <a:t>这几轮实验得到三条具体结论。</a:t>
            </a:r>
          </a:p>
          <a:p>
            <a:endParaRPr/>
          </a:p>
          <a:p>
            <a:r>
              <a:t>第一，历史能区分当前读数相同的材料状态。两段不同的按压过程可以到达相同的位置、速度和力，但下一次按压的受力仍然不同。历史记录帮助我们恢复并预测这份差异，明确了当前读数遗漏的信息。</a:t>
            </a:r>
          </a:p>
          <a:p>
            <a:endParaRPr/>
          </a:p>
          <a:p>
            <a:r>
              <a:t>第二，估计出的材料状态可以用于不同的后续控制。过去只编码一次，未来控制刚度或阻尼改变后，仍可以从同一份状态出发推演响应。这里建立的是可复用的状态估计与预测接口。</a:t>
            </a:r>
          </a:p>
          <a:p>
            <a:endParaRPr/>
          </a:p>
          <a:p>
            <a:r>
              <a:t>第三，共同反馈会缩小历史初始化带来的行动差异。在共同撤离和在线观测器更新之后，两种初始化的估计、动作以及任务完成结果都很接近。经典积分和短时观测器也能恢复有用状态。因此下一步需要研究历史信息提供的提前量在什么任务里能持续到关键动作发生，而不仅是继续提高一个离线预测分数。</a:t>
            </a:r>
          </a:p>
          <a:p>
            <a:endParaRPr/>
          </a:p>
          <a:p>
            <a:r>
              <a:t>这也把早期policy reuse的问题落到了材料条件上：先估计旧动作现在面对的状态，再讨论这份信息什么时候能改变动作选择。具体数值和方法对照保留在后面的实验页。</a:t>
            </a:r>
          </a:p>
          <a:p>
            <a:endParaRPr/>
          </a:p>
          <a:p>
            <a:r>
              <a:t>Sources</a:t>
            </a:r>
          </a:p>
          <a:p>
            <a:r>
              <a:t>[E1] Matched histories and state inference.</a:t>
            </a:r>
          </a:p>
          <a:p>
            <a:r>
              <a:t>D:/capp/NR/Documents/Codex/material-state-round2-2026-10-19/第二轮实验结论.md</a:t>
            </a:r>
          </a:p>
          <a:p>
            <a:endParaRPr/>
          </a:p>
          <a:p>
            <a:r>
              <a:t>[E2] Project R3: prediction across future controllers.</a:t>
            </a:r>
          </a:p>
          <a:p>
            <a:r>
              <a:t>D:/capp/NR/Documents/Codex/material-state-control-transfer-2026-10-19/本轮结果与研究判断.md</a:t>
            </a:r>
          </a:p>
          <a:p>
            <a:r>
              <a:t>Controlled-release transfer_v2. Held-out force RMSE [N]: current .03505, history .00376, classical integral .00048, 0.2 s observer .00313.</a:t>
            </a:r>
          </a:p>
          <a:p>
            <a:endParaRPr/>
          </a:p>
          <a:p>
            <a:r>
              <a:t>[E3] Project frozen bridge: common feedback and control.</a:t>
            </a:r>
          </a:p>
          <a:p>
            <a:r>
              <a:t>D:/capp/NR/Documents/Codex/material-state-frozen-bridge-2026-10-20/闭环衔接简报.md</a:t>
            </a:r>
          </a:p>
          <a:p>
            <a:r>
              <a:t>Frozen encoders in shared feedback. The tested setting showed almost no extra action benefit from history initialization.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中文讲稿</a:t>
            </a:r>
          </a:p>
          <a:p>
            <a:r>
              <a:t>这页给出研究思路和实验结果的出处。物理估计方法对应 RME、CPF；历史到状态的表示和使用对应 POMDP、PlaNet、RMA；材料内部变量学习对应 Rosenkranz 等。E1 到 E3 分别支持匹配历史、未来控制迁移和共同反馈三项结果，P1 是下一步材料采集设计。</a:t>
            </a:r>
          </a:p>
          <a:p>
            <a:endParaRPr/>
          </a:p>
          <a:p>
            <a:r>
              <a:t>Sources</a:t>
            </a:r>
          </a:p>
          <a:p>
            <a:r>
              <a:t>[1] Thesis narrative and NR scope. Saved project snapshot, 2026.</a:t>
            </a:r>
          </a:p>
          <a:p>
            <a:r>
              <a:t>D:/capp/NR/Documents/Codex/embodied-research-rebuild-2026-10-18/sources/thesis-spine-live.txt</a:t>
            </a:r>
          </a:p>
          <a:p>
            <a:r>
              <a:t>Project narrative and proposed scope, not a completed-capability claim. Original site: https://thesis-spine.link. LT and NR are parallel research projects.</a:t>
            </a:r>
          </a:p>
          <a:p>
            <a:endParaRPr/>
          </a:p>
          <a:p>
            <a:r>
              <a:t>[2] Jaszczuk &amp; Figueroa (CoRL 2025). Rapid Mismatch Estimation via Neural Network Informed Variational Inference.</a:t>
            </a:r>
          </a:p>
          <a:p>
            <a:r>
              <a:t>https://proceedings.mlr.press/v305/jaszczuk25a.html</a:t>
            </a:r>
          </a:p>
          <a:p>
            <a:r>
              <a:t>Physical inference of changing load mass and center of mass supports compliant control. Not integrated in the present material pilot.</a:t>
            </a:r>
          </a:p>
          <a:p>
            <a:endParaRPr/>
          </a:p>
          <a:p>
            <a:r>
              <a:t>[3] Manuelli &amp; Tedrake (IROS 2016). Localizing External Contact Using Proprioceptive Sensors: The Contact Particle Filter.</a:t>
            </a:r>
          </a:p>
          <a:p>
            <a:r>
              <a:t>https://groups.csail.mit.edu/robotics-center/public_papers/Manuelli16.pdf</a:t>
            </a:r>
          </a:p>
          <a:p>
            <a:r>
              <a:t>Contact hypotheses and constrained force fitting explain momentum residuals. Temporal inference is already present.</a:t>
            </a:r>
          </a:p>
          <a:p>
            <a:endParaRPr/>
          </a:p>
          <a:p>
            <a:r>
              <a:t>[4] Kaelbling, Littman &amp; Cassandra (1998). Planning and acting in partially observable stochastic domains.</a:t>
            </a:r>
          </a:p>
          <a:p>
            <a:r>
              <a:t>https://cs.brown.edu/courses/csci2951-k/papers/kaelbling98.pdf</a:t>
            </a:r>
          </a:p>
          <a:p>
            <a:r>
              <a:t>Actions and observations update a belief state used for decisions.</a:t>
            </a:r>
          </a:p>
          <a:p>
            <a:endParaRPr/>
          </a:p>
          <a:p>
            <a:r>
              <a:t>[5] Hafner et al. (ICML 2019). Learning Latent Dynamics for Planning from Pixels (PlaNet).</a:t>
            </a:r>
          </a:p>
          <a:p>
            <a:r>
              <a:t>https://proceedings.mlr.press/v97/hafner19a.html</a:t>
            </a:r>
          </a:p>
          <a:p>
            <a:r>
              <a:t>Latent state inferred from observation and action history supports action-conditioned prediction and planning.</a:t>
            </a:r>
          </a:p>
          <a:p>
            <a:endParaRPr/>
          </a:p>
          <a:p>
            <a:r>
              <a:t>[6] Rosenkranz et al. (Computational Mechanics 2024). Viscoelasticty with physics-augmented neural networks: model formulation and training methods without prescribed internal variables.</a:t>
            </a:r>
          </a:p>
          <a:p>
            <a:r>
              <a:t>https://doi.org/10.1007/s00466-024-02477-1</a:t>
            </a:r>
          </a:p>
          <a:p>
            <a:r>
              <a:t>An auxiliary recurrent network provides internal variables during training. This is a material-model precedent, not a demonstrated robot control loop.</a:t>
            </a:r>
          </a:p>
          <a:p>
            <a:endParaRPr/>
          </a:p>
          <a:p>
            <a:r>
              <a:t>[7] Kumar, Fu, Pathak &amp; Malik (RSS 2021). RMA: Rapid Motor Adaptation for Legged Robots.</a:t>
            </a:r>
          </a:p>
          <a:p>
            <a:r>
              <a:t>https://www.roboticsproceedings.org/rss17/p011.html</a:t>
            </a:r>
          </a:p>
          <a:p>
            <a:r>
              <a:t>Recent proprioceptive state and action history estimates an extrinsics encoding for a base locomotion policy. This is policy adaptation, not an explicitly interpretable material-state model. Project: https://ashish-kmr.github.io/rma-legged-robots/.</a:t>
            </a:r>
          </a:p>
          <a:p>
            <a:endParaRPr/>
          </a:p>
          <a:p>
            <a:r>
              <a:t>[E1] Project R2: matched histories and state inference.</a:t>
            </a:r>
          </a:p>
          <a:p>
            <a:r>
              <a:t>D:/capp/NR/Documents/Codex/material-state-round2-2026-10-19/第二轮实验结论.md</a:t>
            </a:r>
          </a:p>
          <a:p>
            <a:r>
              <a:t>Synthetic known-material experiment. Different pasts, matched present observations, common future commands. Classical and short-window estimators remain strong.</a:t>
            </a:r>
          </a:p>
          <a:p>
            <a:endParaRPr/>
          </a:p>
          <a:p>
            <a:r>
              <a:t>[E2] Project R3: prediction across future controllers.</a:t>
            </a:r>
          </a:p>
          <a:p>
            <a:r>
              <a:t>D:/capp/NR/Documents/Codex/material-state-control-transfer-2026-10-19/本轮结果与研究判断.md</a:t>
            </a:r>
          </a:p>
          <a:p>
            <a:r>
              <a:t>Controlled-release transfer_v2. Held-out force RMSE [N]: current .03505, history .00376, conditional GRU .21725, classical integral .00048, 0.2 s observer .00313. History-collection control stays fixed. Inputs and supplied physical structure differ across comparisons.</a:t>
            </a:r>
          </a:p>
          <a:p>
            <a:endParaRPr/>
          </a:p>
          <a:p>
            <a:r>
              <a:t>[E3] Project frozen bridge: common feedback and control.</a:t>
            </a:r>
          </a:p>
          <a:p>
            <a:r>
              <a:t>D:/capp/NR/Documents/Codex/material-state-frozen-bridge-2026-10-20/闭环衔接简报.md</a:t>
            </a:r>
          </a:p>
          <a:p>
            <a:r>
              <a:t>Frozen R3 encoders in shared feedback. No useful added action gain from history initialization in this tested setting. This is not an optimal-fusion upper bound.</a:t>
            </a:r>
          </a:p>
          <a:p>
            <a:endParaRPr/>
          </a:p>
          <a:p>
            <a:r>
              <a:t>[P1] Project first real-material session plan.</a:t>
            </a:r>
          </a:p>
          <a:p>
            <a:r>
              <a:t>D:/capp/NR/Documents/Codex/real-material-first-session-2026-10-20/实验设计与首批分析.md</a:t>
            </a:r>
          </a:p>
          <a:p>
            <a:r>
              <a:t>Planned study. No real material or robot result has been collected. Separate state-inference improvements from changes to the material law.</a:t>
            </a:r>
          </a:p>
          <a:p>
            <a:endParaRPr/>
          </a:p>
          <a:p>
            <a:r>
              <a:t>[8] Bush, B. G., Shapiro, J. M., DelRio, F. W., Cook, R. F. &amp; Oyen, M. L. (2015). Mechanical measurements of heterogeneity and length scale effects in PEG-based hydrogels. Soft Matter 11, 7191–7200.</a:t>
            </a:r>
          </a:p>
          <a:p>
            <a:r>
              <a:t>https://doi.org/10.1039/C5SM01210D</a:t>
            </a:r>
          </a:p>
          <a:p>
            <a:r>
              <a:t>https://pmc.ncbi.nlm.nih.gov/articles/PMC4571184/</a:t>
            </a:r>
          </a:p>
          <a:p>
            <a:r>
              <a:t>Section 3.2: the authors interpret the faster relaxation as polymer-network viscoelasticity and the slower relaxation as poroelastic fluid transport. The study uses spherical indentation with a 3 micrometre probe. Relative time scales depend on material and contact geometry.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0FD3A88-D03F-436C-BAE0-BA8BB915CB08}"/>
              </a:ext>
            </a:extLst>
          </p:cNvPr>
          <p:cNvSpPr>
            <a:spLocks noGrp="1"/>
          </p:cNvSpPr>
          <p:nvPr>
            <p:ph type="title"/>
          </p:nvPr>
        </p:nvSpPr>
        <p:spPr>
          <a:xfrm>
            <a:off x="1219200" y="3454400"/>
            <a:ext cx="9753600" cy="13208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5B7A0EA7-DDC1-4E76-AB84-9C32A90D785A}"/>
              </a:ext>
            </a:extLst>
          </p:cNvPr>
          <p:cNvSpPr>
            <a:spLocks noGrp="1"/>
          </p:cNvSpPr>
          <p:nvPr>
            <p:ph type="subTitle" idx="1"/>
          </p:nvPr>
        </p:nvSpPr>
        <p:spPr>
          <a:xfrm>
            <a:off x="1828800" y="5029200"/>
            <a:ext cx="8534400" cy="1016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DE837608-6210-401B-A4CA-D675383219F8}"/>
              </a:ext>
            </a:extLst>
          </p:cNvPr>
          <p:cNvSpPr>
            <a:spLocks noGrp="1"/>
          </p:cNvSpPr>
          <p:nvPr>
            <p:ph type="title"/>
          </p:nvPr>
        </p:nvSpPr>
        <p:spPr>
          <a:xfrm>
            <a:off x="1219200" y="3810000"/>
            <a:ext cx="9753600" cy="1524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D4AF03A-8FDD-4CC3-8EA1-DCD00608372D}"/>
              </a:ext>
            </a:extLst>
          </p:cNvPr>
          <p:cNvSpPr>
            <a:spLocks noGrp="1"/>
          </p:cNvSpPr>
          <p:nvPr>
            <p:ph type="title"/>
          </p:nvPr>
        </p:nvSpPr>
        <p:spPr>
          <a:xfrm>
            <a:off x="685800" y="711200"/>
            <a:ext cx="10820400" cy="11176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8639E1BB-639D-4965-89A9-FF085FB0F2E2}"/>
              </a:ext>
            </a:extLst>
          </p:cNvPr>
          <p:cNvSpPr>
            <a:spLocks noGrp="1"/>
          </p:cNvSpPr>
          <p:nvPr>
            <p:ph type="body" idx="1"/>
          </p:nvPr>
        </p:nvSpPr>
        <p:spPr>
          <a:xfrm>
            <a:off x="685800" y="2540000"/>
            <a:ext cx="10820400" cy="56896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8B36998F-B08D-4ABF-9471-C822EB9320FF}"/>
              </a:ext>
            </a:extLst>
          </p:cNvPr>
          <p:cNvSpPr>
            <a:spLocks noGrp="1"/>
          </p:cNvSpPr>
          <p:nvPr>
            <p:ph type="title"/>
          </p:nvPr>
        </p:nvSpPr>
        <p:spPr>
          <a:xfrm>
            <a:off x="685800" y="711200"/>
            <a:ext cx="10820400" cy="11176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ABFF337A-998D-4922-B60C-D9A8349EDF65}"/>
              </a:ext>
            </a:extLst>
          </p:cNvPr>
          <p:cNvSpPr>
            <a:spLocks noGrp="1"/>
          </p:cNvSpPr>
          <p:nvPr>
            <p:ph type="body" idx="1"/>
          </p:nvPr>
        </p:nvSpPr>
        <p:spPr>
          <a:xfrm>
            <a:off x="685800" y="2540000"/>
            <a:ext cx="5029200" cy="56896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C0A027FC-2DF6-4959-BF68-A9DEDAEAC5E6}"/>
              </a:ext>
            </a:extLst>
          </p:cNvPr>
          <p:cNvSpPr>
            <a:spLocks noGrp="1"/>
          </p:cNvSpPr>
          <p:nvPr>
            <p:ph type="body" idx="2"/>
          </p:nvPr>
        </p:nvSpPr>
        <p:spPr>
          <a:xfrm>
            <a:off x="6477000" y="2540000"/>
            <a:ext cx="5029200" cy="56896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3D90604-EC77-4680-9573-A4E616902BB6}"/>
              </a:ext>
            </a:extLst>
          </p:cNvPr>
          <p:cNvSpPr>
            <a:spLocks noGrp="1"/>
          </p:cNvSpPr>
          <p:nvPr>
            <p:ph type="title"/>
          </p:nvPr>
        </p:nvSpPr>
        <p:spPr>
          <a:xfrm>
            <a:off x="685800" y="711200"/>
            <a:ext cx="10820400" cy="11176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3585FFF0-87EF-4460-BC6C-956F6E927151}"/>
              </a:ext>
            </a:extLst>
          </p:cNvPr>
          <p:cNvSpPr>
            <a:spLocks noGrp="1"/>
          </p:cNvSpPr>
          <p:nvPr>
            <p:ph type="body" idx="1"/>
          </p:nvPr>
        </p:nvSpPr>
        <p:spPr>
          <a:xfrm>
            <a:off x="685800" y="2540000"/>
            <a:ext cx="5029200" cy="56896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 name="title">
            <a:extLst>
              <a:ext uri="{FF2B5EF4-FFF2-40B4-BE49-F238E27FC236}">
                <a16:creationId xmlns:a16="http://schemas.microsoft.com/office/drawing/2014/main" id="{79880970-DF74-41C3-B36D-B074CEA34A63}"/>
              </a:ext>
            </a:extLst>
          </p:cNvPr>
          <p:cNvSpPr>
            <a:spLocks noGrp="1"/>
          </p:cNvSpPr>
          <p:nvPr/>
        </p:nvSpPr>
        <p:spPr>
          <a:xfrm>
            <a:off x="914400" y="552450"/>
            <a:ext cx="13411200" cy="533400"/>
          </a:xfrm>
          <a:prstGeom prst="rect">
            <a:avLst/>
          </a:prstGeom>
          <a:noFill/>
          <a:ln w="0">
            <a:noFill/>
          </a:ln>
        </p:spPr>
        <p:txBody>
          <a:bodyPr wrap="square" lIns="0" tIns="0" rIns="0" bIns="0" anchor="t">
            <a:noAutofit/>
          </a:bodyPr>
          <a:lstStyle>
            <a:defPPr algn="l">
              <a:defRPr sz="2400" b="1">
                <a:solidFill>
                  <a:srgbClr val="202124"/>
                </a:solidFill>
                <a:latin typeface="Arial"/>
                <a:ea typeface="Arial"/>
                <a:cs typeface="Arial"/>
              </a:defRPr>
            </a:defPPr>
            <a:lvl1pPr algn="l">
              <a:defRPr sz="2400" b="1">
                <a:solidFill>
                  <a:srgbClr val="202124"/>
                </a:solidFill>
                <a:latin typeface="Arial"/>
                <a:ea typeface="Arial"/>
                <a:cs typeface="Arial"/>
              </a:defRPr>
            </a:lvl1pPr>
            <a:lvl2pPr algn="l">
              <a:defRPr sz="2400" b="1">
                <a:solidFill>
                  <a:srgbClr val="202124"/>
                </a:solidFill>
                <a:latin typeface="Arial"/>
                <a:ea typeface="Arial"/>
                <a:cs typeface="Arial"/>
              </a:defRPr>
            </a:lvl2pPr>
            <a:lvl3pPr algn="l">
              <a:defRPr sz="2400" b="1">
                <a:solidFill>
                  <a:srgbClr val="202124"/>
                </a:solidFill>
                <a:latin typeface="Arial"/>
                <a:ea typeface="Arial"/>
                <a:cs typeface="Arial"/>
              </a:defRPr>
            </a:lvl3pPr>
            <a:lvl4pPr algn="l">
              <a:defRPr sz="2400" b="1">
                <a:solidFill>
                  <a:srgbClr val="202124"/>
                </a:solidFill>
                <a:latin typeface="Arial"/>
                <a:ea typeface="Arial"/>
                <a:cs typeface="Arial"/>
              </a:defRPr>
            </a:lvl4pPr>
            <a:lvl5pPr algn="l">
              <a:defRPr sz="2400" b="1">
                <a:solidFill>
                  <a:srgbClr val="202124"/>
                </a:solidFill>
                <a:latin typeface="Arial"/>
                <a:ea typeface="Arial"/>
                <a:cs typeface="Arial"/>
              </a:defRPr>
            </a:lvl5pPr>
            <a:lvl6pPr algn="l">
              <a:defRPr sz="2400" b="1">
                <a:solidFill>
                  <a:srgbClr val="202124"/>
                </a:solidFill>
                <a:latin typeface="Arial"/>
                <a:ea typeface="Arial"/>
                <a:cs typeface="Arial"/>
              </a:defRPr>
            </a:lvl6pPr>
            <a:lvl7pPr algn="l">
              <a:defRPr sz="2400" b="1">
                <a:solidFill>
                  <a:srgbClr val="202124"/>
                </a:solidFill>
                <a:latin typeface="Arial"/>
                <a:ea typeface="Arial"/>
                <a:cs typeface="Arial"/>
              </a:defRPr>
            </a:lvl7pPr>
            <a:lvl8pPr algn="l">
              <a:defRPr sz="2400" b="1">
                <a:solidFill>
                  <a:srgbClr val="202124"/>
                </a:solidFill>
                <a:latin typeface="Arial"/>
                <a:ea typeface="Arial"/>
                <a:cs typeface="Arial"/>
              </a:defRPr>
            </a:lvl8pPr>
            <a:lvl9pPr algn="l">
              <a:defRPr sz="2400" b="1">
                <a:solidFill>
                  <a:srgbClr val="202124"/>
                </a:solidFill>
                <a:latin typeface="Arial"/>
                <a:ea typeface="Arial"/>
                <a:cs typeface="Arial"/>
              </a:defRPr>
            </a:lvl9pPr>
          </a:lstStyle>
          <a:p>
            <a:pPr algn="l">
              <a:defRPr sz="2400" b="1">
                <a:solidFill>
                  <a:srgbClr val="202124"/>
                </a:solidFill>
                <a:latin typeface="Arial"/>
                <a:ea typeface="Arial"/>
                <a:cs typeface="Arial"/>
              </a:defRPr>
            </a:pPr>
            <a:r>
              <a:rPr sz="2400" b="1">
                <a:solidFill>
                  <a:srgbClr val="202124"/>
                </a:solidFill>
                <a:latin typeface="Arial"/>
                <a:ea typeface="Arial"/>
                <a:cs typeface="Arial"/>
              </a:rPr>
              <a:t>Thesis roadmap: physical understanding through interaction</a:t>
            </a:r>
          </a:p>
        </p:txBody>
      </p:sp>
      <p:cxnSp>
        <p:nvCxnSpPr>
          <p:cNvPr id="2" name="thesis-route">
            <a:extLst>
              <a:ext uri="{FF2B5EF4-FFF2-40B4-BE49-F238E27FC236}">
                <a16:creationId xmlns:a16="http://schemas.microsoft.com/office/drawing/2014/main" id="{2556E2AF-36C6-4997-9CB2-7EFA220199DD}"/>
              </a:ext>
            </a:extLst>
          </p:cNvPr>
          <p:cNvCxnSpPr/>
          <p:nvPr/>
        </p:nvCxnSpPr>
        <p:spPr>
          <a:xfrm>
            <a:off x="914400" y="2105025"/>
            <a:ext cx="13411200" cy="0"/>
          </a:xfrm>
          <a:prstGeom prst="straightConnector1">
            <a:avLst/>
          </a:prstGeom>
          <a:ln w="10478">
            <a:solidFill>
              <a:srgbClr val="858585"/>
            </a:solidFill>
            <a:tailEnd type="triangle" w="sm" len="sm"/>
          </a:ln>
        </p:spPr>
      </p:cxnSp>
      <p:sp>
        <p:nvSpPr>
          <p:cNvPr id="3" name="stage-1">
            <a:extLst>
              <a:ext uri="{FF2B5EF4-FFF2-40B4-BE49-F238E27FC236}">
                <a16:creationId xmlns:a16="http://schemas.microsoft.com/office/drawing/2014/main" id="{9D6C7940-D776-4648-8D99-AD2A65A1D3A4}"/>
              </a:ext>
            </a:extLst>
          </p:cNvPr>
          <p:cNvSpPr>
            <a:spLocks noGrp="1"/>
          </p:cNvSpPr>
          <p:nvPr/>
        </p:nvSpPr>
        <p:spPr>
          <a:xfrm>
            <a:off x="914400" y="1666875"/>
            <a:ext cx="2209800" cy="266700"/>
          </a:xfrm>
          <a:prstGeom prst="rect">
            <a:avLst/>
          </a:prstGeom>
          <a:noFill/>
          <a:ln w="0">
            <a:noFill/>
          </a:ln>
        </p:spPr>
        <p:txBody>
          <a:bodyPr wrap="square" lIns="0" tIns="0" rIns="0" bIns="0" anchor="t">
            <a:noAutofit/>
          </a:bodyPr>
          <a:lstStyle>
            <a:defPPr algn="l">
              <a:defRPr sz="1238" b="0">
                <a:solidFill>
                  <a:srgbClr val="62666B"/>
                </a:solidFill>
                <a:latin typeface="Arial"/>
                <a:ea typeface="Arial"/>
                <a:cs typeface="Arial"/>
              </a:defRPr>
            </a:defPPr>
            <a:lvl1pPr algn="l">
              <a:defRPr sz="1238" b="0">
                <a:solidFill>
                  <a:srgbClr val="62666B"/>
                </a:solidFill>
                <a:latin typeface="Arial"/>
                <a:ea typeface="Arial"/>
                <a:cs typeface="Arial"/>
              </a:defRPr>
            </a:lvl1pPr>
            <a:lvl2pPr algn="l">
              <a:defRPr sz="1238" b="0">
                <a:solidFill>
                  <a:srgbClr val="62666B"/>
                </a:solidFill>
                <a:latin typeface="Arial"/>
                <a:ea typeface="Arial"/>
                <a:cs typeface="Arial"/>
              </a:defRPr>
            </a:lvl2pPr>
            <a:lvl3pPr algn="l">
              <a:defRPr sz="1238" b="0">
                <a:solidFill>
                  <a:srgbClr val="62666B"/>
                </a:solidFill>
                <a:latin typeface="Arial"/>
                <a:ea typeface="Arial"/>
                <a:cs typeface="Arial"/>
              </a:defRPr>
            </a:lvl3pPr>
            <a:lvl4pPr algn="l">
              <a:defRPr sz="1238" b="0">
                <a:solidFill>
                  <a:srgbClr val="62666B"/>
                </a:solidFill>
                <a:latin typeface="Arial"/>
                <a:ea typeface="Arial"/>
                <a:cs typeface="Arial"/>
              </a:defRPr>
            </a:lvl4pPr>
            <a:lvl5pPr algn="l">
              <a:defRPr sz="1238" b="0">
                <a:solidFill>
                  <a:srgbClr val="62666B"/>
                </a:solidFill>
                <a:latin typeface="Arial"/>
                <a:ea typeface="Arial"/>
                <a:cs typeface="Arial"/>
              </a:defRPr>
            </a:lvl5pPr>
            <a:lvl6pPr algn="l">
              <a:defRPr sz="1238" b="0">
                <a:solidFill>
                  <a:srgbClr val="62666B"/>
                </a:solidFill>
                <a:latin typeface="Arial"/>
                <a:ea typeface="Arial"/>
                <a:cs typeface="Arial"/>
              </a:defRPr>
            </a:lvl6pPr>
            <a:lvl7pPr algn="l">
              <a:defRPr sz="1238" b="0">
                <a:solidFill>
                  <a:srgbClr val="62666B"/>
                </a:solidFill>
                <a:latin typeface="Arial"/>
                <a:ea typeface="Arial"/>
                <a:cs typeface="Arial"/>
              </a:defRPr>
            </a:lvl7pPr>
            <a:lvl8pPr algn="l">
              <a:defRPr sz="1238" b="0">
                <a:solidFill>
                  <a:srgbClr val="62666B"/>
                </a:solidFill>
                <a:latin typeface="Arial"/>
                <a:ea typeface="Arial"/>
                <a:cs typeface="Arial"/>
              </a:defRPr>
            </a:lvl8pPr>
            <a:lvl9pPr algn="l">
              <a:defRPr sz="1238" b="0">
                <a:solidFill>
                  <a:srgbClr val="62666B"/>
                </a:solidFill>
                <a:latin typeface="Arial"/>
                <a:ea typeface="Arial"/>
                <a:cs typeface="Arial"/>
              </a:defRPr>
            </a:lvl9pPr>
          </a:lstStyle>
          <a:p>
            <a:pPr algn="l">
              <a:defRPr sz="1238" b="0">
                <a:solidFill>
                  <a:srgbClr val="62666B"/>
                </a:solidFill>
                <a:latin typeface="Arial"/>
                <a:ea typeface="Arial"/>
                <a:cs typeface="Arial"/>
              </a:defRPr>
            </a:pPr>
            <a:r>
              <a:rPr sz="1238" b="0">
                <a:solidFill>
                  <a:srgbClr val="62666B"/>
                </a:solidFill>
                <a:latin typeface="Arial"/>
                <a:ea typeface="Arial"/>
                <a:cs typeface="Arial"/>
              </a:rPr>
              <a:t>STEP 1 · PART 0</a:t>
            </a:r>
          </a:p>
        </p:txBody>
      </p:sp>
      <p:sp>
        <p:nvSpPr>
          <p:cNvPr id="4" name="stage-title-1">
            <a:extLst>
              <a:ext uri="{FF2B5EF4-FFF2-40B4-BE49-F238E27FC236}">
                <a16:creationId xmlns:a16="http://schemas.microsoft.com/office/drawing/2014/main" id="{E0EF47E7-FAFA-4590-B5FE-DD4643157435}"/>
              </a:ext>
            </a:extLst>
          </p:cNvPr>
          <p:cNvSpPr>
            <a:spLocks noGrp="1"/>
          </p:cNvSpPr>
          <p:nvPr/>
        </p:nvSpPr>
        <p:spPr>
          <a:xfrm>
            <a:off x="914400" y="2381250"/>
            <a:ext cx="2209800" cy="790575"/>
          </a:xfrm>
          <a:prstGeom prst="rect">
            <a:avLst/>
          </a:prstGeom>
          <a:noFill/>
          <a:ln w="0">
            <a:noFill/>
          </a:ln>
        </p:spPr>
        <p:txBody>
          <a:bodyPr wrap="square" lIns="0" tIns="0" rIns="0" bIns="0" anchor="t">
            <a:noAutofit/>
          </a:bodyPr>
          <a:lstStyle>
            <a:defPPr algn="l">
              <a:defRPr sz="1650" b="0">
                <a:solidFill>
                  <a:srgbClr val="62666B"/>
                </a:solidFill>
                <a:latin typeface="Arial"/>
                <a:ea typeface="Arial"/>
                <a:cs typeface="Arial"/>
              </a:defRPr>
            </a:defPPr>
            <a:lvl1pPr algn="l">
              <a:defRPr sz="1650" b="0">
                <a:solidFill>
                  <a:srgbClr val="62666B"/>
                </a:solidFill>
                <a:latin typeface="Arial"/>
                <a:ea typeface="Arial"/>
                <a:cs typeface="Arial"/>
              </a:defRPr>
            </a:lvl1pPr>
            <a:lvl2pPr algn="l">
              <a:defRPr sz="1650" b="0">
                <a:solidFill>
                  <a:srgbClr val="62666B"/>
                </a:solidFill>
                <a:latin typeface="Arial"/>
                <a:ea typeface="Arial"/>
                <a:cs typeface="Arial"/>
              </a:defRPr>
            </a:lvl2pPr>
            <a:lvl3pPr algn="l">
              <a:defRPr sz="1650" b="0">
                <a:solidFill>
                  <a:srgbClr val="62666B"/>
                </a:solidFill>
                <a:latin typeface="Arial"/>
                <a:ea typeface="Arial"/>
                <a:cs typeface="Arial"/>
              </a:defRPr>
            </a:lvl3pPr>
            <a:lvl4pPr algn="l">
              <a:defRPr sz="1650" b="0">
                <a:solidFill>
                  <a:srgbClr val="62666B"/>
                </a:solidFill>
                <a:latin typeface="Arial"/>
                <a:ea typeface="Arial"/>
                <a:cs typeface="Arial"/>
              </a:defRPr>
            </a:lvl4pPr>
            <a:lvl5pPr algn="l">
              <a:defRPr sz="1650" b="0">
                <a:solidFill>
                  <a:srgbClr val="62666B"/>
                </a:solidFill>
                <a:latin typeface="Arial"/>
                <a:ea typeface="Arial"/>
                <a:cs typeface="Arial"/>
              </a:defRPr>
            </a:lvl5pPr>
            <a:lvl6pPr algn="l">
              <a:defRPr sz="1650" b="0">
                <a:solidFill>
                  <a:srgbClr val="62666B"/>
                </a:solidFill>
                <a:latin typeface="Arial"/>
                <a:ea typeface="Arial"/>
                <a:cs typeface="Arial"/>
              </a:defRPr>
            </a:lvl6pPr>
            <a:lvl7pPr algn="l">
              <a:defRPr sz="1650" b="0">
                <a:solidFill>
                  <a:srgbClr val="62666B"/>
                </a:solidFill>
                <a:latin typeface="Arial"/>
                <a:ea typeface="Arial"/>
                <a:cs typeface="Arial"/>
              </a:defRPr>
            </a:lvl7pPr>
            <a:lvl8pPr algn="l">
              <a:defRPr sz="1650" b="0">
                <a:solidFill>
                  <a:srgbClr val="62666B"/>
                </a:solidFill>
                <a:latin typeface="Arial"/>
                <a:ea typeface="Arial"/>
                <a:cs typeface="Arial"/>
              </a:defRPr>
            </a:lvl8pPr>
            <a:lvl9pPr algn="l">
              <a:defRPr sz="1650" b="0">
                <a:solidFill>
                  <a:srgbClr val="62666B"/>
                </a:solidFill>
                <a:latin typeface="Arial"/>
                <a:ea typeface="Arial"/>
                <a:cs typeface="Arial"/>
              </a:defRPr>
            </a:lvl9pPr>
          </a:lstStyle>
          <a:p>
            <a:pPr algn="l">
              <a:defRPr sz="1650" b="0">
                <a:solidFill>
                  <a:srgbClr val="62666B"/>
                </a:solidFill>
                <a:latin typeface="Arial"/>
                <a:ea typeface="Arial"/>
                <a:cs typeface="Arial"/>
              </a:defRPr>
            </a:pPr>
            <a:r>
              <a:rPr sz="1650" b="0">
                <a:solidFill>
                  <a:srgbClr val="62666B"/>
                </a:solidFill>
                <a:latin typeface="Arial"/>
                <a:ea typeface="Arial"/>
                <a:cs typeface="Arial"/>
              </a:rPr>
              <a:t>Control under</a:t>
            </a:r>
          </a:p>
          <a:p>
            <a:pPr algn="l">
              <a:defRPr sz="1650" b="0">
                <a:solidFill>
                  <a:srgbClr val="62666B"/>
                </a:solidFill>
                <a:latin typeface="Arial"/>
                <a:ea typeface="Arial"/>
                <a:cs typeface="Arial"/>
              </a:defRPr>
            </a:pPr>
            <a:r>
              <a:rPr sz="1650" b="0">
                <a:solidFill>
                  <a:srgbClr val="62666B"/>
                </a:solidFill>
                <a:latin typeface="Arial"/>
                <a:ea typeface="Arial"/>
                <a:cs typeface="Arial"/>
              </a:rPr>
              <a:t>a given model</a:t>
            </a:r>
          </a:p>
        </p:txBody>
      </p:sp>
      <p:sp>
        <p:nvSpPr>
          <p:cNvPr id="5" name="stage-2">
            <a:extLst>
              <a:ext uri="{FF2B5EF4-FFF2-40B4-BE49-F238E27FC236}">
                <a16:creationId xmlns:a16="http://schemas.microsoft.com/office/drawing/2014/main" id="{1C5CEF96-F813-483B-8819-0580250E684D}"/>
              </a:ext>
            </a:extLst>
          </p:cNvPr>
          <p:cNvSpPr>
            <a:spLocks noGrp="1"/>
          </p:cNvSpPr>
          <p:nvPr/>
        </p:nvSpPr>
        <p:spPr>
          <a:xfrm>
            <a:off x="4333875" y="1666875"/>
            <a:ext cx="2571750" cy="266700"/>
          </a:xfrm>
          <a:prstGeom prst="rect">
            <a:avLst/>
          </a:prstGeom>
          <a:noFill/>
          <a:ln w="0">
            <a:noFill/>
          </a:ln>
        </p:spPr>
        <p:txBody>
          <a:bodyPr wrap="square" lIns="0" tIns="0" rIns="0" bIns="0" anchor="t">
            <a:noAutofit/>
          </a:bodyPr>
          <a:lstStyle>
            <a:defPPr algn="l">
              <a:defRPr sz="1238" b="1">
                <a:solidFill>
                  <a:srgbClr val="202124"/>
                </a:solidFill>
                <a:latin typeface="Arial"/>
                <a:ea typeface="Arial"/>
                <a:cs typeface="Arial"/>
              </a:defRPr>
            </a:defPPr>
            <a:lvl1pPr algn="l">
              <a:defRPr sz="1238" b="1">
                <a:solidFill>
                  <a:srgbClr val="202124"/>
                </a:solidFill>
                <a:latin typeface="Arial"/>
                <a:ea typeface="Arial"/>
                <a:cs typeface="Arial"/>
              </a:defRPr>
            </a:lvl1pPr>
            <a:lvl2pPr algn="l">
              <a:defRPr sz="1238" b="1">
                <a:solidFill>
                  <a:srgbClr val="202124"/>
                </a:solidFill>
                <a:latin typeface="Arial"/>
                <a:ea typeface="Arial"/>
                <a:cs typeface="Arial"/>
              </a:defRPr>
            </a:lvl2pPr>
            <a:lvl3pPr algn="l">
              <a:defRPr sz="1238" b="1">
                <a:solidFill>
                  <a:srgbClr val="202124"/>
                </a:solidFill>
                <a:latin typeface="Arial"/>
                <a:ea typeface="Arial"/>
                <a:cs typeface="Arial"/>
              </a:defRPr>
            </a:lvl3pPr>
            <a:lvl4pPr algn="l">
              <a:defRPr sz="1238" b="1">
                <a:solidFill>
                  <a:srgbClr val="202124"/>
                </a:solidFill>
                <a:latin typeface="Arial"/>
                <a:ea typeface="Arial"/>
                <a:cs typeface="Arial"/>
              </a:defRPr>
            </a:lvl4pPr>
            <a:lvl5pPr algn="l">
              <a:defRPr sz="1238" b="1">
                <a:solidFill>
                  <a:srgbClr val="202124"/>
                </a:solidFill>
                <a:latin typeface="Arial"/>
                <a:ea typeface="Arial"/>
                <a:cs typeface="Arial"/>
              </a:defRPr>
            </a:lvl5pPr>
            <a:lvl6pPr algn="l">
              <a:defRPr sz="1238" b="1">
                <a:solidFill>
                  <a:srgbClr val="202124"/>
                </a:solidFill>
                <a:latin typeface="Arial"/>
                <a:ea typeface="Arial"/>
                <a:cs typeface="Arial"/>
              </a:defRPr>
            </a:lvl6pPr>
            <a:lvl7pPr algn="l">
              <a:defRPr sz="1238" b="1">
                <a:solidFill>
                  <a:srgbClr val="202124"/>
                </a:solidFill>
                <a:latin typeface="Arial"/>
                <a:ea typeface="Arial"/>
                <a:cs typeface="Arial"/>
              </a:defRPr>
            </a:lvl7pPr>
            <a:lvl8pPr algn="l">
              <a:defRPr sz="1238" b="1">
                <a:solidFill>
                  <a:srgbClr val="202124"/>
                </a:solidFill>
                <a:latin typeface="Arial"/>
                <a:ea typeface="Arial"/>
                <a:cs typeface="Arial"/>
              </a:defRPr>
            </a:lvl8pPr>
            <a:lvl9pPr algn="l">
              <a:defRPr sz="1238" b="1">
                <a:solidFill>
                  <a:srgbClr val="202124"/>
                </a:solidFill>
                <a:latin typeface="Arial"/>
                <a:ea typeface="Arial"/>
                <a:cs typeface="Arial"/>
              </a:defRPr>
            </a:lvl9pPr>
          </a:lstStyle>
          <a:p>
            <a:pPr algn="l">
              <a:defRPr sz="1238" b="1">
                <a:solidFill>
                  <a:srgbClr val="202124"/>
                </a:solidFill>
                <a:latin typeface="Arial"/>
                <a:ea typeface="Arial"/>
                <a:cs typeface="Arial"/>
              </a:defRPr>
            </a:pPr>
            <a:r>
              <a:rPr sz="1238" b="1">
                <a:solidFill>
                  <a:srgbClr val="202124"/>
                </a:solidFill>
                <a:latin typeface="Arial"/>
                <a:ea typeface="Arial"/>
                <a:cs typeface="Arial"/>
              </a:rPr>
              <a:t>STEP 2 · PART I</a:t>
            </a:r>
          </a:p>
        </p:txBody>
      </p:sp>
      <p:sp>
        <p:nvSpPr>
          <p:cNvPr id="6" name="stage-title-2">
            <a:extLst>
              <a:ext uri="{FF2B5EF4-FFF2-40B4-BE49-F238E27FC236}">
                <a16:creationId xmlns:a16="http://schemas.microsoft.com/office/drawing/2014/main" id="{F80EC938-63B8-4668-930D-05A2795F12DE}"/>
              </a:ext>
            </a:extLst>
          </p:cNvPr>
          <p:cNvSpPr>
            <a:spLocks noGrp="1"/>
          </p:cNvSpPr>
          <p:nvPr/>
        </p:nvSpPr>
        <p:spPr>
          <a:xfrm>
            <a:off x="4333875" y="2381250"/>
            <a:ext cx="2571750" cy="790575"/>
          </a:xfrm>
          <a:prstGeom prst="rect">
            <a:avLst/>
          </a:prstGeom>
          <a:noFill/>
          <a:ln w="0">
            <a:noFill/>
          </a:ln>
        </p:spPr>
        <p:txBody>
          <a:bodyPr wrap="square" lIns="0" tIns="0" rIns="0" bIns="0" anchor="t">
            <a:noAutofit/>
          </a:bodyPr>
          <a:lstStyle>
            <a:defPPr algn="l">
              <a:defRPr sz="1950" b="1">
                <a:solidFill>
                  <a:srgbClr val="202124"/>
                </a:solidFill>
                <a:latin typeface="Arial"/>
                <a:ea typeface="Arial"/>
                <a:cs typeface="Arial"/>
              </a:defRPr>
            </a:defPPr>
            <a:lvl1pPr algn="l">
              <a:defRPr sz="1950" b="1">
                <a:solidFill>
                  <a:srgbClr val="202124"/>
                </a:solidFill>
                <a:latin typeface="Arial"/>
                <a:ea typeface="Arial"/>
                <a:cs typeface="Arial"/>
              </a:defRPr>
            </a:lvl1pPr>
            <a:lvl2pPr algn="l">
              <a:defRPr sz="1950" b="1">
                <a:solidFill>
                  <a:srgbClr val="202124"/>
                </a:solidFill>
                <a:latin typeface="Arial"/>
                <a:ea typeface="Arial"/>
                <a:cs typeface="Arial"/>
              </a:defRPr>
            </a:lvl2pPr>
            <a:lvl3pPr algn="l">
              <a:defRPr sz="1950" b="1">
                <a:solidFill>
                  <a:srgbClr val="202124"/>
                </a:solidFill>
                <a:latin typeface="Arial"/>
                <a:ea typeface="Arial"/>
                <a:cs typeface="Arial"/>
              </a:defRPr>
            </a:lvl3pPr>
            <a:lvl4pPr algn="l">
              <a:defRPr sz="1950" b="1">
                <a:solidFill>
                  <a:srgbClr val="202124"/>
                </a:solidFill>
                <a:latin typeface="Arial"/>
                <a:ea typeface="Arial"/>
                <a:cs typeface="Arial"/>
              </a:defRPr>
            </a:lvl4pPr>
            <a:lvl5pPr algn="l">
              <a:defRPr sz="1950" b="1">
                <a:solidFill>
                  <a:srgbClr val="202124"/>
                </a:solidFill>
                <a:latin typeface="Arial"/>
                <a:ea typeface="Arial"/>
                <a:cs typeface="Arial"/>
              </a:defRPr>
            </a:lvl5pPr>
            <a:lvl6pPr algn="l">
              <a:defRPr sz="1950" b="1">
                <a:solidFill>
                  <a:srgbClr val="202124"/>
                </a:solidFill>
                <a:latin typeface="Arial"/>
                <a:ea typeface="Arial"/>
                <a:cs typeface="Arial"/>
              </a:defRPr>
            </a:lvl6pPr>
            <a:lvl7pPr algn="l">
              <a:defRPr sz="1950" b="1">
                <a:solidFill>
                  <a:srgbClr val="202124"/>
                </a:solidFill>
                <a:latin typeface="Arial"/>
                <a:ea typeface="Arial"/>
                <a:cs typeface="Arial"/>
              </a:defRPr>
            </a:lvl7pPr>
            <a:lvl8pPr algn="l">
              <a:defRPr sz="1950" b="1">
                <a:solidFill>
                  <a:srgbClr val="202124"/>
                </a:solidFill>
                <a:latin typeface="Arial"/>
                <a:ea typeface="Arial"/>
                <a:cs typeface="Arial"/>
              </a:defRPr>
            </a:lvl8pPr>
            <a:lvl9pPr algn="l">
              <a:defRPr sz="1950" b="1">
                <a:solidFill>
                  <a:srgbClr val="202124"/>
                </a:solidFill>
                <a:latin typeface="Arial"/>
                <a:ea typeface="Arial"/>
                <a:cs typeface="Arial"/>
              </a:defRPr>
            </a:lvl9pPr>
          </a:lstStyle>
          <a:p>
            <a:pPr algn="l">
              <a:defRPr sz="1950" b="1">
                <a:solidFill>
                  <a:srgbClr val="202124"/>
                </a:solidFill>
                <a:latin typeface="Arial"/>
                <a:ea typeface="Arial"/>
                <a:cs typeface="Arial"/>
              </a:defRPr>
            </a:pPr>
            <a:r>
              <a:rPr sz="1950" b="1">
                <a:solidFill>
                  <a:srgbClr val="202124"/>
                </a:solidFill>
                <a:latin typeface="Arial"/>
                <a:ea typeface="Arial"/>
                <a:cs typeface="Arial"/>
              </a:rPr>
              <a:t>Grounded concept</a:t>
            </a:r>
          </a:p>
          <a:p>
            <a:pPr algn="l">
              <a:defRPr sz="1950" b="1">
                <a:solidFill>
                  <a:srgbClr val="202124"/>
                </a:solidFill>
                <a:latin typeface="Arial"/>
                <a:ea typeface="Arial"/>
                <a:cs typeface="Arial"/>
              </a:defRPr>
            </a:pPr>
            <a:r>
              <a:rPr sz="1950" b="1">
                <a:solidFill>
                  <a:srgbClr val="202124"/>
                </a:solidFill>
                <a:latin typeface="Arial"/>
                <a:ea typeface="Arial"/>
                <a:cs typeface="Arial"/>
              </a:rPr>
              <a:t>&amp; skill formation</a:t>
            </a:r>
          </a:p>
        </p:txBody>
      </p:sp>
      <p:sp>
        <p:nvSpPr>
          <p:cNvPr id="7" name="stage-3">
            <a:extLst>
              <a:ext uri="{FF2B5EF4-FFF2-40B4-BE49-F238E27FC236}">
                <a16:creationId xmlns:a16="http://schemas.microsoft.com/office/drawing/2014/main" id="{C51E5996-26EB-4472-A6A5-7AEE8BED9EFB}"/>
              </a:ext>
            </a:extLst>
          </p:cNvPr>
          <p:cNvSpPr>
            <a:spLocks noGrp="1"/>
          </p:cNvSpPr>
          <p:nvPr/>
        </p:nvSpPr>
        <p:spPr>
          <a:xfrm>
            <a:off x="8477250" y="1666875"/>
            <a:ext cx="2286000" cy="266700"/>
          </a:xfrm>
          <a:prstGeom prst="rect">
            <a:avLst/>
          </a:prstGeom>
          <a:noFill/>
          <a:ln w="0">
            <a:noFill/>
          </a:ln>
        </p:spPr>
        <p:txBody>
          <a:bodyPr wrap="square" lIns="0" tIns="0" rIns="0" bIns="0" anchor="t">
            <a:noAutofit/>
          </a:bodyPr>
          <a:lstStyle>
            <a:defPPr algn="l">
              <a:defRPr sz="1238" b="0">
                <a:solidFill>
                  <a:srgbClr val="62666B"/>
                </a:solidFill>
                <a:latin typeface="Arial"/>
                <a:ea typeface="Arial"/>
                <a:cs typeface="Arial"/>
              </a:defRPr>
            </a:defPPr>
            <a:lvl1pPr algn="l">
              <a:defRPr sz="1238" b="0">
                <a:solidFill>
                  <a:srgbClr val="62666B"/>
                </a:solidFill>
                <a:latin typeface="Arial"/>
                <a:ea typeface="Arial"/>
                <a:cs typeface="Arial"/>
              </a:defRPr>
            </a:lvl1pPr>
            <a:lvl2pPr algn="l">
              <a:defRPr sz="1238" b="0">
                <a:solidFill>
                  <a:srgbClr val="62666B"/>
                </a:solidFill>
                <a:latin typeface="Arial"/>
                <a:ea typeface="Arial"/>
                <a:cs typeface="Arial"/>
              </a:defRPr>
            </a:lvl2pPr>
            <a:lvl3pPr algn="l">
              <a:defRPr sz="1238" b="0">
                <a:solidFill>
                  <a:srgbClr val="62666B"/>
                </a:solidFill>
                <a:latin typeface="Arial"/>
                <a:ea typeface="Arial"/>
                <a:cs typeface="Arial"/>
              </a:defRPr>
            </a:lvl3pPr>
            <a:lvl4pPr algn="l">
              <a:defRPr sz="1238" b="0">
                <a:solidFill>
                  <a:srgbClr val="62666B"/>
                </a:solidFill>
                <a:latin typeface="Arial"/>
                <a:ea typeface="Arial"/>
                <a:cs typeface="Arial"/>
              </a:defRPr>
            </a:lvl4pPr>
            <a:lvl5pPr algn="l">
              <a:defRPr sz="1238" b="0">
                <a:solidFill>
                  <a:srgbClr val="62666B"/>
                </a:solidFill>
                <a:latin typeface="Arial"/>
                <a:ea typeface="Arial"/>
                <a:cs typeface="Arial"/>
              </a:defRPr>
            </a:lvl5pPr>
            <a:lvl6pPr algn="l">
              <a:defRPr sz="1238" b="0">
                <a:solidFill>
                  <a:srgbClr val="62666B"/>
                </a:solidFill>
                <a:latin typeface="Arial"/>
                <a:ea typeface="Arial"/>
                <a:cs typeface="Arial"/>
              </a:defRPr>
            </a:lvl6pPr>
            <a:lvl7pPr algn="l">
              <a:defRPr sz="1238" b="0">
                <a:solidFill>
                  <a:srgbClr val="62666B"/>
                </a:solidFill>
                <a:latin typeface="Arial"/>
                <a:ea typeface="Arial"/>
                <a:cs typeface="Arial"/>
              </a:defRPr>
            </a:lvl7pPr>
            <a:lvl8pPr algn="l">
              <a:defRPr sz="1238" b="0">
                <a:solidFill>
                  <a:srgbClr val="62666B"/>
                </a:solidFill>
                <a:latin typeface="Arial"/>
                <a:ea typeface="Arial"/>
                <a:cs typeface="Arial"/>
              </a:defRPr>
            </a:lvl8pPr>
            <a:lvl9pPr algn="l">
              <a:defRPr sz="1238" b="0">
                <a:solidFill>
                  <a:srgbClr val="62666B"/>
                </a:solidFill>
                <a:latin typeface="Arial"/>
                <a:ea typeface="Arial"/>
                <a:cs typeface="Arial"/>
              </a:defRPr>
            </a:lvl9pPr>
          </a:lstStyle>
          <a:p>
            <a:pPr algn="l">
              <a:defRPr sz="1238" b="0">
                <a:solidFill>
                  <a:srgbClr val="62666B"/>
                </a:solidFill>
                <a:latin typeface="Arial"/>
                <a:ea typeface="Arial"/>
                <a:cs typeface="Arial"/>
              </a:defRPr>
            </a:pPr>
            <a:r>
              <a:rPr sz="1238" b="0">
                <a:solidFill>
                  <a:srgbClr val="62666B"/>
                </a:solidFill>
                <a:latin typeface="Arial"/>
                <a:ea typeface="Arial"/>
                <a:cs typeface="Arial"/>
              </a:rPr>
              <a:t>STEP 3 · PART II</a:t>
            </a:r>
          </a:p>
        </p:txBody>
      </p:sp>
      <p:sp>
        <p:nvSpPr>
          <p:cNvPr id="8" name="stage-title-3">
            <a:extLst>
              <a:ext uri="{FF2B5EF4-FFF2-40B4-BE49-F238E27FC236}">
                <a16:creationId xmlns:a16="http://schemas.microsoft.com/office/drawing/2014/main" id="{FE848210-2F77-40F7-8229-90EDA7BB1296}"/>
              </a:ext>
            </a:extLst>
          </p:cNvPr>
          <p:cNvSpPr>
            <a:spLocks noGrp="1"/>
          </p:cNvSpPr>
          <p:nvPr/>
        </p:nvSpPr>
        <p:spPr>
          <a:xfrm>
            <a:off x="8477250" y="2381250"/>
            <a:ext cx="2286000" cy="790575"/>
          </a:xfrm>
          <a:prstGeom prst="rect">
            <a:avLst/>
          </a:prstGeom>
          <a:noFill/>
          <a:ln w="0">
            <a:noFill/>
          </a:ln>
        </p:spPr>
        <p:txBody>
          <a:bodyPr wrap="square" lIns="0" tIns="0" rIns="0" bIns="0" anchor="t">
            <a:noAutofit/>
          </a:bodyPr>
          <a:lstStyle>
            <a:defPPr algn="l">
              <a:defRPr sz="1800" b="0">
                <a:solidFill>
                  <a:srgbClr val="202124"/>
                </a:solidFill>
                <a:latin typeface="Arial"/>
                <a:ea typeface="Arial"/>
                <a:cs typeface="Arial"/>
              </a:defRPr>
            </a:defPPr>
            <a:lvl1pPr algn="l">
              <a:defRPr sz="1800" b="0">
                <a:solidFill>
                  <a:srgbClr val="202124"/>
                </a:solidFill>
                <a:latin typeface="Arial"/>
                <a:ea typeface="Arial"/>
                <a:cs typeface="Arial"/>
              </a:defRPr>
            </a:lvl1pPr>
            <a:lvl2pPr algn="l">
              <a:defRPr sz="1800" b="0">
                <a:solidFill>
                  <a:srgbClr val="202124"/>
                </a:solidFill>
                <a:latin typeface="Arial"/>
                <a:ea typeface="Arial"/>
                <a:cs typeface="Arial"/>
              </a:defRPr>
            </a:lvl2pPr>
            <a:lvl3pPr algn="l">
              <a:defRPr sz="1800" b="0">
                <a:solidFill>
                  <a:srgbClr val="202124"/>
                </a:solidFill>
                <a:latin typeface="Arial"/>
                <a:ea typeface="Arial"/>
                <a:cs typeface="Arial"/>
              </a:defRPr>
            </a:lvl3pPr>
            <a:lvl4pPr algn="l">
              <a:defRPr sz="1800" b="0">
                <a:solidFill>
                  <a:srgbClr val="202124"/>
                </a:solidFill>
                <a:latin typeface="Arial"/>
                <a:ea typeface="Arial"/>
                <a:cs typeface="Arial"/>
              </a:defRPr>
            </a:lvl4pPr>
            <a:lvl5pPr algn="l">
              <a:defRPr sz="1800" b="0">
                <a:solidFill>
                  <a:srgbClr val="202124"/>
                </a:solidFill>
                <a:latin typeface="Arial"/>
                <a:ea typeface="Arial"/>
                <a:cs typeface="Arial"/>
              </a:defRPr>
            </a:lvl5pPr>
            <a:lvl6pPr algn="l">
              <a:defRPr sz="1800" b="0">
                <a:solidFill>
                  <a:srgbClr val="202124"/>
                </a:solidFill>
                <a:latin typeface="Arial"/>
                <a:ea typeface="Arial"/>
                <a:cs typeface="Arial"/>
              </a:defRPr>
            </a:lvl6pPr>
            <a:lvl7pPr algn="l">
              <a:defRPr sz="1800" b="0">
                <a:solidFill>
                  <a:srgbClr val="202124"/>
                </a:solidFill>
                <a:latin typeface="Arial"/>
                <a:ea typeface="Arial"/>
                <a:cs typeface="Arial"/>
              </a:defRPr>
            </a:lvl7pPr>
            <a:lvl8pPr algn="l">
              <a:defRPr sz="1800" b="0">
                <a:solidFill>
                  <a:srgbClr val="202124"/>
                </a:solidFill>
                <a:latin typeface="Arial"/>
                <a:ea typeface="Arial"/>
                <a:cs typeface="Arial"/>
              </a:defRPr>
            </a:lvl8pPr>
            <a:lvl9pPr algn="l">
              <a:defRPr sz="1800" b="0">
                <a:solidFill>
                  <a:srgbClr val="202124"/>
                </a:solidFill>
                <a:latin typeface="Arial"/>
                <a:ea typeface="Arial"/>
                <a:cs typeface="Arial"/>
              </a:defRPr>
            </a:lvl9pPr>
          </a:lstStyle>
          <a:p>
            <a:pPr algn="l">
              <a:defRPr sz="1800" b="0">
                <a:solidFill>
                  <a:srgbClr val="202124"/>
                </a:solidFill>
                <a:latin typeface="Arial"/>
                <a:ea typeface="Arial"/>
                <a:cs typeface="Arial"/>
              </a:defRPr>
            </a:pPr>
            <a:r>
              <a:rPr sz="1800" b="0">
                <a:solidFill>
                  <a:srgbClr val="202124"/>
                </a:solidFill>
                <a:latin typeface="Arial"/>
                <a:ea typeface="Arial"/>
                <a:cs typeface="Arial"/>
              </a:rPr>
              <a:t>Causal rules</a:t>
            </a:r>
          </a:p>
          <a:p>
            <a:pPr algn="l">
              <a:defRPr sz="1800" b="0">
                <a:solidFill>
                  <a:srgbClr val="202124"/>
                </a:solidFill>
                <a:latin typeface="Arial"/>
                <a:ea typeface="Arial"/>
                <a:cs typeface="Arial"/>
              </a:defRPr>
            </a:pPr>
            <a:r>
              <a:rPr sz="1800" b="0">
                <a:solidFill>
                  <a:srgbClr val="202124"/>
                </a:solidFill>
                <a:latin typeface="Arial"/>
                <a:ea typeface="Arial"/>
                <a:cs typeface="Arial"/>
              </a:rPr>
              <a:t>of change</a:t>
            </a:r>
          </a:p>
        </p:txBody>
      </p:sp>
      <p:sp>
        <p:nvSpPr>
          <p:cNvPr id="9" name="stage-4">
            <a:extLst>
              <a:ext uri="{FF2B5EF4-FFF2-40B4-BE49-F238E27FC236}">
                <a16:creationId xmlns:a16="http://schemas.microsoft.com/office/drawing/2014/main" id="{1C6AF7FB-5D2E-40FD-B07A-838A70BDBC44}"/>
              </a:ext>
            </a:extLst>
          </p:cNvPr>
          <p:cNvSpPr>
            <a:spLocks noGrp="1"/>
          </p:cNvSpPr>
          <p:nvPr/>
        </p:nvSpPr>
        <p:spPr>
          <a:xfrm>
            <a:off x="10953750" y="1666875"/>
            <a:ext cx="1809750" cy="266700"/>
          </a:xfrm>
          <a:prstGeom prst="rect">
            <a:avLst/>
          </a:prstGeom>
          <a:noFill/>
          <a:ln w="0">
            <a:noFill/>
          </a:ln>
        </p:spPr>
        <p:txBody>
          <a:bodyPr wrap="square" lIns="0" tIns="0" rIns="0" bIns="0" anchor="t">
            <a:noAutofit/>
          </a:bodyPr>
          <a:lstStyle>
            <a:defPPr algn="l">
              <a:defRPr sz="1238" b="0">
                <a:solidFill>
                  <a:srgbClr val="A6A6A6"/>
                </a:solidFill>
                <a:latin typeface="Arial"/>
                <a:ea typeface="Arial"/>
                <a:cs typeface="Arial"/>
              </a:defRPr>
            </a:defPPr>
            <a:lvl1pPr algn="l">
              <a:defRPr sz="1238" b="0">
                <a:solidFill>
                  <a:srgbClr val="A6A6A6"/>
                </a:solidFill>
                <a:latin typeface="Arial"/>
                <a:ea typeface="Arial"/>
                <a:cs typeface="Arial"/>
              </a:defRPr>
            </a:lvl1pPr>
            <a:lvl2pPr algn="l">
              <a:defRPr sz="1238" b="0">
                <a:solidFill>
                  <a:srgbClr val="A6A6A6"/>
                </a:solidFill>
                <a:latin typeface="Arial"/>
                <a:ea typeface="Arial"/>
                <a:cs typeface="Arial"/>
              </a:defRPr>
            </a:lvl2pPr>
            <a:lvl3pPr algn="l">
              <a:defRPr sz="1238" b="0">
                <a:solidFill>
                  <a:srgbClr val="A6A6A6"/>
                </a:solidFill>
                <a:latin typeface="Arial"/>
                <a:ea typeface="Arial"/>
                <a:cs typeface="Arial"/>
              </a:defRPr>
            </a:lvl3pPr>
            <a:lvl4pPr algn="l">
              <a:defRPr sz="1238" b="0">
                <a:solidFill>
                  <a:srgbClr val="A6A6A6"/>
                </a:solidFill>
                <a:latin typeface="Arial"/>
                <a:ea typeface="Arial"/>
                <a:cs typeface="Arial"/>
              </a:defRPr>
            </a:lvl4pPr>
            <a:lvl5pPr algn="l">
              <a:defRPr sz="1238" b="0">
                <a:solidFill>
                  <a:srgbClr val="A6A6A6"/>
                </a:solidFill>
                <a:latin typeface="Arial"/>
                <a:ea typeface="Arial"/>
                <a:cs typeface="Arial"/>
              </a:defRPr>
            </a:lvl5pPr>
            <a:lvl6pPr algn="l">
              <a:defRPr sz="1238" b="0">
                <a:solidFill>
                  <a:srgbClr val="A6A6A6"/>
                </a:solidFill>
                <a:latin typeface="Arial"/>
                <a:ea typeface="Arial"/>
                <a:cs typeface="Arial"/>
              </a:defRPr>
            </a:lvl6pPr>
            <a:lvl7pPr algn="l">
              <a:defRPr sz="1238" b="0">
                <a:solidFill>
                  <a:srgbClr val="A6A6A6"/>
                </a:solidFill>
                <a:latin typeface="Arial"/>
                <a:ea typeface="Arial"/>
                <a:cs typeface="Arial"/>
              </a:defRPr>
            </a:lvl7pPr>
            <a:lvl8pPr algn="l">
              <a:defRPr sz="1238" b="0">
                <a:solidFill>
                  <a:srgbClr val="A6A6A6"/>
                </a:solidFill>
                <a:latin typeface="Arial"/>
                <a:ea typeface="Arial"/>
                <a:cs typeface="Arial"/>
              </a:defRPr>
            </a:lvl8pPr>
            <a:lvl9pPr algn="l">
              <a:defRPr sz="1238" b="0">
                <a:solidFill>
                  <a:srgbClr val="A6A6A6"/>
                </a:solidFill>
                <a:latin typeface="Arial"/>
                <a:ea typeface="Arial"/>
                <a:cs typeface="Arial"/>
              </a:defRPr>
            </a:lvl9pPr>
          </a:lstStyle>
          <a:p>
            <a:pPr algn="l">
              <a:defRPr sz="1238" b="0">
                <a:solidFill>
                  <a:srgbClr val="A6A6A6"/>
                </a:solidFill>
                <a:latin typeface="Arial"/>
                <a:ea typeface="Arial"/>
                <a:cs typeface="Arial"/>
              </a:defRPr>
            </a:pPr>
            <a:r>
              <a:rPr sz="1238" b="0">
                <a:solidFill>
                  <a:srgbClr val="A6A6A6"/>
                </a:solidFill>
                <a:latin typeface="Arial"/>
                <a:ea typeface="Arial"/>
                <a:cs typeface="Arial"/>
              </a:rPr>
              <a:t>STEP 4 · PART III</a:t>
            </a:r>
          </a:p>
        </p:txBody>
      </p:sp>
      <p:sp>
        <p:nvSpPr>
          <p:cNvPr id="10" name="stage-title-4">
            <a:extLst>
              <a:ext uri="{FF2B5EF4-FFF2-40B4-BE49-F238E27FC236}">
                <a16:creationId xmlns:a16="http://schemas.microsoft.com/office/drawing/2014/main" id="{C3DA1DD0-9865-4ABB-AA6A-DEC7D14815C7}"/>
              </a:ext>
            </a:extLst>
          </p:cNvPr>
          <p:cNvSpPr>
            <a:spLocks noGrp="1"/>
          </p:cNvSpPr>
          <p:nvPr/>
        </p:nvSpPr>
        <p:spPr>
          <a:xfrm>
            <a:off x="10953750" y="2381250"/>
            <a:ext cx="1809750" cy="790575"/>
          </a:xfrm>
          <a:prstGeom prst="rect">
            <a:avLst/>
          </a:prstGeom>
          <a:noFill/>
          <a:ln w="0">
            <a:noFill/>
          </a:ln>
        </p:spPr>
        <p:txBody>
          <a:bodyPr wrap="square" lIns="0" tIns="0" rIns="0" bIns="0" anchor="t">
            <a:noAutofit/>
          </a:bodyPr>
          <a:lstStyle>
            <a:defPPr algn="l">
              <a:defRPr sz="1425" b="0">
                <a:solidFill>
                  <a:srgbClr val="A6A6A6"/>
                </a:solidFill>
                <a:latin typeface="Arial"/>
                <a:ea typeface="Arial"/>
                <a:cs typeface="Arial"/>
              </a:defRPr>
            </a:defPPr>
            <a:lvl1pPr algn="l">
              <a:defRPr sz="1425" b="0">
                <a:solidFill>
                  <a:srgbClr val="A6A6A6"/>
                </a:solidFill>
                <a:latin typeface="Arial"/>
                <a:ea typeface="Arial"/>
                <a:cs typeface="Arial"/>
              </a:defRPr>
            </a:lvl1pPr>
            <a:lvl2pPr algn="l">
              <a:defRPr sz="1425" b="0">
                <a:solidFill>
                  <a:srgbClr val="A6A6A6"/>
                </a:solidFill>
                <a:latin typeface="Arial"/>
                <a:ea typeface="Arial"/>
                <a:cs typeface="Arial"/>
              </a:defRPr>
            </a:lvl2pPr>
            <a:lvl3pPr algn="l">
              <a:defRPr sz="1425" b="0">
                <a:solidFill>
                  <a:srgbClr val="A6A6A6"/>
                </a:solidFill>
                <a:latin typeface="Arial"/>
                <a:ea typeface="Arial"/>
                <a:cs typeface="Arial"/>
              </a:defRPr>
            </a:lvl3pPr>
            <a:lvl4pPr algn="l">
              <a:defRPr sz="1425" b="0">
                <a:solidFill>
                  <a:srgbClr val="A6A6A6"/>
                </a:solidFill>
                <a:latin typeface="Arial"/>
                <a:ea typeface="Arial"/>
                <a:cs typeface="Arial"/>
              </a:defRPr>
            </a:lvl4pPr>
            <a:lvl5pPr algn="l">
              <a:defRPr sz="1425" b="0">
                <a:solidFill>
                  <a:srgbClr val="A6A6A6"/>
                </a:solidFill>
                <a:latin typeface="Arial"/>
                <a:ea typeface="Arial"/>
                <a:cs typeface="Arial"/>
              </a:defRPr>
            </a:lvl5pPr>
            <a:lvl6pPr algn="l">
              <a:defRPr sz="1425" b="0">
                <a:solidFill>
                  <a:srgbClr val="A6A6A6"/>
                </a:solidFill>
                <a:latin typeface="Arial"/>
                <a:ea typeface="Arial"/>
                <a:cs typeface="Arial"/>
              </a:defRPr>
            </a:lvl6pPr>
            <a:lvl7pPr algn="l">
              <a:defRPr sz="1425" b="0">
                <a:solidFill>
                  <a:srgbClr val="A6A6A6"/>
                </a:solidFill>
                <a:latin typeface="Arial"/>
                <a:ea typeface="Arial"/>
                <a:cs typeface="Arial"/>
              </a:defRPr>
            </a:lvl7pPr>
            <a:lvl8pPr algn="l">
              <a:defRPr sz="1425" b="0">
                <a:solidFill>
                  <a:srgbClr val="A6A6A6"/>
                </a:solidFill>
                <a:latin typeface="Arial"/>
                <a:ea typeface="Arial"/>
                <a:cs typeface="Arial"/>
              </a:defRPr>
            </a:lvl8pPr>
            <a:lvl9pPr algn="l">
              <a:defRPr sz="1425" b="0">
                <a:solidFill>
                  <a:srgbClr val="A6A6A6"/>
                </a:solidFill>
                <a:latin typeface="Arial"/>
                <a:ea typeface="Arial"/>
                <a:cs typeface="Arial"/>
              </a:defRPr>
            </a:lvl9pPr>
          </a:lstStyle>
          <a:p>
            <a:pPr algn="l">
              <a:defRPr sz="1425" b="0">
                <a:solidFill>
                  <a:srgbClr val="A6A6A6"/>
                </a:solidFill>
                <a:latin typeface="Arial"/>
                <a:ea typeface="Arial"/>
                <a:cs typeface="Arial"/>
              </a:defRPr>
            </a:pPr>
            <a:r>
              <a:rPr sz="1425" b="0">
                <a:solidFill>
                  <a:srgbClr val="A6A6A6"/>
                </a:solidFill>
                <a:latin typeface="Arial"/>
                <a:ea typeface="Arial"/>
                <a:cs typeface="Arial"/>
              </a:rPr>
              <a:t>Active testing</a:t>
            </a:r>
          </a:p>
          <a:p>
            <a:pPr algn="l">
              <a:defRPr sz="1425" b="0">
                <a:solidFill>
                  <a:srgbClr val="A6A6A6"/>
                </a:solidFill>
                <a:latin typeface="Arial"/>
                <a:ea typeface="Arial"/>
                <a:cs typeface="Arial"/>
              </a:defRPr>
            </a:pPr>
            <a:r>
              <a:rPr sz="1425" b="0">
                <a:solidFill>
                  <a:srgbClr val="A6A6A6"/>
                </a:solidFill>
                <a:latin typeface="Arial"/>
                <a:ea typeface="Arial"/>
                <a:cs typeface="Arial"/>
              </a:rPr>
              <a:t>&amp; model revision</a:t>
            </a:r>
          </a:p>
        </p:txBody>
      </p:sp>
      <p:sp>
        <p:nvSpPr>
          <p:cNvPr id="11" name="stage-5">
            <a:extLst>
              <a:ext uri="{FF2B5EF4-FFF2-40B4-BE49-F238E27FC236}">
                <a16:creationId xmlns:a16="http://schemas.microsoft.com/office/drawing/2014/main" id="{EC0C0830-3851-4A7A-9AB6-592619C986B1}"/>
              </a:ext>
            </a:extLst>
          </p:cNvPr>
          <p:cNvSpPr>
            <a:spLocks noGrp="1"/>
          </p:cNvSpPr>
          <p:nvPr/>
        </p:nvSpPr>
        <p:spPr>
          <a:xfrm>
            <a:off x="12954000" y="1666875"/>
            <a:ext cx="1371600" cy="266700"/>
          </a:xfrm>
          <a:prstGeom prst="rect">
            <a:avLst/>
          </a:prstGeom>
          <a:noFill/>
          <a:ln w="0">
            <a:noFill/>
          </a:ln>
        </p:spPr>
        <p:txBody>
          <a:bodyPr wrap="square" lIns="0" tIns="0" rIns="0" bIns="0" anchor="t">
            <a:noAutofit/>
          </a:bodyPr>
          <a:lstStyle>
            <a:defPPr algn="l">
              <a:defRPr sz="1238" b="0">
                <a:solidFill>
                  <a:srgbClr val="A6A6A6"/>
                </a:solidFill>
                <a:latin typeface="Arial"/>
                <a:ea typeface="Arial"/>
                <a:cs typeface="Arial"/>
              </a:defRPr>
            </a:defPPr>
            <a:lvl1pPr algn="l">
              <a:defRPr sz="1238" b="0">
                <a:solidFill>
                  <a:srgbClr val="A6A6A6"/>
                </a:solidFill>
                <a:latin typeface="Arial"/>
                <a:ea typeface="Arial"/>
                <a:cs typeface="Arial"/>
              </a:defRPr>
            </a:lvl1pPr>
            <a:lvl2pPr algn="l">
              <a:defRPr sz="1238" b="0">
                <a:solidFill>
                  <a:srgbClr val="A6A6A6"/>
                </a:solidFill>
                <a:latin typeface="Arial"/>
                <a:ea typeface="Arial"/>
                <a:cs typeface="Arial"/>
              </a:defRPr>
            </a:lvl2pPr>
            <a:lvl3pPr algn="l">
              <a:defRPr sz="1238" b="0">
                <a:solidFill>
                  <a:srgbClr val="A6A6A6"/>
                </a:solidFill>
                <a:latin typeface="Arial"/>
                <a:ea typeface="Arial"/>
                <a:cs typeface="Arial"/>
              </a:defRPr>
            </a:lvl3pPr>
            <a:lvl4pPr algn="l">
              <a:defRPr sz="1238" b="0">
                <a:solidFill>
                  <a:srgbClr val="A6A6A6"/>
                </a:solidFill>
                <a:latin typeface="Arial"/>
                <a:ea typeface="Arial"/>
                <a:cs typeface="Arial"/>
              </a:defRPr>
            </a:lvl4pPr>
            <a:lvl5pPr algn="l">
              <a:defRPr sz="1238" b="0">
                <a:solidFill>
                  <a:srgbClr val="A6A6A6"/>
                </a:solidFill>
                <a:latin typeface="Arial"/>
                <a:ea typeface="Arial"/>
                <a:cs typeface="Arial"/>
              </a:defRPr>
            </a:lvl5pPr>
            <a:lvl6pPr algn="l">
              <a:defRPr sz="1238" b="0">
                <a:solidFill>
                  <a:srgbClr val="A6A6A6"/>
                </a:solidFill>
                <a:latin typeface="Arial"/>
                <a:ea typeface="Arial"/>
                <a:cs typeface="Arial"/>
              </a:defRPr>
            </a:lvl6pPr>
            <a:lvl7pPr algn="l">
              <a:defRPr sz="1238" b="0">
                <a:solidFill>
                  <a:srgbClr val="A6A6A6"/>
                </a:solidFill>
                <a:latin typeface="Arial"/>
                <a:ea typeface="Arial"/>
                <a:cs typeface="Arial"/>
              </a:defRPr>
            </a:lvl7pPr>
            <a:lvl8pPr algn="l">
              <a:defRPr sz="1238" b="0">
                <a:solidFill>
                  <a:srgbClr val="A6A6A6"/>
                </a:solidFill>
                <a:latin typeface="Arial"/>
                <a:ea typeface="Arial"/>
                <a:cs typeface="Arial"/>
              </a:defRPr>
            </a:lvl8pPr>
            <a:lvl9pPr algn="l">
              <a:defRPr sz="1238" b="0">
                <a:solidFill>
                  <a:srgbClr val="A6A6A6"/>
                </a:solidFill>
                <a:latin typeface="Arial"/>
                <a:ea typeface="Arial"/>
                <a:cs typeface="Arial"/>
              </a:defRPr>
            </a:lvl9pPr>
          </a:lstStyle>
          <a:p>
            <a:pPr algn="l">
              <a:defRPr sz="1238" b="0">
                <a:solidFill>
                  <a:srgbClr val="A6A6A6"/>
                </a:solidFill>
                <a:latin typeface="Arial"/>
                <a:ea typeface="Arial"/>
                <a:cs typeface="Arial"/>
              </a:defRPr>
            </a:pPr>
            <a:r>
              <a:rPr sz="1238" b="0">
                <a:solidFill>
                  <a:srgbClr val="A6A6A6"/>
                </a:solidFill>
                <a:latin typeface="Arial"/>
                <a:ea typeface="Arial"/>
                <a:cs typeface="Arial"/>
              </a:rPr>
              <a:t>STEP 5 · PART IV</a:t>
            </a:r>
          </a:p>
        </p:txBody>
      </p:sp>
      <p:sp>
        <p:nvSpPr>
          <p:cNvPr id="12" name="stage-title-5">
            <a:extLst>
              <a:ext uri="{FF2B5EF4-FFF2-40B4-BE49-F238E27FC236}">
                <a16:creationId xmlns:a16="http://schemas.microsoft.com/office/drawing/2014/main" id="{82AE4D46-D257-4D8B-9F1D-664EC4A6C6DA}"/>
              </a:ext>
            </a:extLst>
          </p:cNvPr>
          <p:cNvSpPr>
            <a:spLocks noGrp="1"/>
          </p:cNvSpPr>
          <p:nvPr/>
        </p:nvSpPr>
        <p:spPr>
          <a:xfrm>
            <a:off x="12954000" y="2381250"/>
            <a:ext cx="1371600" cy="790575"/>
          </a:xfrm>
          <a:prstGeom prst="rect">
            <a:avLst/>
          </a:prstGeom>
          <a:noFill/>
          <a:ln w="0">
            <a:noFill/>
          </a:ln>
        </p:spPr>
        <p:txBody>
          <a:bodyPr wrap="square" lIns="0" tIns="0" rIns="0" bIns="0" anchor="t">
            <a:noAutofit/>
          </a:bodyPr>
          <a:lstStyle>
            <a:defPPr algn="l">
              <a:defRPr sz="1425" b="0">
                <a:solidFill>
                  <a:srgbClr val="A6A6A6"/>
                </a:solidFill>
                <a:latin typeface="Arial"/>
                <a:ea typeface="Arial"/>
                <a:cs typeface="Arial"/>
              </a:defRPr>
            </a:defPPr>
            <a:lvl1pPr algn="l">
              <a:defRPr sz="1425" b="0">
                <a:solidFill>
                  <a:srgbClr val="A6A6A6"/>
                </a:solidFill>
                <a:latin typeface="Arial"/>
                <a:ea typeface="Arial"/>
                <a:cs typeface="Arial"/>
              </a:defRPr>
            </a:lvl1pPr>
            <a:lvl2pPr algn="l">
              <a:defRPr sz="1425" b="0">
                <a:solidFill>
                  <a:srgbClr val="A6A6A6"/>
                </a:solidFill>
                <a:latin typeface="Arial"/>
                <a:ea typeface="Arial"/>
                <a:cs typeface="Arial"/>
              </a:defRPr>
            </a:lvl2pPr>
            <a:lvl3pPr algn="l">
              <a:defRPr sz="1425" b="0">
                <a:solidFill>
                  <a:srgbClr val="A6A6A6"/>
                </a:solidFill>
                <a:latin typeface="Arial"/>
                <a:ea typeface="Arial"/>
                <a:cs typeface="Arial"/>
              </a:defRPr>
            </a:lvl3pPr>
            <a:lvl4pPr algn="l">
              <a:defRPr sz="1425" b="0">
                <a:solidFill>
                  <a:srgbClr val="A6A6A6"/>
                </a:solidFill>
                <a:latin typeface="Arial"/>
                <a:ea typeface="Arial"/>
                <a:cs typeface="Arial"/>
              </a:defRPr>
            </a:lvl4pPr>
            <a:lvl5pPr algn="l">
              <a:defRPr sz="1425" b="0">
                <a:solidFill>
                  <a:srgbClr val="A6A6A6"/>
                </a:solidFill>
                <a:latin typeface="Arial"/>
                <a:ea typeface="Arial"/>
                <a:cs typeface="Arial"/>
              </a:defRPr>
            </a:lvl5pPr>
            <a:lvl6pPr algn="l">
              <a:defRPr sz="1425" b="0">
                <a:solidFill>
                  <a:srgbClr val="A6A6A6"/>
                </a:solidFill>
                <a:latin typeface="Arial"/>
                <a:ea typeface="Arial"/>
                <a:cs typeface="Arial"/>
              </a:defRPr>
            </a:lvl6pPr>
            <a:lvl7pPr algn="l">
              <a:defRPr sz="1425" b="0">
                <a:solidFill>
                  <a:srgbClr val="A6A6A6"/>
                </a:solidFill>
                <a:latin typeface="Arial"/>
                <a:ea typeface="Arial"/>
                <a:cs typeface="Arial"/>
              </a:defRPr>
            </a:lvl7pPr>
            <a:lvl8pPr algn="l">
              <a:defRPr sz="1425" b="0">
                <a:solidFill>
                  <a:srgbClr val="A6A6A6"/>
                </a:solidFill>
                <a:latin typeface="Arial"/>
                <a:ea typeface="Arial"/>
                <a:cs typeface="Arial"/>
              </a:defRPr>
            </a:lvl8pPr>
            <a:lvl9pPr algn="l">
              <a:defRPr sz="1425" b="0">
                <a:solidFill>
                  <a:srgbClr val="A6A6A6"/>
                </a:solidFill>
                <a:latin typeface="Arial"/>
                <a:ea typeface="Arial"/>
                <a:cs typeface="Arial"/>
              </a:defRPr>
            </a:lvl9pPr>
          </a:lstStyle>
          <a:p>
            <a:pPr algn="l">
              <a:defRPr sz="1425" b="0">
                <a:solidFill>
                  <a:srgbClr val="A6A6A6"/>
                </a:solidFill>
                <a:latin typeface="Arial"/>
                <a:ea typeface="Arial"/>
                <a:cs typeface="Arial"/>
              </a:defRPr>
            </a:pPr>
            <a:r>
              <a:rPr sz="1425" b="0">
                <a:solidFill>
                  <a:srgbClr val="A6A6A6"/>
                </a:solidFill>
                <a:latin typeface="Arial"/>
                <a:ea typeface="Arial"/>
                <a:cs typeface="Arial"/>
              </a:rPr>
              <a:t>Minimal, transferable</a:t>
            </a:r>
          </a:p>
          <a:p>
            <a:pPr algn="l">
              <a:defRPr sz="1425" b="0">
                <a:solidFill>
                  <a:srgbClr val="A6A6A6"/>
                </a:solidFill>
                <a:latin typeface="Arial"/>
                <a:ea typeface="Arial"/>
                <a:cs typeface="Arial"/>
              </a:defRPr>
            </a:pPr>
            <a:r>
              <a:rPr sz="1425" b="0">
                <a:solidFill>
                  <a:srgbClr val="A6A6A6"/>
                </a:solidFill>
                <a:latin typeface="Arial"/>
                <a:ea typeface="Arial"/>
                <a:cs typeface="Arial"/>
              </a:rPr>
              <a:t>representations</a:t>
            </a:r>
          </a:p>
        </p:txBody>
      </p:sp>
      <p:sp>
        <p:nvSpPr>
          <p:cNvPr id="13" name="external-sensing">
            <a:extLst>
              <a:ext uri="{FF2B5EF4-FFF2-40B4-BE49-F238E27FC236}">
                <a16:creationId xmlns:a16="http://schemas.microsoft.com/office/drawing/2014/main" id="{1D181138-D181-4B7D-8643-495464D7F670}"/>
              </a:ext>
            </a:extLst>
          </p:cNvPr>
          <p:cNvSpPr>
            <a:spLocks noGrp="1"/>
          </p:cNvSpPr>
          <p:nvPr/>
        </p:nvSpPr>
        <p:spPr>
          <a:xfrm>
            <a:off x="914400" y="3295650"/>
            <a:ext cx="2209800" cy="628650"/>
          </a:xfrm>
          <a:prstGeom prst="rect">
            <a:avLst/>
          </a:prstGeom>
          <a:noFill/>
          <a:ln w="0">
            <a:noFill/>
          </a:ln>
        </p:spPr>
        <p:txBody>
          <a:bodyPr wrap="square" lIns="0" tIns="0" rIns="0" bIns="0" anchor="t">
            <a:noAutofit/>
          </a:bodyPr>
          <a:lstStyle>
            <a:defPPr algn="l">
              <a:defRPr sz="1350" b="0">
                <a:solidFill>
                  <a:srgbClr val="62666B"/>
                </a:solidFill>
                <a:latin typeface="Arial"/>
                <a:ea typeface="Arial"/>
                <a:cs typeface="Arial"/>
              </a:defRPr>
            </a:defPPr>
            <a:lvl1pPr algn="l">
              <a:defRPr sz="1350" b="0">
                <a:solidFill>
                  <a:srgbClr val="62666B"/>
                </a:solidFill>
                <a:latin typeface="Arial"/>
                <a:ea typeface="Arial"/>
                <a:cs typeface="Arial"/>
              </a:defRPr>
            </a:lvl1pPr>
            <a:lvl2pPr algn="l">
              <a:defRPr sz="1350" b="0">
                <a:solidFill>
                  <a:srgbClr val="62666B"/>
                </a:solidFill>
                <a:latin typeface="Arial"/>
                <a:ea typeface="Arial"/>
                <a:cs typeface="Arial"/>
              </a:defRPr>
            </a:lvl2pPr>
            <a:lvl3pPr algn="l">
              <a:defRPr sz="1350" b="0">
                <a:solidFill>
                  <a:srgbClr val="62666B"/>
                </a:solidFill>
                <a:latin typeface="Arial"/>
                <a:ea typeface="Arial"/>
                <a:cs typeface="Arial"/>
              </a:defRPr>
            </a:lvl3pPr>
            <a:lvl4pPr algn="l">
              <a:defRPr sz="1350" b="0">
                <a:solidFill>
                  <a:srgbClr val="62666B"/>
                </a:solidFill>
                <a:latin typeface="Arial"/>
                <a:ea typeface="Arial"/>
                <a:cs typeface="Arial"/>
              </a:defRPr>
            </a:lvl4pPr>
            <a:lvl5pPr algn="l">
              <a:defRPr sz="1350" b="0">
                <a:solidFill>
                  <a:srgbClr val="62666B"/>
                </a:solidFill>
                <a:latin typeface="Arial"/>
                <a:ea typeface="Arial"/>
                <a:cs typeface="Arial"/>
              </a:defRPr>
            </a:lvl5pPr>
            <a:lvl6pPr algn="l">
              <a:defRPr sz="1350" b="0">
                <a:solidFill>
                  <a:srgbClr val="62666B"/>
                </a:solidFill>
                <a:latin typeface="Arial"/>
                <a:ea typeface="Arial"/>
                <a:cs typeface="Arial"/>
              </a:defRPr>
            </a:lvl6pPr>
            <a:lvl7pPr algn="l">
              <a:defRPr sz="1350" b="0">
                <a:solidFill>
                  <a:srgbClr val="62666B"/>
                </a:solidFill>
                <a:latin typeface="Arial"/>
                <a:ea typeface="Arial"/>
                <a:cs typeface="Arial"/>
              </a:defRPr>
            </a:lvl7pPr>
            <a:lvl8pPr algn="l">
              <a:defRPr sz="1350" b="0">
                <a:solidFill>
                  <a:srgbClr val="62666B"/>
                </a:solidFill>
                <a:latin typeface="Arial"/>
                <a:ea typeface="Arial"/>
                <a:cs typeface="Arial"/>
              </a:defRPr>
            </a:lvl8pPr>
            <a:lvl9pPr algn="l">
              <a:defRPr sz="1350" b="0">
                <a:solidFill>
                  <a:srgbClr val="62666B"/>
                </a:solidFill>
                <a:latin typeface="Arial"/>
                <a:ea typeface="Arial"/>
                <a:cs typeface="Arial"/>
              </a:defRPr>
            </a:lvl9pPr>
          </a:lstStyle>
          <a:p>
            <a:pPr algn="l">
              <a:defRPr sz="1350" b="0">
                <a:solidFill>
                  <a:srgbClr val="62666B"/>
                </a:solidFill>
                <a:latin typeface="Arial"/>
                <a:ea typeface="Arial"/>
                <a:cs typeface="Arial"/>
              </a:defRPr>
            </a:pPr>
            <a:r>
              <a:rPr sz="1350" b="0">
                <a:solidFill>
                  <a:srgbClr val="62666B"/>
                </a:solidFill>
                <a:latin typeface="Arial"/>
                <a:ea typeface="Arial"/>
                <a:cs typeface="Arial"/>
              </a:rPr>
              <a:t>External environment</a:t>
            </a:r>
          </a:p>
          <a:p>
            <a:pPr algn="l">
              <a:defRPr sz="1350" b="0">
                <a:solidFill>
                  <a:srgbClr val="62666B"/>
                </a:solidFill>
                <a:latin typeface="Arial"/>
                <a:ea typeface="Arial"/>
                <a:cs typeface="Arial"/>
              </a:defRPr>
            </a:pPr>
            <a:r>
              <a:rPr sz="1350" b="0">
                <a:solidFill>
                  <a:srgbClr val="62666B"/>
                </a:solidFill>
                <a:latin typeface="Arial"/>
                <a:ea typeface="Arial"/>
                <a:cs typeface="Arial"/>
              </a:rPr>
              <a:t>sensors + real-time control</a:t>
            </a:r>
          </a:p>
        </p:txBody>
      </p:sp>
      <p:sp>
        <p:nvSpPr>
          <p:cNvPr id="14" name="future-scope">
            <a:extLst>
              <a:ext uri="{FF2B5EF4-FFF2-40B4-BE49-F238E27FC236}">
                <a16:creationId xmlns:a16="http://schemas.microsoft.com/office/drawing/2014/main" id="{3802E1B5-1F31-4CDD-96EC-050B1947E8F3}"/>
              </a:ext>
            </a:extLst>
          </p:cNvPr>
          <p:cNvSpPr>
            <a:spLocks noGrp="1"/>
          </p:cNvSpPr>
          <p:nvPr/>
        </p:nvSpPr>
        <p:spPr>
          <a:xfrm>
            <a:off x="10953750" y="3295650"/>
            <a:ext cx="3371850" cy="266700"/>
          </a:xfrm>
          <a:prstGeom prst="rect">
            <a:avLst/>
          </a:prstGeom>
          <a:noFill/>
          <a:ln w="0">
            <a:noFill/>
          </a:ln>
        </p:spPr>
        <p:txBody>
          <a:bodyPr wrap="square" lIns="0" tIns="0" rIns="0" bIns="0" anchor="t">
            <a:noAutofit/>
          </a:bodyPr>
          <a:lstStyle>
            <a:defPPr algn="l">
              <a:defRPr sz="1275" b="0">
                <a:solidFill>
                  <a:srgbClr val="A6A6A6"/>
                </a:solidFill>
                <a:latin typeface="Arial"/>
                <a:ea typeface="Arial"/>
                <a:cs typeface="Arial"/>
              </a:defRPr>
            </a:defPPr>
            <a:lvl1pPr algn="l">
              <a:defRPr sz="1275" b="0">
                <a:solidFill>
                  <a:srgbClr val="A6A6A6"/>
                </a:solidFill>
                <a:latin typeface="Arial"/>
                <a:ea typeface="Arial"/>
                <a:cs typeface="Arial"/>
              </a:defRPr>
            </a:lvl1pPr>
            <a:lvl2pPr algn="l">
              <a:defRPr sz="1275" b="0">
                <a:solidFill>
                  <a:srgbClr val="A6A6A6"/>
                </a:solidFill>
                <a:latin typeface="Arial"/>
                <a:ea typeface="Arial"/>
                <a:cs typeface="Arial"/>
              </a:defRPr>
            </a:lvl2pPr>
            <a:lvl3pPr algn="l">
              <a:defRPr sz="1275" b="0">
                <a:solidFill>
                  <a:srgbClr val="A6A6A6"/>
                </a:solidFill>
                <a:latin typeface="Arial"/>
                <a:ea typeface="Arial"/>
                <a:cs typeface="Arial"/>
              </a:defRPr>
            </a:lvl3pPr>
            <a:lvl4pPr algn="l">
              <a:defRPr sz="1275" b="0">
                <a:solidFill>
                  <a:srgbClr val="A6A6A6"/>
                </a:solidFill>
                <a:latin typeface="Arial"/>
                <a:ea typeface="Arial"/>
                <a:cs typeface="Arial"/>
              </a:defRPr>
            </a:lvl4pPr>
            <a:lvl5pPr algn="l">
              <a:defRPr sz="1275" b="0">
                <a:solidFill>
                  <a:srgbClr val="A6A6A6"/>
                </a:solidFill>
                <a:latin typeface="Arial"/>
                <a:ea typeface="Arial"/>
                <a:cs typeface="Arial"/>
              </a:defRPr>
            </a:lvl5pPr>
            <a:lvl6pPr algn="l">
              <a:defRPr sz="1275" b="0">
                <a:solidFill>
                  <a:srgbClr val="A6A6A6"/>
                </a:solidFill>
                <a:latin typeface="Arial"/>
                <a:ea typeface="Arial"/>
                <a:cs typeface="Arial"/>
              </a:defRPr>
            </a:lvl6pPr>
            <a:lvl7pPr algn="l">
              <a:defRPr sz="1275" b="0">
                <a:solidFill>
                  <a:srgbClr val="A6A6A6"/>
                </a:solidFill>
                <a:latin typeface="Arial"/>
                <a:ea typeface="Arial"/>
                <a:cs typeface="Arial"/>
              </a:defRPr>
            </a:lvl7pPr>
            <a:lvl8pPr algn="l">
              <a:defRPr sz="1275" b="0">
                <a:solidFill>
                  <a:srgbClr val="A6A6A6"/>
                </a:solidFill>
                <a:latin typeface="Arial"/>
                <a:ea typeface="Arial"/>
                <a:cs typeface="Arial"/>
              </a:defRPr>
            </a:lvl8pPr>
            <a:lvl9pPr algn="l">
              <a:defRPr sz="1275" b="0">
                <a:solidFill>
                  <a:srgbClr val="A6A6A6"/>
                </a:solidFill>
                <a:latin typeface="Arial"/>
                <a:ea typeface="Arial"/>
                <a:cs typeface="Arial"/>
              </a:defRPr>
            </a:lvl9pPr>
          </a:lstStyle>
          <a:p>
            <a:pPr algn="l">
              <a:defRPr sz="1275" b="0">
                <a:solidFill>
                  <a:srgbClr val="A6A6A6"/>
                </a:solidFill>
                <a:latin typeface="Arial"/>
                <a:ea typeface="Arial"/>
                <a:cs typeface="Arial"/>
              </a:defRPr>
            </a:pPr>
            <a:r>
              <a:rPr sz="1275" b="0">
                <a:solidFill>
                  <a:srgbClr val="A6A6A6"/>
                </a:solidFill>
                <a:latin typeface="Arial"/>
                <a:ea typeface="Arial"/>
                <a:cs typeface="Arial"/>
              </a:rPr>
              <a:t>Longer-term thesis goals</a:t>
            </a:r>
          </a:p>
        </p:txBody>
      </p:sp>
      <p:cxnSp>
        <p:nvCxnSpPr>
          <p:cNvPr id="15" name="grounding-scope">
            <a:extLst>
              <a:ext uri="{FF2B5EF4-FFF2-40B4-BE49-F238E27FC236}">
                <a16:creationId xmlns:a16="http://schemas.microsoft.com/office/drawing/2014/main" id="{EA8C74A4-3BD8-4D86-9039-41296C69DF63}"/>
              </a:ext>
            </a:extLst>
          </p:cNvPr>
          <p:cNvCxnSpPr/>
          <p:nvPr/>
        </p:nvCxnSpPr>
        <p:spPr>
          <a:xfrm>
            <a:off x="5619750" y="3257550"/>
            <a:ext cx="0" cy="514350"/>
          </a:xfrm>
          <a:prstGeom prst="straightConnector1">
            <a:avLst/>
          </a:prstGeom>
          <a:ln w="10478">
            <a:solidFill>
              <a:srgbClr val="62666B"/>
            </a:solidFill>
          </a:ln>
        </p:spPr>
      </p:cxnSp>
      <p:cxnSp>
        <p:nvCxnSpPr>
          <p:cNvPr id="16" name="prediction-scope">
            <a:extLst>
              <a:ext uri="{FF2B5EF4-FFF2-40B4-BE49-F238E27FC236}">
                <a16:creationId xmlns:a16="http://schemas.microsoft.com/office/drawing/2014/main" id="{A84B9D6C-7346-4BE8-BED5-4CDBC891A5BD}"/>
              </a:ext>
            </a:extLst>
          </p:cNvPr>
          <p:cNvCxnSpPr/>
          <p:nvPr/>
        </p:nvCxnSpPr>
        <p:spPr>
          <a:xfrm>
            <a:off x="9620250" y="3257550"/>
            <a:ext cx="0" cy="514350"/>
          </a:xfrm>
          <a:prstGeom prst="straightConnector1">
            <a:avLst/>
          </a:prstGeom>
          <a:ln w="10478">
            <a:solidFill>
              <a:srgbClr val="62666B"/>
            </a:solidFill>
          </a:ln>
        </p:spPr>
      </p:cxnSp>
      <p:cxnSp>
        <p:nvCxnSpPr>
          <p:cNvPr id="17" name="nr-scope">
            <a:extLst>
              <a:ext uri="{FF2B5EF4-FFF2-40B4-BE49-F238E27FC236}">
                <a16:creationId xmlns:a16="http://schemas.microsoft.com/office/drawing/2014/main" id="{0EEDB8DC-B25D-483F-8EEA-52A048DD5138}"/>
              </a:ext>
            </a:extLst>
          </p:cNvPr>
          <p:cNvCxnSpPr/>
          <p:nvPr/>
        </p:nvCxnSpPr>
        <p:spPr>
          <a:xfrm>
            <a:off x="5619750" y="3771900"/>
            <a:ext cx="4000500" cy="0"/>
          </a:xfrm>
          <a:prstGeom prst="straightConnector1">
            <a:avLst/>
          </a:prstGeom>
          <a:ln w="10478">
            <a:solidFill>
              <a:srgbClr val="62666B"/>
            </a:solidFill>
          </a:ln>
        </p:spPr>
      </p:cxnSp>
      <p:cxnSp>
        <p:nvCxnSpPr>
          <p:cNvPr id="18" name="nr-stem">
            <a:extLst>
              <a:ext uri="{FF2B5EF4-FFF2-40B4-BE49-F238E27FC236}">
                <a16:creationId xmlns:a16="http://schemas.microsoft.com/office/drawing/2014/main" id="{6EA599FC-1501-47D6-A7D6-14C54C49FF5A}"/>
              </a:ext>
            </a:extLst>
          </p:cNvPr>
          <p:cNvCxnSpPr/>
          <p:nvPr/>
        </p:nvCxnSpPr>
        <p:spPr>
          <a:xfrm>
            <a:off x="7620000" y="3771900"/>
            <a:ext cx="0" cy="400050"/>
          </a:xfrm>
          <a:prstGeom prst="straightConnector1">
            <a:avLst/>
          </a:prstGeom>
          <a:ln w="10478">
            <a:solidFill>
              <a:srgbClr val="62666B"/>
            </a:solidFill>
          </a:ln>
        </p:spPr>
      </p:cxnSp>
      <p:sp>
        <p:nvSpPr>
          <p:cNvPr id="19" name="nr-title">
            <a:extLst>
              <a:ext uri="{FF2B5EF4-FFF2-40B4-BE49-F238E27FC236}">
                <a16:creationId xmlns:a16="http://schemas.microsoft.com/office/drawing/2014/main" id="{CDA179DB-A18F-4DC0-9028-610251C49DA7}"/>
              </a:ext>
            </a:extLst>
          </p:cNvPr>
          <p:cNvSpPr>
            <a:spLocks noGrp="1"/>
          </p:cNvSpPr>
          <p:nvPr/>
        </p:nvSpPr>
        <p:spPr>
          <a:xfrm>
            <a:off x="6191250" y="4267200"/>
            <a:ext cx="2857500" cy="438150"/>
          </a:xfrm>
          <a:prstGeom prst="rect">
            <a:avLst/>
          </a:prstGeom>
          <a:noFill/>
          <a:ln w="0">
            <a:noFill/>
          </a:ln>
        </p:spPr>
        <p:txBody>
          <a:bodyPr wrap="square" lIns="0" tIns="0" rIns="0" bIns="0" anchor="t">
            <a:noAutofit/>
          </a:bodyPr>
          <a:lstStyle>
            <a:defPPr algn="ctr">
              <a:defRPr sz="2250" b="1">
                <a:solidFill>
                  <a:srgbClr val="202124"/>
                </a:solidFill>
                <a:latin typeface="Arial"/>
                <a:ea typeface="Arial"/>
                <a:cs typeface="Arial"/>
              </a:defRPr>
            </a:defPPr>
            <a:lvl1pPr algn="ctr">
              <a:defRPr sz="2250" b="1">
                <a:solidFill>
                  <a:srgbClr val="202124"/>
                </a:solidFill>
                <a:latin typeface="Arial"/>
                <a:ea typeface="Arial"/>
                <a:cs typeface="Arial"/>
              </a:defRPr>
            </a:lvl1pPr>
            <a:lvl2pPr algn="ctr">
              <a:defRPr sz="2250" b="1">
                <a:solidFill>
                  <a:srgbClr val="202124"/>
                </a:solidFill>
                <a:latin typeface="Arial"/>
                <a:ea typeface="Arial"/>
                <a:cs typeface="Arial"/>
              </a:defRPr>
            </a:lvl2pPr>
            <a:lvl3pPr algn="ctr">
              <a:defRPr sz="2250" b="1">
                <a:solidFill>
                  <a:srgbClr val="202124"/>
                </a:solidFill>
                <a:latin typeface="Arial"/>
                <a:ea typeface="Arial"/>
                <a:cs typeface="Arial"/>
              </a:defRPr>
            </a:lvl3pPr>
            <a:lvl4pPr algn="ctr">
              <a:defRPr sz="2250" b="1">
                <a:solidFill>
                  <a:srgbClr val="202124"/>
                </a:solidFill>
                <a:latin typeface="Arial"/>
                <a:ea typeface="Arial"/>
                <a:cs typeface="Arial"/>
              </a:defRPr>
            </a:lvl4pPr>
            <a:lvl5pPr algn="ctr">
              <a:defRPr sz="2250" b="1">
                <a:solidFill>
                  <a:srgbClr val="202124"/>
                </a:solidFill>
                <a:latin typeface="Arial"/>
                <a:ea typeface="Arial"/>
                <a:cs typeface="Arial"/>
              </a:defRPr>
            </a:lvl5pPr>
            <a:lvl6pPr algn="ctr">
              <a:defRPr sz="2250" b="1">
                <a:solidFill>
                  <a:srgbClr val="202124"/>
                </a:solidFill>
                <a:latin typeface="Arial"/>
                <a:ea typeface="Arial"/>
                <a:cs typeface="Arial"/>
              </a:defRPr>
            </a:lvl6pPr>
            <a:lvl7pPr algn="ctr">
              <a:defRPr sz="2250" b="1">
                <a:solidFill>
                  <a:srgbClr val="202124"/>
                </a:solidFill>
                <a:latin typeface="Arial"/>
                <a:ea typeface="Arial"/>
                <a:cs typeface="Arial"/>
              </a:defRPr>
            </a:lvl7pPr>
            <a:lvl8pPr algn="ctr">
              <a:defRPr sz="2250" b="1">
                <a:solidFill>
                  <a:srgbClr val="202124"/>
                </a:solidFill>
                <a:latin typeface="Arial"/>
                <a:ea typeface="Arial"/>
                <a:cs typeface="Arial"/>
              </a:defRPr>
            </a:lvl8pPr>
            <a:lvl9pPr algn="ctr">
              <a:defRPr sz="2250" b="1">
                <a:solidFill>
                  <a:srgbClr val="202124"/>
                </a:solidFill>
                <a:latin typeface="Arial"/>
                <a:ea typeface="Arial"/>
                <a:cs typeface="Arial"/>
              </a:defRPr>
            </a:lvl9pPr>
          </a:lstStyle>
          <a:p>
            <a:pPr algn="ctr">
              <a:defRPr sz="2250" b="1">
                <a:solidFill>
                  <a:srgbClr val="202124"/>
                </a:solidFill>
                <a:latin typeface="Arial"/>
                <a:ea typeface="Arial"/>
                <a:cs typeface="Arial"/>
              </a:defRPr>
            </a:pPr>
            <a:r>
              <a:rPr sz="2250" b="1">
                <a:solidFill>
                  <a:srgbClr val="202124"/>
                </a:solidFill>
                <a:latin typeface="Arial"/>
                <a:ea typeface="Arial"/>
                <a:cs typeface="Arial"/>
              </a:rPr>
              <a:t>NR</a:t>
            </a:r>
          </a:p>
        </p:txBody>
      </p:sp>
      <p:sp>
        <p:nvSpPr>
          <p:cNvPr id="20" name="history">
            <a:extLst>
              <a:ext uri="{FF2B5EF4-FFF2-40B4-BE49-F238E27FC236}">
                <a16:creationId xmlns:a16="http://schemas.microsoft.com/office/drawing/2014/main" id="{67E98977-6825-49AA-B569-F8327129505C}"/>
              </a:ext>
            </a:extLst>
          </p:cNvPr>
          <p:cNvSpPr>
            <a:spLocks noGrp="1"/>
          </p:cNvSpPr>
          <p:nvPr/>
        </p:nvSpPr>
        <p:spPr>
          <a:xfrm>
            <a:off x="1238250" y="5267325"/>
            <a:ext cx="3524250" cy="419100"/>
          </a:xfrm>
          <a:prstGeom prst="rect">
            <a:avLst/>
          </a:prstGeom>
          <a:noFill/>
          <a:ln w="0">
            <a:noFill/>
          </a:ln>
        </p:spPr>
        <p:txBody>
          <a:bodyPr wrap="square" lIns="0" tIns="0" rIns="0" bIns="0" anchor="t">
            <a:noAutofit/>
          </a:bodyPr>
          <a:lstStyle>
            <a:defPPr algn="ctr">
              <a:defRPr sz="1875" b="0">
                <a:solidFill>
                  <a:srgbClr val="202124"/>
                </a:solidFill>
                <a:latin typeface="Arial"/>
                <a:ea typeface="Arial"/>
                <a:cs typeface="Arial"/>
              </a:defRPr>
            </a:defPPr>
            <a:lvl1pPr algn="ctr">
              <a:defRPr sz="1875" b="0">
                <a:solidFill>
                  <a:srgbClr val="202124"/>
                </a:solidFill>
                <a:latin typeface="Arial"/>
                <a:ea typeface="Arial"/>
                <a:cs typeface="Arial"/>
              </a:defRPr>
            </a:lvl1pPr>
            <a:lvl2pPr algn="ctr">
              <a:defRPr sz="1875" b="0">
                <a:solidFill>
                  <a:srgbClr val="202124"/>
                </a:solidFill>
                <a:latin typeface="Arial"/>
                <a:ea typeface="Arial"/>
                <a:cs typeface="Arial"/>
              </a:defRPr>
            </a:lvl2pPr>
            <a:lvl3pPr algn="ctr">
              <a:defRPr sz="1875" b="0">
                <a:solidFill>
                  <a:srgbClr val="202124"/>
                </a:solidFill>
                <a:latin typeface="Arial"/>
                <a:ea typeface="Arial"/>
                <a:cs typeface="Arial"/>
              </a:defRPr>
            </a:lvl3pPr>
            <a:lvl4pPr algn="ctr">
              <a:defRPr sz="1875" b="0">
                <a:solidFill>
                  <a:srgbClr val="202124"/>
                </a:solidFill>
                <a:latin typeface="Arial"/>
                <a:ea typeface="Arial"/>
                <a:cs typeface="Arial"/>
              </a:defRPr>
            </a:lvl4pPr>
            <a:lvl5pPr algn="ctr">
              <a:defRPr sz="1875" b="0">
                <a:solidFill>
                  <a:srgbClr val="202124"/>
                </a:solidFill>
                <a:latin typeface="Arial"/>
                <a:ea typeface="Arial"/>
                <a:cs typeface="Arial"/>
              </a:defRPr>
            </a:lvl5pPr>
            <a:lvl6pPr algn="ctr">
              <a:defRPr sz="1875" b="0">
                <a:solidFill>
                  <a:srgbClr val="202124"/>
                </a:solidFill>
                <a:latin typeface="Arial"/>
                <a:ea typeface="Arial"/>
                <a:cs typeface="Arial"/>
              </a:defRPr>
            </a:lvl6pPr>
            <a:lvl7pPr algn="ctr">
              <a:defRPr sz="1875" b="0">
                <a:solidFill>
                  <a:srgbClr val="202124"/>
                </a:solidFill>
                <a:latin typeface="Arial"/>
                <a:ea typeface="Arial"/>
                <a:cs typeface="Arial"/>
              </a:defRPr>
            </a:lvl7pPr>
            <a:lvl8pPr algn="ctr">
              <a:defRPr sz="1875" b="0">
                <a:solidFill>
                  <a:srgbClr val="202124"/>
                </a:solidFill>
                <a:latin typeface="Arial"/>
                <a:ea typeface="Arial"/>
                <a:cs typeface="Arial"/>
              </a:defRPr>
            </a:lvl8pPr>
            <a:lvl9pPr algn="ctr">
              <a:defRPr sz="1875" b="0">
                <a:solidFill>
                  <a:srgbClr val="202124"/>
                </a:solidFill>
                <a:latin typeface="Arial"/>
                <a:ea typeface="Arial"/>
                <a:cs typeface="Arial"/>
              </a:defRPr>
            </a:lvl9pPr>
          </a:lstStyle>
          <a:p>
            <a:pPr algn="ctr">
              <a:defRPr sz="1875" b="0">
                <a:solidFill>
                  <a:srgbClr val="202124"/>
                </a:solidFill>
                <a:latin typeface="Arial"/>
                <a:ea typeface="Arial"/>
                <a:cs typeface="Arial"/>
              </a:defRPr>
            </a:pPr>
            <a:r>
              <a:rPr sz="1875" b="0">
                <a:solidFill>
                  <a:srgbClr val="202124"/>
                </a:solidFill>
                <a:latin typeface="Arial"/>
                <a:ea typeface="Arial"/>
                <a:cs typeface="Arial"/>
              </a:rPr>
              <a:t>Interaction history</a:t>
            </a:r>
          </a:p>
        </p:txBody>
      </p:sp>
      <p:sp>
        <p:nvSpPr>
          <p:cNvPr id="21" name="history-detail">
            <a:extLst>
              <a:ext uri="{FF2B5EF4-FFF2-40B4-BE49-F238E27FC236}">
                <a16:creationId xmlns:a16="http://schemas.microsoft.com/office/drawing/2014/main" id="{99139793-D707-49C5-8750-BCD7D7B45484}"/>
              </a:ext>
            </a:extLst>
          </p:cNvPr>
          <p:cNvSpPr>
            <a:spLocks noGrp="1"/>
          </p:cNvSpPr>
          <p:nvPr/>
        </p:nvSpPr>
        <p:spPr>
          <a:xfrm>
            <a:off x="1238250" y="5781675"/>
            <a:ext cx="3524250" cy="514350"/>
          </a:xfrm>
          <a:prstGeom prst="rect">
            <a:avLst/>
          </a:prstGeom>
          <a:noFill/>
          <a:ln w="0">
            <a:noFill/>
          </a:ln>
        </p:spPr>
        <p:txBody>
          <a:bodyPr wrap="square" lIns="0" tIns="0" rIns="0" bIns="0" anchor="t">
            <a:noAutofit/>
          </a:bodyPr>
          <a:lstStyle>
            <a:defPPr algn="ctr">
              <a:defRPr sz="1425" b="0">
                <a:solidFill>
                  <a:srgbClr val="62666B"/>
                </a:solidFill>
                <a:latin typeface="Arial"/>
                <a:ea typeface="Arial"/>
                <a:cs typeface="Arial"/>
              </a:defRPr>
            </a:defPPr>
            <a:lvl1pPr algn="ctr">
              <a:defRPr sz="1425" b="0">
                <a:solidFill>
                  <a:srgbClr val="62666B"/>
                </a:solidFill>
                <a:latin typeface="Arial"/>
                <a:ea typeface="Arial"/>
                <a:cs typeface="Arial"/>
              </a:defRPr>
            </a:lvl1pPr>
            <a:lvl2pPr algn="ctr">
              <a:defRPr sz="1425" b="0">
                <a:solidFill>
                  <a:srgbClr val="62666B"/>
                </a:solidFill>
                <a:latin typeface="Arial"/>
                <a:ea typeface="Arial"/>
                <a:cs typeface="Arial"/>
              </a:defRPr>
            </a:lvl2pPr>
            <a:lvl3pPr algn="ctr">
              <a:defRPr sz="1425" b="0">
                <a:solidFill>
                  <a:srgbClr val="62666B"/>
                </a:solidFill>
                <a:latin typeface="Arial"/>
                <a:ea typeface="Arial"/>
                <a:cs typeface="Arial"/>
              </a:defRPr>
            </a:lvl3pPr>
            <a:lvl4pPr algn="ctr">
              <a:defRPr sz="1425" b="0">
                <a:solidFill>
                  <a:srgbClr val="62666B"/>
                </a:solidFill>
                <a:latin typeface="Arial"/>
                <a:ea typeface="Arial"/>
                <a:cs typeface="Arial"/>
              </a:defRPr>
            </a:lvl4pPr>
            <a:lvl5pPr algn="ctr">
              <a:defRPr sz="1425" b="0">
                <a:solidFill>
                  <a:srgbClr val="62666B"/>
                </a:solidFill>
                <a:latin typeface="Arial"/>
                <a:ea typeface="Arial"/>
                <a:cs typeface="Arial"/>
              </a:defRPr>
            </a:lvl5pPr>
            <a:lvl6pPr algn="ctr">
              <a:defRPr sz="1425" b="0">
                <a:solidFill>
                  <a:srgbClr val="62666B"/>
                </a:solidFill>
                <a:latin typeface="Arial"/>
                <a:ea typeface="Arial"/>
                <a:cs typeface="Arial"/>
              </a:defRPr>
            </a:lvl6pPr>
            <a:lvl7pPr algn="ctr">
              <a:defRPr sz="1425" b="0">
                <a:solidFill>
                  <a:srgbClr val="62666B"/>
                </a:solidFill>
                <a:latin typeface="Arial"/>
                <a:ea typeface="Arial"/>
                <a:cs typeface="Arial"/>
              </a:defRPr>
            </a:lvl7pPr>
            <a:lvl8pPr algn="ctr">
              <a:defRPr sz="1425" b="0">
                <a:solidFill>
                  <a:srgbClr val="62666B"/>
                </a:solidFill>
                <a:latin typeface="Arial"/>
                <a:ea typeface="Arial"/>
                <a:cs typeface="Arial"/>
              </a:defRPr>
            </a:lvl8pPr>
            <a:lvl9pPr algn="ctr">
              <a:defRPr sz="1425" b="0">
                <a:solidFill>
                  <a:srgbClr val="62666B"/>
                </a:solidFill>
                <a:latin typeface="Arial"/>
                <a:ea typeface="Arial"/>
                <a:cs typeface="Arial"/>
              </a:defRPr>
            </a:lvl9pPr>
          </a:lstStyle>
          <a:p>
            <a:pPr algn="ctr">
              <a:defRPr sz="1425" b="0">
                <a:solidFill>
                  <a:srgbClr val="62666B"/>
                </a:solidFill>
                <a:latin typeface="Arial"/>
                <a:ea typeface="Arial"/>
                <a:cs typeface="Arial"/>
              </a:defRPr>
            </a:pPr>
            <a:r>
              <a:rPr sz="1425" b="0">
                <a:solidFill>
                  <a:srgbClr val="62666B"/>
                </a:solidFill>
                <a:latin typeface="Arial"/>
                <a:ea typeface="Arial"/>
                <a:cs typeface="Arial"/>
              </a:rPr>
              <a:t>Force, motion and past commands</a:t>
            </a:r>
          </a:p>
        </p:txBody>
      </p:sp>
      <p:sp>
        <p:nvSpPr>
          <p:cNvPr id="22" name="physical-state">
            <a:extLst>
              <a:ext uri="{FF2B5EF4-FFF2-40B4-BE49-F238E27FC236}">
                <a16:creationId xmlns:a16="http://schemas.microsoft.com/office/drawing/2014/main" id="{F5F6263F-9C88-414C-9D40-95BFD462BB81}"/>
              </a:ext>
            </a:extLst>
          </p:cNvPr>
          <p:cNvSpPr>
            <a:spLocks noGrp="1"/>
          </p:cNvSpPr>
          <p:nvPr/>
        </p:nvSpPr>
        <p:spPr>
          <a:xfrm>
            <a:off x="6191250" y="5267325"/>
            <a:ext cx="2857500" cy="419100"/>
          </a:xfrm>
          <a:prstGeom prst="rect">
            <a:avLst/>
          </a:prstGeom>
          <a:noFill/>
          <a:ln w="0">
            <a:noFill/>
          </a:ln>
        </p:spPr>
        <p:txBody>
          <a:bodyPr wrap="square" lIns="0" tIns="0" rIns="0" bIns="0" anchor="t">
            <a:noAutofit/>
          </a:bodyPr>
          <a:lstStyle>
            <a:defPPr algn="ctr">
              <a:defRPr sz="2025" b="1">
                <a:solidFill>
                  <a:srgbClr val="202124"/>
                </a:solidFill>
                <a:latin typeface="Arial"/>
                <a:ea typeface="Arial"/>
                <a:cs typeface="Arial"/>
              </a:defRPr>
            </a:defPPr>
            <a:lvl1pPr algn="ctr">
              <a:defRPr sz="2025" b="1">
                <a:solidFill>
                  <a:srgbClr val="202124"/>
                </a:solidFill>
                <a:latin typeface="Arial"/>
                <a:ea typeface="Arial"/>
                <a:cs typeface="Arial"/>
              </a:defRPr>
            </a:lvl1pPr>
            <a:lvl2pPr algn="ctr">
              <a:defRPr sz="2025" b="1">
                <a:solidFill>
                  <a:srgbClr val="202124"/>
                </a:solidFill>
                <a:latin typeface="Arial"/>
                <a:ea typeface="Arial"/>
                <a:cs typeface="Arial"/>
              </a:defRPr>
            </a:lvl2pPr>
            <a:lvl3pPr algn="ctr">
              <a:defRPr sz="2025" b="1">
                <a:solidFill>
                  <a:srgbClr val="202124"/>
                </a:solidFill>
                <a:latin typeface="Arial"/>
                <a:ea typeface="Arial"/>
                <a:cs typeface="Arial"/>
              </a:defRPr>
            </a:lvl3pPr>
            <a:lvl4pPr algn="ctr">
              <a:defRPr sz="2025" b="1">
                <a:solidFill>
                  <a:srgbClr val="202124"/>
                </a:solidFill>
                <a:latin typeface="Arial"/>
                <a:ea typeface="Arial"/>
                <a:cs typeface="Arial"/>
              </a:defRPr>
            </a:lvl4pPr>
            <a:lvl5pPr algn="ctr">
              <a:defRPr sz="2025" b="1">
                <a:solidFill>
                  <a:srgbClr val="202124"/>
                </a:solidFill>
                <a:latin typeface="Arial"/>
                <a:ea typeface="Arial"/>
                <a:cs typeface="Arial"/>
              </a:defRPr>
            </a:lvl5pPr>
            <a:lvl6pPr algn="ctr">
              <a:defRPr sz="2025" b="1">
                <a:solidFill>
                  <a:srgbClr val="202124"/>
                </a:solidFill>
                <a:latin typeface="Arial"/>
                <a:ea typeface="Arial"/>
                <a:cs typeface="Arial"/>
              </a:defRPr>
            </a:lvl6pPr>
            <a:lvl7pPr algn="ctr">
              <a:defRPr sz="2025" b="1">
                <a:solidFill>
                  <a:srgbClr val="202124"/>
                </a:solidFill>
                <a:latin typeface="Arial"/>
                <a:ea typeface="Arial"/>
                <a:cs typeface="Arial"/>
              </a:defRPr>
            </a:lvl7pPr>
            <a:lvl8pPr algn="ctr">
              <a:defRPr sz="2025" b="1">
                <a:solidFill>
                  <a:srgbClr val="202124"/>
                </a:solidFill>
                <a:latin typeface="Arial"/>
                <a:ea typeface="Arial"/>
                <a:cs typeface="Arial"/>
              </a:defRPr>
            </a:lvl8pPr>
            <a:lvl9pPr algn="ctr">
              <a:defRPr sz="2025" b="1">
                <a:solidFill>
                  <a:srgbClr val="202124"/>
                </a:solidFill>
                <a:latin typeface="Arial"/>
                <a:ea typeface="Arial"/>
                <a:cs typeface="Arial"/>
              </a:defRPr>
            </a:lvl9pPr>
          </a:lstStyle>
          <a:p>
            <a:pPr algn="ctr">
              <a:defRPr sz="2025" b="1">
                <a:solidFill>
                  <a:srgbClr val="202124"/>
                </a:solidFill>
                <a:latin typeface="Arial"/>
                <a:ea typeface="Arial"/>
                <a:cs typeface="Arial"/>
              </a:defRPr>
            </a:pPr>
            <a:r>
              <a:rPr sz="2025" b="1">
                <a:solidFill>
                  <a:srgbClr val="202124"/>
                </a:solidFill>
                <a:latin typeface="Arial"/>
                <a:ea typeface="Arial"/>
                <a:cs typeface="Arial"/>
              </a:rPr>
              <a:t>Physical state</a:t>
            </a:r>
          </a:p>
        </p:txBody>
      </p:sp>
      <p:sp>
        <p:nvSpPr>
          <p:cNvPr id="23" name="state-detail">
            <a:extLst>
              <a:ext uri="{FF2B5EF4-FFF2-40B4-BE49-F238E27FC236}">
                <a16:creationId xmlns:a16="http://schemas.microsoft.com/office/drawing/2014/main" id="{EFC5D444-96FF-4D2D-9269-8B8AA0A07915}"/>
              </a:ext>
            </a:extLst>
          </p:cNvPr>
          <p:cNvSpPr>
            <a:spLocks noGrp="1"/>
          </p:cNvSpPr>
          <p:nvPr/>
        </p:nvSpPr>
        <p:spPr>
          <a:xfrm>
            <a:off x="5905500" y="5781675"/>
            <a:ext cx="3429000" cy="514350"/>
          </a:xfrm>
          <a:prstGeom prst="rect">
            <a:avLst/>
          </a:prstGeom>
          <a:noFill/>
          <a:ln w="0">
            <a:noFill/>
          </a:ln>
        </p:spPr>
        <p:txBody>
          <a:bodyPr wrap="square" lIns="0" tIns="0" rIns="0" bIns="0" anchor="t">
            <a:noAutofit/>
          </a:bodyPr>
          <a:lstStyle>
            <a:defPPr algn="ctr">
              <a:defRPr sz="1425" b="0">
                <a:solidFill>
                  <a:srgbClr val="62666B"/>
                </a:solidFill>
                <a:latin typeface="Arial"/>
                <a:ea typeface="Arial"/>
                <a:cs typeface="Arial"/>
              </a:defRPr>
            </a:defPPr>
            <a:lvl1pPr algn="ctr">
              <a:defRPr sz="1425" b="0">
                <a:solidFill>
                  <a:srgbClr val="62666B"/>
                </a:solidFill>
                <a:latin typeface="Arial"/>
                <a:ea typeface="Arial"/>
                <a:cs typeface="Arial"/>
              </a:defRPr>
            </a:lvl1pPr>
            <a:lvl2pPr algn="ctr">
              <a:defRPr sz="1425" b="0">
                <a:solidFill>
                  <a:srgbClr val="62666B"/>
                </a:solidFill>
                <a:latin typeface="Arial"/>
                <a:ea typeface="Arial"/>
                <a:cs typeface="Arial"/>
              </a:defRPr>
            </a:lvl2pPr>
            <a:lvl3pPr algn="ctr">
              <a:defRPr sz="1425" b="0">
                <a:solidFill>
                  <a:srgbClr val="62666B"/>
                </a:solidFill>
                <a:latin typeface="Arial"/>
                <a:ea typeface="Arial"/>
                <a:cs typeface="Arial"/>
              </a:defRPr>
            </a:lvl3pPr>
            <a:lvl4pPr algn="ctr">
              <a:defRPr sz="1425" b="0">
                <a:solidFill>
                  <a:srgbClr val="62666B"/>
                </a:solidFill>
                <a:latin typeface="Arial"/>
                <a:ea typeface="Arial"/>
                <a:cs typeface="Arial"/>
              </a:defRPr>
            </a:lvl4pPr>
            <a:lvl5pPr algn="ctr">
              <a:defRPr sz="1425" b="0">
                <a:solidFill>
                  <a:srgbClr val="62666B"/>
                </a:solidFill>
                <a:latin typeface="Arial"/>
                <a:ea typeface="Arial"/>
                <a:cs typeface="Arial"/>
              </a:defRPr>
            </a:lvl5pPr>
            <a:lvl6pPr algn="ctr">
              <a:defRPr sz="1425" b="0">
                <a:solidFill>
                  <a:srgbClr val="62666B"/>
                </a:solidFill>
                <a:latin typeface="Arial"/>
                <a:ea typeface="Arial"/>
                <a:cs typeface="Arial"/>
              </a:defRPr>
            </a:lvl6pPr>
            <a:lvl7pPr algn="ctr">
              <a:defRPr sz="1425" b="0">
                <a:solidFill>
                  <a:srgbClr val="62666B"/>
                </a:solidFill>
                <a:latin typeface="Arial"/>
                <a:ea typeface="Arial"/>
                <a:cs typeface="Arial"/>
              </a:defRPr>
            </a:lvl7pPr>
            <a:lvl8pPr algn="ctr">
              <a:defRPr sz="1425" b="0">
                <a:solidFill>
                  <a:srgbClr val="62666B"/>
                </a:solidFill>
                <a:latin typeface="Arial"/>
                <a:ea typeface="Arial"/>
                <a:cs typeface="Arial"/>
              </a:defRPr>
            </a:lvl8pPr>
            <a:lvl9pPr algn="ctr">
              <a:defRPr sz="1425" b="0">
                <a:solidFill>
                  <a:srgbClr val="62666B"/>
                </a:solidFill>
                <a:latin typeface="Arial"/>
                <a:ea typeface="Arial"/>
                <a:cs typeface="Arial"/>
              </a:defRPr>
            </a:lvl9pPr>
          </a:lstStyle>
          <a:p>
            <a:pPr algn="ctr">
              <a:defRPr sz="1425" b="0">
                <a:solidFill>
                  <a:srgbClr val="62666B"/>
                </a:solidFill>
                <a:latin typeface="Arial"/>
                <a:ea typeface="Arial"/>
                <a:cs typeface="Arial"/>
              </a:defRPr>
            </a:pPr>
            <a:r>
              <a:rPr sz="1425" b="0">
                <a:solidFill>
                  <a:srgbClr val="62666B"/>
                </a:solidFill>
                <a:latin typeface="Arial"/>
                <a:ea typeface="Arial"/>
                <a:cs typeface="Arial"/>
              </a:rPr>
              <a:t>What the material retains</a:t>
            </a:r>
          </a:p>
        </p:txBody>
      </p:sp>
      <p:sp>
        <p:nvSpPr>
          <p:cNvPr id="24" name="future-response">
            <a:extLst>
              <a:ext uri="{FF2B5EF4-FFF2-40B4-BE49-F238E27FC236}">
                <a16:creationId xmlns:a16="http://schemas.microsoft.com/office/drawing/2014/main" id="{E014ADDC-9B66-4005-9BEB-9C7C8D69AF68}"/>
              </a:ext>
            </a:extLst>
          </p:cNvPr>
          <p:cNvSpPr>
            <a:spLocks noGrp="1"/>
          </p:cNvSpPr>
          <p:nvPr/>
        </p:nvSpPr>
        <p:spPr>
          <a:xfrm>
            <a:off x="10953750" y="5267325"/>
            <a:ext cx="3333750" cy="419100"/>
          </a:xfrm>
          <a:prstGeom prst="rect">
            <a:avLst/>
          </a:prstGeom>
          <a:noFill/>
          <a:ln w="0">
            <a:noFill/>
          </a:ln>
        </p:spPr>
        <p:txBody>
          <a:bodyPr wrap="square" lIns="0" tIns="0" rIns="0" bIns="0" anchor="t">
            <a:noAutofit/>
          </a:bodyPr>
          <a:lstStyle>
            <a:defPPr algn="ctr">
              <a:defRPr sz="1875" b="0">
                <a:solidFill>
                  <a:srgbClr val="202124"/>
                </a:solidFill>
                <a:latin typeface="Arial"/>
                <a:ea typeface="Arial"/>
                <a:cs typeface="Arial"/>
              </a:defRPr>
            </a:defPPr>
            <a:lvl1pPr algn="ctr">
              <a:defRPr sz="1875" b="0">
                <a:solidFill>
                  <a:srgbClr val="202124"/>
                </a:solidFill>
                <a:latin typeface="Arial"/>
                <a:ea typeface="Arial"/>
                <a:cs typeface="Arial"/>
              </a:defRPr>
            </a:lvl1pPr>
            <a:lvl2pPr algn="ctr">
              <a:defRPr sz="1875" b="0">
                <a:solidFill>
                  <a:srgbClr val="202124"/>
                </a:solidFill>
                <a:latin typeface="Arial"/>
                <a:ea typeface="Arial"/>
                <a:cs typeface="Arial"/>
              </a:defRPr>
            </a:lvl2pPr>
            <a:lvl3pPr algn="ctr">
              <a:defRPr sz="1875" b="0">
                <a:solidFill>
                  <a:srgbClr val="202124"/>
                </a:solidFill>
                <a:latin typeface="Arial"/>
                <a:ea typeface="Arial"/>
                <a:cs typeface="Arial"/>
              </a:defRPr>
            </a:lvl3pPr>
            <a:lvl4pPr algn="ctr">
              <a:defRPr sz="1875" b="0">
                <a:solidFill>
                  <a:srgbClr val="202124"/>
                </a:solidFill>
                <a:latin typeface="Arial"/>
                <a:ea typeface="Arial"/>
                <a:cs typeface="Arial"/>
              </a:defRPr>
            </a:lvl4pPr>
            <a:lvl5pPr algn="ctr">
              <a:defRPr sz="1875" b="0">
                <a:solidFill>
                  <a:srgbClr val="202124"/>
                </a:solidFill>
                <a:latin typeface="Arial"/>
                <a:ea typeface="Arial"/>
                <a:cs typeface="Arial"/>
              </a:defRPr>
            </a:lvl5pPr>
            <a:lvl6pPr algn="ctr">
              <a:defRPr sz="1875" b="0">
                <a:solidFill>
                  <a:srgbClr val="202124"/>
                </a:solidFill>
                <a:latin typeface="Arial"/>
                <a:ea typeface="Arial"/>
                <a:cs typeface="Arial"/>
              </a:defRPr>
            </a:lvl6pPr>
            <a:lvl7pPr algn="ctr">
              <a:defRPr sz="1875" b="0">
                <a:solidFill>
                  <a:srgbClr val="202124"/>
                </a:solidFill>
                <a:latin typeface="Arial"/>
                <a:ea typeface="Arial"/>
                <a:cs typeface="Arial"/>
              </a:defRPr>
            </a:lvl7pPr>
            <a:lvl8pPr algn="ctr">
              <a:defRPr sz="1875" b="0">
                <a:solidFill>
                  <a:srgbClr val="202124"/>
                </a:solidFill>
                <a:latin typeface="Arial"/>
                <a:ea typeface="Arial"/>
                <a:cs typeface="Arial"/>
              </a:defRPr>
            </a:lvl8pPr>
            <a:lvl9pPr algn="ctr">
              <a:defRPr sz="1875" b="0">
                <a:solidFill>
                  <a:srgbClr val="202124"/>
                </a:solidFill>
                <a:latin typeface="Arial"/>
                <a:ea typeface="Arial"/>
                <a:cs typeface="Arial"/>
              </a:defRPr>
            </a:lvl9pPr>
          </a:lstStyle>
          <a:p>
            <a:pPr algn="ctr">
              <a:defRPr sz="1875" b="0">
                <a:solidFill>
                  <a:srgbClr val="202124"/>
                </a:solidFill>
                <a:latin typeface="Arial"/>
                <a:ea typeface="Arial"/>
                <a:cs typeface="Arial"/>
              </a:defRPr>
            </a:pPr>
            <a:r>
              <a:rPr sz="1875" b="0">
                <a:solidFill>
                  <a:srgbClr val="202124"/>
                </a:solidFill>
                <a:latin typeface="Arial"/>
                <a:ea typeface="Arial"/>
                <a:cs typeface="Arial"/>
              </a:rPr>
              <a:t>Future response</a:t>
            </a:r>
          </a:p>
        </p:txBody>
      </p:sp>
      <p:sp>
        <p:nvSpPr>
          <p:cNvPr id="25" name="response-detail">
            <a:extLst>
              <a:ext uri="{FF2B5EF4-FFF2-40B4-BE49-F238E27FC236}">
                <a16:creationId xmlns:a16="http://schemas.microsoft.com/office/drawing/2014/main" id="{BF8D3D07-8009-4445-89DB-DD32E7BDF8CE}"/>
              </a:ext>
            </a:extLst>
          </p:cNvPr>
          <p:cNvSpPr>
            <a:spLocks noGrp="1"/>
          </p:cNvSpPr>
          <p:nvPr/>
        </p:nvSpPr>
        <p:spPr>
          <a:xfrm>
            <a:off x="10953750" y="5781675"/>
            <a:ext cx="3333750" cy="514350"/>
          </a:xfrm>
          <a:prstGeom prst="rect">
            <a:avLst/>
          </a:prstGeom>
          <a:noFill/>
          <a:ln w="0">
            <a:noFill/>
          </a:ln>
        </p:spPr>
        <p:txBody>
          <a:bodyPr wrap="square" lIns="0" tIns="0" rIns="0" bIns="0" anchor="t">
            <a:noAutofit/>
          </a:bodyPr>
          <a:lstStyle>
            <a:defPPr algn="ctr">
              <a:defRPr sz="1425" b="0">
                <a:solidFill>
                  <a:srgbClr val="62666B"/>
                </a:solidFill>
                <a:latin typeface="Arial"/>
                <a:ea typeface="Arial"/>
                <a:cs typeface="Arial"/>
              </a:defRPr>
            </a:defPPr>
            <a:lvl1pPr algn="ctr">
              <a:defRPr sz="1425" b="0">
                <a:solidFill>
                  <a:srgbClr val="62666B"/>
                </a:solidFill>
                <a:latin typeface="Arial"/>
                <a:ea typeface="Arial"/>
                <a:cs typeface="Arial"/>
              </a:defRPr>
            </a:lvl1pPr>
            <a:lvl2pPr algn="ctr">
              <a:defRPr sz="1425" b="0">
                <a:solidFill>
                  <a:srgbClr val="62666B"/>
                </a:solidFill>
                <a:latin typeface="Arial"/>
                <a:ea typeface="Arial"/>
                <a:cs typeface="Arial"/>
              </a:defRPr>
            </a:lvl2pPr>
            <a:lvl3pPr algn="ctr">
              <a:defRPr sz="1425" b="0">
                <a:solidFill>
                  <a:srgbClr val="62666B"/>
                </a:solidFill>
                <a:latin typeface="Arial"/>
                <a:ea typeface="Arial"/>
                <a:cs typeface="Arial"/>
              </a:defRPr>
            </a:lvl3pPr>
            <a:lvl4pPr algn="ctr">
              <a:defRPr sz="1425" b="0">
                <a:solidFill>
                  <a:srgbClr val="62666B"/>
                </a:solidFill>
                <a:latin typeface="Arial"/>
                <a:ea typeface="Arial"/>
                <a:cs typeface="Arial"/>
              </a:defRPr>
            </a:lvl4pPr>
            <a:lvl5pPr algn="ctr">
              <a:defRPr sz="1425" b="0">
                <a:solidFill>
                  <a:srgbClr val="62666B"/>
                </a:solidFill>
                <a:latin typeface="Arial"/>
                <a:ea typeface="Arial"/>
                <a:cs typeface="Arial"/>
              </a:defRPr>
            </a:lvl5pPr>
            <a:lvl6pPr algn="ctr">
              <a:defRPr sz="1425" b="0">
                <a:solidFill>
                  <a:srgbClr val="62666B"/>
                </a:solidFill>
                <a:latin typeface="Arial"/>
                <a:ea typeface="Arial"/>
                <a:cs typeface="Arial"/>
              </a:defRPr>
            </a:lvl6pPr>
            <a:lvl7pPr algn="ctr">
              <a:defRPr sz="1425" b="0">
                <a:solidFill>
                  <a:srgbClr val="62666B"/>
                </a:solidFill>
                <a:latin typeface="Arial"/>
                <a:ea typeface="Arial"/>
                <a:cs typeface="Arial"/>
              </a:defRPr>
            </a:lvl7pPr>
            <a:lvl8pPr algn="ctr">
              <a:defRPr sz="1425" b="0">
                <a:solidFill>
                  <a:srgbClr val="62666B"/>
                </a:solidFill>
                <a:latin typeface="Arial"/>
                <a:ea typeface="Arial"/>
                <a:cs typeface="Arial"/>
              </a:defRPr>
            </a:lvl8pPr>
            <a:lvl9pPr algn="ctr">
              <a:defRPr sz="1425" b="0">
                <a:solidFill>
                  <a:srgbClr val="62666B"/>
                </a:solidFill>
                <a:latin typeface="Arial"/>
                <a:ea typeface="Arial"/>
                <a:cs typeface="Arial"/>
              </a:defRPr>
            </a:lvl9pPr>
          </a:lstStyle>
          <a:p>
            <a:pPr algn="ctr">
              <a:defRPr sz="1425" b="0">
                <a:solidFill>
                  <a:srgbClr val="62666B"/>
                </a:solidFill>
                <a:latin typeface="Arial"/>
                <a:ea typeface="Arial"/>
                <a:cs typeface="Arial"/>
              </a:defRPr>
            </a:pPr>
            <a:r>
              <a:rPr sz="1425" b="0">
                <a:solidFill>
                  <a:srgbClr val="62666B"/>
                </a:solidFill>
                <a:latin typeface="Arial"/>
                <a:ea typeface="Arial"/>
                <a:cs typeface="Arial"/>
              </a:rPr>
              <a:t>Force and motion after a new action</a:t>
            </a:r>
          </a:p>
        </p:txBody>
      </p:sp>
      <p:cxnSp>
        <p:nvCxnSpPr>
          <p:cNvPr id="26" name="ground-state">
            <a:extLst>
              <a:ext uri="{FF2B5EF4-FFF2-40B4-BE49-F238E27FC236}">
                <a16:creationId xmlns:a16="http://schemas.microsoft.com/office/drawing/2014/main" id="{8875D52B-A91B-460B-80F2-4267092BCA53}"/>
              </a:ext>
            </a:extLst>
          </p:cNvPr>
          <p:cNvCxnSpPr/>
          <p:nvPr/>
        </p:nvCxnSpPr>
        <p:spPr>
          <a:xfrm>
            <a:off x="4905375" y="5448300"/>
            <a:ext cx="1047750" cy="0"/>
          </a:xfrm>
          <a:prstGeom prst="straightConnector1">
            <a:avLst/>
          </a:prstGeom>
          <a:ln w="13335">
            <a:solidFill>
              <a:srgbClr val="202124"/>
            </a:solidFill>
            <a:tailEnd type="triangle" w="sm" len="sm"/>
          </a:ln>
        </p:spPr>
      </p:cxnSp>
      <p:cxnSp>
        <p:nvCxnSpPr>
          <p:cNvPr id="27" name="predict-response">
            <a:extLst>
              <a:ext uri="{FF2B5EF4-FFF2-40B4-BE49-F238E27FC236}">
                <a16:creationId xmlns:a16="http://schemas.microsoft.com/office/drawing/2014/main" id="{EE8B32F7-7FB6-4D14-AD22-969C3629CC81}"/>
              </a:ext>
            </a:extLst>
          </p:cNvPr>
          <p:cNvCxnSpPr/>
          <p:nvPr/>
        </p:nvCxnSpPr>
        <p:spPr>
          <a:xfrm>
            <a:off x="9286875" y="5448300"/>
            <a:ext cx="1428750" cy="0"/>
          </a:xfrm>
          <a:prstGeom prst="straightConnector1">
            <a:avLst/>
          </a:prstGeom>
          <a:ln w="13335">
            <a:solidFill>
              <a:srgbClr val="202124"/>
            </a:solidFill>
            <a:tailEnd type="triangle" w="sm" len="sm"/>
          </a:ln>
        </p:spPr>
      </p:cxnSp>
      <p:sp>
        <p:nvSpPr>
          <p:cNvPr id="28" name="prediction-conditions">
            <a:extLst>
              <a:ext uri="{FF2B5EF4-FFF2-40B4-BE49-F238E27FC236}">
                <a16:creationId xmlns:a16="http://schemas.microsoft.com/office/drawing/2014/main" id="{C97DA241-32EE-4FCA-960E-4E883B51E70E}"/>
              </a:ext>
            </a:extLst>
          </p:cNvPr>
          <p:cNvSpPr>
            <a:spLocks noGrp="1"/>
          </p:cNvSpPr>
          <p:nvPr/>
        </p:nvSpPr>
        <p:spPr>
          <a:xfrm>
            <a:off x="8810625" y="4743450"/>
            <a:ext cx="2381250" cy="552450"/>
          </a:xfrm>
          <a:prstGeom prst="rect">
            <a:avLst/>
          </a:prstGeom>
          <a:noFill/>
          <a:ln w="0">
            <a:noFill/>
          </a:ln>
        </p:spPr>
        <p:txBody>
          <a:bodyPr wrap="square" lIns="0" tIns="0" rIns="0" bIns="0" anchor="t">
            <a:noAutofit/>
          </a:bodyPr>
          <a:lstStyle>
            <a:defPPr algn="ctr">
              <a:defRPr sz="1350" b="0">
                <a:solidFill>
                  <a:srgbClr val="62666B"/>
                </a:solidFill>
                <a:latin typeface="Arial"/>
                <a:ea typeface="Arial"/>
                <a:cs typeface="Arial"/>
              </a:defRPr>
            </a:defPPr>
            <a:lvl1pPr algn="ctr">
              <a:defRPr sz="1350" b="0">
                <a:solidFill>
                  <a:srgbClr val="62666B"/>
                </a:solidFill>
                <a:latin typeface="Arial"/>
                <a:ea typeface="Arial"/>
                <a:cs typeface="Arial"/>
              </a:defRPr>
            </a:lvl1pPr>
            <a:lvl2pPr algn="ctr">
              <a:defRPr sz="1350" b="0">
                <a:solidFill>
                  <a:srgbClr val="62666B"/>
                </a:solidFill>
                <a:latin typeface="Arial"/>
                <a:ea typeface="Arial"/>
                <a:cs typeface="Arial"/>
              </a:defRPr>
            </a:lvl2pPr>
            <a:lvl3pPr algn="ctr">
              <a:defRPr sz="1350" b="0">
                <a:solidFill>
                  <a:srgbClr val="62666B"/>
                </a:solidFill>
                <a:latin typeface="Arial"/>
                <a:ea typeface="Arial"/>
                <a:cs typeface="Arial"/>
              </a:defRPr>
            </a:lvl3pPr>
            <a:lvl4pPr algn="ctr">
              <a:defRPr sz="1350" b="0">
                <a:solidFill>
                  <a:srgbClr val="62666B"/>
                </a:solidFill>
                <a:latin typeface="Arial"/>
                <a:ea typeface="Arial"/>
                <a:cs typeface="Arial"/>
              </a:defRPr>
            </a:lvl4pPr>
            <a:lvl5pPr algn="ctr">
              <a:defRPr sz="1350" b="0">
                <a:solidFill>
                  <a:srgbClr val="62666B"/>
                </a:solidFill>
                <a:latin typeface="Arial"/>
                <a:ea typeface="Arial"/>
                <a:cs typeface="Arial"/>
              </a:defRPr>
            </a:lvl5pPr>
            <a:lvl6pPr algn="ctr">
              <a:defRPr sz="1350" b="0">
                <a:solidFill>
                  <a:srgbClr val="62666B"/>
                </a:solidFill>
                <a:latin typeface="Arial"/>
                <a:ea typeface="Arial"/>
                <a:cs typeface="Arial"/>
              </a:defRPr>
            </a:lvl6pPr>
            <a:lvl7pPr algn="ctr">
              <a:defRPr sz="1350" b="0">
                <a:solidFill>
                  <a:srgbClr val="62666B"/>
                </a:solidFill>
                <a:latin typeface="Arial"/>
                <a:ea typeface="Arial"/>
                <a:cs typeface="Arial"/>
              </a:defRPr>
            </a:lvl7pPr>
            <a:lvl8pPr algn="ctr">
              <a:defRPr sz="1350" b="0">
                <a:solidFill>
                  <a:srgbClr val="62666B"/>
                </a:solidFill>
                <a:latin typeface="Arial"/>
                <a:ea typeface="Arial"/>
                <a:cs typeface="Arial"/>
              </a:defRPr>
            </a:lvl8pPr>
            <a:lvl9pPr algn="ctr">
              <a:defRPr sz="1350" b="0">
                <a:solidFill>
                  <a:srgbClr val="62666B"/>
                </a:solidFill>
                <a:latin typeface="Arial"/>
                <a:ea typeface="Arial"/>
                <a:cs typeface="Arial"/>
              </a:defRPr>
            </a:lvl9pPr>
          </a:lstStyle>
          <a:p>
            <a:pPr algn="ctr">
              <a:defRPr sz="1350" b="0">
                <a:solidFill>
                  <a:srgbClr val="62666B"/>
                </a:solidFill>
                <a:latin typeface="Arial"/>
                <a:ea typeface="Arial"/>
                <a:cs typeface="Arial"/>
              </a:defRPr>
            </a:pPr>
            <a:r>
              <a:rPr sz="1350" b="0">
                <a:solidFill>
                  <a:srgbClr val="62666B"/>
                </a:solidFill>
                <a:latin typeface="Arial"/>
                <a:ea typeface="Arial"/>
                <a:cs typeface="Arial"/>
              </a:rPr>
              <a:t>Material evolution</a:t>
            </a:r>
          </a:p>
          <a:p>
            <a:pPr algn="ctr">
              <a:defRPr sz="1350" b="0">
                <a:solidFill>
                  <a:srgbClr val="62666B"/>
                </a:solidFill>
                <a:latin typeface="Arial"/>
                <a:ea typeface="Arial"/>
                <a:cs typeface="Arial"/>
              </a:defRPr>
            </a:pPr>
            <a:r>
              <a:rPr sz="1350" b="0">
                <a:solidFill>
                  <a:srgbClr val="62666B"/>
                </a:solidFill>
                <a:latin typeface="Arial"/>
                <a:ea typeface="Arial"/>
                <a:cs typeface="Arial"/>
              </a:rPr>
              <a:t>+ future command / control</a:t>
            </a:r>
          </a:p>
        </p:txBody>
      </p:sp>
      <p:sp>
        <p:nvSpPr>
          <p:cNvPr id="29" name="testbed">
            <a:extLst>
              <a:ext uri="{FF2B5EF4-FFF2-40B4-BE49-F238E27FC236}">
                <a16:creationId xmlns:a16="http://schemas.microsoft.com/office/drawing/2014/main" id="{38A3E42D-C743-4A72-B970-DB0BBF568737}"/>
              </a:ext>
            </a:extLst>
          </p:cNvPr>
          <p:cNvSpPr>
            <a:spLocks noGrp="1"/>
          </p:cNvSpPr>
          <p:nvPr/>
        </p:nvSpPr>
        <p:spPr>
          <a:xfrm>
            <a:off x="914400" y="6648450"/>
            <a:ext cx="13411200" cy="304800"/>
          </a:xfrm>
          <a:prstGeom prst="rect">
            <a:avLst/>
          </a:prstGeom>
          <a:noFill/>
          <a:ln w="0">
            <a:noFill/>
          </a:ln>
        </p:spPr>
        <p:txBody>
          <a:bodyPr wrap="square" lIns="0" tIns="0" rIns="0" bIns="0" anchor="t">
            <a:noAutofit/>
          </a:bodyPr>
          <a:lstStyle>
            <a:defPPr algn="ctr">
              <a:defRPr sz="1425" b="0">
                <a:solidFill>
                  <a:srgbClr val="62666B"/>
                </a:solidFill>
                <a:latin typeface="Arial"/>
                <a:ea typeface="Arial"/>
                <a:cs typeface="Arial"/>
              </a:defRPr>
            </a:defPPr>
            <a:lvl1pPr algn="ctr">
              <a:defRPr sz="1425" b="0">
                <a:solidFill>
                  <a:srgbClr val="62666B"/>
                </a:solidFill>
                <a:latin typeface="Arial"/>
                <a:ea typeface="Arial"/>
                <a:cs typeface="Arial"/>
              </a:defRPr>
            </a:lvl1pPr>
            <a:lvl2pPr algn="ctr">
              <a:defRPr sz="1425" b="0">
                <a:solidFill>
                  <a:srgbClr val="62666B"/>
                </a:solidFill>
                <a:latin typeface="Arial"/>
                <a:ea typeface="Arial"/>
                <a:cs typeface="Arial"/>
              </a:defRPr>
            </a:lvl2pPr>
            <a:lvl3pPr algn="ctr">
              <a:defRPr sz="1425" b="0">
                <a:solidFill>
                  <a:srgbClr val="62666B"/>
                </a:solidFill>
                <a:latin typeface="Arial"/>
                <a:ea typeface="Arial"/>
                <a:cs typeface="Arial"/>
              </a:defRPr>
            </a:lvl3pPr>
            <a:lvl4pPr algn="ctr">
              <a:defRPr sz="1425" b="0">
                <a:solidFill>
                  <a:srgbClr val="62666B"/>
                </a:solidFill>
                <a:latin typeface="Arial"/>
                <a:ea typeface="Arial"/>
                <a:cs typeface="Arial"/>
              </a:defRPr>
            </a:lvl4pPr>
            <a:lvl5pPr algn="ctr">
              <a:defRPr sz="1425" b="0">
                <a:solidFill>
                  <a:srgbClr val="62666B"/>
                </a:solidFill>
                <a:latin typeface="Arial"/>
                <a:ea typeface="Arial"/>
                <a:cs typeface="Arial"/>
              </a:defRPr>
            </a:lvl5pPr>
            <a:lvl6pPr algn="ctr">
              <a:defRPr sz="1425" b="0">
                <a:solidFill>
                  <a:srgbClr val="62666B"/>
                </a:solidFill>
                <a:latin typeface="Arial"/>
                <a:ea typeface="Arial"/>
                <a:cs typeface="Arial"/>
              </a:defRPr>
            </a:lvl6pPr>
            <a:lvl7pPr algn="ctr">
              <a:defRPr sz="1425" b="0">
                <a:solidFill>
                  <a:srgbClr val="62666B"/>
                </a:solidFill>
                <a:latin typeface="Arial"/>
                <a:ea typeface="Arial"/>
                <a:cs typeface="Arial"/>
              </a:defRPr>
            </a:lvl7pPr>
            <a:lvl8pPr algn="ctr">
              <a:defRPr sz="1425" b="0">
                <a:solidFill>
                  <a:srgbClr val="62666B"/>
                </a:solidFill>
                <a:latin typeface="Arial"/>
                <a:ea typeface="Arial"/>
                <a:cs typeface="Arial"/>
              </a:defRPr>
            </a:lvl8pPr>
            <a:lvl9pPr algn="ctr">
              <a:defRPr sz="1425" b="0">
                <a:solidFill>
                  <a:srgbClr val="62666B"/>
                </a:solidFill>
                <a:latin typeface="Arial"/>
                <a:ea typeface="Arial"/>
                <a:cs typeface="Arial"/>
              </a:defRPr>
            </a:lvl9pPr>
          </a:lstStyle>
          <a:p>
            <a:pPr algn="ctr">
              <a:defRPr sz="1425" b="0">
                <a:solidFill>
                  <a:srgbClr val="62666B"/>
                </a:solidFill>
                <a:latin typeface="Arial"/>
                <a:ea typeface="Arial"/>
                <a:cs typeface="Arial"/>
              </a:defRPr>
            </a:pPr>
            <a:r>
              <a:rPr sz="1425" b="0">
                <a:solidFill>
                  <a:srgbClr val="62666B"/>
                </a:solidFill>
                <a:latin typeface="Arial"/>
                <a:ea typeface="Arial"/>
                <a:cs typeface="Arial"/>
              </a:rPr>
              <a:t>Planned testbed: a robot arm with force and motion sensing.</a:t>
            </a:r>
          </a:p>
        </p:txBody>
      </p:sp>
      <p:sp>
        <p:nvSpPr>
          <p:cNvPr id="30" name="parallel-lt">
            <a:extLst>
              <a:ext uri="{FF2B5EF4-FFF2-40B4-BE49-F238E27FC236}">
                <a16:creationId xmlns:a16="http://schemas.microsoft.com/office/drawing/2014/main" id="{C4DD15B8-27DD-44FF-940B-97C38EC87773}"/>
              </a:ext>
            </a:extLst>
          </p:cNvPr>
          <p:cNvSpPr>
            <a:spLocks noGrp="1"/>
          </p:cNvSpPr>
          <p:nvPr/>
        </p:nvSpPr>
        <p:spPr>
          <a:xfrm>
            <a:off x="914400" y="7181850"/>
            <a:ext cx="13411200" cy="304800"/>
          </a:xfrm>
          <a:prstGeom prst="rect">
            <a:avLst/>
          </a:prstGeom>
          <a:noFill/>
          <a:ln w="0">
            <a:noFill/>
          </a:ln>
        </p:spPr>
        <p:txBody>
          <a:bodyPr wrap="square" lIns="0" tIns="0" rIns="0" bIns="0" anchor="t">
            <a:noAutofit/>
          </a:bodyPr>
          <a:lstStyle>
            <a:defPPr algn="ctr">
              <a:defRPr sz="1350" b="0">
                <a:solidFill>
                  <a:srgbClr val="909090"/>
                </a:solidFill>
                <a:latin typeface="Arial"/>
                <a:ea typeface="Arial"/>
                <a:cs typeface="Arial"/>
              </a:defRPr>
            </a:defPPr>
            <a:lvl1pPr algn="ctr">
              <a:defRPr sz="1350" b="0">
                <a:solidFill>
                  <a:srgbClr val="909090"/>
                </a:solidFill>
                <a:latin typeface="Arial"/>
                <a:ea typeface="Arial"/>
                <a:cs typeface="Arial"/>
              </a:defRPr>
            </a:lvl1pPr>
            <a:lvl2pPr algn="ctr">
              <a:defRPr sz="1350" b="0">
                <a:solidFill>
                  <a:srgbClr val="909090"/>
                </a:solidFill>
                <a:latin typeface="Arial"/>
                <a:ea typeface="Arial"/>
                <a:cs typeface="Arial"/>
              </a:defRPr>
            </a:lvl2pPr>
            <a:lvl3pPr algn="ctr">
              <a:defRPr sz="1350" b="0">
                <a:solidFill>
                  <a:srgbClr val="909090"/>
                </a:solidFill>
                <a:latin typeface="Arial"/>
                <a:ea typeface="Arial"/>
                <a:cs typeface="Arial"/>
              </a:defRPr>
            </a:lvl3pPr>
            <a:lvl4pPr algn="ctr">
              <a:defRPr sz="1350" b="0">
                <a:solidFill>
                  <a:srgbClr val="909090"/>
                </a:solidFill>
                <a:latin typeface="Arial"/>
                <a:ea typeface="Arial"/>
                <a:cs typeface="Arial"/>
              </a:defRPr>
            </a:lvl4pPr>
            <a:lvl5pPr algn="ctr">
              <a:defRPr sz="1350" b="0">
                <a:solidFill>
                  <a:srgbClr val="909090"/>
                </a:solidFill>
                <a:latin typeface="Arial"/>
                <a:ea typeface="Arial"/>
                <a:cs typeface="Arial"/>
              </a:defRPr>
            </a:lvl5pPr>
            <a:lvl6pPr algn="ctr">
              <a:defRPr sz="1350" b="0">
                <a:solidFill>
                  <a:srgbClr val="909090"/>
                </a:solidFill>
                <a:latin typeface="Arial"/>
                <a:ea typeface="Arial"/>
                <a:cs typeface="Arial"/>
              </a:defRPr>
            </a:lvl6pPr>
            <a:lvl7pPr algn="ctr">
              <a:defRPr sz="1350" b="0">
                <a:solidFill>
                  <a:srgbClr val="909090"/>
                </a:solidFill>
                <a:latin typeface="Arial"/>
                <a:ea typeface="Arial"/>
                <a:cs typeface="Arial"/>
              </a:defRPr>
            </a:lvl7pPr>
            <a:lvl8pPr algn="ctr">
              <a:defRPr sz="1350" b="0">
                <a:solidFill>
                  <a:srgbClr val="909090"/>
                </a:solidFill>
                <a:latin typeface="Arial"/>
                <a:ea typeface="Arial"/>
                <a:cs typeface="Arial"/>
              </a:defRPr>
            </a:lvl8pPr>
            <a:lvl9pPr algn="ctr">
              <a:defRPr sz="1350" b="0">
                <a:solidFill>
                  <a:srgbClr val="909090"/>
                </a:solidFill>
                <a:latin typeface="Arial"/>
                <a:ea typeface="Arial"/>
                <a:cs typeface="Arial"/>
              </a:defRPr>
            </a:lvl9pPr>
          </a:lstStyle>
          <a:p>
            <a:pPr algn="ctr">
              <a:defRPr sz="1350" b="0">
                <a:solidFill>
                  <a:srgbClr val="909090"/>
                </a:solidFill>
                <a:latin typeface="Arial"/>
                <a:ea typeface="Arial"/>
                <a:cs typeface="Arial"/>
              </a:defRPr>
            </a:pPr>
            <a:r>
              <a:rPr sz="1350" b="0">
                <a:solidFill>
                  <a:srgbClr val="909090"/>
                </a:solidFill>
                <a:latin typeface="Arial"/>
                <a:ea typeface="Arial"/>
                <a:cs typeface="Arial"/>
              </a:rPr>
              <a:t>LT (parallel): relational programs, version-space inference and active evidence acquisition.</a:t>
            </a:r>
          </a:p>
        </p:txBody>
      </p:sp>
      <p:sp>
        <p:nvSpPr>
          <p:cNvPr id="31" name="transition">
            <a:extLst>
              <a:ext uri="{FF2B5EF4-FFF2-40B4-BE49-F238E27FC236}">
                <a16:creationId xmlns:a16="http://schemas.microsoft.com/office/drawing/2014/main" id="{78681CCC-78D6-4860-A826-F7391E277EB9}"/>
              </a:ext>
            </a:extLst>
          </p:cNvPr>
          <p:cNvSpPr>
            <a:spLocks noGrp="1"/>
          </p:cNvSpPr>
          <p:nvPr/>
        </p:nvSpPr>
        <p:spPr>
          <a:xfrm>
            <a:off x="914400" y="7791450"/>
            <a:ext cx="13411200" cy="400050"/>
          </a:xfrm>
          <a:prstGeom prst="rect">
            <a:avLst/>
          </a:prstGeom>
          <a:noFill/>
          <a:ln w="0">
            <a:noFill/>
          </a:ln>
        </p:spPr>
        <p:txBody>
          <a:bodyPr wrap="square" lIns="0" tIns="0" rIns="0" bIns="0" anchor="t">
            <a:noAutofit/>
          </a:bodyPr>
          <a:lstStyle>
            <a:defPPr algn="l">
              <a:defRPr sz="1800" b="0">
                <a:solidFill>
                  <a:srgbClr val="202124"/>
                </a:solidFill>
                <a:latin typeface="Arial"/>
                <a:ea typeface="Arial"/>
                <a:cs typeface="Arial"/>
              </a:defRPr>
            </a:defPPr>
            <a:lvl1pPr algn="l">
              <a:defRPr sz="1800" b="0">
                <a:solidFill>
                  <a:srgbClr val="202124"/>
                </a:solidFill>
                <a:latin typeface="Arial"/>
                <a:ea typeface="Arial"/>
                <a:cs typeface="Arial"/>
              </a:defRPr>
            </a:lvl1pPr>
            <a:lvl2pPr algn="l">
              <a:defRPr sz="1800" b="0">
                <a:solidFill>
                  <a:srgbClr val="202124"/>
                </a:solidFill>
                <a:latin typeface="Arial"/>
                <a:ea typeface="Arial"/>
                <a:cs typeface="Arial"/>
              </a:defRPr>
            </a:lvl2pPr>
            <a:lvl3pPr algn="l">
              <a:defRPr sz="1800" b="0">
                <a:solidFill>
                  <a:srgbClr val="202124"/>
                </a:solidFill>
                <a:latin typeface="Arial"/>
                <a:ea typeface="Arial"/>
                <a:cs typeface="Arial"/>
              </a:defRPr>
            </a:lvl3pPr>
            <a:lvl4pPr algn="l">
              <a:defRPr sz="1800" b="0">
                <a:solidFill>
                  <a:srgbClr val="202124"/>
                </a:solidFill>
                <a:latin typeface="Arial"/>
                <a:ea typeface="Arial"/>
                <a:cs typeface="Arial"/>
              </a:defRPr>
            </a:lvl4pPr>
            <a:lvl5pPr algn="l">
              <a:defRPr sz="1800" b="0">
                <a:solidFill>
                  <a:srgbClr val="202124"/>
                </a:solidFill>
                <a:latin typeface="Arial"/>
                <a:ea typeface="Arial"/>
                <a:cs typeface="Arial"/>
              </a:defRPr>
            </a:lvl5pPr>
            <a:lvl6pPr algn="l">
              <a:defRPr sz="1800" b="0">
                <a:solidFill>
                  <a:srgbClr val="202124"/>
                </a:solidFill>
                <a:latin typeface="Arial"/>
                <a:ea typeface="Arial"/>
                <a:cs typeface="Arial"/>
              </a:defRPr>
            </a:lvl6pPr>
            <a:lvl7pPr algn="l">
              <a:defRPr sz="1800" b="0">
                <a:solidFill>
                  <a:srgbClr val="202124"/>
                </a:solidFill>
                <a:latin typeface="Arial"/>
                <a:ea typeface="Arial"/>
                <a:cs typeface="Arial"/>
              </a:defRPr>
            </a:lvl7pPr>
            <a:lvl8pPr algn="l">
              <a:defRPr sz="1800" b="0">
                <a:solidFill>
                  <a:srgbClr val="202124"/>
                </a:solidFill>
                <a:latin typeface="Arial"/>
                <a:ea typeface="Arial"/>
                <a:cs typeface="Arial"/>
              </a:defRPr>
            </a:lvl8pPr>
            <a:lvl9pPr algn="l">
              <a:defRPr sz="1800" b="0">
                <a:solidFill>
                  <a:srgbClr val="202124"/>
                </a:solidFill>
                <a:latin typeface="Arial"/>
                <a:ea typeface="Arial"/>
                <a:cs typeface="Arial"/>
              </a:defRPr>
            </a:lvl9pPr>
          </a:lstStyle>
          <a:p>
            <a:pPr algn="l">
              <a:defRPr sz="1800" b="0">
                <a:solidFill>
                  <a:srgbClr val="202124"/>
                </a:solidFill>
                <a:latin typeface="Arial"/>
                <a:ea typeface="Arial"/>
                <a:cs typeface="Arial"/>
              </a:defRPr>
            </a:pPr>
            <a:r>
              <a:rPr sz="1800" b="0">
                <a:solidFill>
                  <a:srgbClr val="202124"/>
                </a:solidFill>
                <a:latin typeface="Arial"/>
                <a:ea typeface="Arial"/>
                <a:cs typeface="Arial"/>
              </a:rPr>
              <a:t>What should a robot retain from one interaction to predict the next?</a:t>
            </a:r>
          </a:p>
        </p:txBody>
      </p:sp>
      <p:sp>
        <p:nvSpPr>
          <p:cNvPr id="32" name="page">
            <a:extLst>
              <a:ext uri="{FF2B5EF4-FFF2-40B4-BE49-F238E27FC236}">
                <a16:creationId xmlns:a16="http://schemas.microsoft.com/office/drawing/2014/main" id="{3938714A-6450-4CC1-9B8C-E0A4446CBEDF}"/>
              </a:ext>
            </a:extLst>
          </p:cNvPr>
          <p:cNvSpPr>
            <a:spLocks noGrp="1"/>
          </p:cNvSpPr>
          <p:nvPr/>
        </p:nvSpPr>
        <p:spPr>
          <a:xfrm>
            <a:off x="13906500" y="8153400"/>
            <a:ext cx="419100" cy="238125"/>
          </a:xfrm>
          <a:prstGeom prst="rect">
            <a:avLst/>
          </a:prstGeom>
          <a:noFill/>
          <a:ln w="0">
            <a:noFill/>
          </a:ln>
        </p:spPr>
        <p:txBody>
          <a:bodyPr wrap="square" lIns="0" tIns="0" rIns="0" bIns="0" anchor="t">
            <a:noAutofit/>
          </a:bodyPr>
          <a:lstStyle>
            <a:defPPr algn="r">
              <a:defRPr sz="1050" b="0">
                <a:solidFill>
                  <a:srgbClr val="62666B"/>
                </a:solidFill>
                <a:latin typeface="Arial"/>
                <a:ea typeface="Arial"/>
                <a:cs typeface="Arial"/>
              </a:defRPr>
            </a:defPPr>
            <a:lvl1pPr algn="r">
              <a:defRPr sz="1050" b="0">
                <a:solidFill>
                  <a:srgbClr val="62666B"/>
                </a:solidFill>
                <a:latin typeface="Arial"/>
                <a:ea typeface="Arial"/>
                <a:cs typeface="Arial"/>
              </a:defRPr>
            </a:lvl1pPr>
            <a:lvl2pPr algn="r">
              <a:defRPr sz="1050" b="0">
                <a:solidFill>
                  <a:srgbClr val="62666B"/>
                </a:solidFill>
                <a:latin typeface="Arial"/>
                <a:ea typeface="Arial"/>
                <a:cs typeface="Arial"/>
              </a:defRPr>
            </a:lvl2pPr>
            <a:lvl3pPr algn="r">
              <a:defRPr sz="1050" b="0">
                <a:solidFill>
                  <a:srgbClr val="62666B"/>
                </a:solidFill>
                <a:latin typeface="Arial"/>
                <a:ea typeface="Arial"/>
                <a:cs typeface="Arial"/>
              </a:defRPr>
            </a:lvl3pPr>
            <a:lvl4pPr algn="r">
              <a:defRPr sz="1050" b="0">
                <a:solidFill>
                  <a:srgbClr val="62666B"/>
                </a:solidFill>
                <a:latin typeface="Arial"/>
                <a:ea typeface="Arial"/>
                <a:cs typeface="Arial"/>
              </a:defRPr>
            </a:lvl4pPr>
            <a:lvl5pPr algn="r">
              <a:defRPr sz="1050" b="0">
                <a:solidFill>
                  <a:srgbClr val="62666B"/>
                </a:solidFill>
                <a:latin typeface="Arial"/>
                <a:ea typeface="Arial"/>
                <a:cs typeface="Arial"/>
              </a:defRPr>
            </a:lvl5pPr>
            <a:lvl6pPr algn="r">
              <a:defRPr sz="1050" b="0">
                <a:solidFill>
                  <a:srgbClr val="62666B"/>
                </a:solidFill>
                <a:latin typeface="Arial"/>
                <a:ea typeface="Arial"/>
                <a:cs typeface="Arial"/>
              </a:defRPr>
            </a:lvl6pPr>
            <a:lvl7pPr algn="r">
              <a:defRPr sz="1050" b="0">
                <a:solidFill>
                  <a:srgbClr val="62666B"/>
                </a:solidFill>
                <a:latin typeface="Arial"/>
                <a:ea typeface="Arial"/>
                <a:cs typeface="Arial"/>
              </a:defRPr>
            </a:lvl7pPr>
            <a:lvl8pPr algn="r">
              <a:defRPr sz="1050" b="0">
                <a:solidFill>
                  <a:srgbClr val="62666B"/>
                </a:solidFill>
                <a:latin typeface="Arial"/>
                <a:ea typeface="Arial"/>
                <a:cs typeface="Arial"/>
              </a:defRPr>
            </a:lvl8pPr>
            <a:lvl9pPr algn="r">
              <a:defRPr sz="1050" b="0">
                <a:solidFill>
                  <a:srgbClr val="62666B"/>
                </a:solidFill>
                <a:latin typeface="Arial"/>
                <a:ea typeface="Arial"/>
                <a:cs typeface="Arial"/>
              </a:defRPr>
            </a:lvl9pPr>
          </a:lstStyle>
          <a:p>
            <a:pPr algn="r">
              <a:defRPr sz="1050" b="0">
                <a:solidFill>
                  <a:srgbClr val="62666B"/>
                </a:solidFill>
                <a:latin typeface="Arial"/>
                <a:ea typeface="Arial"/>
                <a:cs typeface="Arial"/>
              </a:defRPr>
            </a:pPr>
            <a:r>
              <a:rPr lang="en-US" altLang="zh-CN" sz="1050" b="0">
                <a:solidFill>
                  <a:srgbClr val="62666B"/>
                </a:solidFill>
                <a:latin typeface="Arial"/>
                <a:ea typeface="Arial"/>
                <a:cs typeface="Arial"/>
              </a:rPr>
              <a:t>01</a:t>
            </a:r>
            <a:endParaRPr sz="1050" b="0">
              <a:solidFill>
                <a:srgbClr val="62666B"/>
              </a:solidFill>
              <a:latin typeface="Arial"/>
              <a:ea typeface="Arial"/>
              <a:cs typeface="Arial"/>
            </a:endParaRPr>
          </a:p>
        </p:txBody>
      </p:sp>
      <p:sp>
        <p:nvSpPr>
          <p:cNvPr id="34" name="source-index">
            <a:extLst>
              <a:ext uri="{FF2B5EF4-FFF2-40B4-BE49-F238E27FC236}">
                <a16:creationId xmlns:a16="http://schemas.microsoft.com/office/drawing/2014/main" id="{71218E45-B56C-45BD-B378-EB75538E51DF}"/>
              </a:ext>
            </a:extLst>
          </p:cNvPr>
          <p:cNvSpPr>
            <a:spLocks noGrp="1"/>
          </p:cNvSpPr>
          <p:nvPr/>
        </p:nvSpPr>
        <p:spPr>
          <a:xfrm>
            <a:off x="914400" y="8172450"/>
            <a:ext cx="12573000" cy="209550"/>
          </a:xfrm>
          <a:prstGeom prst="rect">
            <a:avLst/>
          </a:prstGeom>
          <a:noFill/>
          <a:ln w="0">
            <a:noFill/>
          </a:ln>
        </p:spPr>
        <p:txBody>
          <a:bodyPr wrap="square" lIns="0" tIns="0" rIns="0" bIns="0" anchor="t">
            <a:noAutofit/>
          </a:bodyPr>
          <a:lstStyle>
            <a:defPPr algn="l">
              <a:defRPr sz="1050" b="0">
                <a:solidFill>
                  <a:srgbClr val="62666B"/>
                </a:solidFill>
                <a:latin typeface="Arial"/>
                <a:ea typeface="Arial"/>
                <a:cs typeface="Arial"/>
              </a:defRPr>
            </a:defPPr>
            <a:lvl1pPr algn="l">
              <a:defRPr sz="1050" b="0">
                <a:solidFill>
                  <a:srgbClr val="62666B"/>
                </a:solidFill>
                <a:latin typeface="Arial"/>
                <a:ea typeface="Arial"/>
                <a:cs typeface="Arial"/>
              </a:defRPr>
            </a:lvl1pPr>
            <a:lvl2pPr algn="l">
              <a:defRPr sz="1050" b="0">
                <a:solidFill>
                  <a:srgbClr val="62666B"/>
                </a:solidFill>
                <a:latin typeface="Arial"/>
                <a:ea typeface="Arial"/>
                <a:cs typeface="Arial"/>
              </a:defRPr>
            </a:lvl2pPr>
            <a:lvl3pPr algn="l">
              <a:defRPr sz="1050" b="0">
                <a:solidFill>
                  <a:srgbClr val="62666B"/>
                </a:solidFill>
                <a:latin typeface="Arial"/>
                <a:ea typeface="Arial"/>
                <a:cs typeface="Arial"/>
              </a:defRPr>
            </a:lvl3pPr>
            <a:lvl4pPr algn="l">
              <a:defRPr sz="1050" b="0">
                <a:solidFill>
                  <a:srgbClr val="62666B"/>
                </a:solidFill>
                <a:latin typeface="Arial"/>
                <a:ea typeface="Arial"/>
                <a:cs typeface="Arial"/>
              </a:defRPr>
            </a:lvl4pPr>
            <a:lvl5pPr algn="l">
              <a:defRPr sz="1050" b="0">
                <a:solidFill>
                  <a:srgbClr val="62666B"/>
                </a:solidFill>
                <a:latin typeface="Arial"/>
                <a:ea typeface="Arial"/>
                <a:cs typeface="Arial"/>
              </a:defRPr>
            </a:lvl5pPr>
            <a:lvl6pPr algn="l">
              <a:defRPr sz="1050" b="0">
                <a:solidFill>
                  <a:srgbClr val="62666B"/>
                </a:solidFill>
                <a:latin typeface="Arial"/>
                <a:ea typeface="Arial"/>
                <a:cs typeface="Arial"/>
              </a:defRPr>
            </a:lvl6pPr>
            <a:lvl7pPr algn="l">
              <a:defRPr sz="1050" b="0">
                <a:solidFill>
                  <a:srgbClr val="62666B"/>
                </a:solidFill>
                <a:latin typeface="Arial"/>
                <a:ea typeface="Arial"/>
                <a:cs typeface="Arial"/>
              </a:defRPr>
            </a:lvl7pPr>
            <a:lvl8pPr algn="l">
              <a:defRPr sz="1050" b="0">
                <a:solidFill>
                  <a:srgbClr val="62666B"/>
                </a:solidFill>
                <a:latin typeface="Arial"/>
                <a:ea typeface="Arial"/>
                <a:cs typeface="Arial"/>
              </a:defRPr>
            </a:lvl8pPr>
            <a:lvl9pPr algn="l">
              <a:defRPr sz="1050" b="0">
                <a:solidFill>
                  <a:srgbClr val="62666B"/>
                </a:solidFill>
                <a:latin typeface="Arial"/>
                <a:ea typeface="Arial"/>
                <a:cs typeface="Arial"/>
              </a:defRPr>
            </a:lvl9pPr>
          </a:lstStyle>
          <a:p>
            <a:pPr algn="l">
              <a:defRPr sz="1050" b="0">
                <a:solidFill>
                  <a:srgbClr val="62666B"/>
                </a:solidFill>
                <a:latin typeface="Arial"/>
                <a:ea typeface="Arial"/>
                <a:cs typeface="Arial"/>
              </a:defRPr>
            </a:pPr>
            <a:r>
              <a:rPr sz="1050" b="0">
                <a:solidFill>
                  <a:srgbClr val="62666B"/>
                </a:solidFill>
                <a:latin typeface="Arial"/>
                <a:ea typeface="Arial"/>
                <a:cs typeface="Arial"/>
              </a:rPr>
              <a:t>[1]</a:t>
            </a:r>
          </a:p>
        </p:txBody>
      </p:sp>
    </p:spTree>
    <p:extLst>
      <p:ext uri="{BB962C8B-B14F-4D97-AF65-F5344CB8AC3E}">
        <p14:creationId xmlns:p14="http://schemas.microsoft.com/office/powerpoint/2010/main" val="1870137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6622F1A2-5BEF-46A6-BED6-1CEC603FA43C}"/>
              </a:ext>
            </a:extLst>
          </p:cNvPr>
          <p:cNvSpPr>
            <a:spLocks noGrp="1"/>
          </p:cNvSpPr>
          <p:nvPr/>
        </p:nvSpPr>
        <p:spPr>
          <a:xfrm>
            <a:off x="914400" y="552450"/>
            <a:ext cx="13411200" cy="533400"/>
          </a:xfrm>
          <a:prstGeom prst="rect">
            <a:avLst/>
          </a:prstGeom>
          <a:noFill/>
          <a:ln w="0">
            <a:noFill/>
          </a:ln>
        </p:spPr>
        <p:txBody>
          <a:bodyPr wrap="square" lIns="0" tIns="0" rIns="0" bIns="0" anchor="t">
            <a:noAutofit/>
          </a:bodyPr>
          <a:lstStyle>
            <a:defPPr algn="l">
              <a:defRPr sz="2400" b="1">
                <a:solidFill>
                  <a:srgbClr val="202124"/>
                </a:solidFill>
                <a:latin typeface="Arial"/>
                <a:ea typeface="Arial"/>
                <a:cs typeface="Arial"/>
              </a:defRPr>
            </a:defPPr>
            <a:lvl1pPr algn="l">
              <a:defRPr sz="2400" b="1">
                <a:solidFill>
                  <a:srgbClr val="202124"/>
                </a:solidFill>
                <a:latin typeface="Arial"/>
                <a:ea typeface="Arial"/>
                <a:cs typeface="Arial"/>
              </a:defRPr>
            </a:lvl1pPr>
            <a:lvl2pPr algn="l">
              <a:defRPr sz="2400" b="1">
                <a:solidFill>
                  <a:srgbClr val="202124"/>
                </a:solidFill>
                <a:latin typeface="Arial"/>
                <a:ea typeface="Arial"/>
                <a:cs typeface="Arial"/>
              </a:defRPr>
            </a:lvl2pPr>
            <a:lvl3pPr algn="l">
              <a:defRPr sz="2400" b="1">
                <a:solidFill>
                  <a:srgbClr val="202124"/>
                </a:solidFill>
                <a:latin typeface="Arial"/>
                <a:ea typeface="Arial"/>
                <a:cs typeface="Arial"/>
              </a:defRPr>
            </a:lvl3pPr>
            <a:lvl4pPr algn="l">
              <a:defRPr sz="2400" b="1">
                <a:solidFill>
                  <a:srgbClr val="202124"/>
                </a:solidFill>
                <a:latin typeface="Arial"/>
                <a:ea typeface="Arial"/>
                <a:cs typeface="Arial"/>
              </a:defRPr>
            </a:lvl4pPr>
            <a:lvl5pPr algn="l">
              <a:defRPr sz="2400" b="1">
                <a:solidFill>
                  <a:srgbClr val="202124"/>
                </a:solidFill>
                <a:latin typeface="Arial"/>
                <a:ea typeface="Arial"/>
                <a:cs typeface="Arial"/>
              </a:defRPr>
            </a:lvl5pPr>
            <a:lvl6pPr algn="l">
              <a:defRPr sz="2400" b="1">
                <a:solidFill>
                  <a:srgbClr val="202124"/>
                </a:solidFill>
                <a:latin typeface="Arial"/>
                <a:ea typeface="Arial"/>
                <a:cs typeface="Arial"/>
              </a:defRPr>
            </a:lvl6pPr>
            <a:lvl7pPr algn="l">
              <a:defRPr sz="2400" b="1">
                <a:solidFill>
                  <a:srgbClr val="202124"/>
                </a:solidFill>
                <a:latin typeface="Arial"/>
                <a:ea typeface="Arial"/>
                <a:cs typeface="Arial"/>
              </a:defRPr>
            </a:lvl7pPr>
            <a:lvl8pPr algn="l">
              <a:defRPr sz="2400" b="1">
                <a:solidFill>
                  <a:srgbClr val="202124"/>
                </a:solidFill>
                <a:latin typeface="Arial"/>
                <a:ea typeface="Arial"/>
                <a:cs typeface="Arial"/>
              </a:defRPr>
            </a:lvl8pPr>
            <a:lvl9pPr algn="l">
              <a:defRPr sz="2400" b="1">
                <a:solidFill>
                  <a:srgbClr val="202124"/>
                </a:solidFill>
                <a:latin typeface="Arial"/>
                <a:ea typeface="Arial"/>
                <a:cs typeface="Arial"/>
              </a:defRPr>
            </a:lvl9pPr>
          </a:lstStyle>
          <a:p>
            <a:pPr algn="l">
              <a:defRPr sz="2400" b="1">
                <a:solidFill>
                  <a:srgbClr val="202124"/>
                </a:solidFill>
                <a:latin typeface="Arial"/>
                <a:ea typeface="Arial"/>
                <a:cs typeface="Arial"/>
              </a:defRPr>
            </a:pPr>
            <a:r>
              <a:rPr sz="2400" b="1">
                <a:solidFill>
                  <a:srgbClr val="202124"/>
                </a:solidFill>
                <a:latin typeface="Arial"/>
                <a:ea typeface="Arial"/>
                <a:cs typeface="Arial"/>
              </a:rPr>
              <a:t>Policy reuse and the current research question</a:t>
            </a:r>
          </a:p>
        </p:txBody>
      </p:sp>
      <p:sp>
        <p:nvSpPr>
          <p:cNvPr id="2" name="original-label">
            <a:extLst>
              <a:ext uri="{FF2B5EF4-FFF2-40B4-BE49-F238E27FC236}">
                <a16:creationId xmlns:a16="http://schemas.microsoft.com/office/drawing/2014/main" id="{A7F84D2A-9792-4877-AE30-B42C6FC0017B}"/>
              </a:ext>
            </a:extLst>
          </p:cNvPr>
          <p:cNvSpPr>
            <a:spLocks noGrp="1"/>
          </p:cNvSpPr>
          <p:nvPr/>
        </p:nvSpPr>
        <p:spPr>
          <a:xfrm>
            <a:off x="914400" y="1943100"/>
            <a:ext cx="13411200" cy="400050"/>
          </a:xfrm>
          <a:prstGeom prst="rect">
            <a:avLst/>
          </a:prstGeom>
          <a:noFill/>
          <a:ln w="0">
            <a:noFill/>
          </a:ln>
        </p:spPr>
        <p:txBody>
          <a:bodyPr wrap="square" lIns="0" tIns="0" rIns="0" bIns="0" anchor="t">
            <a:noAutofit/>
          </a:bodyPr>
          <a:lstStyle>
            <a:defPPr algn="l">
              <a:defRPr sz="1875" b="1">
                <a:solidFill>
                  <a:srgbClr val="202124"/>
                </a:solidFill>
                <a:latin typeface="Arial"/>
                <a:ea typeface="Arial"/>
                <a:cs typeface="Arial"/>
              </a:defRPr>
            </a:defPPr>
            <a:lvl1pPr algn="l">
              <a:defRPr sz="1875" b="1">
                <a:solidFill>
                  <a:srgbClr val="202124"/>
                </a:solidFill>
                <a:latin typeface="Arial"/>
                <a:ea typeface="Arial"/>
                <a:cs typeface="Arial"/>
              </a:defRPr>
            </a:lvl1pPr>
            <a:lvl2pPr algn="l">
              <a:defRPr sz="1875" b="1">
                <a:solidFill>
                  <a:srgbClr val="202124"/>
                </a:solidFill>
                <a:latin typeface="Arial"/>
                <a:ea typeface="Arial"/>
                <a:cs typeface="Arial"/>
              </a:defRPr>
            </a:lvl2pPr>
            <a:lvl3pPr algn="l">
              <a:defRPr sz="1875" b="1">
                <a:solidFill>
                  <a:srgbClr val="202124"/>
                </a:solidFill>
                <a:latin typeface="Arial"/>
                <a:ea typeface="Arial"/>
                <a:cs typeface="Arial"/>
              </a:defRPr>
            </a:lvl3pPr>
            <a:lvl4pPr algn="l">
              <a:defRPr sz="1875" b="1">
                <a:solidFill>
                  <a:srgbClr val="202124"/>
                </a:solidFill>
                <a:latin typeface="Arial"/>
                <a:ea typeface="Arial"/>
                <a:cs typeface="Arial"/>
              </a:defRPr>
            </a:lvl4pPr>
            <a:lvl5pPr algn="l">
              <a:defRPr sz="1875" b="1">
                <a:solidFill>
                  <a:srgbClr val="202124"/>
                </a:solidFill>
                <a:latin typeface="Arial"/>
                <a:ea typeface="Arial"/>
                <a:cs typeface="Arial"/>
              </a:defRPr>
            </a:lvl5pPr>
            <a:lvl6pPr algn="l">
              <a:defRPr sz="1875" b="1">
                <a:solidFill>
                  <a:srgbClr val="202124"/>
                </a:solidFill>
                <a:latin typeface="Arial"/>
                <a:ea typeface="Arial"/>
                <a:cs typeface="Arial"/>
              </a:defRPr>
            </a:lvl6pPr>
            <a:lvl7pPr algn="l">
              <a:defRPr sz="1875" b="1">
                <a:solidFill>
                  <a:srgbClr val="202124"/>
                </a:solidFill>
                <a:latin typeface="Arial"/>
                <a:ea typeface="Arial"/>
                <a:cs typeface="Arial"/>
              </a:defRPr>
            </a:lvl7pPr>
            <a:lvl8pPr algn="l">
              <a:defRPr sz="1875" b="1">
                <a:solidFill>
                  <a:srgbClr val="202124"/>
                </a:solidFill>
                <a:latin typeface="Arial"/>
                <a:ea typeface="Arial"/>
                <a:cs typeface="Arial"/>
              </a:defRPr>
            </a:lvl8pPr>
            <a:lvl9pPr algn="l">
              <a:defRPr sz="1875" b="1">
                <a:solidFill>
                  <a:srgbClr val="202124"/>
                </a:solidFill>
                <a:latin typeface="Arial"/>
                <a:ea typeface="Arial"/>
                <a:cs typeface="Arial"/>
              </a:defRPr>
            </a:lvl9pPr>
          </a:lstStyle>
          <a:p>
            <a:pPr algn="l">
              <a:defRPr sz="1875" b="1">
                <a:solidFill>
                  <a:srgbClr val="202124"/>
                </a:solidFill>
                <a:latin typeface="Arial"/>
                <a:ea typeface="Arial"/>
                <a:cs typeface="Arial"/>
              </a:defRPr>
            </a:pPr>
            <a:r>
              <a:rPr sz="1875" b="1">
                <a:solidFill>
                  <a:srgbClr val="202124"/>
                </a:solidFill>
                <a:latin typeface="Arial"/>
                <a:ea typeface="Arial"/>
                <a:cs typeface="Arial"/>
              </a:rPr>
              <a:t>Original goal: policy reuse</a:t>
            </a:r>
          </a:p>
        </p:txBody>
      </p:sp>
      <p:sp>
        <p:nvSpPr>
          <p:cNvPr id="3" name="original-question">
            <a:extLst>
              <a:ext uri="{FF2B5EF4-FFF2-40B4-BE49-F238E27FC236}">
                <a16:creationId xmlns:a16="http://schemas.microsoft.com/office/drawing/2014/main" id="{EC6767F1-7F43-43FD-91A3-0674C874B6A0}"/>
              </a:ext>
            </a:extLst>
          </p:cNvPr>
          <p:cNvSpPr>
            <a:spLocks noGrp="1"/>
          </p:cNvSpPr>
          <p:nvPr/>
        </p:nvSpPr>
        <p:spPr>
          <a:xfrm>
            <a:off x="914400" y="2533650"/>
            <a:ext cx="13411200" cy="1066800"/>
          </a:xfrm>
          <a:prstGeom prst="rect">
            <a:avLst/>
          </a:prstGeom>
          <a:noFill/>
          <a:ln w="0">
            <a:noFill/>
          </a:ln>
        </p:spPr>
        <p:txBody>
          <a:bodyPr wrap="square" lIns="0" tIns="0" rIns="0" bIns="0" anchor="t">
            <a:noAutofit/>
          </a:bodyPr>
          <a:lstStyle>
            <a:defPPr algn="l">
              <a:defRPr sz="2400" b="0">
                <a:solidFill>
                  <a:srgbClr val="202124"/>
                </a:solidFill>
                <a:latin typeface="Arial"/>
                <a:ea typeface="Arial"/>
                <a:cs typeface="Arial"/>
              </a:defRPr>
            </a:defPPr>
            <a:lvl1pPr algn="l">
              <a:defRPr sz="2400" b="0">
                <a:solidFill>
                  <a:srgbClr val="202124"/>
                </a:solidFill>
                <a:latin typeface="Arial"/>
                <a:ea typeface="Arial"/>
                <a:cs typeface="Arial"/>
              </a:defRPr>
            </a:lvl1pPr>
            <a:lvl2pPr algn="l">
              <a:defRPr sz="2400" b="0">
                <a:solidFill>
                  <a:srgbClr val="202124"/>
                </a:solidFill>
                <a:latin typeface="Arial"/>
                <a:ea typeface="Arial"/>
                <a:cs typeface="Arial"/>
              </a:defRPr>
            </a:lvl2pPr>
            <a:lvl3pPr algn="l">
              <a:defRPr sz="2400" b="0">
                <a:solidFill>
                  <a:srgbClr val="202124"/>
                </a:solidFill>
                <a:latin typeface="Arial"/>
                <a:ea typeface="Arial"/>
                <a:cs typeface="Arial"/>
              </a:defRPr>
            </a:lvl3pPr>
            <a:lvl4pPr algn="l">
              <a:defRPr sz="2400" b="0">
                <a:solidFill>
                  <a:srgbClr val="202124"/>
                </a:solidFill>
                <a:latin typeface="Arial"/>
                <a:ea typeface="Arial"/>
                <a:cs typeface="Arial"/>
              </a:defRPr>
            </a:lvl4pPr>
            <a:lvl5pPr algn="l">
              <a:defRPr sz="2400" b="0">
                <a:solidFill>
                  <a:srgbClr val="202124"/>
                </a:solidFill>
                <a:latin typeface="Arial"/>
                <a:ea typeface="Arial"/>
                <a:cs typeface="Arial"/>
              </a:defRPr>
            </a:lvl5pPr>
            <a:lvl6pPr algn="l">
              <a:defRPr sz="2400" b="0">
                <a:solidFill>
                  <a:srgbClr val="202124"/>
                </a:solidFill>
                <a:latin typeface="Arial"/>
                <a:ea typeface="Arial"/>
                <a:cs typeface="Arial"/>
              </a:defRPr>
            </a:lvl6pPr>
            <a:lvl7pPr algn="l">
              <a:defRPr sz="2400" b="0">
                <a:solidFill>
                  <a:srgbClr val="202124"/>
                </a:solidFill>
                <a:latin typeface="Arial"/>
                <a:ea typeface="Arial"/>
                <a:cs typeface="Arial"/>
              </a:defRPr>
            </a:lvl7pPr>
            <a:lvl8pPr algn="l">
              <a:defRPr sz="2400" b="0">
                <a:solidFill>
                  <a:srgbClr val="202124"/>
                </a:solidFill>
                <a:latin typeface="Arial"/>
                <a:ea typeface="Arial"/>
                <a:cs typeface="Arial"/>
              </a:defRPr>
            </a:lvl8pPr>
            <a:lvl9pPr algn="l">
              <a:defRPr sz="2400" b="0">
                <a:solidFill>
                  <a:srgbClr val="202124"/>
                </a:solidFill>
                <a:latin typeface="Arial"/>
                <a:ea typeface="Arial"/>
                <a:cs typeface="Arial"/>
              </a:defRPr>
            </a:lvl9pPr>
          </a:lstStyle>
          <a:p>
            <a:pPr algn="l">
              <a:defRPr sz="2400" b="0">
                <a:solidFill>
                  <a:srgbClr val="202124"/>
                </a:solidFill>
                <a:latin typeface="Arial"/>
                <a:ea typeface="Arial"/>
                <a:cs typeface="Arial"/>
              </a:defRPr>
            </a:pPr>
            <a:r>
              <a:rPr sz="2400" b="0">
                <a:solidFill>
                  <a:srgbClr val="202124"/>
                </a:solidFill>
                <a:latin typeface="Arial"/>
                <a:ea typeface="Arial"/>
                <a:cs typeface="Arial"/>
              </a:rPr>
              <a:t>Can a previously learned pressing policy</a:t>
            </a:r>
          </a:p>
          <a:p>
            <a:pPr algn="l">
              <a:defRPr sz="2400" b="0">
                <a:solidFill>
                  <a:srgbClr val="202124"/>
                </a:solidFill>
                <a:latin typeface="Arial"/>
                <a:ea typeface="Arial"/>
                <a:cs typeface="Arial"/>
              </a:defRPr>
            </a:pPr>
            <a:r>
              <a:rPr sz="2400" b="0">
                <a:solidFill>
                  <a:srgbClr val="202124"/>
                </a:solidFill>
                <a:latin typeface="Arial"/>
                <a:ea typeface="Arial"/>
                <a:cs typeface="Arial"/>
              </a:rPr>
              <a:t>still work when the conditions change?</a:t>
            </a:r>
          </a:p>
        </p:txBody>
      </p:sp>
      <p:sp>
        <p:nvSpPr>
          <p:cNvPr id="4" name="current-label">
            <a:extLst>
              <a:ext uri="{FF2B5EF4-FFF2-40B4-BE49-F238E27FC236}">
                <a16:creationId xmlns:a16="http://schemas.microsoft.com/office/drawing/2014/main" id="{EB88B8B9-5734-4999-8F37-2892E2EE2B1B}"/>
              </a:ext>
            </a:extLst>
          </p:cNvPr>
          <p:cNvSpPr>
            <a:spLocks noGrp="1"/>
          </p:cNvSpPr>
          <p:nvPr/>
        </p:nvSpPr>
        <p:spPr>
          <a:xfrm>
            <a:off x="914400" y="4429125"/>
            <a:ext cx="13411200" cy="400050"/>
          </a:xfrm>
          <a:prstGeom prst="rect">
            <a:avLst/>
          </a:prstGeom>
          <a:noFill/>
          <a:ln w="0">
            <a:noFill/>
          </a:ln>
        </p:spPr>
        <p:txBody>
          <a:bodyPr wrap="square" lIns="0" tIns="0" rIns="0" bIns="0" anchor="t">
            <a:noAutofit/>
          </a:bodyPr>
          <a:lstStyle>
            <a:defPPr algn="l">
              <a:defRPr sz="1875" b="1">
                <a:solidFill>
                  <a:srgbClr val="202124"/>
                </a:solidFill>
                <a:latin typeface="Arial"/>
                <a:ea typeface="Arial"/>
                <a:cs typeface="Arial"/>
              </a:defRPr>
            </a:defPPr>
            <a:lvl1pPr algn="l">
              <a:defRPr sz="1875" b="1">
                <a:solidFill>
                  <a:srgbClr val="202124"/>
                </a:solidFill>
                <a:latin typeface="Arial"/>
                <a:ea typeface="Arial"/>
                <a:cs typeface="Arial"/>
              </a:defRPr>
            </a:lvl1pPr>
            <a:lvl2pPr algn="l">
              <a:defRPr sz="1875" b="1">
                <a:solidFill>
                  <a:srgbClr val="202124"/>
                </a:solidFill>
                <a:latin typeface="Arial"/>
                <a:ea typeface="Arial"/>
                <a:cs typeface="Arial"/>
              </a:defRPr>
            </a:lvl2pPr>
            <a:lvl3pPr algn="l">
              <a:defRPr sz="1875" b="1">
                <a:solidFill>
                  <a:srgbClr val="202124"/>
                </a:solidFill>
                <a:latin typeface="Arial"/>
                <a:ea typeface="Arial"/>
                <a:cs typeface="Arial"/>
              </a:defRPr>
            </a:lvl3pPr>
            <a:lvl4pPr algn="l">
              <a:defRPr sz="1875" b="1">
                <a:solidFill>
                  <a:srgbClr val="202124"/>
                </a:solidFill>
                <a:latin typeface="Arial"/>
                <a:ea typeface="Arial"/>
                <a:cs typeface="Arial"/>
              </a:defRPr>
            </a:lvl4pPr>
            <a:lvl5pPr algn="l">
              <a:defRPr sz="1875" b="1">
                <a:solidFill>
                  <a:srgbClr val="202124"/>
                </a:solidFill>
                <a:latin typeface="Arial"/>
                <a:ea typeface="Arial"/>
                <a:cs typeface="Arial"/>
              </a:defRPr>
            </a:lvl5pPr>
            <a:lvl6pPr algn="l">
              <a:defRPr sz="1875" b="1">
                <a:solidFill>
                  <a:srgbClr val="202124"/>
                </a:solidFill>
                <a:latin typeface="Arial"/>
                <a:ea typeface="Arial"/>
                <a:cs typeface="Arial"/>
              </a:defRPr>
            </a:lvl6pPr>
            <a:lvl7pPr algn="l">
              <a:defRPr sz="1875" b="1">
                <a:solidFill>
                  <a:srgbClr val="202124"/>
                </a:solidFill>
                <a:latin typeface="Arial"/>
                <a:ea typeface="Arial"/>
                <a:cs typeface="Arial"/>
              </a:defRPr>
            </a:lvl7pPr>
            <a:lvl8pPr algn="l">
              <a:defRPr sz="1875" b="1">
                <a:solidFill>
                  <a:srgbClr val="202124"/>
                </a:solidFill>
                <a:latin typeface="Arial"/>
                <a:ea typeface="Arial"/>
                <a:cs typeface="Arial"/>
              </a:defRPr>
            </a:lvl8pPr>
            <a:lvl9pPr algn="l">
              <a:defRPr sz="1875" b="1">
                <a:solidFill>
                  <a:srgbClr val="202124"/>
                </a:solidFill>
                <a:latin typeface="Arial"/>
                <a:ea typeface="Arial"/>
                <a:cs typeface="Arial"/>
              </a:defRPr>
            </a:lvl9pPr>
          </a:lstStyle>
          <a:p>
            <a:pPr algn="l">
              <a:defRPr sz="1875" b="1">
                <a:solidFill>
                  <a:srgbClr val="202124"/>
                </a:solidFill>
                <a:latin typeface="Arial"/>
                <a:ea typeface="Arial"/>
                <a:cs typeface="Arial"/>
              </a:defRPr>
            </a:pPr>
            <a:r>
              <a:rPr sz="1875" b="1">
                <a:solidFill>
                  <a:srgbClr val="202124"/>
                </a:solidFill>
                <a:latin typeface="Arial"/>
                <a:ea typeface="Arial"/>
                <a:cs typeface="Arial"/>
              </a:rPr>
              <a:t>Current research question</a:t>
            </a:r>
          </a:p>
        </p:txBody>
      </p:sp>
      <p:sp>
        <p:nvSpPr>
          <p:cNvPr id="5" name="current-question">
            <a:extLst>
              <a:ext uri="{FF2B5EF4-FFF2-40B4-BE49-F238E27FC236}">
                <a16:creationId xmlns:a16="http://schemas.microsoft.com/office/drawing/2014/main" id="{DA80CDB4-911F-4A90-AEFA-B76AA2A0395A}"/>
              </a:ext>
            </a:extLst>
          </p:cNvPr>
          <p:cNvSpPr>
            <a:spLocks noGrp="1"/>
          </p:cNvSpPr>
          <p:nvPr/>
        </p:nvSpPr>
        <p:spPr>
          <a:xfrm>
            <a:off x="914400" y="5019675"/>
            <a:ext cx="13411200" cy="1066800"/>
          </a:xfrm>
          <a:prstGeom prst="rect">
            <a:avLst/>
          </a:prstGeom>
          <a:noFill/>
          <a:ln w="0">
            <a:noFill/>
          </a:ln>
        </p:spPr>
        <p:txBody>
          <a:bodyPr wrap="square" lIns="0" tIns="0" rIns="0" bIns="0" anchor="t">
            <a:noAutofit/>
          </a:bodyPr>
          <a:lstStyle>
            <a:defPPr algn="l">
              <a:defRPr sz="2400" b="0">
                <a:solidFill>
                  <a:srgbClr val="202124"/>
                </a:solidFill>
                <a:latin typeface="Arial"/>
                <a:ea typeface="Arial"/>
                <a:cs typeface="Arial"/>
              </a:defRPr>
            </a:defPPr>
            <a:lvl1pPr algn="l">
              <a:buNone/>
              <a:defRPr sz="2400" b="0">
                <a:solidFill>
                  <a:srgbClr val="202124"/>
                </a:solidFill>
                <a:latin typeface="Arial"/>
                <a:ea typeface="Arial"/>
                <a:cs typeface="Arial"/>
              </a:defRPr>
            </a:lvl1pPr>
            <a:lvl2pPr algn="l">
              <a:buNone/>
              <a:defRPr sz="2400" b="0">
                <a:solidFill>
                  <a:srgbClr val="202124"/>
                </a:solidFill>
                <a:latin typeface="Arial"/>
                <a:ea typeface="Arial"/>
                <a:cs typeface="Arial"/>
              </a:defRPr>
            </a:lvl2pPr>
            <a:lvl3pPr algn="l">
              <a:buNone/>
              <a:defRPr sz="2400" b="0">
                <a:solidFill>
                  <a:srgbClr val="202124"/>
                </a:solidFill>
                <a:latin typeface="Arial"/>
                <a:ea typeface="Arial"/>
                <a:cs typeface="Arial"/>
              </a:defRPr>
            </a:lvl3pPr>
            <a:lvl4pPr algn="l">
              <a:buNone/>
              <a:defRPr sz="2400" b="0">
                <a:solidFill>
                  <a:srgbClr val="202124"/>
                </a:solidFill>
                <a:latin typeface="Arial"/>
                <a:ea typeface="Arial"/>
                <a:cs typeface="Arial"/>
              </a:defRPr>
            </a:lvl4pPr>
            <a:lvl5pPr algn="l">
              <a:buNone/>
              <a:defRPr sz="2400" b="0">
                <a:solidFill>
                  <a:srgbClr val="202124"/>
                </a:solidFill>
                <a:latin typeface="Arial"/>
                <a:ea typeface="Arial"/>
                <a:cs typeface="Arial"/>
              </a:defRPr>
            </a:lvl5pPr>
            <a:lvl6pPr algn="l">
              <a:buNone/>
              <a:defRPr sz="2400" b="0">
                <a:solidFill>
                  <a:srgbClr val="202124"/>
                </a:solidFill>
                <a:latin typeface="Arial"/>
                <a:ea typeface="Arial"/>
                <a:cs typeface="Arial"/>
              </a:defRPr>
            </a:lvl6pPr>
            <a:lvl7pPr algn="l">
              <a:buNone/>
              <a:defRPr sz="2400" b="0">
                <a:solidFill>
                  <a:srgbClr val="202124"/>
                </a:solidFill>
                <a:latin typeface="Arial"/>
                <a:ea typeface="Arial"/>
                <a:cs typeface="Arial"/>
              </a:defRPr>
            </a:lvl7pPr>
            <a:lvl8pPr algn="l">
              <a:buNone/>
              <a:defRPr sz="2400" b="0">
                <a:solidFill>
                  <a:srgbClr val="202124"/>
                </a:solidFill>
                <a:latin typeface="Arial"/>
                <a:ea typeface="Arial"/>
                <a:cs typeface="Arial"/>
              </a:defRPr>
            </a:lvl8pPr>
            <a:lvl9pPr algn="l">
              <a:buNone/>
              <a:defRPr sz="2400" b="0">
                <a:solidFill>
                  <a:srgbClr val="202124"/>
                </a:solidFill>
                <a:latin typeface="Arial"/>
                <a:ea typeface="Arial"/>
                <a:cs typeface="Arial"/>
              </a:defRPr>
            </a:lvl9pPr>
          </a:lstStyle>
          <a:p>
            <a:pPr algn="l">
              <a:buNone/>
              <a:defRPr sz="2400" b="0">
                <a:solidFill>
                  <a:srgbClr val="202124"/>
                </a:solidFill>
                <a:latin typeface="Arial"/>
                <a:ea typeface="Arial"/>
                <a:cs typeface="Arial"/>
              </a:defRPr>
            </a:pPr>
            <a:r>
              <a:rPr sz="2400" b="0">
                <a:solidFill>
                  <a:srgbClr val="202124"/>
                </a:solidFill>
                <a:latin typeface="Arial"/>
                <a:ea typeface="Arial"/>
                <a:cs typeface="Arial"/>
              </a:rPr>
              <a:t>Can we infer the current physical state from interaction history</a:t>
            </a:r>
          </a:p>
          <a:p>
            <a:pPr algn="l">
              <a:buNone/>
              <a:defRPr sz="2400" b="0">
                <a:solidFill>
                  <a:srgbClr val="202124"/>
                </a:solidFill>
                <a:latin typeface="Arial"/>
                <a:ea typeface="Arial"/>
                <a:cs typeface="Arial"/>
              </a:defRPr>
            </a:pPr>
            <a:r>
              <a:rPr sz="2400" b="0">
                <a:solidFill>
                  <a:srgbClr val="202124"/>
                </a:solidFill>
                <a:latin typeface="Arial"/>
                <a:ea typeface="Arial"/>
                <a:cs typeface="Arial"/>
              </a:rPr>
              <a:t>to assess whether a learned policy can be reused?</a:t>
            </a:r>
          </a:p>
        </p:txBody>
      </p:sp>
      <p:sp>
        <p:nvSpPr>
          <p:cNvPr id="6" name="scope">
            <a:extLst>
              <a:ext uri="{FF2B5EF4-FFF2-40B4-BE49-F238E27FC236}">
                <a16:creationId xmlns:a16="http://schemas.microsoft.com/office/drawing/2014/main" id="{2D734D9A-11E6-4F03-A24E-E261153BF856}"/>
              </a:ext>
            </a:extLst>
          </p:cNvPr>
          <p:cNvSpPr>
            <a:spLocks noGrp="1"/>
          </p:cNvSpPr>
          <p:nvPr/>
        </p:nvSpPr>
        <p:spPr>
          <a:xfrm>
            <a:off x="914400" y="7181850"/>
            <a:ext cx="13411200" cy="685800"/>
          </a:xfrm>
          <a:prstGeom prst="rect">
            <a:avLst/>
          </a:prstGeom>
          <a:noFill/>
          <a:ln w="0">
            <a:noFill/>
          </a:ln>
        </p:spPr>
        <p:txBody>
          <a:bodyPr wrap="square" lIns="0" tIns="0" rIns="0" bIns="0" anchor="t">
            <a:noAutofit/>
          </a:bodyPr>
          <a:lstStyle>
            <a:defPPr algn="l">
              <a:defRPr sz="1800" b="0">
                <a:solidFill>
                  <a:srgbClr val="62666B"/>
                </a:solidFill>
                <a:latin typeface="Arial"/>
                <a:ea typeface="Arial"/>
                <a:cs typeface="Arial"/>
              </a:defRPr>
            </a:defPPr>
            <a:lvl1pPr algn="l">
              <a:buNone/>
              <a:defRPr sz="1800" b="0">
                <a:solidFill>
                  <a:srgbClr val="62666B"/>
                </a:solidFill>
                <a:latin typeface="Arial"/>
                <a:ea typeface="Arial"/>
                <a:cs typeface="Arial"/>
              </a:defRPr>
            </a:lvl1pPr>
            <a:lvl2pPr algn="l">
              <a:buNone/>
              <a:defRPr sz="1800" b="0">
                <a:solidFill>
                  <a:srgbClr val="62666B"/>
                </a:solidFill>
                <a:latin typeface="Arial"/>
                <a:ea typeface="Arial"/>
                <a:cs typeface="Arial"/>
              </a:defRPr>
            </a:lvl2pPr>
            <a:lvl3pPr algn="l">
              <a:buNone/>
              <a:defRPr sz="1800" b="0">
                <a:solidFill>
                  <a:srgbClr val="62666B"/>
                </a:solidFill>
                <a:latin typeface="Arial"/>
                <a:ea typeface="Arial"/>
                <a:cs typeface="Arial"/>
              </a:defRPr>
            </a:lvl3pPr>
            <a:lvl4pPr algn="l">
              <a:buNone/>
              <a:defRPr sz="1800" b="0">
                <a:solidFill>
                  <a:srgbClr val="62666B"/>
                </a:solidFill>
                <a:latin typeface="Arial"/>
                <a:ea typeface="Arial"/>
                <a:cs typeface="Arial"/>
              </a:defRPr>
            </a:lvl4pPr>
            <a:lvl5pPr algn="l">
              <a:buNone/>
              <a:defRPr sz="1800" b="0">
                <a:solidFill>
                  <a:srgbClr val="62666B"/>
                </a:solidFill>
                <a:latin typeface="Arial"/>
                <a:ea typeface="Arial"/>
                <a:cs typeface="Arial"/>
              </a:defRPr>
            </a:lvl5pPr>
            <a:lvl6pPr algn="l">
              <a:buNone/>
              <a:defRPr sz="1800" b="0">
                <a:solidFill>
                  <a:srgbClr val="62666B"/>
                </a:solidFill>
                <a:latin typeface="Arial"/>
                <a:ea typeface="Arial"/>
                <a:cs typeface="Arial"/>
              </a:defRPr>
            </a:lvl6pPr>
            <a:lvl7pPr algn="l">
              <a:buNone/>
              <a:defRPr sz="1800" b="0">
                <a:solidFill>
                  <a:srgbClr val="62666B"/>
                </a:solidFill>
                <a:latin typeface="Arial"/>
                <a:ea typeface="Arial"/>
                <a:cs typeface="Arial"/>
              </a:defRPr>
            </a:lvl7pPr>
            <a:lvl8pPr algn="l">
              <a:buNone/>
              <a:defRPr sz="1800" b="0">
                <a:solidFill>
                  <a:srgbClr val="62666B"/>
                </a:solidFill>
                <a:latin typeface="Arial"/>
                <a:ea typeface="Arial"/>
                <a:cs typeface="Arial"/>
              </a:defRPr>
            </a:lvl8pPr>
            <a:lvl9pPr algn="l">
              <a:buNone/>
              <a:defRPr sz="1800" b="0">
                <a:solidFill>
                  <a:srgbClr val="62666B"/>
                </a:solidFill>
                <a:latin typeface="Arial"/>
                <a:ea typeface="Arial"/>
                <a:cs typeface="Arial"/>
              </a:defRPr>
            </a:lvl9pPr>
          </a:lstStyle>
          <a:p>
            <a:pPr algn="l">
              <a:buNone/>
              <a:defRPr sz="1800" b="0">
                <a:solidFill>
                  <a:srgbClr val="62666B"/>
                </a:solidFill>
                <a:latin typeface="Arial"/>
                <a:ea typeface="Arial"/>
                <a:cs typeface="Arial"/>
              </a:defRPr>
            </a:pPr>
            <a:r>
              <a:rPr sz="1800" b="0">
                <a:solidFill>
                  <a:srgbClr val="62666B"/>
                </a:solidFill>
                <a:latin typeface="Arial"/>
                <a:ea typeface="Arial"/>
                <a:cs typeface="Arial"/>
              </a:rPr>
              <a:t>Research interface: infer the material state,</a:t>
            </a:r>
          </a:p>
          <a:p>
            <a:pPr algn="l">
              <a:buNone/>
              <a:defRPr sz="1800" b="0">
                <a:solidFill>
                  <a:srgbClr val="62666B"/>
                </a:solidFill>
                <a:latin typeface="Arial"/>
                <a:ea typeface="Arial"/>
                <a:cs typeface="Arial"/>
              </a:defRPr>
            </a:pPr>
            <a:r>
              <a:rPr sz="1800" b="0">
                <a:solidFill>
                  <a:srgbClr val="62666B"/>
                </a:solidFill>
                <a:latin typeface="Arial"/>
                <a:ea typeface="Arial"/>
                <a:cs typeface="Arial"/>
              </a:rPr>
              <a:t>then predict the response of a candidate policy.</a:t>
            </a:r>
          </a:p>
        </p:txBody>
      </p:sp>
      <p:sp>
        <p:nvSpPr>
          <p:cNvPr id="7" name="source-index">
            <a:extLst>
              <a:ext uri="{FF2B5EF4-FFF2-40B4-BE49-F238E27FC236}">
                <a16:creationId xmlns:a16="http://schemas.microsoft.com/office/drawing/2014/main" id="{6B38805B-4BEB-4448-874E-69F88A4E2CE1}"/>
              </a:ext>
            </a:extLst>
          </p:cNvPr>
          <p:cNvSpPr>
            <a:spLocks noGrp="1"/>
          </p:cNvSpPr>
          <p:nvPr/>
        </p:nvSpPr>
        <p:spPr>
          <a:xfrm>
            <a:off x="914400" y="8172450"/>
            <a:ext cx="12573000" cy="209550"/>
          </a:xfrm>
          <a:prstGeom prst="rect">
            <a:avLst/>
          </a:prstGeom>
          <a:noFill/>
          <a:ln w="0">
            <a:noFill/>
          </a:ln>
        </p:spPr>
        <p:txBody>
          <a:bodyPr wrap="square" lIns="0" tIns="0" rIns="0" bIns="0" anchor="t">
            <a:noAutofit/>
          </a:bodyPr>
          <a:lstStyle>
            <a:defPPr algn="l">
              <a:defRPr sz="1050" b="0">
                <a:solidFill>
                  <a:srgbClr val="62666B"/>
                </a:solidFill>
                <a:latin typeface="Arial"/>
                <a:ea typeface="Arial"/>
                <a:cs typeface="Arial"/>
              </a:defRPr>
            </a:defPPr>
            <a:lvl1pPr algn="l">
              <a:defRPr sz="1050" b="0">
                <a:solidFill>
                  <a:srgbClr val="62666B"/>
                </a:solidFill>
                <a:latin typeface="Arial"/>
                <a:ea typeface="Arial"/>
                <a:cs typeface="Arial"/>
              </a:defRPr>
            </a:lvl1pPr>
            <a:lvl2pPr algn="l">
              <a:defRPr sz="1050" b="0">
                <a:solidFill>
                  <a:srgbClr val="62666B"/>
                </a:solidFill>
                <a:latin typeface="Arial"/>
                <a:ea typeface="Arial"/>
                <a:cs typeface="Arial"/>
              </a:defRPr>
            </a:lvl2pPr>
            <a:lvl3pPr algn="l">
              <a:defRPr sz="1050" b="0">
                <a:solidFill>
                  <a:srgbClr val="62666B"/>
                </a:solidFill>
                <a:latin typeface="Arial"/>
                <a:ea typeface="Arial"/>
                <a:cs typeface="Arial"/>
              </a:defRPr>
            </a:lvl3pPr>
            <a:lvl4pPr algn="l">
              <a:defRPr sz="1050" b="0">
                <a:solidFill>
                  <a:srgbClr val="62666B"/>
                </a:solidFill>
                <a:latin typeface="Arial"/>
                <a:ea typeface="Arial"/>
                <a:cs typeface="Arial"/>
              </a:defRPr>
            </a:lvl4pPr>
            <a:lvl5pPr algn="l">
              <a:defRPr sz="1050" b="0">
                <a:solidFill>
                  <a:srgbClr val="62666B"/>
                </a:solidFill>
                <a:latin typeface="Arial"/>
                <a:ea typeface="Arial"/>
                <a:cs typeface="Arial"/>
              </a:defRPr>
            </a:lvl5pPr>
            <a:lvl6pPr algn="l">
              <a:defRPr sz="1050" b="0">
                <a:solidFill>
                  <a:srgbClr val="62666B"/>
                </a:solidFill>
                <a:latin typeface="Arial"/>
                <a:ea typeface="Arial"/>
                <a:cs typeface="Arial"/>
              </a:defRPr>
            </a:lvl6pPr>
            <a:lvl7pPr algn="l">
              <a:defRPr sz="1050" b="0">
                <a:solidFill>
                  <a:srgbClr val="62666B"/>
                </a:solidFill>
                <a:latin typeface="Arial"/>
                <a:ea typeface="Arial"/>
                <a:cs typeface="Arial"/>
              </a:defRPr>
            </a:lvl7pPr>
            <a:lvl8pPr algn="l">
              <a:defRPr sz="1050" b="0">
                <a:solidFill>
                  <a:srgbClr val="62666B"/>
                </a:solidFill>
                <a:latin typeface="Arial"/>
                <a:ea typeface="Arial"/>
                <a:cs typeface="Arial"/>
              </a:defRPr>
            </a:lvl8pPr>
            <a:lvl9pPr algn="l">
              <a:defRPr sz="1050" b="0">
                <a:solidFill>
                  <a:srgbClr val="62666B"/>
                </a:solidFill>
                <a:latin typeface="Arial"/>
                <a:ea typeface="Arial"/>
                <a:cs typeface="Arial"/>
              </a:defRPr>
            </a:lvl9pPr>
          </a:lstStyle>
          <a:p>
            <a:pPr algn="l">
              <a:defRPr sz="1050" b="0">
                <a:solidFill>
                  <a:srgbClr val="62666B"/>
                </a:solidFill>
                <a:latin typeface="Arial"/>
                <a:ea typeface="Arial"/>
                <a:cs typeface="Arial"/>
              </a:defRPr>
            </a:pPr>
            <a:r>
              <a:rPr sz="1050" b="0">
                <a:solidFill>
                  <a:srgbClr val="62666B"/>
                </a:solidFill>
                <a:latin typeface="Arial"/>
                <a:ea typeface="Arial"/>
                <a:cs typeface="Arial"/>
              </a:rPr>
              <a:t>[1]</a:t>
            </a:r>
          </a:p>
        </p:txBody>
      </p:sp>
      <p:sp>
        <p:nvSpPr>
          <p:cNvPr id="8" name="page">
            <a:extLst>
              <a:ext uri="{FF2B5EF4-FFF2-40B4-BE49-F238E27FC236}">
                <a16:creationId xmlns:a16="http://schemas.microsoft.com/office/drawing/2014/main" id="{1832B4FC-0B2F-4324-B87F-AD68DC65F3D6}"/>
              </a:ext>
            </a:extLst>
          </p:cNvPr>
          <p:cNvSpPr>
            <a:spLocks noGrp="1"/>
          </p:cNvSpPr>
          <p:nvPr/>
        </p:nvSpPr>
        <p:spPr>
          <a:xfrm>
            <a:off x="13906500" y="8153400"/>
            <a:ext cx="419100" cy="238125"/>
          </a:xfrm>
          <a:prstGeom prst="rect">
            <a:avLst/>
          </a:prstGeom>
          <a:noFill/>
          <a:ln w="0">
            <a:noFill/>
          </a:ln>
        </p:spPr>
        <p:txBody>
          <a:bodyPr wrap="square" lIns="0" tIns="0" rIns="0" bIns="0" anchor="t">
            <a:noAutofit/>
          </a:bodyPr>
          <a:lstStyle>
            <a:defPPr algn="r">
              <a:defRPr sz="1050" b="0">
                <a:solidFill>
                  <a:srgbClr val="62666B"/>
                </a:solidFill>
                <a:latin typeface="Arial"/>
                <a:ea typeface="Arial"/>
                <a:cs typeface="Arial"/>
              </a:defRPr>
            </a:defPPr>
            <a:lvl1pPr algn="r">
              <a:defRPr sz="1050" b="0">
                <a:solidFill>
                  <a:srgbClr val="62666B"/>
                </a:solidFill>
                <a:latin typeface="Arial"/>
                <a:ea typeface="Arial"/>
                <a:cs typeface="Arial"/>
              </a:defRPr>
            </a:lvl1pPr>
            <a:lvl2pPr algn="r">
              <a:defRPr sz="1050" b="0">
                <a:solidFill>
                  <a:srgbClr val="62666B"/>
                </a:solidFill>
                <a:latin typeface="Arial"/>
                <a:ea typeface="Arial"/>
                <a:cs typeface="Arial"/>
              </a:defRPr>
            </a:lvl2pPr>
            <a:lvl3pPr algn="r">
              <a:defRPr sz="1050" b="0">
                <a:solidFill>
                  <a:srgbClr val="62666B"/>
                </a:solidFill>
                <a:latin typeface="Arial"/>
                <a:ea typeface="Arial"/>
                <a:cs typeface="Arial"/>
              </a:defRPr>
            </a:lvl3pPr>
            <a:lvl4pPr algn="r">
              <a:defRPr sz="1050" b="0">
                <a:solidFill>
                  <a:srgbClr val="62666B"/>
                </a:solidFill>
                <a:latin typeface="Arial"/>
                <a:ea typeface="Arial"/>
                <a:cs typeface="Arial"/>
              </a:defRPr>
            </a:lvl4pPr>
            <a:lvl5pPr algn="r">
              <a:defRPr sz="1050" b="0">
                <a:solidFill>
                  <a:srgbClr val="62666B"/>
                </a:solidFill>
                <a:latin typeface="Arial"/>
                <a:ea typeface="Arial"/>
                <a:cs typeface="Arial"/>
              </a:defRPr>
            </a:lvl5pPr>
            <a:lvl6pPr algn="r">
              <a:defRPr sz="1050" b="0">
                <a:solidFill>
                  <a:srgbClr val="62666B"/>
                </a:solidFill>
                <a:latin typeface="Arial"/>
                <a:ea typeface="Arial"/>
                <a:cs typeface="Arial"/>
              </a:defRPr>
            </a:lvl6pPr>
            <a:lvl7pPr algn="r">
              <a:defRPr sz="1050" b="0">
                <a:solidFill>
                  <a:srgbClr val="62666B"/>
                </a:solidFill>
                <a:latin typeface="Arial"/>
                <a:ea typeface="Arial"/>
                <a:cs typeface="Arial"/>
              </a:defRPr>
            </a:lvl7pPr>
            <a:lvl8pPr algn="r">
              <a:defRPr sz="1050" b="0">
                <a:solidFill>
                  <a:srgbClr val="62666B"/>
                </a:solidFill>
                <a:latin typeface="Arial"/>
                <a:ea typeface="Arial"/>
                <a:cs typeface="Arial"/>
              </a:defRPr>
            </a:lvl8pPr>
            <a:lvl9pPr algn="r">
              <a:defRPr sz="1050" b="0">
                <a:solidFill>
                  <a:srgbClr val="62666B"/>
                </a:solidFill>
                <a:latin typeface="Arial"/>
                <a:ea typeface="Arial"/>
                <a:cs typeface="Arial"/>
              </a:defRPr>
            </a:lvl9pPr>
          </a:lstStyle>
          <a:p>
            <a:pPr algn="r">
              <a:defRPr sz="1050" b="0">
                <a:solidFill>
                  <a:srgbClr val="62666B"/>
                </a:solidFill>
                <a:latin typeface="Arial"/>
                <a:ea typeface="Arial"/>
                <a:cs typeface="Arial"/>
              </a:defRPr>
            </a:pPr>
            <a:r>
              <a:rPr lang="en-US" altLang="zh-CN" sz="1050" b="0">
                <a:solidFill>
                  <a:srgbClr val="62666B"/>
                </a:solidFill>
                <a:latin typeface="Arial"/>
                <a:ea typeface="Arial"/>
                <a:cs typeface="Arial"/>
              </a:rPr>
              <a:t>02</a:t>
            </a:r>
            <a:endParaRPr sz="1050" b="0">
              <a:solidFill>
                <a:srgbClr val="62666B"/>
              </a:solidFill>
              <a:latin typeface="Arial"/>
              <a:ea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title">
            <a:extLst>
              <a:ext uri="{FF2B5EF4-FFF2-40B4-BE49-F238E27FC236}">
                <a16:creationId xmlns:a16="http://schemas.microsoft.com/office/drawing/2014/main" id="{265006E0-0FB1-44AB-BA44-64E8C08699EE}"/>
              </a:ext>
            </a:extLst>
          </p:cNvPr>
          <p:cNvSpPr>
            <a:spLocks noGrp="1"/>
          </p:cNvSpPr>
          <p:nvPr/>
        </p:nvSpPr>
        <p:spPr>
          <a:xfrm>
            <a:off x="914400" y="552450"/>
            <a:ext cx="13411200" cy="533400"/>
          </a:xfrm>
          <a:prstGeom prst="rect">
            <a:avLst/>
          </a:prstGeom>
          <a:noFill/>
          <a:ln w="0">
            <a:noFill/>
          </a:ln>
        </p:spPr>
        <p:txBody>
          <a:bodyPr wrap="square" lIns="0" tIns="0" rIns="0" bIns="0" anchor="t">
            <a:noAutofit/>
          </a:bodyPr>
          <a:lstStyle>
            <a:defPPr algn="l">
              <a:defRPr sz="2400" b="1">
                <a:solidFill>
                  <a:srgbClr val="202124"/>
                </a:solidFill>
                <a:latin typeface="Arial"/>
                <a:ea typeface="Arial"/>
                <a:cs typeface="Arial"/>
              </a:defRPr>
            </a:defPPr>
            <a:lvl1pPr algn="l">
              <a:defRPr sz="2400" b="1">
                <a:solidFill>
                  <a:srgbClr val="202124"/>
                </a:solidFill>
                <a:latin typeface="Arial"/>
                <a:ea typeface="Arial"/>
                <a:cs typeface="Arial"/>
              </a:defRPr>
            </a:lvl1pPr>
            <a:lvl2pPr algn="l">
              <a:defRPr sz="2400" b="1">
                <a:solidFill>
                  <a:srgbClr val="202124"/>
                </a:solidFill>
                <a:latin typeface="Arial"/>
                <a:ea typeface="Arial"/>
                <a:cs typeface="Arial"/>
              </a:defRPr>
            </a:lvl2pPr>
            <a:lvl3pPr algn="l">
              <a:defRPr sz="2400" b="1">
                <a:solidFill>
                  <a:srgbClr val="202124"/>
                </a:solidFill>
                <a:latin typeface="Arial"/>
                <a:ea typeface="Arial"/>
                <a:cs typeface="Arial"/>
              </a:defRPr>
            </a:lvl3pPr>
            <a:lvl4pPr algn="l">
              <a:defRPr sz="2400" b="1">
                <a:solidFill>
                  <a:srgbClr val="202124"/>
                </a:solidFill>
                <a:latin typeface="Arial"/>
                <a:ea typeface="Arial"/>
                <a:cs typeface="Arial"/>
              </a:defRPr>
            </a:lvl4pPr>
            <a:lvl5pPr algn="l">
              <a:defRPr sz="2400" b="1">
                <a:solidFill>
                  <a:srgbClr val="202124"/>
                </a:solidFill>
                <a:latin typeface="Arial"/>
                <a:ea typeface="Arial"/>
                <a:cs typeface="Arial"/>
              </a:defRPr>
            </a:lvl5pPr>
            <a:lvl6pPr algn="l">
              <a:defRPr sz="2400" b="1">
                <a:solidFill>
                  <a:srgbClr val="202124"/>
                </a:solidFill>
                <a:latin typeface="Arial"/>
                <a:ea typeface="Arial"/>
                <a:cs typeface="Arial"/>
              </a:defRPr>
            </a:lvl6pPr>
            <a:lvl7pPr algn="l">
              <a:defRPr sz="2400" b="1">
                <a:solidFill>
                  <a:srgbClr val="202124"/>
                </a:solidFill>
                <a:latin typeface="Arial"/>
                <a:ea typeface="Arial"/>
                <a:cs typeface="Arial"/>
              </a:defRPr>
            </a:lvl7pPr>
            <a:lvl8pPr algn="l">
              <a:defRPr sz="2400" b="1">
                <a:solidFill>
                  <a:srgbClr val="202124"/>
                </a:solidFill>
                <a:latin typeface="Arial"/>
                <a:ea typeface="Arial"/>
                <a:cs typeface="Arial"/>
              </a:defRPr>
            </a:lvl8pPr>
            <a:lvl9pPr algn="l">
              <a:defRPr sz="2400" b="1">
                <a:solidFill>
                  <a:srgbClr val="202124"/>
                </a:solidFill>
                <a:latin typeface="Arial"/>
                <a:ea typeface="Arial"/>
                <a:cs typeface="Arial"/>
              </a:defRPr>
            </a:lvl9pPr>
          </a:lstStyle>
          <a:p>
            <a:pPr algn="l">
              <a:defRPr sz="2400" b="1">
                <a:solidFill>
                  <a:srgbClr val="202124"/>
                </a:solidFill>
                <a:latin typeface="Arial"/>
                <a:ea typeface="Arial"/>
                <a:cs typeface="Arial"/>
              </a:defRPr>
            </a:pPr>
            <a:r>
              <a:rPr sz="2400" b="1">
                <a:solidFill>
                  <a:srgbClr val="202124"/>
                </a:solidFill>
                <a:latin typeface="Arial"/>
                <a:ea typeface="Arial"/>
                <a:cs typeface="Arial"/>
              </a:rPr>
              <a:t>Physical state across repeated contact</a:t>
            </a:r>
          </a:p>
        </p:txBody>
      </p:sp>
      <p:sp>
        <p:nvSpPr>
          <p:cNvPr id="2" name="motivation-label">
            <a:extLst>
              <a:ext uri="{FF2B5EF4-FFF2-40B4-BE49-F238E27FC236}">
                <a16:creationId xmlns:a16="http://schemas.microsoft.com/office/drawing/2014/main" id="{30AE7362-B611-4FB3-9429-8D2D43F01D66}"/>
              </a:ext>
            </a:extLst>
          </p:cNvPr>
          <p:cNvSpPr>
            <a:spLocks noGrp="1"/>
          </p:cNvSpPr>
          <p:nvPr/>
        </p:nvSpPr>
        <p:spPr>
          <a:xfrm>
            <a:off x="914400" y="1438275"/>
            <a:ext cx="13411200" cy="295275"/>
          </a:xfrm>
          <a:prstGeom prst="rect">
            <a:avLst/>
          </a:prstGeom>
          <a:noFill/>
          <a:ln w="0">
            <a:noFill/>
          </a:ln>
        </p:spPr>
        <p:txBody>
          <a:bodyPr wrap="square" lIns="0" tIns="0" rIns="0" bIns="0" anchor="t">
            <a:noAutofit/>
          </a:bodyPr>
          <a:lstStyle>
            <a:defPPr algn="l">
              <a:defRPr sz="1425" b="0">
                <a:solidFill>
                  <a:srgbClr val="62666B"/>
                </a:solidFill>
                <a:latin typeface="Arial"/>
                <a:ea typeface="Arial"/>
                <a:cs typeface="Arial"/>
              </a:defRPr>
            </a:defPPr>
            <a:lvl1pPr algn="l">
              <a:defRPr sz="1425" b="0">
                <a:solidFill>
                  <a:srgbClr val="62666B"/>
                </a:solidFill>
                <a:latin typeface="Arial"/>
                <a:ea typeface="Arial"/>
                <a:cs typeface="Arial"/>
              </a:defRPr>
            </a:lvl1pPr>
            <a:lvl2pPr algn="l">
              <a:defRPr sz="1425" b="0">
                <a:solidFill>
                  <a:srgbClr val="62666B"/>
                </a:solidFill>
                <a:latin typeface="Arial"/>
                <a:ea typeface="Arial"/>
                <a:cs typeface="Arial"/>
              </a:defRPr>
            </a:lvl2pPr>
            <a:lvl3pPr algn="l">
              <a:defRPr sz="1425" b="0">
                <a:solidFill>
                  <a:srgbClr val="62666B"/>
                </a:solidFill>
                <a:latin typeface="Arial"/>
                <a:ea typeface="Arial"/>
                <a:cs typeface="Arial"/>
              </a:defRPr>
            </a:lvl3pPr>
            <a:lvl4pPr algn="l">
              <a:defRPr sz="1425" b="0">
                <a:solidFill>
                  <a:srgbClr val="62666B"/>
                </a:solidFill>
                <a:latin typeface="Arial"/>
                <a:ea typeface="Arial"/>
                <a:cs typeface="Arial"/>
              </a:defRPr>
            </a:lvl4pPr>
            <a:lvl5pPr algn="l">
              <a:defRPr sz="1425" b="0">
                <a:solidFill>
                  <a:srgbClr val="62666B"/>
                </a:solidFill>
                <a:latin typeface="Arial"/>
                <a:ea typeface="Arial"/>
                <a:cs typeface="Arial"/>
              </a:defRPr>
            </a:lvl5pPr>
            <a:lvl6pPr algn="l">
              <a:defRPr sz="1425" b="0">
                <a:solidFill>
                  <a:srgbClr val="62666B"/>
                </a:solidFill>
                <a:latin typeface="Arial"/>
                <a:ea typeface="Arial"/>
                <a:cs typeface="Arial"/>
              </a:defRPr>
            </a:lvl6pPr>
            <a:lvl7pPr algn="l">
              <a:defRPr sz="1425" b="0">
                <a:solidFill>
                  <a:srgbClr val="62666B"/>
                </a:solidFill>
                <a:latin typeface="Arial"/>
                <a:ea typeface="Arial"/>
                <a:cs typeface="Arial"/>
              </a:defRPr>
            </a:lvl7pPr>
            <a:lvl8pPr algn="l">
              <a:defRPr sz="1425" b="0">
                <a:solidFill>
                  <a:srgbClr val="62666B"/>
                </a:solidFill>
                <a:latin typeface="Arial"/>
                <a:ea typeface="Arial"/>
                <a:cs typeface="Arial"/>
              </a:defRPr>
            </a:lvl8pPr>
            <a:lvl9pPr algn="l">
              <a:defRPr sz="1425" b="0">
                <a:solidFill>
                  <a:srgbClr val="62666B"/>
                </a:solidFill>
                <a:latin typeface="Arial"/>
                <a:ea typeface="Arial"/>
                <a:cs typeface="Arial"/>
              </a:defRPr>
            </a:lvl9pPr>
          </a:lstStyle>
          <a:p>
            <a:pPr algn="l">
              <a:defRPr sz="1425" b="0">
                <a:solidFill>
                  <a:srgbClr val="62666B"/>
                </a:solidFill>
                <a:latin typeface="Arial"/>
                <a:ea typeface="Arial"/>
                <a:cs typeface="Arial"/>
              </a:defRPr>
            </a:pPr>
            <a:r>
              <a:rPr sz="1425" b="0">
                <a:solidFill>
                  <a:srgbClr val="62666B"/>
                </a:solidFill>
                <a:latin typeface="Arial"/>
                <a:ea typeface="Arial"/>
                <a:cs typeface="Arial"/>
              </a:rPr>
              <a:t>Motivating interaction</a:t>
            </a:r>
          </a:p>
        </p:txBody>
      </p:sp>
      <p:sp>
        <p:nvSpPr>
          <p:cNvPr id="3" name="phase-1">
            <a:extLst>
              <a:ext uri="{FF2B5EF4-FFF2-40B4-BE49-F238E27FC236}">
                <a16:creationId xmlns:a16="http://schemas.microsoft.com/office/drawing/2014/main" id="{1D9666C6-D37C-4C21-8149-B70284C4614A}"/>
              </a:ext>
            </a:extLst>
          </p:cNvPr>
          <p:cNvSpPr>
            <a:spLocks noGrp="1"/>
          </p:cNvSpPr>
          <p:nvPr/>
        </p:nvSpPr>
        <p:spPr>
          <a:xfrm>
            <a:off x="1200150" y="1971675"/>
            <a:ext cx="2190750" cy="438150"/>
          </a:xfrm>
          <a:prstGeom prst="rect">
            <a:avLst/>
          </a:prstGeom>
          <a:noFill/>
          <a:ln w="0">
            <a:noFill/>
          </a:ln>
        </p:spPr>
        <p:txBody>
          <a:bodyPr wrap="square" lIns="0" tIns="0" rIns="0" bIns="0" anchor="t">
            <a:noAutofit/>
          </a:bodyPr>
          <a:lstStyle>
            <a:defPPr algn="ctr">
              <a:defRPr sz="2025" b="0">
                <a:solidFill>
                  <a:srgbClr val="202124"/>
                </a:solidFill>
                <a:latin typeface="Arial"/>
                <a:ea typeface="Arial"/>
                <a:cs typeface="Arial"/>
              </a:defRPr>
            </a:defPPr>
            <a:lvl1pPr algn="ctr">
              <a:defRPr sz="2025" b="0">
                <a:solidFill>
                  <a:srgbClr val="202124"/>
                </a:solidFill>
                <a:latin typeface="Arial"/>
                <a:ea typeface="Arial"/>
                <a:cs typeface="Arial"/>
              </a:defRPr>
            </a:lvl1pPr>
            <a:lvl2pPr algn="ctr">
              <a:defRPr sz="2025" b="0">
                <a:solidFill>
                  <a:srgbClr val="202124"/>
                </a:solidFill>
                <a:latin typeface="Arial"/>
                <a:ea typeface="Arial"/>
                <a:cs typeface="Arial"/>
              </a:defRPr>
            </a:lvl2pPr>
            <a:lvl3pPr algn="ctr">
              <a:defRPr sz="2025" b="0">
                <a:solidFill>
                  <a:srgbClr val="202124"/>
                </a:solidFill>
                <a:latin typeface="Arial"/>
                <a:ea typeface="Arial"/>
                <a:cs typeface="Arial"/>
              </a:defRPr>
            </a:lvl3pPr>
            <a:lvl4pPr algn="ctr">
              <a:defRPr sz="2025" b="0">
                <a:solidFill>
                  <a:srgbClr val="202124"/>
                </a:solidFill>
                <a:latin typeface="Arial"/>
                <a:ea typeface="Arial"/>
                <a:cs typeface="Arial"/>
              </a:defRPr>
            </a:lvl4pPr>
            <a:lvl5pPr algn="ctr">
              <a:defRPr sz="2025" b="0">
                <a:solidFill>
                  <a:srgbClr val="202124"/>
                </a:solidFill>
                <a:latin typeface="Arial"/>
                <a:ea typeface="Arial"/>
                <a:cs typeface="Arial"/>
              </a:defRPr>
            </a:lvl5pPr>
            <a:lvl6pPr algn="ctr">
              <a:defRPr sz="2025" b="0">
                <a:solidFill>
                  <a:srgbClr val="202124"/>
                </a:solidFill>
                <a:latin typeface="Arial"/>
                <a:ea typeface="Arial"/>
                <a:cs typeface="Arial"/>
              </a:defRPr>
            </a:lvl6pPr>
            <a:lvl7pPr algn="ctr">
              <a:defRPr sz="2025" b="0">
                <a:solidFill>
                  <a:srgbClr val="202124"/>
                </a:solidFill>
                <a:latin typeface="Arial"/>
                <a:ea typeface="Arial"/>
                <a:cs typeface="Arial"/>
              </a:defRPr>
            </a:lvl7pPr>
            <a:lvl8pPr algn="ctr">
              <a:defRPr sz="2025" b="0">
                <a:solidFill>
                  <a:srgbClr val="202124"/>
                </a:solidFill>
                <a:latin typeface="Arial"/>
                <a:ea typeface="Arial"/>
                <a:cs typeface="Arial"/>
              </a:defRPr>
            </a:lvl8pPr>
            <a:lvl9pPr algn="ctr">
              <a:defRPr sz="2025" b="0">
                <a:solidFill>
                  <a:srgbClr val="202124"/>
                </a:solidFill>
                <a:latin typeface="Arial"/>
                <a:ea typeface="Arial"/>
                <a:cs typeface="Arial"/>
              </a:defRPr>
            </a:lvl9pPr>
          </a:lstStyle>
          <a:p>
            <a:pPr algn="ctr">
              <a:defRPr sz="2025" b="0">
                <a:solidFill>
                  <a:srgbClr val="202124"/>
                </a:solidFill>
                <a:latin typeface="Arial"/>
                <a:ea typeface="Arial"/>
                <a:cs typeface="Arial"/>
              </a:defRPr>
            </a:pPr>
            <a:r>
              <a:rPr sz="2025" b="0">
                <a:solidFill>
                  <a:srgbClr val="202124"/>
                </a:solidFill>
                <a:latin typeface="Arial"/>
                <a:ea typeface="Arial"/>
                <a:cs typeface="Arial"/>
              </a:rPr>
              <a:t>Compress</a:t>
            </a:r>
          </a:p>
        </p:txBody>
      </p:sp>
      <p:sp>
        <p:nvSpPr>
          <p:cNvPr id="4" name="phase-2">
            <a:extLst>
              <a:ext uri="{FF2B5EF4-FFF2-40B4-BE49-F238E27FC236}">
                <a16:creationId xmlns:a16="http://schemas.microsoft.com/office/drawing/2014/main" id="{73D11A8F-A479-4B68-8F71-C887CDBC798C}"/>
              </a:ext>
            </a:extLst>
          </p:cNvPr>
          <p:cNvSpPr>
            <a:spLocks noGrp="1"/>
          </p:cNvSpPr>
          <p:nvPr/>
        </p:nvSpPr>
        <p:spPr>
          <a:xfrm>
            <a:off x="4800600" y="1971675"/>
            <a:ext cx="2190750" cy="438150"/>
          </a:xfrm>
          <a:prstGeom prst="rect">
            <a:avLst/>
          </a:prstGeom>
          <a:noFill/>
          <a:ln w="0">
            <a:noFill/>
          </a:ln>
        </p:spPr>
        <p:txBody>
          <a:bodyPr wrap="square" lIns="0" tIns="0" rIns="0" bIns="0" anchor="t">
            <a:noAutofit/>
          </a:bodyPr>
          <a:lstStyle>
            <a:defPPr algn="ctr">
              <a:defRPr sz="2025" b="0">
                <a:solidFill>
                  <a:srgbClr val="202124"/>
                </a:solidFill>
                <a:latin typeface="Arial"/>
                <a:ea typeface="Arial"/>
                <a:cs typeface="Arial"/>
              </a:defRPr>
            </a:defPPr>
            <a:lvl1pPr algn="ctr">
              <a:defRPr sz="2025" b="0">
                <a:solidFill>
                  <a:srgbClr val="202124"/>
                </a:solidFill>
                <a:latin typeface="Arial"/>
                <a:ea typeface="Arial"/>
                <a:cs typeface="Arial"/>
              </a:defRPr>
            </a:lvl1pPr>
            <a:lvl2pPr algn="ctr">
              <a:defRPr sz="2025" b="0">
                <a:solidFill>
                  <a:srgbClr val="202124"/>
                </a:solidFill>
                <a:latin typeface="Arial"/>
                <a:ea typeface="Arial"/>
                <a:cs typeface="Arial"/>
              </a:defRPr>
            </a:lvl2pPr>
            <a:lvl3pPr algn="ctr">
              <a:defRPr sz="2025" b="0">
                <a:solidFill>
                  <a:srgbClr val="202124"/>
                </a:solidFill>
                <a:latin typeface="Arial"/>
                <a:ea typeface="Arial"/>
                <a:cs typeface="Arial"/>
              </a:defRPr>
            </a:lvl3pPr>
            <a:lvl4pPr algn="ctr">
              <a:defRPr sz="2025" b="0">
                <a:solidFill>
                  <a:srgbClr val="202124"/>
                </a:solidFill>
                <a:latin typeface="Arial"/>
                <a:ea typeface="Arial"/>
                <a:cs typeface="Arial"/>
              </a:defRPr>
            </a:lvl4pPr>
            <a:lvl5pPr algn="ctr">
              <a:defRPr sz="2025" b="0">
                <a:solidFill>
                  <a:srgbClr val="202124"/>
                </a:solidFill>
                <a:latin typeface="Arial"/>
                <a:ea typeface="Arial"/>
                <a:cs typeface="Arial"/>
              </a:defRPr>
            </a:lvl5pPr>
            <a:lvl6pPr algn="ctr">
              <a:defRPr sz="2025" b="0">
                <a:solidFill>
                  <a:srgbClr val="202124"/>
                </a:solidFill>
                <a:latin typeface="Arial"/>
                <a:ea typeface="Arial"/>
                <a:cs typeface="Arial"/>
              </a:defRPr>
            </a:lvl6pPr>
            <a:lvl7pPr algn="ctr">
              <a:defRPr sz="2025" b="0">
                <a:solidFill>
                  <a:srgbClr val="202124"/>
                </a:solidFill>
                <a:latin typeface="Arial"/>
                <a:ea typeface="Arial"/>
                <a:cs typeface="Arial"/>
              </a:defRPr>
            </a:lvl7pPr>
            <a:lvl8pPr algn="ctr">
              <a:defRPr sz="2025" b="0">
                <a:solidFill>
                  <a:srgbClr val="202124"/>
                </a:solidFill>
                <a:latin typeface="Arial"/>
                <a:ea typeface="Arial"/>
                <a:cs typeface="Arial"/>
              </a:defRPr>
            </a:lvl8pPr>
            <a:lvl9pPr algn="ctr">
              <a:defRPr sz="2025" b="0">
                <a:solidFill>
                  <a:srgbClr val="202124"/>
                </a:solidFill>
                <a:latin typeface="Arial"/>
                <a:ea typeface="Arial"/>
                <a:cs typeface="Arial"/>
              </a:defRPr>
            </a:lvl9pPr>
          </a:lstStyle>
          <a:p>
            <a:pPr algn="ctr">
              <a:defRPr sz="2025" b="0">
                <a:solidFill>
                  <a:srgbClr val="202124"/>
                </a:solidFill>
                <a:latin typeface="Arial"/>
                <a:ea typeface="Arial"/>
                <a:cs typeface="Arial"/>
              </a:defRPr>
            </a:pPr>
            <a:r>
              <a:rPr sz="2025" b="0">
                <a:solidFill>
                  <a:srgbClr val="202124"/>
                </a:solidFill>
                <a:latin typeface="Arial"/>
                <a:ea typeface="Arial"/>
                <a:cs typeface="Arial"/>
              </a:rPr>
              <a:t>Release</a:t>
            </a:r>
          </a:p>
        </p:txBody>
      </p:sp>
      <p:sp>
        <p:nvSpPr>
          <p:cNvPr id="5" name="phase-3">
            <a:extLst>
              <a:ext uri="{FF2B5EF4-FFF2-40B4-BE49-F238E27FC236}">
                <a16:creationId xmlns:a16="http://schemas.microsoft.com/office/drawing/2014/main" id="{BA3353F9-01B4-434F-A170-AA05F3689BCD}"/>
              </a:ext>
            </a:extLst>
          </p:cNvPr>
          <p:cNvSpPr>
            <a:spLocks noGrp="1"/>
          </p:cNvSpPr>
          <p:nvPr/>
        </p:nvSpPr>
        <p:spPr>
          <a:xfrm>
            <a:off x="8401050" y="1971675"/>
            <a:ext cx="2190750" cy="438150"/>
          </a:xfrm>
          <a:prstGeom prst="rect">
            <a:avLst/>
          </a:prstGeom>
          <a:noFill/>
          <a:ln w="0">
            <a:noFill/>
          </a:ln>
        </p:spPr>
        <p:txBody>
          <a:bodyPr wrap="square" lIns="0" tIns="0" rIns="0" bIns="0" anchor="t">
            <a:noAutofit/>
          </a:bodyPr>
          <a:lstStyle>
            <a:defPPr algn="ctr">
              <a:defRPr sz="2025" b="0">
                <a:solidFill>
                  <a:srgbClr val="202124"/>
                </a:solidFill>
                <a:latin typeface="Arial"/>
                <a:ea typeface="Arial"/>
                <a:cs typeface="Arial"/>
              </a:defRPr>
            </a:defPPr>
            <a:lvl1pPr algn="ctr">
              <a:defRPr sz="2025" b="0">
                <a:solidFill>
                  <a:srgbClr val="202124"/>
                </a:solidFill>
                <a:latin typeface="Arial"/>
                <a:ea typeface="Arial"/>
                <a:cs typeface="Arial"/>
              </a:defRPr>
            </a:lvl1pPr>
            <a:lvl2pPr algn="ctr">
              <a:defRPr sz="2025" b="0">
                <a:solidFill>
                  <a:srgbClr val="202124"/>
                </a:solidFill>
                <a:latin typeface="Arial"/>
                <a:ea typeface="Arial"/>
                <a:cs typeface="Arial"/>
              </a:defRPr>
            </a:lvl2pPr>
            <a:lvl3pPr algn="ctr">
              <a:defRPr sz="2025" b="0">
                <a:solidFill>
                  <a:srgbClr val="202124"/>
                </a:solidFill>
                <a:latin typeface="Arial"/>
                <a:ea typeface="Arial"/>
                <a:cs typeface="Arial"/>
              </a:defRPr>
            </a:lvl3pPr>
            <a:lvl4pPr algn="ctr">
              <a:defRPr sz="2025" b="0">
                <a:solidFill>
                  <a:srgbClr val="202124"/>
                </a:solidFill>
                <a:latin typeface="Arial"/>
                <a:ea typeface="Arial"/>
                <a:cs typeface="Arial"/>
              </a:defRPr>
            </a:lvl4pPr>
            <a:lvl5pPr algn="ctr">
              <a:defRPr sz="2025" b="0">
                <a:solidFill>
                  <a:srgbClr val="202124"/>
                </a:solidFill>
                <a:latin typeface="Arial"/>
                <a:ea typeface="Arial"/>
                <a:cs typeface="Arial"/>
              </a:defRPr>
            </a:lvl5pPr>
            <a:lvl6pPr algn="ctr">
              <a:defRPr sz="2025" b="0">
                <a:solidFill>
                  <a:srgbClr val="202124"/>
                </a:solidFill>
                <a:latin typeface="Arial"/>
                <a:ea typeface="Arial"/>
                <a:cs typeface="Arial"/>
              </a:defRPr>
            </a:lvl6pPr>
            <a:lvl7pPr algn="ctr">
              <a:defRPr sz="2025" b="0">
                <a:solidFill>
                  <a:srgbClr val="202124"/>
                </a:solidFill>
                <a:latin typeface="Arial"/>
                <a:ea typeface="Arial"/>
                <a:cs typeface="Arial"/>
              </a:defRPr>
            </a:lvl7pPr>
            <a:lvl8pPr algn="ctr">
              <a:defRPr sz="2025" b="0">
                <a:solidFill>
                  <a:srgbClr val="202124"/>
                </a:solidFill>
                <a:latin typeface="Arial"/>
                <a:ea typeface="Arial"/>
                <a:cs typeface="Arial"/>
              </a:defRPr>
            </a:lvl8pPr>
            <a:lvl9pPr algn="ctr">
              <a:defRPr sz="2025" b="0">
                <a:solidFill>
                  <a:srgbClr val="202124"/>
                </a:solidFill>
                <a:latin typeface="Arial"/>
                <a:ea typeface="Arial"/>
                <a:cs typeface="Arial"/>
              </a:defRPr>
            </a:lvl9pPr>
          </a:lstStyle>
          <a:p>
            <a:pPr algn="ctr">
              <a:defRPr sz="2025" b="0">
                <a:solidFill>
                  <a:srgbClr val="202124"/>
                </a:solidFill>
                <a:latin typeface="Arial"/>
                <a:ea typeface="Arial"/>
                <a:cs typeface="Arial"/>
              </a:defRPr>
            </a:pPr>
            <a:r>
              <a:rPr sz="2025" b="0">
                <a:solidFill>
                  <a:srgbClr val="202124"/>
                </a:solidFill>
                <a:latin typeface="Arial"/>
                <a:ea typeface="Arial"/>
                <a:cs typeface="Arial"/>
              </a:rPr>
              <a:t>Wait</a:t>
            </a:r>
          </a:p>
        </p:txBody>
      </p:sp>
      <p:sp>
        <p:nvSpPr>
          <p:cNvPr id="6" name="phase-4">
            <a:extLst>
              <a:ext uri="{FF2B5EF4-FFF2-40B4-BE49-F238E27FC236}">
                <a16:creationId xmlns:a16="http://schemas.microsoft.com/office/drawing/2014/main" id="{8648BB05-10BA-4FEE-8B6F-063E062A1C34}"/>
              </a:ext>
            </a:extLst>
          </p:cNvPr>
          <p:cNvSpPr>
            <a:spLocks noGrp="1"/>
          </p:cNvSpPr>
          <p:nvPr/>
        </p:nvSpPr>
        <p:spPr>
          <a:xfrm>
            <a:off x="12001500" y="1971675"/>
            <a:ext cx="2324100" cy="438150"/>
          </a:xfrm>
          <a:prstGeom prst="rect">
            <a:avLst/>
          </a:prstGeom>
          <a:noFill/>
          <a:ln w="0">
            <a:noFill/>
          </a:ln>
        </p:spPr>
        <p:txBody>
          <a:bodyPr wrap="square" lIns="0" tIns="0" rIns="0" bIns="0" anchor="t">
            <a:noAutofit/>
          </a:bodyPr>
          <a:lstStyle>
            <a:defPPr algn="ctr">
              <a:defRPr sz="2025" b="0">
                <a:solidFill>
                  <a:srgbClr val="202124"/>
                </a:solidFill>
                <a:latin typeface="Arial"/>
                <a:ea typeface="Arial"/>
                <a:cs typeface="Arial"/>
              </a:defRPr>
            </a:defPPr>
            <a:lvl1pPr algn="ctr">
              <a:defRPr sz="2025" b="0">
                <a:solidFill>
                  <a:srgbClr val="202124"/>
                </a:solidFill>
                <a:latin typeface="Arial"/>
                <a:ea typeface="Arial"/>
                <a:cs typeface="Arial"/>
              </a:defRPr>
            </a:lvl1pPr>
            <a:lvl2pPr algn="ctr">
              <a:defRPr sz="2025" b="0">
                <a:solidFill>
                  <a:srgbClr val="202124"/>
                </a:solidFill>
                <a:latin typeface="Arial"/>
                <a:ea typeface="Arial"/>
                <a:cs typeface="Arial"/>
              </a:defRPr>
            </a:lvl2pPr>
            <a:lvl3pPr algn="ctr">
              <a:defRPr sz="2025" b="0">
                <a:solidFill>
                  <a:srgbClr val="202124"/>
                </a:solidFill>
                <a:latin typeface="Arial"/>
                <a:ea typeface="Arial"/>
                <a:cs typeface="Arial"/>
              </a:defRPr>
            </a:lvl3pPr>
            <a:lvl4pPr algn="ctr">
              <a:defRPr sz="2025" b="0">
                <a:solidFill>
                  <a:srgbClr val="202124"/>
                </a:solidFill>
                <a:latin typeface="Arial"/>
                <a:ea typeface="Arial"/>
                <a:cs typeface="Arial"/>
              </a:defRPr>
            </a:lvl4pPr>
            <a:lvl5pPr algn="ctr">
              <a:defRPr sz="2025" b="0">
                <a:solidFill>
                  <a:srgbClr val="202124"/>
                </a:solidFill>
                <a:latin typeface="Arial"/>
                <a:ea typeface="Arial"/>
                <a:cs typeface="Arial"/>
              </a:defRPr>
            </a:lvl5pPr>
            <a:lvl6pPr algn="ctr">
              <a:defRPr sz="2025" b="0">
                <a:solidFill>
                  <a:srgbClr val="202124"/>
                </a:solidFill>
                <a:latin typeface="Arial"/>
                <a:ea typeface="Arial"/>
                <a:cs typeface="Arial"/>
              </a:defRPr>
            </a:lvl6pPr>
            <a:lvl7pPr algn="ctr">
              <a:defRPr sz="2025" b="0">
                <a:solidFill>
                  <a:srgbClr val="202124"/>
                </a:solidFill>
                <a:latin typeface="Arial"/>
                <a:ea typeface="Arial"/>
                <a:cs typeface="Arial"/>
              </a:defRPr>
            </a:lvl7pPr>
            <a:lvl8pPr algn="ctr">
              <a:defRPr sz="2025" b="0">
                <a:solidFill>
                  <a:srgbClr val="202124"/>
                </a:solidFill>
                <a:latin typeface="Arial"/>
                <a:ea typeface="Arial"/>
                <a:cs typeface="Arial"/>
              </a:defRPr>
            </a:lvl8pPr>
            <a:lvl9pPr algn="ctr">
              <a:defRPr sz="2025" b="0">
                <a:solidFill>
                  <a:srgbClr val="202124"/>
                </a:solidFill>
                <a:latin typeface="Arial"/>
                <a:ea typeface="Arial"/>
                <a:cs typeface="Arial"/>
              </a:defRPr>
            </a:lvl9pPr>
          </a:lstStyle>
          <a:p>
            <a:pPr algn="ctr">
              <a:defRPr sz="2025" b="0">
                <a:solidFill>
                  <a:srgbClr val="202124"/>
                </a:solidFill>
                <a:latin typeface="Arial"/>
                <a:ea typeface="Arial"/>
                <a:cs typeface="Arial"/>
              </a:defRPr>
            </a:pPr>
            <a:r>
              <a:rPr sz="2025" b="0">
                <a:solidFill>
                  <a:srgbClr val="202124"/>
                </a:solidFill>
                <a:latin typeface="Arial"/>
                <a:ea typeface="Arial"/>
                <a:cs typeface="Arial"/>
              </a:rPr>
              <a:t>Recontact</a:t>
            </a:r>
          </a:p>
        </p:txBody>
      </p:sp>
      <p:cxnSp>
        <p:nvCxnSpPr>
          <p:cNvPr id="7" name="compress-release">
            <a:extLst>
              <a:ext uri="{FF2B5EF4-FFF2-40B4-BE49-F238E27FC236}">
                <a16:creationId xmlns:a16="http://schemas.microsoft.com/office/drawing/2014/main" id="{934EADB7-D93C-4E6B-B016-6080183E4C20}"/>
              </a:ext>
            </a:extLst>
          </p:cNvPr>
          <p:cNvCxnSpPr/>
          <p:nvPr/>
        </p:nvCxnSpPr>
        <p:spPr>
          <a:xfrm>
            <a:off x="3638550" y="2171700"/>
            <a:ext cx="876300" cy="0"/>
          </a:xfrm>
          <a:prstGeom prst="straightConnector1">
            <a:avLst/>
          </a:prstGeom>
          <a:ln w="12383">
            <a:solidFill>
              <a:srgbClr val="202124"/>
            </a:solidFill>
            <a:tailEnd type="triangle" w="sm" len="sm"/>
          </a:ln>
        </p:spPr>
      </p:cxnSp>
      <p:cxnSp>
        <p:nvCxnSpPr>
          <p:cNvPr id="8" name="release-wait">
            <a:extLst>
              <a:ext uri="{FF2B5EF4-FFF2-40B4-BE49-F238E27FC236}">
                <a16:creationId xmlns:a16="http://schemas.microsoft.com/office/drawing/2014/main" id="{9B3957F5-25ED-4E4D-80D8-3AC6A2964E2E}"/>
              </a:ext>
            </a:extLst>
          </p:cNvPr>
          <p:cNvCxnSpPr/>
          <p:nvPr/>
        </p:nvCxnSpPr>
        <p:spPr>
          <a:xfrm>
            <a:off x="7239000" y="2171700"/>
            <a:ext cx="876300" cy="0"/>
          </a:xfrm>
          <a:prstGeom prst="straightConnector1">
            <a:avLst/>
          </a:prstGeom>
          <a:ln w="12383">
            <a:solidFill>
              <a:srgbClr val="202124"/>
            </a:solidFill>
            <a:tailEnd type="triangle" w="sm" len="sm"/>
          </a:ln>
        </p:spPr>
      </p:cxnSp>
      <p:cxnSp>
        <p:nvCxnSpPr>
          <p:cNvPr id="9" name="wait-recontact">
            <a:extLst>
              <a:ext uri="{FF2B5EF4-FFF2-40B4-BE49-F238E27FC236}">
                <a16:creationId xmlns:a16="http://schemas.microsoft.com/office/drawing/2014/main" id="{5A5D619D-5383-4DAA-907D-07CCFAB5513A}"/>
              </a:ext>
            </a:extLst>
          </p:cNvPr>
          <p:cNvCxnSpPr/>
          <p:nvPr/>
        </p:nvCxnSpPr>
        <p:spPr>
          <a:xfrm>
            <a:off x="10839450" y="2171700"/>
            <a:ext cx="876300" cy="0"/>
          </a:xfrm>
          <a:prstGeom prst="straightConnector1">
            <a:avLst/>
          </a:prstGeom>
          <a:ln w="12383">
            <a:solidFill>
              <a:srgbClr val="202124"/>
            </a:solidFill>
            <a:tailEnd type="triangle" w="sm" len="sm"/>
          </a:ln>
        </p:spPr>
      </p:cxnSp>
      <p:sp>
        <p:nvSpPr>
          <p:cNvPr id="10" name="phenomenon">
            <a:extLst>
              <a:ext uri="{FF2B5EF4-FFF2-40B4-BE49-F238E27FC236}">
                <a16:creationId xmlns:a16="http://schemas.microsoft.com/office/drawing/2014/main" id="{1E7EF7DB-1022-4EE9-8F0D-085B94D4F773}"/>
              </a:ext>
            </a:extLst>
          </p:cNvPr>
          <p:cNvSpPr>
            <a:spLocks noGrp="1"/>
          </p:cNvSpPr>
          <p:nvPr/>
        </p:nvSpPr>
        <p:spPr>
          <a:xfrm>
            <a:off x="914400" y="2819400"/>
            <a:ext cx="13411200" cy="419100"/>
          </a:xfrm>
          <a:prstGeom prst="rect">
            <a:avLst/>
          </a:prstGeom>
          <a:noFill/>
          <a:ln w="0">
            <a:noFill/>
          </a:ln>
        </p:spPr>
        <p:txBody>
          <a:bodyPr wrap="square" lIns="0" tIns="0" rIns="0" bIns="0" anchor="t">
            <a:noAutofit/>
          </a:bodyPr>
          <a:lstStyle>
            <a:defPPr algn="l">
              <a:defRPr sz="1950" b="0">
                <a:solidFill>
                  <a:srgbClr val="202124"/>
                </a:solidFill>
                <a:latin typeface="Arial"/>
                <a:ea typeface="Arial"/>
                <a:cs typeface="Arial"/>
              </a:defRPr>
            </a:defPPr>
            <a:lvl1pPr algn="l">
              <a:defRPr sz="1950" b="0">
                <a:solidFill>
                  <a:srgbClr val="202124"/>
                </a:solidFill>
                <a:latin typeface="Arial"/>
                <a:ea typeface="Arial"/>
                <a:cs typeface="Arial"/>
              </a:defRPr>
            </a:lvl1pPr>
            <a:lvl2pPr algn="l">
              <a:defRPr sz="1950" b="0">
                <a:solidFill>
                  <a:srgbClr val="202124"/>
                </a:solidFill>
                <a:latin typeface="Arial"/>
                <a:ea typeface="Arial"/>
                <a:cs typeface="Arial"/>
              </a:defRPr>
            </a:lvl2pPr>
            <a:lvl3pPr algn="l">
              <a:defRPr sz="1950" b="0">
                <a:solidFill>
                  <a:srgbClr val="202124"/>
                </a:solidFill>
                <a:latin typeface="Arial"/>
                <a:ea typeface="Arial"/>
                <a:cs typeface="Arial"/>
              </a:defRPr>
            </a:lvl3pPr>
            <a:lvl4pPr algn="l">
              <a:defRPr sz="1950" b="0">
                <a:solidFill>
                  <a:srgbClr val="202124"/>
                </a:solidFill>
                <a:latin typeface="Arial"/>
                <a:ea typeface="Arial"/>
                <a:cs typeface="Arial"/>
              </a:defRPr>
            </a:lvl4pPr>
            <a:lvl5pPr algn="l">
              <a:defRPr sz="1950" b="0">
                <a:solidFill>
                  <a:srgbClr val="202124"/>
                </a:solidFill>
                <a:latin typeface="Arial"/>
                <a:ea typeface="Arial"/>
                <a:cs typeface="Arial"/>
              </a:defRPr>
            </a:lvl5pPr>
            <a:lvl6pPr algn="l">
              <a:defRPr sz="1950" b="0">
                <a:solidFill>
                  <a:srgbClr val="202124"/>
                </a:solidFill>
                <a:latin typeface="Arial"/>
                <a:ea typeface="Arial"/>
                <a:cs typeface="Arial"/>
              </a:defRPr>
            </a:lvl6pPr>
            <a:lvl7pPr algn="l">
              <a:defRPr sz="1950" b="0">
                <a:solidFill>
                  <a:srgbClr val="202124"/>
                </a:solidFill>
                <a:latin typeface="Arial"/>
                <a:ea typeface="Arial"/>
                <a:cs typeface="Arial"/>
              </a:defRPr>
            </a:lvl7pPr>
            <a:lvl8pPr algn="l">
              <a:defRPr sz="1950" b="0">
                <a:solidFill>
                  <a:srgbClr val="202124"/>
                </a:solidFill>
                <a:latin typeface="Arial"/>
                <a:ea typeface="Arial"/>
                <a:cs typeface="Arial"/>
              </a:defRPr>
            </a:lvl8pPr>
            <a:lvl9pPr algn="l">
              <a:defRPr sz="1950" b="0">
                <a:solidFill>
                  <a:srgbClr val="202124"/>
                </a:solidFill>
                <a:latin typeface="Arial"/>
                <a:ea typeface="Arial"/>
                <a:cs typeface="Arial"/>
              </a:defRPr>
            </a:lvl9pPr>
          </a:lstStyle>
          <a:p>
            <a:pPr algn="l">
              <a:defRPr sz="1950" b="0">
                <a:solidFill>
                  <a:srgbClr val="202124"/>
                </a:solidFill>
                <a:latin typeface="Arial"/>
                <a:ea typeface="Arial"/>
                <a:cs typeface="Arial"/>
              </a:defRPr>
            </a:pPr>
            <a:r>
              <a:rPr sz="1950" b="0">
                <a:solidFill>
                  <a:srgbClr val="202124"/>
                </a:solidFill>
                <a:latin typeface="Arial"/>
                <a:ea typeface="Arial"/>
                <a:cs typeface="Arial"/>
              </a:rPr>
              <a:t>Releasing contact does not necessarily reset the material.</a:t>
            </a:r>
          </a:p>
        </p:txBody>
      </p:sp>
      <p:sp>
        <p:nvSpPr>
          <p:cNvPr id="11" name="ambiguity">
            <a:extLst>
              <a:ext uri="{FF2B5EF4-FFF2-40B4-BE49-F238E27FC236}">
                <a16:creationId xmlns:a16="http://schemas.microsoft.com/office/drawing/2014/main" id="{430F5E53-A26B-4CFC-9BD6-47360F1EEF83}"/>
              </a:ext>
            </a:extLst>
          </p:cNvPr>
          <p:cNvSpPr>
            <a:spLocks noGrp="1"/>
          </p:cNvSpPr>
          <p:nvPr/>
        </p:nvSpPr>
        <p:spPr>
          <a:xfrm>
            <a:off x="914400" y="3286125"/>
            <a:ext cx="13411200" cy="381000"/>
          </a:xfrm>
          <a:prstGeom prst="rect">
            <a:avLst/>
          </a:prstGeom>
          <a:noFill/>
          <a:ln w="0">
            <a:noFill/>
          </a:ln>
        </p:spPr>
        <p:txBody>
          <a:bodyPr wrap="square" lIns="0" tIns="0" rIns="0" bIns="0" anchor="t">
            <a:noAutofit/>
          </a:bodyPr>
          <a:lstStyle>
            <a:defPPr algn="l">
              <a:defRPr sz="1650" b="0">
                <a:solidFill>
                  <a:srgbClr val="62666B"/>
                </a:solidFill>
                <a:latin typeface="Arial"/>
                <a:ea typeface="Arial"/>
                <a:cs typeface="Arial"/>
              </a:defRPr>
            </a:defPPr>
            <a:lvl1pPr algn="l">
              <a:defRPr sz="1650" b="0">
                <a:solidFill>
                  <a:srgbClr val="62666B"/>
                </a:solidFill>
                <a:latin typeface="Arial"/>
                <a:ea typeface="Arial"/>
                <a:cs typeface="Arial"/>
              </a:defRPr>
            </a:lvl1pPr>
            <a:lvl2pPr algn="l">
              <a:defRPr sz="1650" b="0">
                <a:solidFill>
                  <a:srgbClr val="62666B"/>
                </a:solidFill>
                <a:latin typeface="Arial"/>
                <a:ea typeface="Arial"/>
                <a:cs typeface="Arial"/>
              </a:defRPr>
            </a:lvl2pPr>
            <a:lvl3pPr algn="l">
              <a:defRPr sz="1650" b="0">
                <a:solidFill>
                  <a:srgbClr val="62666B"/>
                </a:solidFill>
                <a:latin typeface="Arial"/>
                <a:ea typeface="Arial"/>
                <a:cs typeface="Arial"/>
              </a:defRPr>
            </a:lvl3pPr>
            <a:lvl4pPr algn="l">
              <a:defRPr sz="1650" b="0">
                <a:solidFill>
                  <a:srgbClr val="62666B"/>
                </a:solidFill>
                <a:latin typeface="Arial"/>
                <a:ea typeface="Arial"/>
                <a:cs typeface="Arial"/>
              </a:defRPr>
            </a:lvl4pPr>
            <a:lvl5pPr algn="l">
              <a:defRPr sz="1650" b="0">
                <a:solidFill>
                  <a:srgbClr val="62666B"/>
                </a:solidFill>
                <a:latin typeface="Arial"/>
                <a:ea typeface="Arial"/>
                <a:cs typeface="Arial"/>
              </a:defRPr>
            </a:lvl5pPr>
            <a:lvl6pPr algn="l">
              <a:defRPr sz="1650" b="0">
                <a:solidFill>
                  <a:srgbClr val="62666B"/>
                </a:solidFill>
                <a:latin typeface="Arial"/>
                <a:ea typeface="Arial"/>
                <a:cs typeface="Arial"/>
              </a:defRPr>
            </a:lvl6pPr>
            <a:lvl7pPr algn="l">
              <a:defRPr sz="1650" b="0">
                <a:solidFill>
                  <a:srgbClr val="62666B"/>
                </a:solidFill>
                <a:latin typeface="Arial"/>
                <a:ea typeface="Arial"/>
                <a:cs typeface="Arial"/>
              </a:defRPr>
            </a:lvl7pPr>
            <a:lvl8pPr algn="l">
              <a:defRPr sz="1650" b="0">
                <a:solidFill>
                  <a:srgbClr val="62666B"/>
                </a:solidFill>
                <a:latin typeface="Arial"/>
                <a:ea typeface="Arial"/>
                <a:cs typeface="Arial"/>
              </a:defRPr>
            </a:lvl8pPr>
            <a:lvl9pPr algn="l">
              <a:defRPr sz="1650" b="0">
                <a:solidFill>
                  <a:srgbClr val="62666B"/>
                </a:solidFill>
                <a:latin typeface="Arial"/>
                <a:ea typeface="Arial"/>
                <a:cs typeface="Arial"/>
              </a:defRPr>
            </a:lvl9pPr>
          </a:lstStyle>
          <a:p>
            <a:pPr algn="l">
              <a:defRPr sz="1650" b="0">
                <a:solidFill>
                  <a:srgbClr val="62666B"/>
                </a:solidFill>
                <a:latin typeface="Arial"/>
                <a:ea typeface="Arial"/>
                <a:cs typeface="Arial"/>
              </a:defRPr>
            </a:pPr>
            <a:r>
              <a:rPr sz="1650" b="0">
                <a:solidFill>
                  <a:srgbClr val="62666B"/>
                </a:solidFill>
                <a:latin typeface="Arial"/>
                <a:ea typeface="Arial"/>
                <a:cs typeface="Arial"/>
              </a:rPr>
              <a:t>Similar current force and position may conceal different internal recovery states.</a:t>
            </a:r>
          </a:p>
        </p:txBody>
      </p:sp>
      <p:sp>
        <p:nvSpPr>
          <p:cNvPr id="12" name="idea-label">
            <a:extLst>
              <a:ext uri="{FF2B5EF4-FFF2-40B4-BE49-F238E27FC236}">
                <a16:creationId xmlns:a16="http://schemas.microsoft.com/office/drawing/2014/main" id="{1D9F736E-BC9D-49B0-A088-96BC781958D5}"/>
              </a:ext>
            </a:extLst>
          </p:cNvPr>
          <p:cNvSpPr>
            <a:spLocks noGrp="1"/>
          </p:cNvSpPr>
          <p:nvPr/>
        </p:nvSpPr>
        <p:spPr>
          <a:xfrm>
            <a:off x="914400" y="4067175"/>
            <a:ext cx="13411200" cy="295275"/>
          </a:xfrm>
          <a:prstGeom prst="rect">
            <a:avLst/>
          </a:prstGeom>
          <a:noFill/>
          <a:ln w="0">
            <a:noFill/>
          </a:ln>
        </p:spPr>
        <p:txBody>
          <a:bodyPr wrap="square" lIns="0" tIns="0" rIns="0" bIns="0" anchor="t">
            <a:noAutofit/>
          </a:bodyPr>
          <a:lstStyle>
            <a:defPPr algn="l">
              <a:defRPr sz="1500" b="1">
                <a:solidFill>
                  <a:srgbClr val="202124"/>
                </a:solidFill>
                <a:latin typeface="Arial"/>
                <a:ea typeface="Arial"/>
                <a:cs typeface="Arial"/>
              </a:defRPr>
            </a:defPPr>
            <a:lvl1pPr algn="l">
              <a:defRPr sz="1500" b="1">
                <a:solidFill>
                  <a:srgbClr val="202124"/>
                </a:solidFill>
                <a:latin typeface="Arial"/>
                <a:ea typeface="Arial"/>
                <a:cs typeface="Arial"/>
              </a:defRPr>
            </a:lvl1pPr>
            <a:lvl2pPr algn="l">
              <a:defRPr sz="1500" b="1">
                <a:solidFill>
                  <a:srgbClr val="202124"/>
                </a:solidFill>
                <a:latin typeface="Arial"/>
                <a:ea typeface="Arial"/>
                <a:cs typeface="Arial"/>
              </a:defRPr>
            </a:lvl2pPr>
            <a:lvl3pPr algn="l">
              <a:defRPr sz="1500" b="1">
                <a:solidFill>
                  <a:srgbClr val="202124"/>
                </a:solidFill>
                <a:latin typeface="Arial"/>
                <a:ea typeface="Arial"/>
                <a:cs typeface="Arial"/>
              </a:defRPr>
            </a:lvl3pPr>
            <a:lvl4pPr algn="l">
              <a:defRPr sz="1500" b="1">
                <a:solidFill>
                  <a:srgbClr val="202124"/>
                </a:solidFill>
                <a:latin typeface="Arial"/>
                <a:ea typeface="Arial"/>
                <a:cs typeface="Arial"/>
              </a:defRPr>
            </a:lvl4pPr>
            <a:lvl5pPr algn="l">
              <a:defRPr sz="1500" b="1">
                <a:solidFill>
                  <a:srgbClr val="202124"/>
                </a:solidFill>
                <a:latin typeface="Arial"/>
                <a:ea typeface="Arial"/>
                <a:cs typeface="Arial"/>
              </a:defRPr>
            </a:lvl5pPr>
            <a:lvl6pPr algn="l">
              <a:defRPr sz="1500" b="1">
                <a:solidFill>
                  <a:srgbClr val="202124"/>
                </a:solidFill>
                <a:latin typeface="Arial"/>
                <a:ea typeface="Arial"/>
                <a:cs typeface="Arial"/>
              </a:defRPr>
            </a:lvl6pPr>
            <a:lvl7pPr algn="l">
              <a:defRPr sz="1500" b="1">
                <a:solidFill>
                  <a:srgbClr val="202124"/>
                </a:solidFill>
                <a:latin typeface="Arial"/>
                <a:ea typeface="Arial"/>
                <a:cs typeface="Arial"/>
              </a:defRPr>
            </a:lvl7pPr>
            <a:lvl8pPr algn="l">
              <a:defRPr sz="1500" b="1">
                <a:solidFill>
                  <a:srgbClr val="202124"/>
                </a:solidFill>
                <a:latin typeface="Arial"/>
                <a:ea typeface="Arial"/>
                <a:cs typeface="Arial"/>
              </a:defRPr>
            </a:lvl8pPr>
            <a:lvl9pPr algn="l">
              <a:defRPr sz="1500" b="1">
                <a:solidFill>
                  <a:srgbClr val="202124"/>
                </a:solidFill>
                <a:latin typeface="Arial"/>
                <a:ea typeface="Arial"/>
                <a:cs typeface="Arial"/>
              </a:defRPr>
            </a:lvl9pPr>
          </a:lstStyle>
          <a:p>
            <a:pPr algn="l">
              <a:defRPr sz="1500" b="1">
                <a:solidFill>
                  <a:srgbClr val="202124"/>
                </a:solidFill>
                <a:latin typeface="Arial"/>
                <a:ea typeface="Arial"/>
                <a:cs typeface="Arial"/>
              </a:defRPr>
            </a:pPr>
            <a:r>
              <a:rPr sz="1500" b="1">
                <a:solidFill>
                  <a:srgbClr val="202124"/>
                </a:solidFill>
                <a:latin typeface="Arial"/>
                <a:ea typeface="Arial"/>
                <a:cs typeface="Arial"/>
              </a:rPr>
              <a:t>High-level idea</a:t>
            </a:r>
          </a:p>
        </p:txBody>
      </p:sp>
      <p:sp>
        <p:nvSpPr>
          <p:cNvPr id="13" name="idea">
            <a:extLst>
              <a:ext uri="{FF2B5EF4-FFF2-40B4-BE49-F238E27FC236}">
                <a16:creationId xmlns:a16="http://schemas.microsoft.com/office/drawing/2014/main" id="{13608171-883D-45FC-85B5-2A3446DC585C}"/>
              </a:ext>
            </a:extLst>
          </p:cNvPr>
          <p:cNvSpPr>
            <a:spLocks noGrp="1"/>
          </p:cNvSpPr>
          <p:nvPr/>
        </p:nvSpPr>
        <p:spPr>
          <a:xfrm>
            <a:off x="914400" y="4495800"/>
            <a:ext cx="13411200" cy="819150"/>
          </a:xfrm>
          <a:prstGeom prst="rect">
            <a:avLst/>
          </a:prstGeom>
          <a:noFill/>
          <a:ln w="0">
            <a:noFill/>
          </a:ln>
        </p:spPr>
        <p:txBody>
          <a:bodyPr wrap="square" lIns="0" tIns="0" rIns="0" bIns="0" anchor="t">
            <a:noAutofit/>
          </a:bodyPr>
          <a:lstStyle>
            <a:defPPr algn="l">
              <a:defRPr sz="2025" b="0">
                <a:solidFill>
                  <a:srgbClr val="202124"/>
                </a:solidFill>
                <a:latin typeface="Arial"/>
                <a:ea typeface="Arial"/>
                <a:cs typeface="Arial"/>
              </a:defRPr>
            </a:defPPr>
            <a:lvl1pPr algn="l">
              <a:defRPr sz="2025" b="0">
                <a:solidFill>
                  <a:srgbClr val="202124"/>
                </a:solidFill>
                <a:latin typeface="Arial"/>
                <a:ea typeface="Arial"/>
                <a:cs typeface="Arial"/>
              </a:defRPr>
            </a:lvl1pPr>
            <a:lvl2pPr algn="l">
              <a:defRPr sz="2025" b="0">
                <a:solidFill>
                  <a:srgbClr val="202124"/>
                </a:solidFill>
                <a:latin typeface="Arial"/>
                <a:ea typeface="Arial"/>
                <a:cs typeface="Arial"/>
              </a:defRPr>
            </a:lvl2pPr>
            <a:lvl3pPr algn="l">
              <a:defRPr sz="2025" b="0">
                <a:solidFill>
                  <a:srgbClr val="202124"/>
                </a:solidFill>
                <a:latin typeface="Arial"/>
                <a:ea typeface="Arial"/>
                <a:cs typeface="Arial"/>
              </a:defRPr>
            </a:lvl3pPr>
            <a:lvl4pPr algn="l">
              <a:defRPr sz="2025" b="0">
                <a:solidFill>
                  <a:srgbClr val="202124"/>
                </a:solidFill>
                <a:latin typeface="Arial"/>
                <a:ea typeface="Arial"/>
                <a:cs typeface="Arial"/>
              </a:defRPr>
            </a:lvl4pPr>
            <a:lvl5pPr algn="l">
              <a:defRPr sz="2025" b="0">
                <a:solidFill>
                  <a:srgbClr val="202124"/>
                </a:solidFill>
                <a:latin typeface="Arial"/>
                <a:ea typeface="Arial"/>
                <a:cs typeface="Arial"/>
              </a:defRPr>
            </a:lvl5pPr>
            <a:lvl6pPr algn="l">
              <a:defRPr sz="2025" b="0">
                <a:solidFill>
                  <a:srgbClr val="202124"/>
                </a:solidFill>
                <a:latin typeface="Arial"/>
                <a:ea typeface="Arial"/>
                <a:cs typeface="Arial"/>
              </a:defRPr>
            </a:lvl6pPr>
            <a:lvl7pPr algn="l">
              <a:defRPr sz="2025" b="0">
                <a:solidFill>
                  <a:srgbClr val="202124"/>
                </a:solidFill>
                <a:latin typeface="Arial"/>
                <a:ea typeface="Arial"/>
                <a:cs typeface="Arial"/>
              </a:defRPr>
            </a:lvl7pPr>
            <a:lvl8pPr algn="l">
              <a:defRPr sz="2025" b="0">
                <a:solidFill>
                  <a:srgbClr val="202124"/>
                </a:solidFill>
                <a:latin typeface="Arial"/>
                <a:ea typeface="Arial"/>
                <a:cs typeface="Arial"/>
              </a:defRPr>
            </a:lvl8pPr>
            <a:lvl9pPr algn="l">
              <a:defRPr sz="2025" b="0">
                <a:solidFill>
                  <a:srgbClr val="202124"/>
                </a:solidFill>
                <a:latin typeface="Arial"/>
                <a:ea typeface="Arial"/>
                <a:cs typeface="Arial"/>
              </a:defRPr>
            </a:lvl9pPr>
          </a:lstStyle>
          <a:p>
            <a:pPr algn="l">
              <a:defRPr sz="2025" b="0">
                <a:solidFill>
                  <a:srgbClr val="202124"/>
                </a:solidFill>
                <a:latin typeface="Arial"/>
                <a:ea typeface="Arial"/>
                <a:cs typeface="Arial"/>
              </a:defRPr>
            </a:pPr>
            <a:r>
              <a:rPr sz="2025" b="0">
                <a:solidFill>
                  <a:srgbClr val="202124"/>
                </a:solidFill>
                <a:latin typeface="Arial"/>
                <a:ea typeface="Arial"/>
                <a:cs typeface="Arial"/>
              </a:rPr>
              <a:t>Ground physical state in interaction history, then use its evolution</a:t>
            </a:r>
          </a:p>
          <a:p>
            <a:pPr algn="l">
              <a:defRPr sz="2025" b="0">
                <a:solidFill>
                  <a:srgbClr val="202124"/>
                </a:solidFill>
                <a:latin typeface="Arial"/>
                <a:ea typeface="Arial"/>
                <a:cs typeface="Arial"/>
              </a:defRPr>
            </a:pPr>
            <a:r>
              <a:rPr sz="2025" b="0">
                <a:solidFill>
                  <a:srgbClr val="202124"/>
                </a:solidFill>
                <a:latin typeface="Arial"/>
                <a:ea typeface="Arial"/>
                <a:cs typeface="Arial"/>
              </a:rPr>
              <a:t>to predict the consequences of a new action.</a:t>
            </a:r>
          </a:p>
        </p:txBody>
      </p:sp>
      <p:sp>
        <p:nvSpPr>
          <p:cNvPr id="14" name="question-title-1">
            <a:extLst>
              <a:ext uri="{FF2B5EF4-FFF2-40B4-BE49-F238E27FC236}">
                <a16:creationId xmlns:a16="http://schemas.microsoft.com/office/drawing/2014/main" id="{B98306E9-FCF1-4487-91AA-EC5BAEC17B76}"/>
              </a:ext>
            </a:extLst>
          </p:cNvPr>
          <p:cNvSpPr>
            <a:spLocks noGrp="1"/>
          </p:cNvSpPr>
          <p:nvPr/>
        </p:nvSpPr>
        <p:spPr>
          <a:xfrm>
            <a:off x="914400" y="5867400"/>
            <a:ext cx="4000500" cy="352425"/>
          </a:xfrm>
          <a:prstGeom prst="rect">
            <a:avLst/>
          </a:prstGeom>
          <a:noFill/>
          <a:ln w="0">
            <a:noFill/>
          </a:ln>
        </p:spPr>
        <p:txBody>
          <a:bodyPr wrap="square" lIns="0" tIns="0" rIns="0" bIns="0" anchor="t">
            <a:noAutofit/>
          </a:bodyPr>
          <a:lstStyle>
            <a:defPPr algn="l">
              <a:defRPr sz="1725" b="1">
                <a:solidFill>
                  <a:srgbClr val="202124"/>
                </a:solidFill>
                <a:latin typeface="Arial"/>
                <a:ea typeface="Arial"/>
                <a:cs typeface="Arial"/>
              </a:defRPr>
            </a:defPPr>
            <a:lvl1pPr algn="l">
              <a:defRPr sz="1725" b="1">
                <a:solidFill>
                  <a:srgbClr val="202124"/>
                </a:solidFill>
                <a:latin typeface="Arial"/>
                <a:ea typeface="Arial"/>
                <a:cs typeface="Arial"/>
              </a:defRPr>
            </a:lvl1pPr>
            <a:lvl2pPr algn="l">
              <a:defRPr sz="1725" b="1">
                <a:solidFill>
                  <a:srgbClr val="202124"/>
                </a:solidFill>
                <a:latin typeface="Arial"/>
                <a:ea typeface="Arial"/>
                <a:cs typeface="Arial"/>
              </a:defRPr>
            </a:lvl2pPr>
            <a:lvl3pPr algn="l">
              <a:defRPr sz="1725" b="1">
                <a:solidFill>
                  <a:srgbClr val="202124"/>
                </a:solidFill>
                <a:latin typeface="Arial"/>
                <a:ea typeface="Arial"/>
                <a:cs typeface="Arial"/>
              </a:defRPr>
            </a:lvl3pPr>
            <a:lvl4pPr algn="l">
              <a:defRPr sz="1725" b="1">
                <a:solidFill>
                  <a:srgbClr val="202124"/>
                </a:solidFill>
                <a:latin typeface="Arial"/>
                <a:ea typeface="Arial"/>
                <a:cs typeface="Arial"/>
              </a:defRPr>
            </a:lvl4pPr>
            <a:lvl5pPr algn="l">
              <a:defRPr sz="1725" b="1">
                <a:solidFill>
                  <a:srgbClr val="202124"/>
                </a:solidFill>
                <a:latin typeface="Arial"/>
                <a:ea typeface="Arial"/>
                <a:cs typeface="Arial"/>
              </a:defRPr>
            </a:lvl5pPr>
            <a:lvl6pPr algn="l">
              <a:defRPr sz="1725" b="1">
                <a:solidFill>
                  <a:srgbClr val="202124"/>
                </a:solidFill>
                <a:latin typeface="Arial"/>
                <a:ea typeface="Arial"/>
                <a:cs typeface="Arial"/>
              </a:defRPr>
            </a:lvl6pPr>
            <a:lvl7pPr algn="l">
              <a:defRPr sz="1725" b="1">
                <a:solidFill>
                  <a:srgbClr val="202124"/>
                </a:solidFill>
                <a:latin typeface="Arial"/>
                <a:ea typeface="Arial"/>
                <a:cs typeface="Arial"/>
              </a:defRPr>
            </a:lvl7pPr>
            <a:lvl8pPr algn="l">
              <a:defRPr sz="1725" b="1">
                <a:solidFill>
                  <a:srgbClr val="202124"/>
                </a:solidFill>
                <a:latin typeface="Arial"/>
                <a:ea typeface="Arial"/>
                <a:cs typeface="Arial"/>
              </a:defRPr>
            </a:lvl8pPr>
            <a:lvl9pPr algn="l">
              <a:defRPr sz="1725" b="1">
                <a:solidFill>
                  <a:srgbClr val="202124"/>
                </a:solidFill>
                <a:latin typeface="Arial"/>
                <a:ea typeface="Arial"/>
                <a:cs typeface="Arial"/>
              </a:defRPr>
            </a:lvl9pPr>
          </a:lstStyle>
          <a:p>
            <a:pPr algn="l">
              <a:defRPr sz="1725" b="1">
                <a:solidFill>
                  <a:srgbClr val="202124"/>
                </a:solidFill>
                <a:latin typeface="Arial"/>
                <a:ea typeface="Arial"/>
                <a:cs typeface="Arial"/>
              </a:defRPr>
            </a:pPr>
            <a:r>
              <a:rPr sz="1725" b="1">
                <a:solidFill>
                  <a:srgbClr val="202124"/>
                </a:solidFill>
                <a:latin typeface="Arial"/>
                <a:ea typeface="Arial"/>
                <a:cs typeface="Arial"/>
              </a:rPr>
              <a:t>1  Grounding</a:t>
            </a:r>
          </a:p>
        </p:txBody>
      </p:sp>
      <p:sp>
        <p:nvSpPr>
          <p:cNvPr id="15" name="question-1">
            <a:extLst>
              <a:ext uri="{FF2B5EF4-FFF2-40B4-BE49-F238E27FC236}">
                <a16:creationId xmlns:a16="http://schemas.microsoft.com/office/drawing/2014/main" id="{3D2211F8-3BE6-423A-838D-6B669278F1AD}"/>
              </a:ext>
            </a:extLst>
          </p:cNvPr>
          <p:cNvSpPr>
            <a:spLocks noGrp="1"/>
          </p:cNvSpPr>
          <p:nvPr/>
        </p:nvSpPr>
        <p:spPr>
          <a:xfrm>
            <a:off x="914400" y="6353175"/>
            <a:ext cx="4000500" cy="895350"/>
          </a:xfrm>
          <a:prstGeom prst="rect">
            <a:avLst/>
          </a:prstGeom>
          <a:noFill/>
          <a:ln w="0">
            <a:noFill/>
          </a:ln>
        </p:spPr>
        <p:txBody>
          <a:bodyPr wrap="square" lIns="0" tIns="0" rIns="0" bIns="0" anchor="t">
            <a:noAutofit/>
          </a:bodyPr>
          <a:lstStyle>
            <a:defPPr algn="l">
              <a:defRPr sz="1650" b="0">
                <a:solidFill>
                  <a:srgbClr val="62666B"/>
                </a:solidFill>
                <a:latin typeface="Arial"/>
                <a:ea typeface="Arial"/>
                <a:cs typeface="Arial"/>
              </a:defRPr>
            </a:defPPr>
            <a:lvl1pPr algn="l">
              <a:defRPr sz="1650" b="0">
                <a:solidFill>
                  <a:srgbClr val="62666B"/>
                </a:solidFill>
                <a:latin typeface="Arial"/>
                <a:ea typeface="Arial"/>
                <a:cs typeface="Arial"/>
              </a:defRPr>
            </a:lvl1pPr>
            <a:lvl2pPr algn="l">
              <a:defRPr sz="1650" b="0">
                <a:solidFill>
                  <a:srgbClr val="62666B"/>
                </a:solidFill>
                <a:latin typeface="Arial"/>
                <a:ea typeface="Arial"/>
                <a:cs typeface="Arial"/>
              </a:defRPr>
            </a:lvl2pPr>
            <a:lvl3pPr algn="l">
              <a:defRPr sz="1650" b="0">
                <a:solidFill>
                  <a:srgbClr val="62666B"/>
                </a:solidFill>
                <a:latin typeface="Arial"/>
                <a:ea typeface="Arial"/>
                <a:cs typeface="Arial"/>
              </a:defRPr>
            </a:lvl3pPr>
            <a:lvl4pPr algn="l">
              <a:defRPr sz="1650" b="0">
                <a:solidFill>
                  <a:srgbClr val="62666B"/>
                </a:solidFill>
                <a:latin typeface="Arial"/>
                <a:ea typeface="Arial"/>
                <a:cs typeface="Arial"/>
              </a:defRPr>
            </a:lvl4pPr>
            <a:lvl5pPr algn="l">
              <a:defRPr sz="1650" b="0">
                <a:solidFill>
                  <a:srgbClr val="62666B"/>
                </a:solidFill>
                <a:latin typeface="Arial"/>
                <a:ea typeface="Arial"/>
                <a:cs typeface="Arial"/>
              </a:defRPr>
            </a:lvl5pPr>
            <a:lvl6pPr algn="l">
              <a:defRPr sz="1650" b="0">
                <a:solidFill>
                  <a:srgbClr val="62666B"/>
                </a:solidFill>
                <a:latin typeface="Arial"/>
                <a:ea typeface="Arial"/>
                <a:cs typeface="Arial"/>
              </a:defRPr>
            </a:lvl6pPr>
            <a:lvl7pPr algn="l">
              <a:defRPr sz="1650" b="0">
                <a:solidFill>
                  <a:srgbClr val="62666B"/>
                </a:solidFill>
                <a:latin typeface="Arial"/>
                <a:ea typeface="Arial"/>
                <a:cs typeface="Arial"/>
              </a:defRPr>
            </a:lvl7pPr>
            <a:lvl8pPr algn="l">
              <a:defRPr sz="1650" b="0">
                <a:solidFill>
                  <a:srgbClr val="62666B"/>
                </a:solidFill>
                <a:latin typeface="Arial"/>
                <a:ea typeface="Arial"/>
                <a:cs typeface="Arial"/>
              </a:defRPr>
            </a:lvl8pPr>
            <a:lvl9pPr algn="l">
              <a:defRPr sz="1650" b="0">
                <a:solidFill>
                  <a:srgbClr val="62666B"/>
                </a:solidFill>
                <a:latin typeface="Arial"/>
                <a:ea typeface="Arial"/>
                <a:cs typeface="Arial"/>
              </a:defRPr>
            </a:lvl9pPr>
          </a:lstStyle>
          <a:p>
            <a:pPr algn="l">
              <a:defRPr sz="1650" b="0">
                <a:solidFill>
                  <a:srgbClr val="62666B"/>
                </a:solidFill>
                <a:latin typeface="Arial"/>
                <a:ea typeface="Arial"/>
                <a:cs typeface="Arial"/>
              </a:defRPr>
            </a:pPr>
            <a:r>
              <a:rPr sz="1650" b="0">
                <a:solidFill>
                  <a:srgbClr val="62666B"/>
                </a:solidFill>
                <a:latin typeface="Arial"/>
                <a:ea typeface="Arial"/>
                <a:cs typeface="Arial"/>
              </a:rPr>
              <a:t>Does history resolve ambiguity</a:t>
            </a:r>
          </a:p>
          <a:p>
            <a:pPr algn="l">
              <a:defRPr sz="1650" b="0">
                <a:solidFill>
                  <a:srgbClr val="62666B"/>
                </a:solidFill>
                <a:latin typeface="Arial"/>
                <a:ea typeface="Arial"/>
                <a:cs typeface="Arial"/>
              </a:defRPr>
            </a:pPr>
            <a:r>
              <a:rPr sz="1650" b="0">
                <a:solidFill>
                  <a:srgbClr val="62666B"/>
                </a:solidFill>
                <a:latin typeface="Arial"/>
                <a:ea typeface="Arial"/>
                <a:cs typeface="Arial"/>
              </a:rPr>
              <a:t>in current readings?</a:t>
            </a:r>
          </a:p>
        </p:txBody>
      </p:sp>
      <p:sp>
        <p:nvSpPr>
          <p:cNvPr id="16" name="question-title-2">
            <a:extLst>
              <a:ext uri="{FF2B5EF4-FFF2-40B4-BE49-F238E27FC236}">
                <a16:creationId xmlns:a16="http://schemas.microsoft.com/office/drawing/2014/main" id="{B2B43705-877D-40E9-96A7-6EE045E0F337}"/>
              </a:ext>
            </a:extLst>
          </p:cNvPr>
          <p:cNvSpPr>
            <a:spLocks noGrp="1"/>
          </p:cNvSpPr>
          <p:nvPr/>
        </p:nvSpPr>
        <p:spPr>
          <a:xfrm>
            <a:off x="5619750" y="5867400"/>
            <a:ext cx="4000500" cy="352425"/>
          </a:xfrm>
          <a:prstGeom prst="rect">
            <a:avLst/>
          </a:prstGeom>
          <a:noFill/>
          <a:ln w="0">
            <a:noFill/>
          </a:ln>
        </p:spPr>
        <p:txBody>
          <a:bodyPr wrap="square" lIns="0" tIns="0" rIns="0" bIns="0" anchor="t">
            <a:noAutofit/>
          </a:bodyPr>
          <a:lstStyle>
            <a:defPPr algn="l">
              <a:defRPr sz="1725" b="1">
                <a:solidFill>
                  <a:srgbClr val="202124"/>
                </a:solidFill>
                <a:latin typeface="Arial"/>
                <a:ea typeface="Arial"/>
                <a:cs typeface="Arial"/>
              </a:defRPr>
            </a:defPPr>
            <a:lvl1pPr algn="l">
              <a:defRPr sz="1725" b="1">
                <a:solidFill>
                  <a:srgbClr val="202124"/>
                </a:solidFill>
                <a:latin typeface="Arial"/>
                <a:ea typeface="Arial"/>
                <a:cs typeface="Arial"/>
              </a:defRPr>
            </a:lvl1pPr>
            <a:lvl2pPr algn="l">
              <a:defRPr sz="1725" b="1">
                <a:solidFill>
                  <a:srgbClr val="202124"/>
                </a:solidFill>
                <a:latin typeface="Arial"/>
                <a:ea typeface="Arial"/>
                <a:cs typeface="Arial"/>
              </a:defRPr>
            </a:lvl2pPr>
            <a:lvl3pPr algn="l">
              <a:defRPr sz="1725" b="1">
                <a:solidFill>
                  <a:srgbClr val="202124"/>
                </a:solidFill>
                <a:latin typeface="Arial"/>
                <a:ea typeface="Arial"/>
                <a:cs typeface="Arial"/>
              </a:defRPr>
            </a:lvl3pPr>
            <a:lvl4pPr algn="l">
              <a:defRPr sz="1725" b="1">
                <a:solidFill>
                  <a:srgbClr val="202124"/>
                </a:solidFill>
                <a:latin typeface="Arial"/>
                <a:ea typeface="Arial"/>
                <a:cs typeface="Arial"/>
              </a:defRPr>
            </a:lvl4pPr>
            <a:lvl5pPr algn="l">
              <a:defRPr sz="1725" b="1">
                <a:solidFill>
                  <a:srgbClr val="202124"/>
                </a:solidFill>
                <a:latin typeface="Arial"/>
                <a:ea typeface="Arial"/>
                <a:cs typeface="Arial"/>
              </a:defRPr>
            </a:lvl5pPr>
            <a:lvl6pPr algn="l">
              <a:defRPr sz="1725" b="1">
                <a:solidFill>
                  <a:srgbClr val="202124"/>
                </a:solidFill>
                <a:latin typeface="Arial"/>
                <a:ea typeface="Arial"/>
                <a:cs typeface="Arial"/>
              </a:defRPr>
            </a:lvl6pPr>
            <a:lvl7pPr algn="l">
              <a:defRPr sz="1725" b="1">
                <a:solidFill>
                  <a:srgbClr val="202124"/>
                </a:solidFill>
                <a:latin typeface="Arial"/>
                <a:ea typeface="Arial"/>
                <a:cs typeface="Arial"/>
              </a:defRPr>
            </a:lvl7pPr>
            <a:lvl8pPr algn="l">
              <a:defRPr sz="1725" b="1">
                <a:solidFill>
                  <a:srgbClr val="202124"/>
                </a:solidFill>
                <a:latin typeface="Arial"/>
                <a:ea typeface="Arial"/>
                <a:cs typeface="Arial"/>
              </a:defRPr>
            </a:lvl8pPr>
            <a:lvl9pPr algn="l">
              <a:defRPr sz="1725" b="1">
                <a:solidFill>
                  <a:srgbClr val="202124"/>
                </a:solidFill>
                <a:latin typeface="Arial"/>
                <a:ea typeface="Arial"/>
                <a:cs typeface="Arial"/>
              </a:defRPr>
            </a:lvl9pPr>
          </a:lstStyle>
          <a:p>
            <a:pPr algn="l">
              <a:defRPr sz="1725" b="1">
                <a:solidFill>
                  <a:srgbClr val="202124"/>
                </a:solidFill>
                <a:latin typeface="Arial"/>
                <a:ea typeface="Arial"/>
                <a:cs typeface="Arial"/>
              </a:defRPr>
            </a:pPr>
            <a:r>
              <a:rPr sz="1725" b="1">
                <a:solidFill>
                  <a:srgbClr val="202124"/>
                </a:solidFill>
                <a:latin typeface="Arial"/>
                <a:ea typeface="Arial"/>
                <a:cs typeface="Arial"/>
              </a:rPr>
              <a:t>2  Transfer</a:t>
            </a:r>
          </a:p>
        </p:txBody>
      </p:sp>
      <p:sp>
        <p:nvSpPr>
          <p:cNvPr id="17" name="question-2">
            <a:extLst>
              <a:ext uri="{FF2B5EF4-FFF2-40B4-BE49-F238E27FC236}">
                <a16:creationId xmlns:a16="http://schemas.microsoft.com/office/drawing/2014/main" id="{0B473C61-B817-40B3-AD1A-AC10A69BF656}"/>
              </a:ext>
            </a:extLst>
          </p:cNvPr>
          <p:cNvSpPr>
            <a:spLocks noGrp="1"/>
          </p:cNvSpPr>
          <p:nvPr/>
        </p:nvSpPr>
        <p:spPr>
          <a:xfrm>
            <a:off x="5619750" y="6353175"/>
            <a:ext cx="4000500" cy="895350"/>
          </a:xfrm>
          <a:prstGeom prst="rect">
            <a:avLst/>
          </a:prstGeom>
          <a:noFill/>
          <a:ln w="0">
            <a:noFill/>
          </a:ln>
        </p:spPr>
        <p:txBody>
          <a:bodyPr wrap="square" lIns="0" tIns="0" rIns="0" bIns="0" anchor="t">
            <a:noAutofit/>
          </a:bodyPr>
          <a:lstStyle>
            <a:defPPr algn="l">
              <a:defRPr sz="1650" b="0">
                <a:solidFill>
                  <a:srgbClr val="62666B"/>
                </a:solidFill>
                <a:latin typeface="Arial"/>
                <a:ea typeface="Arial"/>
                <a:cs typeface="Arial"/>
              </a:defRPr>
            </a:defPPr>
            <a:lvl1pPr algn="l">
              <a:defRPr sz="1650" b="0">
                <a:solidFill>
                  <a:srgbClr val="62666B"/>
                </a:solidFill>
                <a:latin typeface="Arial"/>
                <a:ea typeface="Arial"/>
                <a:cs typeface="Arial"/>
              </a:defRPr>
            </a:lvl1pPr>
            <a:lvl2pPr algn="l">
              <a:defRPr sz="1650" b="0">
                <a:solidFill>
                  <a:srgbClr val="62666B"/>
                </a:solidFill>
                <a:latin typeface="Arial"/>
                <a:ea typeface="Arial"/>
                <a:cs typeface="Arial"/>
              </a:defRPr>
            </a:lvl2pPr>
            <a:lvl3pPr algn="l">
              <a:defRPr sz="1650" b="0">
                <a:solidFill>
                  <a:srgbClr val="62666B"/>
                </a:solidFill>
                <a:latin typeface="Arial"/>
                <a:ea typeface="Arial"/>
                <a:cs typeface="Arial"/>
              </a:defRPr>
            </a:lvl3pPr>
            <a:lvl4pPr algn="l">
              <a:defRPr sz="1650" b="0">
                <a:solidFill>
                  <a:srgbClr val="62666B"/>
                </a:solidFill>
                <a:latin typeface="Arial"/>
                <a:ea typeface="Arial"/>
                <a:cs typeface="Arial"/>
              </a:defRPr>
            </a:lvl4pPr>
            <a:lvl5pPr algn="l">
              <a:defRPr sz="1650" b="0">
                <a:solidFill>
                  <a:srgbClr val="62666B"/>
                </a:solidFill>
                <a:latin typeface="Arial"/>
                <a:ea typeface="Arial"/>
                <a:cs typeface="Arial"/>
              </a:defRPr>
            </a:lvl5pPr>
            <a:lvl6pPr algn="l">
              <a:defRPr sz="1650" b="0">
                <a:solidFill>
                  <a:srgbClr val="62666B"/>
                </a:solidFill>
                <a:latin typeface="Arial"/>
                <a:ea typeface="Arial"/>
                <a:cs typeface="Arial"/>
              </a:defRPr>
            </a:lvl6pPr>
            <a:lvl7pPr algn="l">
              <a:defRPr sz="1650" b="0">
                <a:solidFill>
                  <a:srgbClr val="62666B"/>
                </a:solidFill>
                <a:latin typeface="Arial"/>
                <a:ea typeface="Arial"/>
                <a:cs typeface="Arial"/>
              </a:defRPr>
            </a:lvl7pPr>
            <a:lvl8pPr algn="l">
              <a:defRPr sz="1650" b="0">
                <a:solidFill>
                  <a:srgbClr val="62666B"/>
                </a:solidFill>
                <a:latin typeface="Arial"/>
                <a:ea typeface="Arial"/>
                <a:cs typeface="Arial"/>
              </a:defRPr>
            </a:lvl8pPr>
            <a:lvl9pPr algn="l">
              <a:defRPr sz="1650" b="0">
                <a:solidFill>
                  <a:srgbClr val="62666B"/>
                </a:solidFill>
                <a:latin typeface="Arial"/>
                <a:ea typeface="Arial"/>
                <a:cs typeface="Arial"/>
              </a:defRPr>
            </a:lvl9pPr>
          </a:lstStyle>
          <a:p>
            <a:pPr algn="l">
              <a:defRPr sz="1650" b="0">
                <a:solidFill>
                  <a:srgbClr val="62666B"/>
                </a:solidFill>
                <a:latin typeface="Arial"/>
                <a:ea typeface="Arial"/>
                <a:cs typeface="Arial"/>
              </a:defRPr>
            </a:pPr>
            <a:r>
              <a:rPr sz="1650" b="0">
                <a:solidFill>
                  <a:srgbClr val="62666B"/>
                </a:solidFill>
                <a:latin typeface="Arial"/>
                <a:ea typeface="Arial"/>
                <a:cs typeface="Arial"/>
              </a:rPr>
              <a:t>Can the same state predict under</a:t>
            </a:r>
          </a:p>
          <a:p>
            <a:pPr algn="l">
              <a:defRPr sz="1650" b="0">
                <a:solidFill>
                  <a:srgbClr val="62666B"/>
                </a:solidFill>
                <a:latin typeface="Arial"/>
                <a:ea typeface="Arial"/>
                <a:cs typeface="Arial"/>
              </a:defRPr>
            </a:pPr>
            <a:r>
              <a:rPr sz="1650" b="0">
                <a:solidFill>
                  <a:srgbClr val="62666B"/>
                </a:solidFill>
                <a:latin typeface="Arial"/>
                <a:ea typeface="Arial"/>
                <a:cs typeface="Arial"/>
              </a:rPr>
              <a:t>new commands and control settings?</a:t>
            </a:r>
          </a:p>
        </p:txBody>
      </p:sp>
      <p:sp>
        <p:nvSpPr>
          <p:cNvPr id="18" name="question-title-3">
            <a:extLst>
              <a:ext uri="{FF2B5EF4-FFF2-40B4-BE49-F238E27FC236}">
                <a16:creationId xmlns:a16="http://schemas.microsoft.com/office/drawing/2014/main" id="{658768EB-AED0-44E1-8242-0C4CD4479C72}"/>
              </a:ext>
            </a:extLst>
          </p:cNvPr>
          <p:cNvSpPr>
            <a:spLocks noGrp="1"/>
          </p:cNvSpPr>
          <p:nvPr/>
        </p:nvSpPr>
        <p:spPr>
          <a:xfrm>
            <a:off x="10325100" y="5867400"/>
            <a:ext cx="4000500" cy="352425"/>
          </a:xfrm>
          <a:prstGeom prst="rect">
            <a:avLst/>
          </a:prstGeom>
          <a:noFill/>
          <a:ln w="0">
            <a:noFill/>
          </a:ln>
        </p:spPr>
        <p:txBody>
          <a:bodyPr wrap="square" lIns="0" tIns="0" rIns="0" bIns="0" anchor="t">
            <a:noAutofit/>
          </a:bodyPr>
          <a:lstStyle>
            <a:defPPr algn="l">
              <a:defRPr sz="1725" b="1">
                <a:solidFill>
                  <a:srgbClr val="202124"/>
                </a:solidFill>
                <a:latin typeface="Arial"/>
                <a:ea typeface="Arial"/>
                <a:cs typeface="Arial"/>
              </a:defRPr>
            </a:defPPr>
            <a:lvl1pPr algn="l">
              <a:defRPr sz="1725" b="1">
                <a:solidFill>
                  <a:srgbClr val="202124"/>
                </a:solidFill>
                <a:latin typeface="Arial"/>
                <a:ea typeface="Arial"/>
                <a:cs typeface="Arial"/>
              </a:defRPr>
            </a:lvl1pPr>
            <a:lvl2pPr algn="l">
              <a:defRPr sz="1725" b="1">
                <a:solidFill>
                  <a:srgbClr val="202124"/>
                </a:solidFill>
                <a:latin typeface="Arial"/>
                <a:ea typeface="Arial"/>
                <a:cs typeface="Arial"/>
              </a:defRPr>
            </a:lvl2pPr>
            <a:lvl3pPr algn="l">
              <a:defRPr sz="1725" b="1">
                <a:solidFill>
                  <a:srgbClr val="202124"/>
                </a:solidFill>
                <a:latin typeface="Arial"/>
                <a:ea typeface="Arial"/>
                <a:cs typeface="Arial"/>
              </a:defRPr>
            </a:lvl3pPr>
            <a:lvl4pPr algn="l">
              <a:defRPr sz="1725" b="1">
                <a:solidFill>
                  <a:srgbClr val="202124"/>
                </a:solidFill>
                <a:latin typeface="Arial"/>
                <a:ea typeface="Arial"/>
                <a:cs typeface="Arial"/>
              </a:defRPr>
            </a:lvl4pPr>
            <a:lvl5pPr algn="l">
              <a:defRPr sz="1725" b="1">
                <a:solidFill>
                  <a:srgbClr val="202124"/>
                </a:solidFill>
                <a:latin typeface="Arial"/>
                <a:ea typeface="Arial"/>
                <a:cs typeface="Arial"/>
              </a:defRPr>
            </a:lvl5pPr>
            <a:lvl6pPr algn="l">
              <a:defRPr sz="1725" b="1">
                <a:solidFill>
                  <a:srgbClr val="202124"/>
                </a:solidFill>
                <a:latin typeface="Arial"/>
                <a:ea typeface="Arial"/>
                <a:cs typeface="Arial"/>
              </a:defRPr>
            </a:lvl6pPr>
            <a:lvl7pPr algn="l">
              <a:defRPr sz="1725" b="1">
                <a:solidFill>
                  <a:srgbClr val="202124"/>
                </a:solidFill>
                <a:latin typeface="Arial"/>
                <a:ea typeface="Arial"/>
                <a:cs typeface="Arial"/>
              </a:defRPr>
            </a:lvl7pPr>
            <a:lvl8pPr algn="l">
              <a:defRPr sz="1725" b="1">
                <a:solidFill>
                  <a:srgbClr val="202124"/>
                </a:solidFill>
                <a:latin typeface="Arial"/>
                <a:ea typeface="Arial"/>
                <a:cs typeface="Arial"/>
              </a:defRPr>
            </a:lvl8pPr>
            <a:lvl9pPr algn="l">
              <a:defRPr sz="1725" b="1">
                <a:solidFill>
                  <a:srgbClr val="202124"/>
                </a:solidFill>
                <a:latin typeface="Arial"/>
                <a:ea typeface="Arial"/>
                <a:cs typeface="Arial"/>
              </a:defRPr>
            </a:lvl9pPr>
          </a:lstStyle>
          <a:p>
            <a:pPr algn="l">
              <a:defRPr sz="1725" b="1">
                <a:solidFill>
                  <a:srgbClr val="202124"/>
                </a:solidFill>
                <a:latin typeface="Arial"/>
                <a:ea typeface="Arial"/>
                <a:cs typeface="Arial"/>
              </a:defRPr>
            </a:pPr>
            <a:r>
              <a:rPr sz="1725" b="1">
                <a:solidFill>
                  <a:srgbClr val="202124"/>
                </a:solidFill>
                <a:latin typeface="Arial"/>
                <a:ea typeface="Arial"/>
                <a:cs typeface="Arial"/>
              </a:rPr>
              <a:t>3  Action value</a:t>
            </a:r>
          </a:p>
        </p:txBody>
      </p:sp>
      <p:sp>
        <p:nvSpPr>
          <p:cNvPr id="19" name="question-3">
            <a:extLst>
              <a:ext uri="{FF2B5EF4-FFF2-40B4-BE49-F238E27FC236}">
                <a16:creationId xmlns:a16="http://schemas.microsoft.com/office/drawing/2014/main" id="{38617E4B-B7B2-4E1D-AA82-23360EB114C5}"/>
              </a:ext>
            </a:extLst>
          </p:cNvPr>
          <p:cNvSpPr>
            <a:spLocks noGrp="1"/>
          </p:cNvSpPr>
          <p:nvPr/>
        </p:nvSpPr>
        <p:spPr>
          <a:xfrm>
            <a:off x="10325100" y="6353175"/>
            <a:ext cx="4000500" cy="895350"/>
          </a:xfrm>
          <a:prstGeom prst="rect">
            <a:avLst/>
          </a:prstGeom>
          <a:noFill/>
          <a:ln w="0">
            <a:noFill/>
          </a:ln>
        </p:spPr>
        <p:txBody>
          <a:bodyPr wrap="square" lIns="0" tIns="0" rIns="0" bIns="0" anchor="t">
            <a:noAutofit/>
          </a:bodyPr>
          <a:lstStyle>
            <a:defPPr algn="l">
              <a:defRPr sz="1650" b="0">
                <a:solidFill>
                  <a:srgbClr val="62666B"/>
                </a:solidFill>
                <a:latin typeface="Arial"/>
                <a:ea typeface="Arial"/>
                <a:cs typeface="Arial"/>
              </a:defRPr>
            </a:defPPr>
            <a:lvl1pPr algn="l">
              <a:defRPr sz="1650" b="0">
                <a:solidFill>
                  <a:srgbClr val="62666B"/>
                </a:solidFill>
                <a:latin typeface="Arial"/>
                <a:ea typeface="Arial"/>
                <a:cs typeface="Arial"/>
              </a:defRPr>
            </a:lvl1pPr>
            <a:lvl2pPr algn="l">
              <a:defRPr sz="1650" b="0">
                <a:solidFill>
                  <a:srgbClr val="62666B"/>
                </a:solidFill>
                <a:latin typeface="Arial"/>
                <a:ea typeface="Arial"/>
                <a:cs typeface="Arial"/>
              </a:defRPr>
            </a:lvl2pPr>
            <a:lvl3pPr algn="l">
              <a:defRPr sz="1650" b="0">
                <a:solidFill>
                  <a:srgbClr val="62666B"/>
                </a:solidFill>
                <a:latin typeface="Arial"/>
                <a:ea typeface="Arial"/>
                <a:cs typeface="Arial"/>
              </a:defRPr>
            </a:lvl3pPr>
            <a:lvl4pPr algn="l">
              <a:defRPr sz="1650" b="0">
                <a:solidFill>
                  <a:srgbClr val="62666B"/>
                </a:solidFill>
                <a:latin typeface="Arial"/>
                <a:ea typeface="Arial"/>
                <a:cs typeface="Arial"/>
              </a:defRPr>
            </a:lvl4pPr>
            <a:lvl5pPr algn="l">
              <a:defRPr sz="1650" b="0">
                <a:solidFill>
                  <a:srgbClr val="62666B"/>
                </a:solidFill>
                <a:latin typeface="Arial"/>
                <a:ea typeface="Arial"/>
                <a:cs typeface="Arial"/>
              </a:defRPr>
            </a:lvl5pPr>
            <a:lvl6pPr algn="l">
              <a:defRPr sz="1650" b="0">
                <a:solidFill>
                  <a:srgbClr val="62666B"/>
                </a:solidFill>
                <a:latin typeface="Arial"/>
                <a:ea typeface="Arial"/>
                <a:cs typeface="Arial"/>
              </a:defRPr>
            </a:lvl6pPr>
            <a:lvl7pPr algn="l">
              <a:defRPr sz="1650" b="0">
                <a:solidFill>
                  <a:srgbClr val="62666B"/>
                </a:solidFill>
                <a:latin typeface="Arial"/>
                <a:ea typeface="Arial"/>
                <a:cs typeface="Arial"/>
              </a:defRPr>
            </a:lvl7pPr>
            <a:lvl8pPr algn="l">
              <a:defRPr sz="1650" b="0">
                <a:solidFill>
                  <a:srgbClr val="62666B"/>
                </a:solidFill>
                <a:latin typeface="Arial"/>
                <a:ea typeface="Arial"/>
                <a:cs typeface="Arial"/>
              </a:defRPr>
            </a:lvl8pPr>
            <a:lvl9pPr algn="l">
              <a:defRPr sz="1650" b="0">
                <a:solidFill>
                  <a:srgbClr val="62666B"/>
                </a:solidFill>
                <a:latin typeface="Arial"/>
                <a:ea typeface="Arial"/>
                <a:cs typeface="Arial"/>
              </a:defRPr>
            </a:lvl9pPr>
          </a:lstStyle>
          <a:p>
            <a:pPr algn="l">
              <a:defRPr sz="1650" b="0">
                <a:solidFill>
                  <a:srgbClr val="62666B"/>
                </a:solidFill>
                <a:latin typeface="Arial"/>
                <a:ea typeface="Arial"/>
                <a:cs typeface="Arial"/>
              </a:defRPr>
            </a:pPr>
            <a:r>
              <a:rPr sz="1650" b="0">
                <a:solidFill>
                  <a:srgbClr val="62666B"/>
                </a:solidFill>
                <a:latin typeface="Arial"/>
                <a:ea typeface="Arial"/>
                <a:cs typeface="Arial"/>
              </a:rPr>
              <a:t>Does this information improve actions</a:t>
            </a:r>
          </a:p>
          <a:p>
            <a:pPr algn="l">
              <a:defRPr sz="1650" b="0">
                <a:solidFill>
                  <a:srgbClr val="62666B"/>
                </a:solidFill>
                <a:latin typeface="Arial"/>
                <a:ea typeface="Arial"/>
                <a:cs typeface="Arial"/>
              </a:defRPr>
            </a:pPr>
            <a:r>
              <a:rPr sz="1650" b="0">
                <a:solidFill>
                  <a:srgbClr val="62666B"/>
                </a:solidFill>
                <a:latin typeface="Arial"/>
                <a:ea typeface="Arial"/>
                <a:cs typeface="Arial"/>
              </a:rPr>
              <a:t>when online feedback is available?</a:t>
            </a:r>
          </a:p>
        </p:txBody>
      </p:sp>
      <p:sp>
        <p:nvSpPr>
          <p:cNvPr id="20" name="first-test">
            <a:extLst>
              <a:ext uri="{FF2B5EF4-FFF2-40B4-BE49-F238E27FC236}">
                <a16:creationId xmlns:a16="http://schemas.microsoft.com/office/drawing/2014/main" id="{4D4E5696-4C92-404F-BA8C-B97832DA2735}"/>
              </a:ext>
            </a:extLst>
          </p:cNvPr>
          <p:cNvSpPr>
            <a:spLocks noGrp="1"/>
          </p:cNvSpPr>
          <p:nvPr/>
        </p:nvSpPr>
        <p:spPr>
          <a:xfrm>
            <a:off x="914400" y="7791450"/>
            <a:ext cx="13411200" cy="400050"/>
          </a:xfrm>
          <a:prstGeom prst="rect">
            <a:avLst/>
          </a:prstGeom>
          <a:noFill/>
          <a:ln w="0">
            <a:noFill/>
          </a:ln>
        </p:spPr>
        <p:txBody>
          <a:bodyPr wrap="square" lIns="0" tIns="0" rIns="0" bIns="0" anchor="t">
            <a:noAutofit/>
          </a:bodyPr>
          <a:lstStyle>
            <a:defPPr algn="l">
              <a:defRPr sz="1725" b="0">
                <a:solidFill>
                  <a:srgbClr val="202124"/>
                </a:solidFill>
                <a:latin typeface="Arial"/>
                <a:ea typeface="Arial"/>
                <a:cs typeface="Arial"/>
              </a:defRPr>
            </a:defPPr>
            <a:lvl1pPr algn="l">
              <a:defRPr sz="1725" b="0">
                <a:solidFill>
                  <a:srgbClr val="202124"/>
                </a:solidFill>
                <a:latin typeface="Arial"/>
                <a:ea typeface="Arial"/>
                <a:cs typeface="Arial"/>
              </a:defRPr>
            </a:lvl1pPr>
            <a:lvl2pPr algn="l">
              <a:defRPr sz="1725" b="0">
                <a:solidFill>
                  <a:srgbClr val="202124"/>
                </a:solidFill>
                <a:latin typeface="Arial"/>
                <a:ea typeface="Arial"/>
                <a:cs typeface="Arial"/>
              </a:defRPr>
            </a:lvl2pPr>
            <a:lvl3pPr algn="l">
              <a:defRPr sz="1725" b="0">
                <a:solidFill>
                  <a:srgbClr val="202124"/>
                </a:solidFill>
                <a:latin typeface="Arial"/>
                <a:ea typeface="Arial"/>
                <a:cs typeface="Arial"/>
              </a:defRPr>
            </a:lvl3pPr>
            <a:lvl4pPr algn="l">
              <a:defRPr sz="1725" b="0">
                <a:solidFill>
                  <a:srgbClr val="202124"/>
                </a:solidFill>
                <a:latin typeface="Arial"/>
                <a:ea typeface="Arial"/>
                <a:cs typeface="Arial"/>
              </a:defRPr>
            </a:lvl4pPr>
            <a:lvl5pPr algn="l">
              <a:defRPr sz="1725" b="0">
                <a:solidFill>
                  <a:srgbClr val="202124"/>
                </a:solidFill>
                <a:latin typeface="Arial"/>
                <a:ea typeface="Arial"/>
                <a:cs typeface="Arial"/>
              </a:defRPr>
            </a:lvl5pPr>
            <a:lvl6pPr algn="l">
              <a:defRPr sz="1725" b="0">
                <a:solidFill>
                  <a:srgbClr val="202124"/>
                </a:solidFill>
                <a:latin typeface="Arial"/>
                <a:ea typeface="Arial"/>
                <a:cs typeface="Arial"/>
              </a:defRPr>
            </a:lvl6pPr>
            <a:lvl7pPr algn="l">
              <a:defRPr sz="1725" b="0">
                <a:solidFill>
                  <a:srgbClr val="202124"/>
                </a:solidFill>
                <a:latin typeface="Arial"/>
                <a:ea typeface="Arial"/>
                <a:cs typeface="Arial"/>
              </a:defRPr>
            </a:lvl7pPr>
            <a:lvl8pPr algn="l">
              <a:defRPr sz="1725" b="0">
                <a:solidFill>
                  <a:srgbClr val="202124"/>
                </a:solidFill>
                <a:latin typeface="Arial"/>
                <a:ea typeface="Arial"/>
                <a:cs typeface="Arial"/>
              </a:defRPr>
            </a:lvl8pPr>
            <a:lvl9pPr algn="l">
              <a:defRPr sz="1725" b="0">
                <a:solidFill>
                  <a:srgbClr val="202124"/>
                </a:solidFill>
                <a:latin typeface="Arial"/>
                <a:ea typeface="Arial"/>
                <a:cs typeface="Arial"/>
              </a:defRPr>
            </a:lvl9pPr>
          </a:lstStyle>
          <a:p>
            <a:pPr algn="l">
              <a:defRPr sz="1725" b="0">
                <a:solidFill>
                  <a:srgbClr val="202124"/>
                </a:solidFill>
                <a:latin typeface="Arial"/>
                <a:ea typeface="Arial"/>
                <a:cs typeface="Arial"/>
              </a:defRPr>
            </a:pPr>
            <a:r>
              <a:rPr sz="1725" b="0">
                <a:solidFill>
                  <a:srgbClr val="202124"/>
                </a:solidFill>
                <a:latin typeface="Arial"/>
                <a:ea typeface="Arial"/>
                <a:cs typeface="Arial"/>
              </a:rPr>
              <a:t>First test: different histories, matched current readings, identical future command.</a:t>
            </a:r>
          </a:p>
        </p:txBody>
      </p:sp>
      <p:sp>
        <p:nvSpPr>
          <p:cNvPr id="21" name="page">
            <a:extLst>
              <a:ext uri="{FF2B5EF4-FFF2-40B4-BE49-F238E27FC236}">
                <a16:creationId xmlns:a16="http://schemas.microsoft.com/office/drawing/2014/main" id="{ADEDD7B6-5741-46A4-B0CD-406B3F13DFE1}"/>
              </a:ext>
            </a:extLst>
          </p:cNvPr>
          <p:cNvSpPr>
            <a:spLocks noGrp="1"/>
          </p:cNvSpPr>
          <p:nvPr/>
        </p:nvSpPr>
        <p:spPr>
          <a:xfrm>
            <a:off x="13906500" y="8153400"/>
            <a:ext cx="419100" cy="238125"/>
          </a:xfrm>
          <a:prstGeom prst="rect">
            <a:avLst/>
          </a:prstGeom>
          <a:noFill/>
          <a:ln w="0">
            <a:noFill/>
          </a:ln>
        </p:spPr>
        <p:txBody>
          <a:bodyPr wrap="square" lIns="0" tIns="0" rIns="0" bIns="0" anchor="t">
            <a:noAutofit/>
          </a:bodyPr>
          <a:lstStyle>
            <a:defPPr algn="r">
              <a:defRPr sz="1050" b="0">
                <a:solidFill>
                  <a:srgbClr val="62666B"/>
                </a:solidFill>
                <a:latin typeface="Arial"/>
                <a:ea typeface="Arial"/>
                <a:cs typeface="Arial"/>
              </a:defRPr>
            </a:defPPr>
            <a:lvl1pPr algn="r">
              <a:defRPr sz="1050" b="0">
                <a:solidFill>
                  <a:srgbClr val="62666B"/>
                </a:solidFill>
                <a:latin typeface="Arial"/>
                <a:ea typeface="Arial"/>
                <a:cs typeface="Arial"/>
              </a:defRPr>
            </a:lvl1pPr>
            <a:lvl2pPr algn="r">
              <a:defRPr sz="1050" b="0">
                <a:solidFill>
                  <a:srgbClr val="62666B"/>
                </a:solidFill>
                <a:latin typeface="Arial"/>
                <a:ea typeface="Arial"/>
                <a:cs typeface="Arial"/>
              </a:defRPr>
            </a:lvl2pPr>
            <a:lvl3pPr algn="r">
              <a:defRPr sz="1050" b="0">
                <a:solidFill>
                  <a:srgbClr val="62666B"/>
                </a:solidFill>
                <a:latin typeface="Arial"/>
                <a:ea typeface="Arial"/>
                <a:cs typeface="Arial"/>
              </a:defRPr>
            </a:lvl3pPr>
            <a:lvl4pPr algn="r">
              <a:defRPr sz="1050" b="0">
                <a:solidFill>
                  <a:srgbClr val="62666B"/>
                </a:solidFill>
                <a:latin typeface="Arial"/>
                <a:ea typeface="Arial"/>
                <a:cs typeface="Arial"/>
              </a:defRPr>
            </a:lvl4pPr>
            <a:lvl5pPr algn="r">
              <a:defRPr sz="1050" b="0">
                <a:solidFill>
                  <a:srgbClr val="62666B"/>
                </a:solidFill>
                <a:latin typeface="Arial"/>
                <a:ea typeface="Arial"/>
                <a:cs typeface="Arial"/>
              </a:defRPr>
            </a:lvl5pPr>
            <a:lvl6pPr algn="r">
              <a:defRPr sz="1050" b="0">
                <a:solidFill>
                  <a:srgbClr val="62666B"/>
                </a:solidFill>
                <a:latin typeface="Arial"/>
                <a:ea typeface="Arial"/>
                <a:cs typeface="Arial"/>
              </a:defRPr>
            </a:lvl6pPr>
            <a:lvl7pPr algn="r">
              <a:defRPr sz="1050" b="0">
                <a:solidFill>
                  <a:srgbClr val="62666B"/>
                </a:solidFill>
                <a:latin typeface="Arial"/>
                <a:ea typeface="Arial"/>
                <a:cs typeface="Arial"/>
              </a:defRPr>
            </a:lvl7pPr>
            <a:lvl8pPr algn="r">
              <a:defRPr sz="1050" b="0">
                <a:solidFill>
                  <a:srgbClr val="62666B"/>
                </a:solidFill>
                <a:latin typeface="Arial"/>
                <a:ea typeface="Arial"/>
                <a:cs typeface="Arial"/>
              </a:defRPr>
            </a:lvl8pPr>
            <a:lvl9pPr algn="r">
              <a:defRPr sz="1050" b="0">
                <a:solidFill>
                  <a:srgbClr val="62666B"/>
                </a:solidFill>
                <a:latin typeface="Arial"/>
                <a:ea typeface="Arial"/>
                <a:cs typeface="Arial"/>
              </a:defRPr>
            </a:lvl9pPr>
          </a:lstStyle>
          <a:p>
            <a:pPr algn="r">
              <a:defRPr sz="1050" b="0">
                <a:solidFill>
                  <a:srgbClr val="62666B"/>
                </a:solidFill>
                <a:latin typeface="Arial"/>
                <a:ea typeface="Arial"/>
                <a:cs typeface="Arial"/>
              </a:defRPr>
            </a:pPr>
            <a:r>
              <a:rPr lang="en-US" altLang="zh-CN" sz="1050" b="0">
                <a:solidFill>
                  <a:srgbClr val="62666B"/>
                </a:solidFill>
                <a:latin typeface="Arial"/>
                <a:ea typeface="Arial"/>
                <a:cs typeface="Arial"/>
              </a:rPr>
              <a:t>03</a:t>
            </a:r>
            <a:endParaRPr sz="1050" b="0">
              <a:solidFill>
                <a:srgbClr val="62666B"/>
              </a:solidFill>
              <a:latin typeface="Arial"/>
              <a:ea typeface="Arial"/>
              <a:cs typeface="Arial"/>
            </a:endParaRPr>
          </a:p>
        </p:txBody>
      </p:sp>
      <p:sp>
        <p:nvSpPr>
          <p:cNvPr id="23" name="source-index">
            <a:extLst>
              <a:ext uri="{FF2B5EF4-FFF2-40B4-BE49-F238E27FC236}">
                <a16:creationId xmlns:a16="http://schemas.microsoft.com/office/drawing/2014/main" id="{733B1DFB-E640-4499-A2D7-4C909C52B275}"/>
              </a:ext>
            </a:extLst>
          </p:cNvPr>
          <p:cNvSpPr>
            <a:spLocks noGrp="1"/>
          </p:cNvSpPr>
          <p:nvPr/>
        </p:nvSpPr>
        <p:spPr>
          <a:xfrm>
            <a:off x="914400" y="8172450"/>
            <a:ext cx="12573000" cy="209550"/>
          </a:xfrm>
          <a:prstGeom prst="rect">
            <a:avLst/>
          </a:prstGeom>
          <a:noFill/>
          <a:ln w="0">
            <a:noFill/>
          </a:ln>
        </p:spPr>
        <p:txBody>
          <a:bodyPr wrap="square" lIns="0" tIns="0" rIns="0" bIns="0" anchor="t">
            <a:noAutofit/>
          </a:bodyPr>
          <a:lstStyle>
            <a:defPPr algn="l">
              <a:defRPr sz="1050" b="0">
                <a:solidFill>
                  <a:srgbClr val="62666B"/>
                </a:solidFill>
                <a:latin typeface="Arial"/>
                <a:ea typeface="Arial"/>
                <a:cs typeface="Arial"/>
              </a:defRPr>
            </a:defPPr>
            <a:lvl1pPr algn="l">
              <a:defRPr sz="1050" b="0">
                <a:solidFill>
                  <a:srgbClr val="62666B"/>
                </a:solidFill>
                <a:latin typeface="Arial"/>
                <a:ea typeface="Arial"/>
                <a:cs typeface="Arial"/>
              </a:defRPr>
            </a:lvl1pPr>
            <a:lvl2pPr algn="l">
              <a:defRPr sz="1050" b="0">
                <a:solidFill>
                  <a:srgbClr val="62666B"/>
                </a:solidFill>
                <a:latin typeface="Arial"/>
                <a:ea typeface="Arial"/>
                <a:cs typeface="Arial"/>
              </a:defRPr>
            </a:lvl2pPr>
            <a:lvl3pPr algn="l">
              <a:defRPr sz="1050" b="0">
                <a:solidFill>
                  <a:srgbClr val="62666B"/>
                </a:solidFill>
                <a:latin typeface="Arial"/>
                <a:ea typeface="Arial"/>
                <a:cs typeface="Arial"/>
              </a:defRPr>
            </a:lvl3pPr>
            <a:lvl4pPr algn="l">
              <a:defRPr sz="1050" b="0">
                <a:solidFill>
                  <a:srgbClr val="62666B"/>
                </a:solidFill>
                <a:latin typeface="Arial"/>
                <a:ea typeface="Arial"/>
                <a:cs typeface="Arial"/>
              </a:defRPr>
            </a:lvl4pPr>
            <a:lvl5pPr algn="l">
              <a:defRPr sz="1050" b="0">
                <a:solidFill>
                  <a:srgbClr val="62666B"/>
                </a:solidFill>
                <a:latin typeface="Arial"/>
                <a:ea typeface="Arial"/>
                <a:cs typeface="Arial"/>
              </a:defRPr>
            </a:lvl5pPr>
            <a:lvl6pPr algn="l">
              <a:defRPr sz="1050" b="0">
                <a:solidFill>
                  <a:srgbClr val="62666B"/>
                </a:solidFill>
                <a:latin typeface="Arial"/>
                <a:ea typeface="Arial"/>
                <a:cs typeface="Arial"/>
              </a:defRPr>
            </a:lvl6pPr>
            <a:lvl7pPr algn="l">
              <a:defRPr sz="1050" b="0">
                <a:solidFill>
                  <a:srgbClr val="62666B"/>
                </a:solidFill>
                <a:latin typeface="Arial"/>
                <a:ea typeface="Arial"/>
                <a:cs typeface="Arial"/>
              </a:defRPr>
            </a:lvl7pPr>
            <a:lvl8pPr algn="l">
              <a:defRPr sz="1050" b="0">
                <a:solidFill>
                  <a:srgbClr val="62666B"/>
                </a:solidFill>
                <a:latin typeface="Arial"/>
                <a:ea typeface="Arial"/>
                <a:cs typeface="Arial"/>
              </a:defRPr>
            </a:lvl8pPr>
            <a:lvl9pPr algn="l">
              <a:defRPr sz="1050" b="0">
                <a:solidFill>
                  <a:srgbClr val="62666B"/>
                </a:solidFill>
                <a:latin typeface="Arial"/>
                <a:ea typeface="Arial"/>
                <a:cs typeface="Arial"/>
              </a:defRPr>
            </a:lvl9pPr>
          </a:lstStyle>
          <a:p>
            <a:pPr algn="l">
              <a:defRPr sz="1050" b="0">
                <a:solidFill>
                  <a:srgbClr val="62666B"/>
                </a:solidFill>
                <a:latin typeface="Arial"/>
                <a:ea typeface="Arial"/>
                <a:cs typeface="Arial"/>
              </a:defRPr>
            </a:pPr>
            <a:r>
              <a:rPr sz="1050" b="0">
                <a:solidFill>
                  <a:srgbClr val="62666B"/>
                </a:solidFill>
                <a:latin typeface="Arial"/>
                <a:ea typeface="Arial"/>
                <a:cs typeface="Arial"/>
              </a:rPr>
              <a:t>[4–6]  [E1–E3]</a:t>
            </a:r>
          </a:p>
        </p:txBody>
      </p:sp>
    </p:spTree>
    <p:extLst>
      <p:ext uri="{BB962C8B-B14F-4D97-AF65-F5344CB8AC3E}">
        <p14:creationId xmlns:p14="http://schemas.microsoft.com/office/powerpoint/2010/main" val="40634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 name="title">
            <a:extLst>
              <a:ext uri="{FF2B5EF4-FFF2-40B4-BE49-F238E27FC236}">
                <a16:creationId xmlns:a16="http://schemas.microsoft.com/office/drawing/2014/main" id="{0DE39A3F-53F3-4786-9ACE-ABB36F96E66F}"/>
              </a:ext>
            </a:extLst>
          </p:cNvPr>
          <p:cNvSpPr>
            <a:spLocks noGrp="1"/>
          </p:cNvSpPr>
          <p:nvPr/>
        </p:nvSpPr>
        <p:spPr>
          <a:xfrm>
            <a:off x="914400" y="552450"/>
            <a:ext cx="13411200" cy="533400"/>
          </a:xfrm>
          <a:prstGeom prst="rect">
            <a:avLst/>
          </a:prstGeom>
          <a:noFill/>
          <a:ln w="0">
            <a:noFill/>
          </a:ln>
        </p:spPr>
        <p:txBody>
          <a:bodyPr wrap="square" lIns="0" tIns="0" rIns="0" bIns="0" anchor="t">
            <a:noAutofit/>
          </a:bodyPr>
          <a:lstStyle>
            <a:defPPr algn="l">
              <a:defRPr sz="2400" b="1">
                <a:solidFill>
                  <a:srgbClr val="202124"/>
                </a:solidFill>
                <a:latin typeface="Arial"/>
                <a:ea typeface="Arial"/>
                <a:cs typeface="Arial"/>
              </a:defRPr>
            </a:defPPr>
            <a:lvl1pPr algn="l">
              <a:defRPr sz="2400" b="1">
                <a:solidFill>
                  <a:srgbClr val="202124"/>
                </a:solidFill>
                <a:latin typeface="Arial"/>
                <a:ea typeface="Arial"/>
                <a:cs typeface="Arial"/>
              </a:defRPr>
            </a:lvl1pPr>
            <a:lvl2pPr algn="l">
              <a:defRPr sz="2400" b="1">
                <a:solidFill>
                  <a:srgbClr val="202124"/>
                </a:solidFill>
                <a:latin typeface="Arial"/>
                <a:ea typeface="Arial"/>
                <a:cs typeface="Arial"/>
              </a:defRPr>
            </a:lvl2pPr>
            <a:lvl3pPr algn="l">
              <a:defRPr sz="2400" b="1">
                <a:solidFill>
                  <a:srgbClr val="202124"/>
                </a:solidFill>
                <a:latin typeface="Arial"/>
                <a:ea typeface="Arial"/>
                <a:cs typeface="Arial"/>
              </a:defRPr>
            </a:lvl3pPr>
            <a:lvl4pPr algn="l">
              <a:defRPr sz="2400" b="1">
                <a:solidFill>
                  <a:srgbClr val="202124"/>
                </a:solidFill>
                <a:latin typeface="Arial"/>
                <a:ea typeface="Arial"/>
                <a:cs typeface="Arial"/>
              </a:defRPr>
            </a:lvl4pPr>
            <a:lvl5pPr algn="l">
              <a:defRPr sz="2400" b="1">
                <a:solidFill>
                  <a:srgbClr val="202124"/>
                </a:solidFill>
                <a:latin typeface="Arial"/>
                <a:ea typeface="Arial"/>
                <a:cs typeface="Arial"/>
              </a:defRPr>
            </a:lvl5pPr>
            <a:lvl6pPr algn="l">
              <a:defRPr sz="2400" b="1">
                <a:solidFill>
                  <a:srgbClr val="202124"/>
                </a:solidFill>
                <a:latin typeface="Arial"/>
                <a:ea typeface="Arial"/>
                <a:cs typeface="Arial"/>
              </a:defRPr>
            </a:lvl6pPr>
            <a:lvl7pPr algn="l">
              <a:defRPr sz="2400" b="1">
                <a:solidFill>
                  <a:srgbClr val="202124"/>
                </a:solidFill>
                <a:latin typeface="Arial"/>
                <a:ea typeface="Arial"/>
                <a:cs typeface="Arial"/>
              </a:defRPr>
            </a:lvl7pPr>
            <a:lvl8pPr algn="l">
              <a:defRPr sz="2400" b="1">
                <a:solidFill>
                  <a:srgbClr val="202124"/>
                </a:solidFill>
                <a:latin typeface="Arial"/>
                <a:ea typeface="Arial"/>
                <a:cs typeface="Arial"/>
              </a:defRPr>
            </a:lvl8pPr>
            <a:lvl9pPr algn="l">
              <a:defRPr sz="2400" b="1">
                <a:solidFill>
                  <a:srgbClr val="202124"/>
                </a:solidFill>
                <a:latin typeface="Arial"/>
                <a:ea typeface="Arial"/>
                <a:cs typeface="Arial"/>
              </a:defRPr>
            </a:lvl9pPr>
          </a:lstStyle>
          <a:p>
            <a:pPr algn="l">
              <a:defRPr sz="2400" b="1">
                <a:solidFill>
                  <a:srgbClr val="202124"/>
                </a:solidFill>
                <a:latin typeface="Arial"/>
                <a:ea typeface="Arial"/>
                <a:cs typeface="Arial"/>
              </a:defRPr>
            </a:pPr>
            <a:r>
              <a:rPr sz="2400" b="1">
                <a:solidFill>
                  <a:srgbClr val="202124"/>
                </a:solidFill>
                <a:latin typeface="Arial"/>
                <a:ea typeface="Arial"/>
                <a:cs typeface="Arial"/>
              </a:rPr>
              <a:t>Pressing a water-rich gel</a:t>
            </a:r>
          </a:p>
        </p:txBody>
      </p:sp>
      <p:sp>
        <p:nvSpPr>
          <p:cNvPr id="2" name="intro">
            <a:extLst>
              <a:ext uri="{FF2B5EF4-FFF2-40B4-BE49-F238E27FC236}">
                <a16:creationId xmlns:a16="http://schemas.microsoft.com/office/drawing/2014/main" id="{4F96D35E-4FEC-4B43-BCD3-A40D6F0DD3F5}"/>
              </a:ext>
            </a:extLst>
          </p:cNvPr>
          <p:cNvSpPr>
            <a:spLocks noGrp="1"/>
          </p:cNvSpPr>
          <p:nvPr/>
        </p:nvSpPr>
        <p:spPr>
          <a:xfrm>
            <a:off x="914400" y="1381125"/>
            <a:ext cx="13411200" cy="457200"/>
          </a:xfrm>
          <a:prstGeom prst="rect">
            <a:avLst/>
          </a:prstGeom>
          <a:noFill/>
          <a:ln w="0">
            <a:noFill/>
          </a:ln>
        </p:spPr>
        <p:txBody>
          <a:bodyPr wrap="square" lIns="0" tIns="0" rIns="0" bIns="0" anchor="t">
            <a:noAutofit/>
          </a:bodyPr>
          <a:lstStyle>
            <a:defPPr algn="l">
              <a:defRPr sz="2025" b="0">
                <a:solidFill>
                  <a:srgbClr val="202124"/>
                </a:solidFill>
                <a:latin typeface="Arial"/>
                <a:ea typeface="Arial"/>
                <a:cs typeface="Arial"/>
              </a:defRPr>
            </a:defPPr>
            <a:lvl1pPr algn="l">
              <a:defRPr sz="2025" b="0">
                <a:solidFill>
                  <a:srgbClr val="202124"/>
                </a:solidFill>
                <a:latin typeface="Arial"/>
                <a:ea typeface="Arial"/>
                <a:cs typeface="Arial"/>
              </a:defRPr>
            </a:lvl1pPr>
            <a:lvl2pPr algn="l">
              <a:defRPr sz="2025" b="0">
                <a:solidFill>
                  <a:srgbClr val="202124"/>
                </a:solidFill>
                <a:latin typeface="Arial"/>
                <a:ea typeface="Arial"/>
                <a:cs typeface="Arial"/>
              </a:defRPr>
            </a:lvl2pPr>
            <a:lvl3pPr algn="l">
              <a:defRPr sz="2025" b="0">
                <a:solidFill>
                  <a:srgbClr val="202124"/>
                </a:solidFill>
                <a:latin typeface="Arial"/>
                <a:ea typeface="Arial"/>
                <a:cs typeface="Arial"/>
              </a:defRPr>
            </a:lvl3pPr>
            <a:lvl4pPr algn="l">
              <a:defRPr sz="2025" b="0">
                <a:solidFill>
                  <a:srgbClr val="202124"/>
                </a:solidFill>
                <a:latin typeface="Arial"/>
                <a:ea typeface="Arial"/>
                <a:cs typeface="Arial"/>
              </a:defRPr>
            </a:lvl4pPr>
            <a:lvl5pPr algn="l">
              <a:defRPr sz="2025" b="0">
                <a:solidFill>
                  <a:srgbClr val="202124"/>
                </a:solidFill>
                <a:latin typeface="Arial"/>
                <a:ea typeface="Arial"/>
                <a:cs typeface="Arial"/>
              </a:defRPr>
            </a:lvl5pPr>
            <a:lvl6pPr algn="l">
              <a:defRPr sz="2025" b="0">
                <a:solidFill>
                  <a:srgbClr val="202124"/>
                </a:solidFill>
                <a:latin typeface="Arial"/>
                <a:ea typeface="Arial"/>
                <a:cs typeface="Arial"/>
              </a:defRPr>
            </a:lvl6pPr>
            <a:lvl7pPr algn="l">
              <a:defRPr sz="2025" b="0">
                <a:solidFill>
                  <a:srgbClr val="202124"/>
                </a:solidFill>
                <a:latin typeface="Arial"/>
                <a:ea typeface="Arial"/>
                <a:cs typeface="Arial"/>
              </a:defRPr>
            </a:lvl7pPr>
            <a:lvl8pPr algn="l">
              <a:defRPr sz="2025" b="0">
                <a:solidFill>
                  <a:srgbClr val="202124"/>
                </a:solidFill>
                <a:latin typeface="Arial"/>
                <a:ea typeface="Arial"/>
                <a:cs typeface="Arial"/>
              </a:defRPr>
            </a:lvl8pPr>
            <a:lvl9pPr algn="l">
              <a:defRPr sz="2025" b="0">
                <a:solidFill>
                  <a:srgbClr val="202124"/>
                </a:solidFill>
                <a:latin typeface="Arial"/>
                <a:ea typeface="Arial"/>
                <a:cs typeface="Arial"/>
              </a:defRPr>
            </a:lvl9pPr>
          </a:lstStyle>
          <a:p>
            <a:pPr algn="l">
              <a:defRPr sz="2025" b="0">
                <a:solidFill>
                  <a:srgbClr val="202124"/>
                </a:solidFill>
                <a:latin typeface="Arial"/>
                <a:ea typeface="Arial"/>
                <a:cs typeface="Arial"/>
              </a:defRPr>
            </a:pPr>
            <a:r>
              <a:rPr sz="2025" b="0">
                <a:solidFill>
                  <a:srgbClr val="202124"/>
                </a:solidFill>
                <a:latin typeface="Arial"/>
                <a:ea typeface="Arial"/>
                <a:cs typeface="Arial"/>
              </a:rPr>
              <a:t>A soft polymer network holds water. One press changes both.</a:t>
            </a:r>
          </a:p>
        </p:txBody>
      </p:sp>
      <p:sp>
        <p:nvSpPr>
          <p:cNvPr id="3" name="press-label">
            <a:extLst>
              <a:ext uri="{FF2B5EF4-FFF2-40B4-BE49-F238E27FC236}">
                <a16:creationId xmlns:a16="http://schemas.microsoft.com/office/drawing/2014/main" id="{5CBCB49C-CE55-44D3-8644-6A560CD4F890}"/>
              </a:ext>
            </a:extLst>
          </p:cNvPr>
          <p:cNvSpPr>
            <a:spLocks noGrp="1"/>
          </p:cNvSpPr>
          <p:nvPr/>
        </p:nvSpPr>
        <p:spPr>
          <a:xfrm>
            <a:off x="2524125" y="2143125"/>
            <a:ext cx="2476500" cy="381000"/>
          </a:xfrm>
          <a:prstGeom prst="rect">
            <a:avLst/>
          </a:prstGeom>
          <a:noFill/>
          <a:ln w="0">
            <a:noFill/>
          </a:ln>
        </p:spPr>
        <p:txBody>
          <a:bodyPr wrap="square" lIns="0" tIns="0" rIns="0" bIns="0" anchor="t">
            <a:noAutofit/>
          </a:bodyPr>
          <a:lstStyle>
            <a:defPPr algn="ctr">
              <a:defRPr sz="1875" b="1">
                <a:solidFill>
                  <a:srgbClr val="202124"/>
                </a:solidFill>
                <a:latin typeface="Arial"/>
                <a:ea typeface="Arial"/>
                <a:cs typeface="Arial"/>
              </a:defRPr>
            </a:defPPr>
            <a:lvl1pPr algn="ctr">
              <a:defRPr sz="1875" b="1">
                <a:solidFill>
                  <a:srgbClr val="202124"/>
                </a:solidFill>
                <a:latin typeface="Arial"/>
                <a:ea typeface="Arial"/>
                <a:cs typeface="Arial"/>
              </a:defRPr>
            </a:lvl1pPr>
            <a:lvl2pPr algn="ctr">
              <a:defRPr sz="1875" b="1">
                <a:solidFill>
                  <a:srgbClr val="202124"/>
                </a:solidFill>
                <a:latin typeface="Arial"/>
                <a:ea typeface="Arial"/>
                <a:cs typeface="Arial"/>
              </a:defRPr>
            </a:lvl2pPr>
            <a:lvl3pPr algn="ctr">
              <a:defRPr sz="1875" b="1">
                <a:solidFill>
                  <a:srgbClr val="202124"/>
                </a:solidFill>
                <a:latin typeface="Arial"/>
                <a:ea typeface="Arial"/>
                <a:cs typeface="Arial"/>
              </a:defRPr>
            </a:lvl3pPr>
            <a:lvl4pPr algn="ctr">
              <a:defRPr sz="1875" b="1">
                <a:solidFill>
                  <a:srgbClr val="202124"/>
                </a:solidFill>
                <a:latin typeface="Arial"/>
                <a:ea typeface="Arial"/>
                <a:cs typeface="Arial"/>
              </a:defRPr>
            </a:lvl4pPr>
            <a:lvl5pPr algn="ctr">
              <a:defRPr sz="1875" b="1">
                <a:solidFill>
                  <a:srgbClr val="202124"/>
                </a:solidFill>
                <a:latin typeface="Arial"/>
                <a:ea typeface="Arial"/>
                <a:cs typeface="Arial"/>
              </a:defRPr>
            </a:lvl5pPr>
            <a:lvl6pPr algn="ctr">
              <a:defRPr sz="1875" b="1">
                <a:solidFill>
                  <a:srgbClr val="202124"/>
                </a:solidFill>
                <a:latin typeface="Arial"/>
                <a:ea typeface="Arial"/>
                <a:cs typeface="Arial"/>
              </a:defRPr>
            </a:lvl6pPr>
            <a:lvl7pPr algn="ctr">
              <a:defRPr sz="1875" b="1">
                <a:solidFill>
                  <a:srgbClr val="202124"/>
                </a:solidFill>
                <a:latin typeface="Arial"/>
                <a:ea typeface="Arial"/>
                <a:cs typeface="Arial"/>
              </a:defRPr>
            </a:lvl7pPr>
            <a:lvl8pPr algn="ctr">
              <a:defRPr sz="1875" b="1">
                <a:solidFill>
                  <a:srgbClr val="202124"/>
                </a:solidFill>
                <a:latin typeface="Arial"/>
                <a:ea typeface="Arial"/>
                <a:cs typeface="Arial"/>
              </a:defRPr>
            </a:lvl8pPr>
            <a:lvl9pPr algn="ctr">
              <a:defRPr sz="1875" b="1">
                <a:solidFill>
                  <a:srgbClr val="202124"/>
                </a:solidFill>
                <a:latin typeface="Arial"/>
                <a:ea typeface="Arial"/>
                <a:cs typeface="Arial"/>
              </a:defRPr>
            </a:lvl9pPr>
          </a:lstStyle>
          <a:p>
            <a:pPr algn="ctr">
              <a:defRPr sz="1875" b="1">
                <a:solidFill>
                  <a:srgbClr val="202124"/>
                </a:solidFill>
                <a:latin typeface="Arial"/>
                <a:ea typeface="Arial"/>
                <a:cs typeface="Arial"/>
              </a:defRPr>
            </a:pPr>
            <a:r>
              <a:rPr sz="1875" b="1">
                <a:solidFill>
                  <a:srgbClr val="202124"/>
                </a:solidFill>
                <a:latin typeface="Arial"/>
                <a:ea typeface="Arial"/>
                <a:cs typeface="Arial"/>
              </a:rPr>
              <a:t>Press and hold</a:t>
            </a:r>
          </a:p>
        </p:txBody>
      </p:sp>
      <p:sp>
        <p:nvSpPr>
          <p:cNvPr id="4" name="indenter">
            <a:extLst>
              <a:ext uri="{FF2B5EF4-FFF2-40B4-BE49-F238E27FC236}">
                <a16:creationId xmlns:a16="http://schemas.microsoft.com/office/drawing/2014/main" id="{9B358317-9986-4BD6-831F-A7F4A1A92DF6}"/>
              </a:ext>
            </a:extLst>
          </p:cNvPr>
          <p:cNvSpPr>
            <a:spLocks noGrp="1"/>
          </p:cNvSpPr>
          <p:nvPr/>
        </p:nvSpPr>
        <p:spPr>
          <a:xfrm>
            <a:off x="3143250" y="2714625"/>
            <a:ext cx="1143000" cy="904875"/>
          </a:xfrm>
          <a:prstGeom prst="rect">
            <a:avLst/>
          </a:prstGeom>
          <a:solidFill>
            <a:srgbClr val="C5C9CD"/>
          </a:solidFill>
          <a:ln w="11430">
            <a:solidFill>
              <a:srgbClr val="62666B"/>
            </a:solidFill>
            <a:prstDash val="solid"/>
          </a:ln>
        </p:spPr>
      </p:sp>
      <p:sp>
        <p:nvSpPr>
          <p:cNvPr id="5" name="press-arrow">
            <a:extLst>
              <a:ext uri="{FF2B5EF4-FFF2-40B4-BE49-F238E27FC236}">
                <a16:creationId xmlns:a16="http://schemas.microsoft.com/office/drawing/2014/main" id="{F1A931CA-5054-4794-8AE0-C2C4CD798299}"/>
              </a:ext>
            </a:extLst>
          </p:cNvPr>
          <p:cNvSpPr>
            <a:spLocks noGrp="1"/>
          </p:cNvSpPr>
          <p:nvPr/>
        </p:nvSpPr>
        <p:spPr>
          <a:xfrm>
            <a:off x="3562350" y="2533650"/>
            <a:ext cx="304800" cy="247650"/>
          </a:xfrm>
          <a:prstGeom prst="downArrow">
            <a:avLst/>
          </a:prstGeom>
          <a:solidFill>
            <a:srgbClr val="202124"/>
          </a:solidFill>
          <a:ln w="0">
            <a:noFill/>
            <a:prstDash val="solid"/>
          </a:ln>
        </p:spPr>
      </p:sp>
      <p:sp>
        <p:nvSpPr>
          <p:cNvPr id="6" name="hydrogel-body">
            <a:extLst>
              <a:ext uri="{FF2B5EF4-FFF2-40B4-BE49-F238E27FC236}">
                <a16:creationId xmlns:a16="http://schemas.microsoft.com/office/drawing/2014/main" id="{E7A070B5-38DC-4CBB-A88A-E2A89F1FC438}"/>
              </a:ext>
            </a:extLst>
          </p:cNvPr>
          <p:cNvSpPr>
            <a:spLocks noGrp="1"/>
          </p:cNvSpPr>
          <p:nvPr/>
        </p:nvSpPr>
        <p:spPr>
          <a:xfrm>
            <a:off x="1428750" y="3238500"/>
            <a:ext cx="4476750" cy="2286000"/>
          </a:xfrm>
          <a:custGeom>
            <a:avLst/>
            <a:gdLst/>
            <a:ahLst/>
            <a:cxnLst/>
            <a:rect l="0" t="0" r="0" b="0"/>
            <a:pathLst>
              <a:path w="4476750" h="2286000">
                <a:moveTo>
                  <a:pt x="0" y="0"/>
                </a:moveTo>
                <a:lnTo>
                  <a:pt x="1476375" y="0"/>
                </a:lnTo>
                <a:lnTo>
                  <a:pt x="1714500" y="381000"/>
                </a:lnTo>
                <a:lnTo>
                  <a:pt x="2857500" y="381000"/>
                </a:lnTo>
                <a:lnTo>
                  <a:pt x="3095625" y="0"/>
                </a:lnTo>
                <a:lnTo>
                  <a:pt x="4476750" y="0"/>
                </a:lnTo>
                <a:lnTo>
                  <a:pt x="4476750" y="2286000"/>
                </a:lnTo>
                <a:lnTo>
                  <a:pt x="0" y="2286000"/>
                </a:lnTo>
                <a:close/>
              </a:path>
            </a:pathLst>
          </a:custGeom>
          <a:solidFill>
            <a:srgbClr val="EDF6FB"/>
          </a:solidFill>
          <a:ln w="15240">
            <a:solidFill>
              <a:srgbClr val="9DB7C5"/>
            </a:solidFill>
            <a:prstDash val="solid"/>
          </a:ln>
        </p:spPr>
      </p:sp>
      <p:sp>
        <p:nvSpPr>
          <p:cNvPr id="7" name="network-row-0">
            <a:extLst>
              <a:ext uri="{FF2B5EF4-FFF2-40B4-BE49-F238E27FC236}">
                <a16:creationId xmlns:a16="http://schemas.microsoft.com/office/drawing/2014/main" id="{86FD1345-BEC8-4737-A037-E3E61965463E}"/>
              </a:ext>
            </a:extLst>
          </p:cNvPr>
          <p:cNvSpPr>
            <a:spLocks noGrp="1"/>
          </p:cNvSpPr>
          <p:nvPr/>
        </p:nvSpPr>
        <p:spPr>
          <a:xfrm>
            <a:off x="1619250" y="3527675"/>
            <a:ext cx="4000500" cy="270306"/>
          </a:xfrm>
          <a:custGeom>
            <a:avLst/>
            <a:gdLst/>
            <a:ahLst/>
            <a:cxnLst/>
            <a:rect l="0" t="0" r="0" b="0"/>
            <a:pathLst>
              <a:path w="4000500" h="270306">
                <a:moveTo>
                  <a:pt x="0" y="0"/>
                </a:moveTo>
                <a:lnTo>
                  <a:pt x="666750" y="32463"/>
                </a:lnTo>
                <a:lnTo>
                  <a:pt x="1333500" y="151155"/>
                </a:lnTo>
                <a:lnTo>
                  <a:pt x="2000250" y="270306"/>
                </a:lnTo>
                <a:lnTo>
                  <a:pt x="2667000" y="195850"/>
                </a:lnTo>
                <a:lnTo>
                  <a:pt x="3333750" y="56215"/>
                </a:lnTo>
                <a:lnTo>
                  <a:pt x="4000500" y="3913"/>
                </a:lnTo>
              </a:path>
            </a:pathLst>
          </a:custGeom>
          <a:noFill/>
          <a:ln w="22860">
            <a:solidFill>
              <a:srgbClr val="9473A5"/>
            </a:solidFill>
            <a:prstDash val="solid"/>
          </a:ln>
        </p:spPr>
      </p:sp>
      <p:sp>
        <p:nvSpPr>
          <p:cNvPr id="8" name="network-row-1">
            <a:extLst>
              <a:ext uri="{FF2B5EF4-FFF2-40B4-BE49-F238E27FC236}">
                <a16:creationId xmlns:a16="http://schemas.microsoft.com/office/drawing/2014/main" id="{1237498E-540E-4C85-AED4-5BD2C4402610}"/>
              </a:ext>
            </a:extLst>
          </p:cNvPr>
          <p:cNvSpPr>
            <a:spLocks noGrp="1"/>
          </p:cNvSpPr>
          <p:nvPr/>
        </p:nvSpPr>
        <p:spPr>
          <a:xfrm>
            <a:off x="1619250" y="3927314"/>
            <a:ext cx="4000500" cy="237869"/>
          </a:xfrm>
          <a:custGeom>
            <a:avLst/>
            <a:gdLst/>
            <a:ahLst/>
            <a:cxnLst/>
            <a:rect l="0" t="0" r="0" b="0"/>
            <a:pathLst>
              <a:path w="4000500" h="237869">
                <a:moveTo>
                  <a:pt x="0" y="0"/>
                </a:moveTo>
                <a:lnTo>
                  <a:pt x="666750" y="28567"/>
                </a:lnTo>
                <a:lnTo>
                  <a:pt x="1333500" y="133017"/>
                </a:lnTo>
                <a:lnTo>
                  <a:pt x="2000250" y="237869"/>
                </a:lnTo>
                <a:lnTo>
                  <a:pt x="2667000" y="172348"/>
                </a:lnTo>
                <a:lnTo>
                  <a:pt x="3333750" y="49469"/>
                </a:lnTo>
                <a:lnTo>
                  <a:pt x="4000500" y="3443"/>
                </a:lnTo>
              </a:path>
            </a:pathLst>
          </a:custGeom>
          <a:noFill/>
          <a:ln w="22860">
            <a:solidFill>
              <a:srgbClr val="9473A5"/>
            </a:solidFill>
            <a:prstDash val="solid"/>
          </a:ln>
        </p:spPr>
      </p:sp>
      <p:sp>
        <p:nvSpPr>
          <p:cNvPr id="9" name="network-row-2">
            <a:extLst>
              <a:ext uri="{FF2B5EF4-FFF2-40B4-BE49-F238E27FC236}">
                <a16:creationId xmlns:a16="http://schemas.microsoft.com/office/drawing/2014/main" id="{F445BD0F-D2F7-43EB-BF71-62F4E8BE28EA}"/>
              </a:ext>
            </a:extLst>
          </p:cNvPr>
          <p:cNvSpPr>
            <a:spLocks noGrp="1"/>
          </p:cNvSpPr>
          <p:nvPr/>
        </p:nvSpPr>
        <p:spPr>
          <a:xfrm>
            <a:off x="1619250" y="4326953"/>
            <a:ext cx="4000500" cy="205432"/>
          </a:xfrm>
          <a:custGeom>
            <a:avLst/>
            <a:gdLst/>
            <a:ahLst/>
            <a:cxnLst/>
            <a:rect l="0" t="0" r="0" b="0"/>
            <a:pathLst>
              <a:path w="4000500" h="205432">
                <a:moveTo>
                  <a:pt x="0" y="0"/>
                </a:moveTo>
                <a:lnTo>
                  <a:pt x="666750" y="24672"/>
                </a:lnTo>
                <a:lnTo>
                  <a:pt x="1333500" y="114878"/>
                </a:lnTo>
                <a:lnTo>
                  <a:pt x="2000250" y="205432"/>
                </a:lnTo>
                <a:lnTo>
                  <a:pt x="2667000" y="148846"/>
                </a:lnTo>
                <a:lnTo>
                  <a:pt x="3333750" y="42724"/>
                </a:lnTo>
                <a:lnTo>
                  <a:pt x="4000500" y="2974"/>
                </a:lnTo>
              </a:path>
            </a:pathLst>
          </a:custGeom>
          <a:noFill/>
          <a:ln w="22860">
            <a:solidFill>
              <a:srgbClr val="9473A5"/>
            </a:solidFill>
            <a:prstDash val="solid"/>
          </a:ln>
        </p:spPr>
      </p:sp>
      <p:sp>
        <p:nvSpPr>
          <p:cNvPr id="10" name="network-row-3">
            <a:extLst>
              <a:ext uri="{FF2B5EF4-FFF2-40B4-BE49-F238E27FC236}">
                <a16:creationId xmlns:a16="http://schemas.microsoft.com/office/drawing/2014/main" id="{4C1B41C0-A12B-4811-9124-D46C4DAA2448}"/>
              </a:ext>
            </a:extLst>
          </p:cNvPr>
          <p:cNvSpPr>
            <a:spLocks noGrp="1"/>
          </p:cNvSpPr>
          <p:nvPr/>
        </p:nvSpPr>
        <p:spPr>
          <a:xfrm>
            <a:off x="1619250" y="4726592"/>
            <a:ext cx="4000500" cy="172996"/>
          </a:xfrm>
          <a:custGeom>
            <a:avLst/>
            <a:gdLst/>
            <a:ahLst/>
            <a:cxnLst/>
            <a:rect l="0" t="0" r="0" b="0"/>
            <a:pathLst>
              <a:path w="4000500" h="172996">
                <a:moveTo>
                  <a:pt x="0" y="0"/>
                </a:moveTo>
                <a:lnTo>
                  <a:pt x="666750" y="20776"/>
                </a:lnTo>
                <a:lnTo>
                  <a:pt x="1333500" y="96740"/>
                </a:lnTo>
                <a:lnTo>
                  <a:pt x="2000250" y="172996"/>
                </a:lnTo>
                <a:lnTo>
                  <a:pt x="2667000" y="125344"/>
                </a:lnTo>
                <a:lnTo>
                  <a:pt x="3333750" y="35978"/>
                </a:lnTo>
                <a:lnTo>
                  <a:pt x="4000500" y="2504"/>
                </a:lnTo>
              </a:path>
            </a:pathLst>
          </a:custGeom>
          <a:noFill/>
          <a:ln w="22860">
            <a:solidFill>
              <a:srgbClr val="9473A5"/>
            </a:solidFill>
            <a:prstDash val="solid"/>
          </a:ln>
        </p:spPr>
      </p:sp>
      <p:sp>
        <p:nvSpPr>
          <p:cNvPr id="11" name="network-row-4">
            <a:extLst>
              <a:ext uri="{FF2B5EF4-FFF2-40B4-BE49-F238E27FC236}">
                <a16:creationId xmlns:a16="http://schemas.microsoft.com/office/drawing/2014/main" id="{61220175-CFD9-4D54-B077-12A2D8959FE2}"/>
              </a:ext>
            </a:extLst>
          </p:cNvPr>
          <p:cNvSpPr>
            <a:spLocks noGrp="1"/>
          </p:cNvSpPr>
          <p:nvPr/>
        </p:nvSpPr>
        <p:spPr>
          <a:xfrm>
            <a:off x="1619250" y="5126231"/>
            <a:ext cx="4000500" cy="140559"/>
          </a:xfrm>
          <a:custGeom>
            <a:avLst/>
            <a:gdLst/>
            <a:ahLst/>
            <a:cxnLst/>
            <a:rect l="0" t="0" r="0" b="0"/>
            <a:pathLst>
              <a:path w="4000500" h="140559">
                <a:moveTo>
                  <a:pt x="0" y="0"/>
                </a:moveTo>
                <a:lnTo>
                  <a:pt x="666750" y="16881"/>
                </a:lnTo>
                <a:lnTo>
                  <a:pt x="1333500" y="78601"/>
                </a:lnTo>
                <a:lnTo>
                  <a:pt x="2000250" y="140559"/>
                </a:lnTo>
                <a:lnTo>
                  <a:pt x="2667000" y="101842"/>
                </a:lnTo>
                <a:lnTo>
                  <a:pt x="3333750" y="29232"/>
                </a:lnTo>
                <a:lnTo>
                  <a:pt x="4000500" y="2035"/>
                </a:lnTo>
              </a:path>
            </a:pathLst>
          </a:custGeom>
          <a:noFill/>
          <a:ln w="22860">
            <a:solidFill>
              <a:srgbClr val="9473A5"/>
            </a:solidFill>
            <a:prstDash val="solid"/>
          </a:ln>
        </p:spPr>
      </p:sp>
      <p:sp>
        <p:nvSpPr>
          <p:cNvPr id="12" name="network-column-0">
            <a:extLst>
              <a:ext uri="{FF2B5EF4-FFF2-40B4-BE49-F238E27FC236}">
                <a16:creationId xmlns:a16="http://schemas.microsoft.com/office/drawing/2014/main" id="{734CCEEA-3B72-4A05-9062-A367D2DA01A2}"/>
              </a:ext>
            </a:extLst>
          </p:cNvPr>
          <p:cNvSpPr>
            <a:spLocks noGrp="1"/>
          </p:cNvSpPr>
          <p:nvPr/>
        </p:nvSpPr>
        <p:spPr>
          <a:xfrm>
            <a:off x="1619250" y="3527675"/>
            <a:ext cx="9525" cy="1598556"/>
          </a:xfrm>
          <a:custGeom>
            <a:avLst/>
            <a:gdLst/>
            <a:ahLst/>
            <a:cxnLst/>
            <a:rect l="0" t="0" r="0" b="0"/>
            <a:pathLst>
              <a:path w="9525" h="1598556">
                <a:moveTo>
                  <a:pt x="0" y="0"/>
                </a:moveTo>
                <a:lnTo>
                  <a:pt x="0" y="399639"/>
                </a:lnTo>
                <a:lnTo>
                  <a:pt x="0" y="799278"/>
                </a:lnTo>
                <a:lnTo>
                  <a:pt x="0" y="1198917"/>
                </a:lnTo>
                <a:lnTo>
                  <a:pt x="0" y="1598556"/>
                </a:lnTo>
              </a:path>
            </a:pathLst>
          </a:custGeom>
          <a:noFill/>
          <a:ln w="22860">
            <a:solidFill>
              <a:srgbClr val="9473A5"/>
            </a:solidFill>
            <a:prstDash val="solid"/>
          </a:ln>
        </p:spPr>
      </p:sp>
      <p:sp>
        <p:nvSpPr>
          <p:cNvPr id="13" name="network-column-1">
            <a:extLst>
              <a:ext uri="{FF2B5EF4-FFF2-40B4-BE49-F238E27FC236}">
                <a16:creationId xmlns:a16="http://schemas.microsoft.com/office/drawing/2014/main" id="{64899C28-DF54-4F4D-AEFB-C00AED2FEF53}"/>
              </a:ext>
            </a:extLst>
          </p:cNvPr>
          <p:cNvSpPr>
            <a:spLocks noGrp="1"/>
          </p:cNvSpPr>
          <p:nvPr/>
        </p:nvSpPr>
        <p:spPr>
          <a:xfrm>
            <a:off x="2286000" y="3560138"/>
            <a:ext cx="9525" cy="1582974"/>
          </a:xfrm>
          <a:custGeom>
            <a:avLst/>
            <a:gdLst/>
            <a:ahLst/>
            <a:cxnLst/>
            <a:rect l="0" t="0" r="0" b="0"/>
            <a:pathLst>
              <a:path w="9525" h="1582974">
                <a:moveTo>
                  <a:pt x="0" y="0"/>
                </a:moveTo>
                <a:lnTo>
                  <a:pt x="0" y="395743"/>
                </a:lnTo>
                <a:lnTo>
                  <a:pt x="0" y="791487"/>
                </a:lnTo>
                <a:lnTo>
                  <a:pt x="0" y="1187230"/>
                </a:lnTo>
                <a:lnTo>
                  <a:pt x="0" y="1582974"/>
                </a:lnTo>
              </a:path>
            </a:pathLst>
          </a:custGeom>
          <a:noFill/>
          <a:ln w="22860">
            <a:solidFill>
              <a:srgbClr val="9473A5"/>
            </a:solidFill>
            <a:prstDash val="solid"/>
          </a:ln>
        </p:spPr>
      </p:sp>
      <p:sp>
        <p:nvSpPr>
          <p:cNvPr id="14" name="network-column-2">
            <a:extLst>
              <a:ext uri="{FF2B5EF4-FFF2-40B4-BE49-F238E27FC236}">
                <a16:creationId xmlns:a16="http://schemas.microsoft.com/office/drawing/2014/main" id="{FF1FAFC6-7A82-479B-84D9-0729458E97C9}"/>
              </a:ext>
            </a:extLst>
          </p:cNvPr>
          <p:cNvSpPr>
            <a:spLocks noGrp="1"/>
          </p:cNvSpPr>
          <p:nvPr/>
        </p:nvSpPr>
        <p:spPr>
          <a:xfrm>
            <a:off x="2952750" y="3678831"/>
            <a:ext cx="9525" cy="1526001"/>
          </a:xfrm>
          <a:custGeom>
            <a:avLst/>
            <a:gdLst/>
            <a:ahLst/>
            <a:cxnLst/>
            <a:rect l="0" t="0" r="0" b="0"/>
            <a:pathLst>
              <a:path w="9525" h="1526001">
                <a:moveTo>
                  <a:pt x="0" y="0"/>
                </a:moveTo>
                <a:lnTo>
                  <a:pt x="0" y="381500"/>
                </a:lnTo>
                <a:lnTo>
                  <a:pt x="0" y="763001"/>
                </a:lnTo>
                <a:lnTo>
                  <a:pt x="0" y="1144501"/>
                </a:lnTo>
                <a:lnTo>
                  <a:pt x="0" y="1526001"/>
                </a:lnTo>
              </a:path>
            </a:pathLst>
          </a:custGeom>
          <a:noFill/>
          <a:ln w="22860">
            <a:solidFill>
              <a:srgbClr val="9473A5"/>
            </a:solidFill>
            <a:prstDash val="solid"/>
          </a:ln>
        </p:spPr>
      </p:sp>
      <p:sp>
        <p:nvSpPr>
          <p:cNvPr id="15" name="network-column-3">
            <a:extLst>
              <a:ext uri="{FF2B5EF4-FFF2-40B4-BE49-F238E27FC236}">
                <a16:creationId xmlns:a16="http://schemas.microsoft.com/office/drawing/2014/main" id="{7E3F9D7E-62A6-4E5D-AB22-937D839EF05C}"/>
              </a:ext>
            </a:extLst>
          </p:cNvPr>
          <p:cNvSpPr>
            <a:spLocks noGrp="1"/>
          </p:cNvSpPr>
          <p:nvPr/>
        </p:nvSpPr>
        <p:spPr>
          <a:xfrm>
            <a:off x="3619500" y="3797981"/>
            <a:ext cx="9525" cy="1468809"/>
          </a:xfrm>
          <a:custGeom>
            <a:avLst/>
            <a:gdLst/>
            <a:ahLst/>
            <a:cxnLst/>
            <a:rect l="0" t="0" r="0" b="0"/>
            <a:pathLst>
              <a:path w="9525" h="1468809">
                <a:moveTo>
                  <a:pt x="0" y="0"/>
                </a:moveTo>
                <a:lnTo>
                  <a:pt x="0" y="367202"/>
                </a:lnTo>
                <a:lnTo>
                  <a:pt x="0" y="734405"/>
                </a:lnTo>
                <a:lnTo>
                  <a:pt x="0" y="1101607"/>
                </a:lnTo>
                <a:lnTo>
                  <a:pt x="0" y="1468809"/>
                </a:lnTo>
              </a:path>
            </a:pathLst>
          </a:custGeom>
          <a:noFill/>
          <a:ln w="22860">
            <a:solidFill>
              <a:srgbClr val="9473A5"/>
            </a:solidFill>
            <a:prstDash val="solid"/>
          </a:ln>
        </p:spPr>
      </p:sp>
      <p:sp>
        <p:nvSpPr>
          <p:cNvPr id="16" name="network-column-4">
            <a:extLst>
              <a:ext uri="{FF2B5EF4-FFF2-40B4-BE49-F238E27FC236}">
                <a16:creationId xmlns:a16="http://schemas.microsoft.com/office/drawing/2014/main" id="{A258E54F-DEFF-49A4-BB4D-DC70163C5C70}"/>
              </a:ext>
            </a:extLst>
          </p:cNvPr>
          <p:cNvSpPr>
            <a:spLocks noGrp="1"/>
          </p:cNvSpPr>
          <p:nvPr/>
        </p:nvSpPr>
        <p:spPr>
          <a:xfrm>
            <a:off x="4286250" y="3723525"/>
            <a:ext cx="9525" cy="1504548"/>
          </a:xfrm>
          <a:custGeom>
            <a:avLst/>
            <a:gdLst/>
            <a:ahLst/>
            <a:cxnLst/>
            <a:rect l="0" t="0" r="0" b="0"/>
            <a:pathLst>
              <a:path w="9525" h="1504548">
                <a:moveTo>
                  <a:pt x="0" y="0"/>
                </a:moveTo>
                <a:lnTo>
                  <a:pt x="0" y="376137"/>
                </a:lnTo>
                <a:lnTo>
                  <a:pt x="0" y="752274"/>
                </a:lnTo>
                <a:lnTo>
                  <a:pt x="0" y="1128411"/>
                </a:lnTo>
                <a:lnTo>
                  <a:pt x="0" y="1504548"/>
                </a:lnTo>
              </a:path>
            </a:pathLst>
          </a:custGeom>
          <a:noFill/>
          <a:ln w="22860">
            <a:solidFill>
              <a:srgbClr val="9473A5"/>
            </a:solidFill>
            <a:prstDash val="solid"/>
          </a:ln>
        </p:spPr>
      </p:sp>
      <p:sp>
        <p:nvSpPr>
          <p:cNvPr id="17" name="network-column-5">
            <a:extLst>
              <a:ext uri="{FF2B5EF4-FFF2-40B4-BE49-F238E27FC236}">
                <a16:creationId xmlns:a16="http://schemas.microsoft.com/office/drawing/2014/main" id="{A7887E7B-1078-4116-A162-A0B78B70E7D7}"/>
              </a:ext>
            </a:extLst>
          </p:cNvPr>
          <p:cNvSpPr>
            <a:spLocks noGrp="1"/>
          </p:cNvSpPr>
          <p:nvPr/>
        </p:nvSpPr>
        <p:spPr>
          <a:xfrm>
            <a:off x="4953000" y="3583891"/>
            <a:ext cx="9525" cy="1571573"/>
          </a:xfrm>
          <a:custGeom>
            <a:avLst/>
            <a:gdLst/>
            <a:ahLst/>
            <a:cxnLst/>
            <a:rect l="0" t="0" r="0" b="0"/>
            <a:pathLst>
              <a:path w="9525" h="1571573">
                <a:moveTo>
                  <a:pt x="0" y="0"/>
                </a:moveTo>
                <a:lnTo>
                  <a:pt x="0" y="392893"/>
                </a:lnTo>
                <a:lnTo>
                  <a:pt x="0" y="785786"/>
                </a:lnTo>
                <a:lnTo>
                  <a:pt x="0" y="1178679"/>
                </a:lnTo>
                <a:lnTo>
                  <a:pt x="0" y="1571573"/>
                </a:lnTo>
              </a:path>
            </a:pathLst>
          </a:custGeom>
          <a:noFill/>
          <a:ln w="22860">
            <a:solidFill>
              <a:srgbClr val="9473A5"/>
            </a:solidFill>
            <a:prstDash val="solid"/>
          </a:ln>
        </p:spPr>
      </p:sp>
      <p:sp>
        <p:nvSpPr>
          <p:cNvPr id="18" name="network-column-6">
            <a:extLst>
              <a:ext uri="{FF2B5EF4-FFF2-40B4-BE49-F238E27FC236}">
                <a16:creationId xmlns:a16="http://schemas.microsoft.com/office/drawing/2014/main" id="{79B40A85-0A2C-4164-BC17-2FECCB88837E}"/>
              </a:ext>
            </a:extLst>
          </p:cNvPr>
          <p:cNvSpPr>
            <a:spLocks noGrp="1"/>
          </p:cNvSpPr>
          <p:nvPr/>
        </p:nvSpPr>
        <p:spPr>
          <a:xfrm>
            <a:off x="5619750" y="3531588"/>
            <a:ext cx="9525" cy="1596678"/>
          </a:xfrm>
          <a:custGeom>
            <a:avLst/>
            <a:gdLst/>
            <a:ahLst/>
            <a:cxnLst/>
            <a:rect l="0" t="0" r="0" b="0"/>
            <a:pathLst>
              <a:path w="9525" h="1596678">
                <a:moveTo>
                  <a:pt x="0" y="0"/>
                </a:moveTo>
                <a:lnTo>
                  <a:pt x="0" y="399169"/>
                </a:lnTo>
                <a:lnTo>
                  <a:pt x="0" y="798339"/>
                </a:lnTo>
                <a:lnTo>
                  <a:pt x="0" y="1197508"/>
                </a:lnTo>
                <a:lnTo>
                  <a:pt x="0" y="1596678"/>
                </a:lnTo>
              </a:path>
            </a:pathLst>
          </a:custGeom>
          <a:noFill/>
          <a:ln w="22860">
            <a:solidFill>
              <a:srgbClr val="9473A5"/>
            </a:solidFill>
            <a:prstDash val="solid"/>
          </a:ln>
        </p:spPr>
      </p:sp>
      <p:sp>
        <p:nvSpPr>
          <p:cNvPr id="19" name="water-0-0">
            <a:extLst>
              <a:ext uri="{FF2B5EF4-FFF2-40B4-BE49-F238E27FC236}">
                <a16:creationId xmlns:a16="http://schemas.microsoft.com/office/drawing/2014/main" id="{22B00719-CFFD-4CF7-8920-6BBE9F30178C}"/>
              </a:ext>
            </a:extLst>
          </p:cNvPr>
          <p:cNvSpPr>
            <a:spLocks noGrp="1"/>
          </p:cNvSpPr>
          <p:nvPr/>
        </p:nvSpPr>
        <p:spPr>
          <a:xfrm>
            <a:off x="1914525" y="3703678"/>
            <a:ext cx="76200" cy="76200"/>
          </a:xfrm>
          <a:prstGeom prst="ellipse">
            <a:avLst/>
          </a:prstGeom>
          <a:solidFill>
            <a:srgbClr val="2C83B5"/>
          </a:solidFill>
          <a:ln w="0">
            <a:noFill/>
            <a:prstDash val="solid"/>
          </a:ln>
        </p:spPr>
      </p:sp>
      <p:sp>
        <p:nvSpPr>
          <p:cNvPr id="20" name="water-0-1">
            <a:extLst>
              <a:ext uri="{FF2B5EF4-FFF2-40B4-BE49-F238E27FC236}">
                <a16:creationId xmlns:a16="http://schemas.microsoft.com/office/drawing/2014/main" id="{2A58A115-3EF9-4B75-BBF3-28F334E6C34E}"/>
              </a:ext>
            </a:extLst>
          </p:cNvPr>
          <p:cNvSpPr>
            <a:spLocks noGrp="1"/>
          </p:cNvSpPr>
          <p:nvPr/>
        </p:nvSpPr>
        <p:spPr>
          <a:xfrm>
            <a:off x="2581275" y="3772134"/>
            <a:ext cx="76200" cy="76200"/>
          </a:xfrm>
          <a:prstGeom prst="ellipse">
            <a:avLst/>
          </a:prstGeom>
          <a:solidFill>
            <a:srgbClr val="2C83B5"/>
          </a:solidFill>
          <a:ln w="0">
            <a:noFill/>
            <a:prstDash val="solid"/>
          </a:ln>
        </p:spPr>
      </p:sp>
      <p:sp>
        <p:nvSpPr>
          <p:cNvPr id="21" name="water-0-2">
            <a:extLst>
              <a:ext uri="{FF2B5EF4-FFF2-40B4-BE49-F238E27FC236}">
                <a16:creationId xmlns:a16="http://schemas.microsoft.com/office/drawing/2014/main" id="{506CF544-C9ED-4A57-B72E-667FCCF959A6}"/>
              </a:ext>
            </a:extLst>
          </p:cNvPr>
          <p:cNvSpPr>
            <a:spLocks noGrp="1"/>
          </p:cNvSpPr>
          <p:nvPr/>
        </p:nvSpPr>
        <p:spPr>
          <a:xfrm>
            <a:off x="3248025" y="3883907"/>
            <a:ext cx="76200" cy="76200"/>
          </a:xfrm>
          <a:prstGeom prst="ellipse">
            <a:avLst/>
          </a:prstGeom>
          <a:solidFill>
            <a:srgbClr val="2C83B5"/>
          </a:solidFill>
          <a:ln w="0">
            <a:noFill/>
            <a:prstDash val="solid"/>
          </a:ln>
        </p:spPr>
      </p:sp>
      <p:sp>
        <p:nvSpPr>
          <p:cNvPr id="22" name="water-0-3">
            <a:extLst>
              <a:ext uri="{FF2B5EF4-FFF2-40B4-BE49-F238E27FC236}">
                <a16:creationId xmlns:a16="http://schemas.microsoft.com/office/drawing/2014/main" id="{EFFD8954-2DD1-4E03-800B-5B1010C9AD7B}"/>
              </a:ext>
            </a:extLst>
          </p:cNvPr>
          <p:cNvSpPr>
            <a:spLocks noGrp="1"/>
          </p:cNvSpPr>
          <p:nvPr/>
        </p:nvSpPr>
        <p:spPr>
          <a:xfrm>
            <a:off x="3914775" y="3910721"/>
            <a:ext cx="76200" cy="76200"/>
          </a:xfrm>
          <a:prstGeom prst="ellipse">
            <a:avLst/>
          </a:prstGeom>
          <a:solidFill>
            <a:srgbClr val="2C83B5"/>
          </a:solidFill>
          <a:ln w="0">
            <a:noFill/>
            <a:prstDash val="solid"/>
          </a:ln>
        </p:spPr>
      </p:sp>
      <p:sp>
        <p:nvSpPr>
          <p:cNvPr id="23" name="water-0-4">
            <a:extLst>
              <a:ext uri="{FF2B5EF4-FFF2-40B4-BE49-F238E27FC236}">
                <a16:creationId xmlns:a16="http://schemas.microsoft.com/office/drawing/2014/main" id="{841EA103-D532-4AEA-B63A-8B155F166B02}"/>
              </a:ext>
            </a:extLst>
          </p:cNvPr>
          <p:cNvSpPr>
            <a:spLocks noGrp="1"/>
          </p:cNvSpPr>
          <p:nvPr/>
        </p:nvSpPr>
        <p:spPr>
          <a:xfrm>
            <a:off x="4581525" y="3812054"/>
            <a:ext cx="76200" cy="76200"/>
          </a:xfrm>
          <a:prstGeom prst="ellipse">
            <a:avLst/>
          </a:prstGeom>
          <a:solidFill>
            <a:srgbClr val="2C83B5"/>
          </a:solidFill>
          <a:ln w="0">
            <a:noFill/>
            <a:prstDash val="solid"/>
          </a:ln>
        </p:spPr>
      </p:sp>
      <p:sp>
        <p:nvSpPr>
          <p:cNvPr id="24" name="water-0-5">
            <a:extLst>
              <a:ext uri="{FF2B5EF4-FFF2-40B4-BE49-F238E27FC236}">
                <a16:creationId xmlns:a16="http://schemas.microsoft.com/office/drawing/2014/main" id="{6349AA88-6799-4CE3-B403-4A5BEB8D7785}"/>
              </a:ext>
            </a:extLst>
          </p:cNvPr>
          <p:cNvSpPr>
            <a:spLocks noGrp="1"/>
          </p:cNvSpPr>
          <p:nvPr/>
        </p:nvSpPr>
        <p:spPr>
          <a:xfrm>
            <a:off x="5248275" y="3719224"/>
            <a:ext cx="76200" cy="76200"/>
          </a:xfrm>
          <a:prstGeom prst="ellipse">
            <a:avLst/>
          </a:prstGeom>
          <a:solidFill>
            <a:srgbClr val="2C83B5"/>
          </a:solidFill>
          <a:ln w="0">
            <a:noFill/>
            <a:prstDash val="solid"/>
          </a:ln>
        </p:spPr>
      </p:sp>
      <p:sp>
        <p:nvSpPr>
          <p:cNvPr id="25" name="water-1-0">
            <a:extLst>
              <a:ext uri="{FF2B5EF4-FFF2-40B4-BE49-F238E27FC236}">
                <a16:creationId xmlns:a16="http://schemas.microsoft.com/office/drawing/2014/main" id="{A5F470A1-0465-4305-A4C0-FA2F199A753B}"/>
              </a:ext>
            </a:extLst>
          </p:cNvPr>
          <p:cNvSpPr>
            <a:spLocks noGrp="1"/>
          </p:cNvSpPr>
          <p:nvPr/>
        </p:nvSpPr>
        <p:spPr>
          <a:xfrm>
            <a:off x="1914525" y="4101370"/>
            <a:ext cx="76200" cy="76200"/>
          </a:xfrm>
          <a:prstGeom prst="ellipse">
            <a:avLst/>
          </a:prstGeom>
          <a:solidFill>
            <a:srgbClr val="2C83B5"/>
          </a:solidFill>
          <a:ln w="0">
            <a:noFill/>
            <a:prstDash val="solid"/>
          </a:ln>
        </p:spPr>
      </p:sp>
      <p:sp>
        <p:nvSpPr>
          <p:cNvPr id="26" name="water-1-1">
            <a:extLst>
              <a:ext uri="{FF2B5EF4-FFF2-40B4-BE49-F238E27FC236}">
                <a16:creationId xmlns:a16="http://schemas.microsoft.com/office/drawing/2014/main" id="{87890FB1-AAE4-4C64-A635-4CA0ADEA06AF}"/>
              </a:ext>
            </a:extLst>
          </p:cNvPr>
          <p:cNvSpPr>
            <a:spLocks noGrp="1"/>
          </p:cNvSpPr>
          <p:nvPr/>
        </p:nvSpPr>
        <p:spPr>
          <a:xfrm>
            <a:off x="2581275" y="4160756"/>
            <a:ext cx="76200" cy="76200"/>
          </a:xfrm>
          <a:prstGeom prst="ellipse">
            <a:avLst/>
          </a:prstGeom>
          <a:solidFill>
            <a:srgbClr val="2C83B5"/>
          </a:solidFill>
          <a:ln w="0">
            <a:noFill/>
            <a:prstDash val="solid"/>
          </a:ln>
        </p:spPr>
      </p:sp>
      <p:sp>
        <p:nvSpPr>
          <p:cNvPr id="27" name="water-1-2">
            <a:extLst>
              <a:ext uri="{FF2B5EF4-FFF2-40B4-BE49-F238E27FC236}">
                <a16:creationId xmlns:a16="http://schemas.microsoft.com/office/drawing/2014/main" id="{3CA98A25-3944-4615-A4E6-71E4E6C5234E}"/>
              </a:ext>
            </a:extLst>
          </p:cNvPr>
          <p:cNvSpPr>
            <a:spLocks noGrp="1"/>
          </p:cNvSpPr>
          <p:nvPr/>
        </p:nvSpPr>
        <p:spPr>
          <a:xfrm>
            <a:off x="3248025" y="4258258"/>
            <a:ext cx="76200" cy="76200"/>
          </a:xfrm>
          <a:prstGeom prst="ellipse">
            <a:avLst/>
          </a:prstGeom>
          <a:solidFill>
            <a:srgbClr val="2C83B5"/>
          </a:solidFill>
          <a:ln w="0">
            <a:noFill/>
            <a:prstDash val="solid"/>
          </a:ln>
        </p:spPr>
      </p:sp>
      <p:sp>
        <p:nvSpPr>
          <p:cNvPr id="28" name="water-1-3">
            <a:extLst>
              <a:ext uri="{FF2B5EF4-FFF2-40B4-BE49-F238E27FC236}">
                <a16:creationId xmlns:a16="http://schemas.microsoft.com/office/drawing/2014/main" id="{9AA546D7-AEAD-433D-8061-54F355DEB5BF}"/>
              </a:ext>
            </a:extLst>
          </p:cNvPr>
          <p:cNvSpPr>
            <a:spLocks noGrp="1"/>
          </p:cNvSpPr>
          <p:nvPr/>
        </p:nvSpPr>
        <p:spPr>
          <a:xfrm>
            <a:off x="3914775" y="4282391"/>
            <a:ext cx="76200" cy="76200"/>
          </a:xfrm>
          <a:prstGeom prst="ellipse">
            <a:avLst/>
          </a:prstGeom>
          <a:solidFill>
            <a:srgbClr val="2C83B5"/>
          </a:solidFill>
          <a:ln w="0">
            <a:noFill/>
            <a:prstDash val="solid"/>
          </a:ln>
        </p:spPr>
      </p:sp>
      <p:sp>
        <p:nvSpPr>
          <p:cNvPr id="29" name="water-1-4">
            <a:extLst>
              <a:ext uri="{FF2B5EF4-FFF2-40B4-BE49-F238E27FC236}">
                <a16:creationId xmlns:a16="http://schemas.microsoft.com/office/drawing/2014/main" id="{BED3B67C-EAA1-42A6-B037-0AF1ED95DE64}"/>
              </a:ext>
            </a:extLst>
          </p:cNvPr>
          <p:cNvSpPr>
            <a:spLocks noGrp="1"/>
          </p:cNvSpPr>
          <p:nvPr/>
        </p:nvSpPr>
        <p:spPr>
          <a:xfrm>
            <a:off x="4581525" y="4196569"/>
            <a:ext cx="76200" cy="76200"/>
          </a:xfrm>
          <a:prstGeom prst="ellipse">
            <a:avLst/>
          </a:prstGeom>
          <a:solidFill>
            <a:srgbClr val="2C83B5"/>
          </a:solidFill>
          <a:ln w="0">
            <a:noFill/>
            <a:prstDash val="solid"/>
          </a:ln>
        </p:spPr>
      </p:sp>
      <p:sp>
        <p:nvSpPr>
          <p:cNvPr id="30" name="water-1-5">
            <a:extLst>
              <a:ext uri="{FF2B5EF4-FFF2-40B4-BE49-F238E27FC236}">
                <a16:creationId xmlns:a16="http://schemas.microsoft.com/office/drawing/2014/main" id="{D43E0134-C71B-470E-BD14-1D6DAE4B8307}"/>
              </a:ext>
            </a:extLst>
          </p:cNvPr>
          <p:cNvSpPr>
            <a:spLocks noGrp="1"/>
          </p:cNvSpPr>
          <p:nvPr/>
        </p:nvSpPr>
        <p:spPr>
          <a:xfrm>
            <a:off x="5248275" y="4115255"/>
            <a:ext cx="76200" cy="76200"/>
          </a:xfrm>
          <a:prstGeom prst="ellipse">
            <a:avLst/>
          </a:prstGeom>
          <a:solidFill>
            <a:srgbClr val="2C83B5"/>
          </a:solidFill>
          <a:ln w="0">
            <a:noFill/>
            <a:prstDash val="solid"/>
          </a:ln>
        </p:spPr>
      </p:sp>
      <p:sp>
        <p:nvSpPr>
          <p:cNvPr id="31" name="water-2-0">
            <a:extLst>
              <a:ext uri="{FF2B5EF4-FFF2-40B4-BE49-F238E27FC236}">
                <a16:creationId xmlns:a16="http://schemas.microsoft.com/office/drawing/2014/main" id="{98D16B86-BB00-47B4-BFDD-6929E65F130D}"/>
              </a:ext>
            </a:extLst>
          </p:cNvPr>
          <p:cNvSpPr>
            <a:spLocks noGrp="1"/>
          </p:cNvSpPr>
          <p:nvPr/>
        </p:nvSpPr>
        <p:spPr>
          <a:xfrm>
            <a:off x="1914525" y="4499061"/>
            <a:ext cx="76200" cy="76200"/>
          </a:xfrm>
          <a:prstGeom prst="ellipse">
            <a:avLst/>
          </a:prstGeom>
          <a:solidFill>
            <a:srgbClr val="2C83B5"/>
          </a:solidFill>
          <a:ln w="0">
            <a:noFill/>
            <a:prstDash val="solid"/>
          </a:ln>
        </p:spPr>
      </p:sp>
      <p:sp>
        <p:nvSpPr>
          <p:cNvPr id="32" name="water-2-1">
            <a:extLst>
              <a:ext uri="{FF2B5EF4-FFF2-40B4-BE49-F238E27FC236}">
                <a16:creationId xmlns:a16="http://schemas.microsoft.com/office/drawing/2014/main" id="{8F0C8FF6-996D-4F9D-ABF8-534A01A1E195}"/>
              </a:ext>
            </a:extLst>
          </p:cNvPr>
          <p:cNvSpPr>
            <a:spLocks noGrp="1"/>
          </p:cNvSpPr>
          <p:nvPr/>
        </p:nvSpPr>
        <p:spPr>
          <a:xfrm>
            <a:off x="2581275" y="4549378"/>
            <a:ext cx="76200" cy="76200"/>
          </a:xfrm>
          <a:prstGeom prst="ellipse">
            <a:avLst/>
          </a:prstGeom>
          <a:solidFill>
            <a:srgbClr val="2C83B5"/>
          </a:solidFill>
          <a:ln w="0">
            <a:noFill/>
            <a:prstDash val="solid"/>
          </a:ln>
        </p:spPr>
      </p:sp>
      <p:sp>
        <p:nvSpPr>
          <p:cNvPr id="33" name="water-2-2">
            <a:extLst>
              <a:ext uri="{FF2B5EF4-FFF2-40B4-BE49-F238E27FC236}">
                <a16:creationId xmlns:a16="http://schemas.microsoft.com/office/drawing/2014/main" id="{19916B43-03FA-42AC-8ACF-3A76FB2B5A5B}"/>
              </a:ext>
            </a:extLst>
          </p:cNvPr>
          <p:cNvSpPr>
            <a:spLocks noGrp="1"/>
          </p:cNvSpPr>
          <p:nvPr/>
        </p:nvSpPr>
        <p:spPr>
          <a:xfrm>
            <a:off x="3248025" y="4632610"/>
            <a:ext cx="76200" cy="76200"/>
          </a:xfrm>
          <a:prstGeom prst="ellipse">
            <a:avLst/>
          </a:prstGeom>
          <a:solidFill>
            <a:srgbClr val="2C83B5"/>
          </a:solidFill>
          <a:ln w="0">
            <a:noFill/>
            <a:prstDash val="solid"/>
          </a:ln>
        </p:spPr>
      </p:sp>
      <p:sp>
        <p:nvSpPr>
          <p:cNvPr id="34" name="water-2-3">
            <a:extLst>
              <a:ext uri="{FF2B5EF4-FFF2-40B4-BE49-F238E27FC236}">
                <a16:creationId xmlns:a16="http://schemas.microsoft.com/office/drawing/2014/main" id="{193113DC-05E4-4B18-A29D-A557346D258E}"/>
              </a:ext>
            </a:extLst>
          </p:cNvPr>
          <p:cNvSpPr>
            <a:spLocks noGrp="1"/>
          </p:cNvSpPr>
          <p:nvPr/>
        </p:nvSpPr>
        <p:spPr>
          <a:xfrm>
            <a:off x="3914775" y="4654061"/>
            <a:ext cx="76200" cy="76200"/>
          </a:xfrm>
          <a:prstGeom prst="ellipse">
            <a:avLst/>
          </a:prstGeom>
          <a:solidFill>
            <a:srgbClr val="2C83B5"/>
          </a:solidFill>
          <a:ln w="0">
            <a:noFill/>
            <a:prstDash val="solid"/>
          </a:ln>
        </p:spPr>
      </p:sp>
      <p:sp>
        <p:nvSpPr>
          <p:cNvPr id="35" name="water-2-4">
            <a:extLst>
              <a:ext uri="{FF2B5EF4-FFF2-40B4-BE49-F238E27FC236}">
                <a16:creationId xmlns:a16="http://schemas.microsoft.com/office/drawing/2014/main" id="{E4764B29-B7AE-49B6-9CC7-32C42F6F06B4}"/>
              </a:ext>
            </a:extLst>
          </p:cNvPr>
          <p:cNvSpPr>
            <a:spLocks noGrp="1"/>
          </p:cNvSpPr>
          <p:nvPr/>
        </p:nvSpPr>
        <p:spPr>
          <a:xfrm>
            <a:off x="4581525" y="4581084"/>
            <a:ext cx="76200" cy="76200"/>
          </a:xfrm>
          <a:prstGeom prst="ellipse">
            <a:avLst/>
          </a:prstGeom>
          <a:solidFill>
            <a:srgbClr val="2C83B5"/>
          </a:solidFill>
          <a:ln w="0">
            <a:noFill/>
            <a:prstDash val="solid"/>
          </a:ln>
        </p:spPr>
      </p:sp>
      <p:sp>
        <p:nvSpPr>
          <p:cNvPr id="36" name="water-2-5">
            <a:extLst>
              <a:ext uri="{FF2B5EF4-FFF2-40B4-BE49-F238E27FC236}">
                <a16:creationId xmlns:a16="http://schemas.microsoft.com/office/drawing/2014/main" id="{2621BEC5-44C8-4D23-A969-EC165FB78E3E}"/>
              </a:ext>
            </a:extLst>
          </p:cNvPr>
          <p:cNvSpPr>
            <a:spLocks noGrp="1"/>
          </p:cNvSpPr>
          <p:nvPr/>
        </p:nvSpPr>
        <p:spPr>
          <a:xfrm>
            <a:off x="5248275" y="4511287"/>
            <a:ext cx="76200" cy="76200"/>
          </a:xfrm>
          <a:prstGeom prst="ellipse">
            <a:avLst/>
          </a:prstGeom>
          <a:solidFill>
            <a:srgbClr val="2C83B5"/>
          </a:solidFill>
          <a:ln w="0">
            <a:noFill/>
            <a:prstDash val="solid"/>
          </a:ln>
        </p:spPr>
      </p:sp>
      <p:sp>
        <p:nvSpPr>
          <p:cNvPr id="37" name="water-3-0">
            <a:extLst>
              <a:ext uri="{FF2B5EF4-FFF2-40B4-BE49-F238E27FC236}">
                <a16:creationId xmlns:a16="http://schemas.microsoft.com/office/drawing/2014/main" id="{AE77C8C8-5E4F-4CEF-9FFA-25DE5C7225F0}"/>
              </a:ext>
            </a:extLst>
          </p:cNvPr>
          <p:cNvSpPr>
            <a:spLocks noGrp="1"/>
          </p:cNvSpPr>
          <p:nvPr/>
        </p:nvSpPr>
        <p:spPr>
          <a:xfrm>
            <a:off x="1914525" y="4896752"/>
            <a:ext cx="76200" cy="76200"/>
          </a:xfrm>
          <a:prstGeom prst="ellipse">
            <a:avLst/>
          </a:prstGeom>
          <a:solidFill>
            <a:srgbClr val="2C83B5"/>
          </a:solidFill>
          <a:ln w="0">
            <a:noFill/>
            <a:prstDash val="solid"/>
          </a:ln>
        </p:spPr>
      </p:sp>
      <p:sp>
        <p:nvSpPr>
          <p:cNvPr id="38" name="water-3-1">
            <a:extLst>
              <a:ext uri="{FF2B5EF4-FFF2-40B4-BE49-F238E27FC236}">
                <a16:creationId xmlns:a16="http://schemas.microsoft.com/office/drawing/2014/main" id="{A4BECA40-0836-405B-814F-0221E13E72BF}"/>
              </a:ext>
            </a:extLst>
          </p:cNvPr>
          <p:cNvSpPr>
            <a:spLocks noGrp="1"/>
          </p:cNvSpPr>
          <p:nvPr/>
        </p:nvSpPr>
        <p:spPr>
          <a:xfrm>
            <a:off x="2581275" y="4938000"/>
            <a:ext cx="76200" cy="76200"/>
          </a:xfrm>
          <a:prstGeom prst="ellipse">
            <a:avLst/>
          </a:prstGeom>
          <a:solidFill>
            <a:srgbClr val="2C83B5"/>
          </a:solidFill>
          <a:ln w="0">
            <a:noFill/>
            <a:prstDash val="solid"/>
          </a:ln>
        </p:spPr>
      </p:sp>
      <p:sp>
        <p:nvSpPr>
          <p:cNvPr id="39" name="water-3-2">
            <a:extLst>
              <a:ext uri="{FF2B5EF4-FFF2-40B4-BE49-F238E27FC236}">
                <a16:creationId xmlns:a16="http://schemas.microsoft.com/office/drawing/2014/main" id="{699CBCBB-B458-474B-B99D-5778C1CD3060}"/>
              </a:ext>
            </a:extLst>
          </p:cNvPr>
          <p:cNvSpPr>
            <a:spLocks noGrp="1"/>
          </p:cNvSpPr>
          <p:nvPr/>
        </p:nvSpPr>
        <p:spPr>
          <a:xfrm>
            <a:off x="3248025" y="5006961"/>
            <a:ext cx="76200" cy="76200"/>
          </a:xfrm>
          <a:prstGeom prst="ellipse">
            <a:avLst/>
          </a:prstGeom>
          <a:solidFill>
            <a:srgbClr val="2C83B5"/>
          </a:solidFill>
          <a:ln w="0">
            <a:noFill/>
            <a:prstDash val="solid"/>
          </a:ln>
        </p:spPr>
      </p:sp>
      <p:sp>
        <p:nvSpPr>
          <p:cNvPr id="40" name="water-3-3">
            <a:extLst>
              <a:ext uri="{FF2B5EF4-FFF2-40B4-BE49-F238E27FC236}">
                <a16:creationId xmlns:a16="http://schemas.microsoft.com/office/drawing/2014/main" id="{7460BA4D-BF3E-44B2-9972-521C4853E519}"/>
              </a:ext>
            </a:extLst>
          </p:cNvPr>
          <p:cNvSpPr>
            <a:spLocks noGrp="1"/>
          </p:cNvSpPr>
          <p:nvPr/>
        </p:nvSpPr>
        <p:spPr>
          <a:xfrm>
            <a:off x="3914775" y="5025730"/>
            <a:ext cx="76200" cy="76200"/>
          </a:xfrm>
          <a:prstGeom prst="ellipse">
            <a:avLst/>
          </a:prstGeom>
          <a:solidFill>
            <a:srgbClr val="2C83B5"/>
          </a:solidFill>
          <a:ln w="0">
            <a:noFill/>
            <a:prstDash val="solid"/>
          </a:ln>
        </p:spPr>
      </p:sp>
      <p:sp>
        <p:nvSpPr>
          <p:cNvPr id="41" name="water-3-4">
            <a:extLst>
              <a:ext uri="{FF2B5EF4-FFF2-40B4-BE49-F238E27FC236}">
                <a16:creationId xmlns:a16="http://schemas.microsoft.com/office/drawing/2014/main" id="{C15D75E8-5D83-4756-852E-C11ABC005C34}"/>
              </a:ext>
            </a:extLst>
          </p:cNvPr>
          <p:cNvSpPr>
            <a:spLocks noGrp="1"/>
          </p:cNvSpPr>
          <p:nvPr/>
        </p:nvSpPr>
        <p:spPr>
          <a:xfrm>
            <a:off x="4581525" y="4965600"/>
            <a:ext cx="76200" cy="76200"/>
          </a:xfrm>
          <a:prstGeom prst="ellipse">
            <a:avLst/>
          </a:prstGeom>
          <a:solidFill>
            <a:srgbClr val="2C83B5"/>
          </a:solidFill>
          <a:ln w="0">
            <a:noFill/>
            <a:prstDash val="solid"/>
          </a:ln>
        </p:spPr>
      </p:sp>
      <p:sp>
        <p:nvSpPr>
          <p:cNvPr id="42" name="water-3-5">
            <a:extLst>
              <a:ext uri="{FF2B5EF4-FFF2-40B4-BE49-F238E27FC236}">
                <a16:creationId xmlns:a16="http://schemas.microsoft.com/office/drawing/2014/main" id="{E8BFBAD5-1B2A-45C2-9F20-AB2EEE5588C0}"/>
              </a:ext>
            </a:extLst>
          </p:cNvPr>
          <p:cNvSpPr>
            <a:spLocks noGrp="1"/>
          </p:cNvSpPr>
          <p:nvPr/>
        </p:nvSpPr>
        <p:spPr>
          <a:xfrm>
            <a:off x="5248275" y="4907318"/>
            <a:ext cx="76200" cy="76200"/>
          </a:xfrm>
          <a:prstGeom prst="ellipse">
            <a:avLst/>
          </a:prstGeom>
          <a:solidFill>
            <a:srgbClr val="2C83B5"/>
          </a:solidFill>
          <a:ln w="0">
            <a:noFill/>
            <a:prstDash val="solid"/>
          </a:ln>
        </p:spPr>
      </p:sp>
      <p:sp>
        <p:nvSpPr>
          <p:cNvPr id="43" name="water-flow-left">
            <a:extLst>
              <a:ext uri="{FF2B5EF4-FFF2-40B4-BE49-F238E27FC236}">
                <a16:creationId xmlns:a16="http://schemas.microsoft.com/office/drawing/2014/main" id="{5100440C-CBC9-44A5-B72A-0AC76C2E3A07}"/>
              </a:ext>
            </a:extLst>
          </p:cNvPr>
          <p:cNvSpPr>
            <a:spLocks noGrp="1"/>
          </p:cNvSpPr>
          <p:nvPr/>
        </p:nvSpPr>
        <p:spPr>
          <a:xfrm>
            <a:off x="1952625" y="4429125"/>
            <a:ext cx="742950" cy="238125"/>
          </a:xfrm>
          <a:prstGeom prst="leftArrow">
            <a:avLst/>
          </a:prstGeom>
          <a:solidFill>
            <a:srgbClr val="2C83B5"/>
          </a:solidFill>
          <a:ln w="0">
            <a:noFill/>
            <a:prstDash val="solid"/>
          </a:ln>
        </p:spPr>
      </p:sp>
      <p:sp>
        <p:nvSpPr>
          <p:cNvPr id="44" name="water-flow-right">
            <a:extLst>
              <a:ext uri="{FF2B5EF4-FFF2-40B4-BE49-F238E27FC236}">
                <a16:creationId xmlns:a16="http://schemas.microsoft.com/office/drawing/2014/main" id="{A82FDA63-5426-46EC-ADA9-C8F6E99D9FA2}"/>
              </a:ext>
            </a:extLst>
          </p:cNvPr>
          <p:cNvSpPr>
            <a:spLocks noGrp="1"/>
          </p:cNvSpPr>
          <p:nvPr/>
        </p:nvSpPr>
        <p:spPr>
          <a:xfrm>
            <a:off x="4810125" y="4429125"/>
            <a:ext cx="742950" cy="238125"/>
          </a:xfrm>
          <a:prstGeom prst="rightArrow">
            <a:avLst/>
          </a:prstGeom>
          <a:solidFill>
            <a:srgbClr val="2C83B5"/>
          </a:solidFill>
          <a:ln w="0">
            <a:noFill/>
            <a:prstDash val="solid"/>
          </a:ln>
        </p:spPr>
      </p:sp>
      <p:sp>
        <p:nvSpPr>
          <p:cNvPr id="45" name="network-legend">
            <a:extLst>
              <a:ext uri="{FF2B5EF4-FFF2-40B4-BE49-F238E27FC236}">
                <a16:creationId xmlns:a16="http://schemas.microsoft.com/office/drawing/2014/main" id="{F5AAFBEB-26DD-483A-83CC-C117B8299757}"/>
              </a:ext>
            </a:extLst>
          </p:cNvPr>
          <p:cNvSpPr>
            <a:spLocks noGrp="1"/>
          </p:cNvSpPr>
          <p:nvPr/>
        </p:nvSpPr>
        <p:spPr>
          <a:xfrm>
            <a:off x="1619250" y="5876925"/>
            <a:ext cx="381000" cy="9525"/>
          </a:xfrm>
          <a:custGeom>
            <a:avLst/>
            <a:gdLst/>
            <a:ahLst/>
            <a:cxnLst/>
            <a:rect l="0" t="0" r="0" b="0"/>
            <a:pathLst>
              <a:path w="381000" h="9525">
                <a:moveTo>
                  <a:pt x="0" y="0"/>
                </a:moveTo>
                <a:lnTo>
                  <a:pt x="381000" y="0"/>
                </a:lnTo>
              </a:path>
            </a:pathLst>
          </a:custGeom>
          <a:noFill/>
          <a:ln w="28575">
            <a:solidFill>
              <a:srgbClr val="9473A5"/>
            </a:solidFill>
            <a:prstDash val="solid"/>
          </a:ln>
        </p:spPr>
      </p:sp>
      <p:sp>
        <p:nvSpPr>
          <p:cNvPr id="46" name="network-label">
            <a:extLst>
              <a:ext uri="{FF2B5EF4-FFF2-40B4-BE49-F238E27FC236}">
                <a16:creationId xmlns:a16="http://schemas.microsoft.com/office/drawing/2014/main" id="{E619A316-585F-4E88-B7FF-1195CC55E518}"/>
              </a:ext>
            </a:extLst>
          </p:cNvPr>
          <p:cNvSpPr>
            <a:spLocks noGrp="1"/>
          </p:cNvSpPr>
          <p:nvPr/>
        </p:nvSpPr>
        <p:spPr>
          <a:xfrm>
            <a:off x="2114550" y="5715000"/>
            <a:ext cx="2476500" cy="400050"/>
          </a:xfrm>
          <a:prstGeom prst="rect">
            <a:avLst/>
          </a:prstGeom>
          <a:noFill/>
          <a:ln w="0">
            <a:noFill/>
          </a:ln>
        </p:spPr>
        <p:txBody>
          <a:bodyPr wrap="square" lIns="0" tIns="0" rIns="0" bIns="0" anchor="t">
            <a:noAutofit/>
          </a:bodyPr>
          <a:lstStyle>
            <a:defPPr algn="l">
              <a:defRPr sz="1650" b="0">
                <a:solidFill>
                  <a:srgbClr val="62666B"/>
                </a:solidFill>
                <a:latin typeface="Arial"/>
                <a:ea typeface="Arial"/>
                <a:cs typeface="Arial"/>
              </a:defRPr>
            </a:defPPr>
            <a:lvl1pPr algn="l">
              <a:defRPr sz="1650" b="0">
                <a:solidFill>
                  <a:srgbClr val="62666B"/>
                </a:solidFill>
                <a:latin typeface="Arial"/>
                <a:ea typeface="Arial"/>
                <a:cs typeface="Arial"/>
              </a:defRPr>
            </a:lvl1pPr>
            <a:lvl2pPr algn="l">
              <a:defRPr sz="1650" b="0">
                <a:solidFill>
                  <a:srgbClr val="62666B"/>
                </a:solidFill>
                <a:latin typeface="Arial"/>
                <a:ea typeface="Arial"/>
                <a:cs typeface="Arial"/>
              </a:defRPr>
            </a:lvl2pPr>
            <a:lvl3pPr algn="l">
              <a:defRPr sz="1650" b="0">
                <a:solidFill>
                  <a:srgbClr val="62666B"/>
                </a:solidFill>
                <a:latin typeface="Arial"/>
                <a:ea typeface="Arial"/>
                <a:cs typeface="Arial"/>
              </a:defRPr>
            </a:lvl3pPr>
            <a:lvl4pPr algn="l">
              <a:defRPr sz="1650" b="0">
                <a:solidFill>
                  <a:srgbClr val="62666B"/>
                </a:solidFill>
                <a:latin typeface="Arial"/>
                <a:ea typeface="Arial"/>
                <a:cs typeface="Arial"/>
              </a:defRPr>
            </a:lvl4pPr>
            <a:lvl5pPr algn="l">
              <a:defRPr sz="1650" b="0">
                <a:solidFill>
                  <a:srgbClr val="62666B"/>
                </a:solidFill>
                <a:latin typeface="Arial"/>
                <a:ea typeface="Arial"/>
                <a:cs typeface="Arial"/>
              </a:defRPr>
            </a:lvl5pPr>
            <a:lvl6pPr algn="l">
              <a:defRPr sz="1650" b="0">
                <a:solidFill>
                  <a:srgbClr val="62666B"/>
                </a:solidFill>
                <a:latin typeface="Arial"/>
                <a:ea typeface="Arial"/>
                <a:cs typeface="Arial"/>
              </a:defRPr>
            </a:lvl6pPr>
            <a:lvl7pPr algn="l">
              <a:defRPr sz="1650" b="0">
                <a:solidFill>
                  <a:srgbClr val="62666B"/>
                </a:solidFill>
                <a:latin typeface="Arial"/>
                <a:ea typeface="Arial"/>
                <a:cs typeface="Arial"/>
              </a:defRPr>
            </a:lvl7pPr>
            <a:lvl8pPr algn="l">
              <a:defRPr sz="1650" b="0">
                <a:solidFill>
                  <a:srgbClr val="62666B"/>
                </a:solidFill>
                <a:latin typeface="Arial"/>
                <a:ea typeface="Arial"/>
                <a:cs typeface="Arial"/>
              </a:defRPr>
            </a:lvl8pPr>
            <a:lvl9pPr algn="l">
              <a:defRPr sz="1650" b="0">
                <a:solidFill>
                  <a:srgbClr val="62666B"/>
                </a:solidFill>
                <a:latin typeface="Arial"/>
                <a:ea typeface="Arial"/>
                <a:cs typeface="Arial"/>
              </a:defRPr>
            </a:lvl9pPr>
          </a:lstStyle>
          <a:p>
            <a:pPr algn="l">
              <a:defRPr sz="1650" b="0">
                <a:solidFill>
                  <a:srgbClr val="62666B"/>
                </a:solidFill>
                <a:latin typeface="Arial"/>
                <a:ea typeface="Arial"/>
                <a:cs typeface="Arial"/>
              </a:defRPr>
            </a:pPr>
            <a:r>
              <a:rPr sz="1650" b="0">
                <a:solidFill>
                  <a:srgbClr val="62666B"/>
                </a:solidFill>
                <a:latin typeface="Arial"/>
                <a:ea typeface="Arial"/>
                <a:cs typeface="Arial"/>
              </a:rPr>
              <a:t>Polymer network</a:t>
            </a:r>
          </a:p>
        </p:txBody>
      </p:sp>
      <p:sp>
        <p:nvSpPr>
          <p:cNvPr id="47" name="water-legend">
            <a:extLst>
              <a:ext uri="{FF2B5EF4-FFF2-40B4-BE49-F238E27FC236}">
                <a16:creationId xmlns:a16="http://schemas.microsoft.com/office/drawing/2014/main" id="{8C0772FD-0F94-4561-AD18-A2A97C1BA83D}"/>
              </a:ext>
            </a:extLst>
          </p:cNvPr>
          <p:cNvSpPr>
            <a:spLocks noGrp="1"/>
          </p:cNvSpPr>
          <p:nvPr/>
        </p:nvSpPr>
        <p:spPr>
          <a:xfrm>
            <a:off x="4572000" y="5800725"/>
            <a:ext cx="114300" cy="114300"/>
          </a:xfrm>
          <a:prstGeom prst="ellipse">
            <a:avLst/>
          </a:prstGeom>
          <a:solidFill>
            <a:srgbClr val="2C83B5"/>
          </a:solidFill>
          <a:ln w="0">
            <a:noFill/>
            <a:prstDash val="solid"/>
          </a:ln>
        </p:spPr>
      </p:sp>
      <p:sp>
        <p:nvSpPr>
          <p:cNvPr id="48" name="water-label">
            <a:extLst>
              <a:ext uri="{FF2B5EF4-FFF2-40B4-BE49-F238E27FC236}">
                <a16:creationId xmlns:a16="http://schemas.microsoft.com/office/drawing/2014/main" id="{224B8B78-D422-40DC-B66C-65EBE9236436}"/>
              </a:ext>
            </a:extLst>
          </p:cNvPr>
          <p:cNvSpPr>
            <a:spLocks noGrp="1"/>
          </p:cNvSpPr>
          <p:nvPr/>
        </p:nvSpPr>
        <p:spPr>
          <a:xfrm>
            <a:off x="4810125" y="5715000"/>
            <a:ext cx="1143000" cy="400050"/>
          </a:xfrm>
          <a:prstGeom prst="rect">
            <a:avLst/>
          </a:prstGeom>
          <a:noFill/>
          <a:ln w="0">
            <a:noFill/>
          </a:ln>
        </p:spPr>
        <p:txBody>
          <a:bodyPr wrap="square" lIns="0" tIns="0" rIns="0" bIns="0" anchor="t">
            <a:noAutofit/>
          </a:bodyPr>
          <a:lstStyle>
            <a:defPPr algn="l">
              <a:defRPr sz="1650" b="0">
                <a:solidFill>
                  <a:srgbClr val="62666B"/>
                </a:solidFill>
                <a:latin typeface="Arial"/>
                <a:ea typeface="Arial"/>
                <a:cs typeface="Arial"/>
              </a:defRPr>
            </a:defPPr>
            <a:lvl1pPr algn="l">
              <a:defRPr sz="1650" b="0">
                <a:solidFill>
                  <a:srgbClr val="62666B"/>
                </a:solidFill>
                <a:latin typeface="Arial"/>
                <a:ea typeface="Arial"/>
                <a:cs typeface="Arial"/>
              </a:defRPr>
            </a:lvl1pPr>
            <a:lvl2pPr algn="l">
              <a:defRPr sz="1650" b="0">
                <a:solidFill>
                  <a:srgbClr val="62666B"/>
                </a:solidFill>
                <a:latin typeface="Arial"/>
                <a:ea typeface="Arial"/>
                <a:cs typeface="Arial"/>
              </a:defRPr>
            </a:lvl2pPr>
            <a:lvl3pPr algn="l">
              <a:defRPr sz="1650" b="0">
                <a:solidFill>
                  <a:srgbClr val="62666B"/>
                </a:solidFill>
                <a:latin typeface="Arial"/>
                <a:ea typeface="Arial"/>
                <a:cs typeface="Arial"/>
              </a:defRPr>
            </a:lvl3pPr>
            <a:lvl4pPr algn="l">
              <a:defRPr sz="1650" b="0">
                <a:solidFill>
                  <a:srgbClr val="62666B"/>
                </a:solidFill>
                <a:latin typeface="Arial"/>
                <a:ea typeface="Arial"/>
                <a:cs typeface="Arial"/>
              </a:defRPr>
            </a:lvl4pPr>
            <a:lvl5pPr algn="l">
              <a:defRPr sz="1650" b="0">
                <a:solidFill>
                  <a:srgbClr val="62666B"/>
                </a:solidFill>
                <a:latin typeface="Arial"/>
                <a:ea typeface="Arial"/>
                <a:cs typeface="Arial"/>
              </a:defRPr>
            </a:lvl5pPr>
            <a:lvl6pPr algn="l">
              <a:defRPr sz="1650" b="0">
                <a:solidFill>
                  <a:srgbClr val="62666B"/>
                </a:solidFill>
                <a:latin typeface="Arial"/>
                <a:ea typeface="Arial"/>
                <a:cs typeface="Arial"/>
              </a:defRPr>
            </a:lvl6pPr>
            <a:lvl7pPr algn="l">
              <a:defRPr sz="1650" b="0">
                <a:solidFill>
                  <a:srgbClr val="62666B"/>
                </a:solidFill>
                <a:latin typeface="Arial"/>
                <a:ea typeface="Arial"/>
                <a:cs typeface="Arial"/>
              </a:defRPr>
            </a:lvl7pPr>
            <a:lvl8pPr algn="l">
              <a:defRPr sz="1650" b="0">
                <a:solidFill>
                  <a:srgbClr val="62666B"/>
                </a:solidFill>
                <a:latin typeface="Arial"/>
                <a:ea typeface="Arial"/>
                <a:cs typeface="Arial"/>
              </a:defRPr>
            </a:lvl8pPr>
            <a:lvl9pPr algn="l">
              <a:defRPr sz="1650" b="0">
                <a:solidFill>
                  <a:srgbClr val="62666B"/>
                </a:solidFill>
                <a:latin typeface="Arial"/>
                <a:ea typeface="Arial"/>
                <a:cs typeface="Arial"/>
              </a:defRPr>
            </a:lvl9pPr>
          </a:lstStyle>
          <a:p>
            <a:pPr algn="l">
              <a:defRPr sz="1650" b="0">
                <a:solidFill>
                  <a:srgbClr val="62666B"/>
                </a:solidFill>
                <a:latin typeface="Arial"/>
                <a:ea typeface="Arial"/>
                <a:cs typeface="Arial"/>
              </a:defRPr>
            </a:pPr>
            <a:r>
              <a:rPr sz="1650" b="0">
                <a:solidFill>
                  <a:srgbClr val="62666B"/>
                </a:solidFill>
                <a:latin typeface="Arial"/>
                <a:ea typeface="Arial"/>
                <a:cs typeface="Arial"/>
              </a:rPr>
              <a:t>Water</a:t>
            </a:r>
          </a:p>
        </p:txBody>
      </p:sp>
      <p:sp>
        <p:nvSpPr>
          <p:cNvPr id="49" name="schematic-label">
            <a:extLst>
              <a:ext uri="{FF2B5EF4-FFF2-40B4-BE49-F238E27FC236}">
                <a16:creationId xmlns:a16="http://schemas.microsoft.com/office/drawing/2014/main" id="{2FA68EF0-0D55-44CB-BA47-3A9752CC2A60}"/>
              </a:ext>
            </a:extLst>
          </p:cNvPr>
          <p:cNvSpPr>
            <a:spLocks noGrp="1"/>
          </p:cNvSpPr>
          <p:nvPr/>
        </p:nvSpPr>
        <p:spPr>
          <a:xfrm>
            <a:off x="1428750" y="6238875"/>
            <a:ext cx="4762500" cy="400050"/>
          </a:xfrm>
          <a:prstGeom prst="rect">
            <a:avLst/>
          </a:prstGeom>
          <a:noFill/>
          <a:ln w="0">
            <a:noFill/>
          </a:ln>
        </p:spPr>
        <p:txBody>
          <a:bodyPr wrap="square" lIns="0" tIns="0" rIns="0" bIns="0" anchor="t">
            <a:noAutofit/>
          </a:bodyPr>
          <a:lstStyle>
            <a:defPPr algn="l">
              <a:defRPr sz="1575" b="0">
                <a:solidFill>
                  <a:srgbClr val="62666B"/>
                </a:solidFill>
                <a:latin typeface="Arial"/>
                <a:ea typeface="Arial"/>
                <a:cs typeface="Arial"/>
              </a:defRPr>
            </a:defPPr>
            <a:lvl1pPr algn="l">
              <a:defRPr sz="1575" b="0">
                <a:solidFill>
                  <a:srgbClr val="62666B"/>
                </a:solidFill>
                <a:latin typeface="Arial"/>
                <a:ea typeface="Arial"/>
                <a:cs typeface="Arial"/>
              </a:defRPr>
            </a:lvl1pPr>
            <a:lvl2pPr algn="l">
              <a:defRPr sz="1575" b="0">
                <a:solidFill>
                  <a:srgbClr val="62666B"/>
                </a:solidFill>
                <a:latin typeface="Arial"/>
                <a:ea typeface="Arial"/>
                <a:cs typeface="Arial"/>
              </a:defRPr>
            </a:lvl2pPr>
            <a:lvl3pPr algn="l">
              <a:defRPr sz="1575" b="0">
                <a:solidFill>
                  <a:srgbClr val="62666B"/>
                </a:solidFill>
                <a:latin typeface="Arial"/>
                <a:ea typeface="Arial"/>
                <a:cs typeface="Arial"/>
              </a:defRPr>
            </a:lvl3pPr>
            <a:lvl4pPr algn="l">
              <a:defRPr sz="1575" b="0">
                <a:solidFill>
                  <a:srgbClr val="62666B"/>
                </a:solidFill>
                <a:latin typeface="Arial"/>
                <a:ea typeface="Arial"/>
                <a:cs typeface="Arial"/>
              </a:defRPr>
            </a:lvl4pPr>
            <a:lvl5pPr algn="l">
              <a:defRPr sz="1575" b="0">
                <a:solidFill>
                  <a:srgbClr val="62666B"/>
                </a:solidFill>
                <a:latin typeface="Arial"/>
                <a:ea typeface="Arial"/>
                <a:cs typeface="Arial"/>
              </a:defRPr>
            </a:lvl5pPr>
            <a:lvl6pPr algn="l">
              <a:defRPr sz="1575" b="0">
                <a:solidFill>
                  <a:srgbClr val="62666B"/>
                </a:solidFill>
                <a:latin typeface="Arial"/>
                <a:ea typeface="Arial"/>
                <a:cs typeface="Arial"/>
              </a:defRPr>
            </a:lvl6pPr>
            <a:lvl7pPr algn="l">
              <a:defRPr sz="1575" b="0">
                <a:solidFill>
                  <a:srgbClr val="62666B"/>
                </a:solidFill>
                <a:latin typeface="Arial"/>
                <a:ea typeface="Arial"/>
                <a:cs typeface="Arial"/>
              </a:defRPr>
            </a:lvl7pPr>
            <a:lvl8pPr algn="l">
              <a:defRPr sz="1575" b="0">
                <a:solidFill>
                  <a:srgbClr val="62666B"/>
                </a:solidFill>
                <a:latin typeface="Arial"/>
                <a:ea typeface="Arial"/>
                <a:cs typeface="Arial"/>
              </a:defRPr>
            </a:lvl8pPr>
            <a:lvl9pPr algn="l">
              <a:defRPr sz="1575" b="0">
                <a:solidFill>
                  <a:srgbClr val="62666B"/>
                </a:solidFill>
                <a:latin typeface="Arial"/>
                <a:ea typeface="Arial"/>
                <a:cs typeface="Arial"/>
              </a:defRPr>
            </a:lvl9pPr>
          </a:lstStyle>
          <a:p>
            <a:pPr algn="l">
              <a:defRPr sz="1575" b="0">
                <a:solidFill>
                  <a:srgbClr val="62666B"/>
                </a:solidFill>
                <a:latin typeface="Arial"/>
                <a:ea typeface="Arial"/>
                <a:cs typeface="Arial"/>
              </a:defRPr>
            </a:pPr>
            <a:r>
              <a:rPr sz="1575" b="0">
                <a:solidFill>
                  <a:srgbClr val="62666B"/>
                </a:solidFill>
                <a:latin typeface="Arial"/>
                <a:ea typeface="Arial"/>
                <a:cs typeface="Arial"/>
              </a:rPr>
              <a:t>Conceptual view inside the gel</a:t>
            </a:r>
          </a:p>
        </p:txBody>
      </p:sp>
      <p:graphicFrame>
        <p:nvGraphicFramePr>
          <p:cNvPr id="50" name="表格 49">
            <a:extLst>
              <a:ext uri="{FF2B5EF4-FFF2-40B4-BE49-F238E27FC236}">
                <a16:creationId xmlns:a16="http://schemas.microsoft.com/office/drawing/2014/main" id="{05C9FEE5-7C7E-4B79-8E5C-DA16E5DDEACD}"/>
              </a:ext>
            </a:extLst>
          </p:cNvPr>
          <p:cNvGraphicFramePr/>
          <p:nvPr/>
        </p:nvGraphicFramePr>
        <p:xfrm>
          <a:off x="7048500" y="2286000"/>
          <a:ext cx="7277100" cy="3571875"/>
        </p:xfrm>
        <a:graphic>
          <a:graphicData uri="http://schemas.openxmlformats.org/drawingml/2006/table">
            <a:tbl>
              <a:tblPr firstRow="1"/>
              <a:tblGrid>
                <a:gridCol w="2571750">
                  <a:extLst>
                    <a:ext uri="{9D8B030D-6E8A-4147-A177-3AD203B41FA5}">
                      <a16:colId xmlns:a16="http://schemas.microsoft.com/office/drawing/2014/main" val="20000"/>
                    </a:ext>
                  </a:extLst>
                </a:gridCol>
                <a:gridCol w="4705350">
                  <a:extLst>
                    <a:ext uri="{9D8B030D-6E8A-4147-A177-3AD203B41FA5}">
                      <a16:colId xmlns:a16="http://schemas.microsoft.com/office/drawing/2014/main" val="20001"/>
                    </a:ext>
                  </a:extLst>
                </a:gridCol>
              </a:tblGrid>
              <a:tr h="619125">
                <a:tc>
                  <a:txBody>
                    <a:bodyPr/>
                    <a:lstStyle/>
                    <a:p>
                      <a:pPr algn="l"/>
                      <a:r>
                        <a:rPr sz="1650" b="1">
                          <a:solidFill>
                            <a:srgbClr val="62666B"/>
                          </a:solidFill>
                          <a:latin typeface="Arial"/>
                          <a:ea typeface="Arial"/>
                          <a:cs typeface="Arial"/>
                        </a:rPr>
                        <a:t>Internal process</a:t>
                      </a:r>
                    </a:p>
                  </a:txBody>
                  <a:tcPr anchor="ctr">
                    <a:lnL w="0">
                      <a:solidFill>
                        <a:srgbClr val="FFFFFF"/>
                      </a:solidFill>
                      <a:prstDash val="solid"/>
                    </a:lnL>
                    <a:lnR w="0">
                      <a:solidFill>
                        <a:srgbClr val="FFFFFF"/>
                      </a:solidFill>
                      <a:prstDash val="solid"/>
                    </a:lnR>
                    <a:lnT w="0">
                      <a:solidFill>
                        <a:srgbClr val="FFFFFF"/>
                      </a:solidFill>
                      <a:prstDash val="solid"/>
                    </a:lnT>
                    <a:lnB w="0">
                      <a:solidFill>
                        <a:srgbClr val="FFFFFF"/>
                      </a:solidFill>
                      <a:prstDash val="solid"/>
                    </a:lnB>
                    <a:solidFill>
                      <a:srgbClr val="FFFFFF"/>
                    </a:solidFill>
                  </a:tcPr>
                </a:tc>
                <a:tc>
                  <a:txBody>
                    <a:bodyPr/>
                    <a:lstStyle/>
                    <a:p>
                      <a:pPr algn="l"/>
                      <a:r>
                        <a:rPr sz="1650" b="1">
                          <a:solidFill>
                            <a:srgbClr val="62666B"/>
                          </a:solidFill>
                          <a:latin typeface="Arial"/>
                          <a:ea typeface="Arial"/>
                          <a:cs typeface="Arial"/>
                        </a:rPr>
                        <a:t>What changes during the hold</a:t>
                      </a:r>
                    </a:p>
                  </a:txBody>
                  <a:tcPr anchor="ctr">
                    <a:lnL w="0" cap="flat" cmpd="sng" algn="ctr">
                      <a:solidFill>
                        <a:srgbClr val="FFFFFF"/>
                      </a:solidFill>
                      <a:prstDash val="solid"/>
                      <a:round/>
                      <a:headEnd type="none" w="med" len="med"/>
                      <a:tailEnd type="none" w="med" len="med"/>
                    </a:lnL>
                    <a:lnR w="0">
                      <a:solidFill>
                        <a:srgbClr val="FFFFFF"/>
                      </a:solidFill>
                      <a:prstDash val="solid"/>
                    </a:lnR>
                    <a:lnT w="0">
                      <a:solidFill>
                        <a:srgbClr val="FFFFFF"/>
                      </a:solidFill>
                      <a:prstDash val="solid"/>
                    </a:lnT>
                    <a:lnB w="0">
                      <a:solidFill>
                        <a:srgbClr val="FFFFFF"/>
                      </a:solidFill>
                      <a:prstDash val="solid"/>
                    </a:lnB>
                    <a:solidFill>
                      <a:srgbClr val="FFFFFF"/>
                    </a:solidFill>
                  </a:tcPr>
                </a:tc>
                <a:extLst>
                  <a:ext uri="{0D108BD9-81ED-4DB2-BD59-A6C34878D82A}">
                    <a16:rowId xmlns:a16="http://schemas.microsoft.com/office/drawing/2014/main" val="10000"/>
                  </a:ext>
                </a:extLst>
              </a:tr>
              <a:tr h="1428750">
                <a:tc>
                  <a:txBody>
                    <a:bodyPr/>
                    <a:lstStyle/>
                    <a:p>
                      <a:pPr algn="l"/>
                      <a:r>
                        <a:rPr sz="1800" b="1">
                          <a:solidFill>
                            <a:srgbClr val="202124"/>
                          </a:solidFill>
                          <a:latin typeface="Arial"/>
                          <a:ea typeface="Arial"/>
                          <a:cs typeface="Arial"/>
                        </a:rPr>
                        <a:t>Faster in this study</a:t>
                      </a:r>
                    </a:p>
                    <a:p>
                      <a:pPr algn="l"/>
                      <a:r>
                        <a:rPr sz="1800" b="1">
                          <a:solidFill>
                            <a:srgbClr val="202124"/>
                          </a:solidFill>
                          <a:latin typeface="Arial"/>
                          <a:ea typeface="Arial"/>
                          <a:cs typeface="Arial"/>
                        </a:rPr>
                        <a:t>Network relaxation</a:t>
                      </a:r>
                    </a:p>
                  </a:txBody>
                  <a:tcPr anchor="ctr">
                    <a:lnL w="0">
                      <a:solidFill>
                        <a:srgbClr val="FFFFFF"/>
                      </a:solidFill>
                      <a:prstDash val="soli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l"/>
                      <a:r>
                        <a:rPr sz="1800" b="0">
                          <a:solidFill>
                            <a:srgbClr val="202124"/>
                          </a:solidFill>
                          <a:latin typeface="Arial"/>
                          <a:ea typeface="Arial"/>
                          <a:cs typeface="Arial"/>
                        </a:rPr>
                        <a:t>Polymer chains rearrange.</a:t>
                      </a:r>
                    </a:p>
                    <a:p>
                      <a:pPr algn="l"/>
                      <a:r>
                        <a:rPr sz="1800" b="0">
                          <a:solidFill>
                            <a:srgbClr val="202124"/>
                          </a:solidFill>
                          <a:latin typeface="Arial"/>
                          <a:ea typeface="Arial"/>
                          <a:cs typeface="Arial"/>
                        </a:rPr>
                        <a:t>Stretched parts of the network</a:t>
                      </a:r>
                    </a:p>
                    <a:p>
                      <a:pPr algn="l"/>
                      <a:r>
                        <a:rPr sz="1800" b="0">
                          <a:solidFill>
                            <a:srgbClr val="202124"/>
                          </a:solidFill>
                          <a:latin typeface="Arial"/>
                          <a:ea typeface="Arial"/>
                          <a:cs typeface="Arial"/>
                        </a:rPr>
                        <a:t>relax.</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extLst>
                  <a:ext uri="{0D108BD9-81ED-4DB2-BD59-A6C34878D82A}">
                    <a16:rowId xmlns:a16="http://schemas.microsoft.com/office/drawing/2014/main" val="10001"/>
                  </a:ext>
                </a:extLst>
              </a:tr>
              <a:tr h="1524000">
                <a:tc>
                  <a:txBody>
                    <a:bodyPr/>
                    <a:lstStyle/>
                    <a:p>
                      <a:pPr algn="l"/>
                      <a:r>
                        <a:rPr sz="1800" b="1">
                          <a:solidFill>
                            <a:srgbClr val="202124"/>
                          </a:solidFill>
                          <a:latin typeface="Arial"/>
                          <a:ea typeface="Arial"/>
                          <a:cs typeface="Arial"/>
                        </a:rPr>
                        <a:t>Slower in this study</a:t>
                      </a:r>
                    </a:p>
                    <a:p>
                      <a:pPr algn="l"/>
                      <a:r>
                        <a:rPr sz="1800" b="1">
                          <a:solidFill>
                            <a:srgbClr val="202124"/>
                          </a:solidFill>
                          <a:latin typeface="Arial"/>
                          <a:ea typeface="Arial"/>
                          <a:cs typeface="Arial"/>
                        </a:rPr>
                        <a:t>Water redistribution</a:t>
                      </a:r>
                    </a:p>
                  </a:txBody>
                  <a:tcPr anchor="ctr">
                    <a:lnL w="0">
                      <a:solidFill>
                        <a:srgbClr val="FFFFFF"/>
                      </a:solidFill>
                      <a:prstDash val="soli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l"/>
                      <a:r>
                        <a:rPr sz="1800" b="0">
                          <a:solidFill>
                            <a:srgbClr val="202124"/>
                          </a:solidFill>
                          <a:latin typeface="Arial"/>
                          <a:ea typeface="Arial"/>
                          <a:cs typeface="Arial"/>
                        </a:rPr>
                        <a:t>Water moves through small pores.</a:t>
                      </a:r>
                    </a:p>
                    <a:p>
                      <a:pPr algn="l"/>
                      <a:r>
                        <a:rPr sz="1800" b="0">
                          <a:solidFill>
                            <a:srgbClr val="202124"/>
                          </a:solidFill>
                          <a:latin typeface="Arial"/>
                          <a:ea typeface="Arial"/>
                          <a:cs typeface="Arial"/>
                        </a:rPr>
                        <a:t>Pressure redistributes within</a:t>
                      </a:r>
                    </a:p>
                    <a:p>
                      <a:pPr algn="l"/>
                      <a:r>
                        <a:rPr sz="1800" b="0">
                          <a:solidFill>
                            <a:srgbClr val="202124"/>
                          </a:solidFill>
                          <a:latin typeface="Arial"/>
                          <a:ea typeface="Arial"/>
                          <a:cs typeface="Arial"/>
                        </a:rPr>
                        <a:t>the gel.</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extLst>
                  <a:ext uri="{0D108BD9-81ED-4DB2-BD59-A6C34878D82A}">
                    <a16:rowId xmlns:a16="http://schemas.microsoft.com/office/drawing/2014/main" val="10002"/>
                  </a:ext>
                </a:extLst>
              </a:tr>
            </a:tbl>
          </a:graphicData>
        </a:graphic>
      </p:graphicFrame>
      <p:sp>
        <p:nvSpPr>
          <p:cNvPr id="51" name="study-evidence">
            <a:extLst>
              <a:ext uri="{FF2B5EF4-FFF2-40B4-BE49-F238E27FC236}">
                <a16:creationId xmlns:a16="http://schemas.microsoft.com/office/drawing/2014/main" id="{1754B255-CF89-426E-A6D6-633869C93C0C}"/>
              </a:ext>
            </a:extLst>
          </p:cNvPr>
          <p:cNvSpPr>
            <a:spLocks noGrp="1"/>
          </p:cNvSpPr>
          <p:nvPr/>
        </p:nvSpPr>
        <p:spPr>
          <a:xfrm>
            <a:off x="7143750" y="6238875"/>
            <a:ext cx="7181850" cy="647700"/>
          </a:xfrm>
          <a:prstGeom prst="rect">
            <a:avLst/>
          </a:prstGeom>
          <a:noFill/>
          <a:ln w="0">
            <a:noFill/>
          </a:ln>
        </p:spPr>
        <p:txBody>
          <a:bodyPr wrap="square" lIns="0" tIns="0" rIns="0" bIns="0" anchor="t">
            <a:noAutofit/>
          </a:bodyPr>
          <a:lstStyle>
            <a:defPPr algn="l">
              <a:defRPr sz="1650" b="0">
                <a:solidFill>
                  <a:srgbClr val="62666B"/>
                </a:solidFill>
                <a:latin typeface="Arial"/>
                <a:ea typeface="Arial"/>
                <a:cs typeface="Arial"/>
              </a:defRPr>
            </a:defPPr>
            <a:lvl1pPr algn="l">
              <a:defRPr sz="1650" b="0">
                <a:solidFill>
                  <a:srgbClr val="62666B"/>
                </a:solidFill>
                <a:latin typeface="Arial"/>
                <a:ea typeface="Arial"/>
                <a:cs typeface="Arial"/>
              </a:defRPr>
            </a:lvl1pPr>
            <a:lvl2pPr algn="l">
              <a:defRPr sz="1650" b="0">
                <a:solidFill>
                  <a:srgbClr val="62666B"/>
                </a:solidFill>
                <a:latin typeface="Arial"/>
                <a:ea typeface="Arial"/>
                <a:cs typeface="Arial"/>
              </a:defRPr>
            </a:lvl2pPr>
            <a:lvl3pPr algn="l">
              <a:defRPr sz="1650" b="0">
                <a:solidFill>
                  <a:srgbClr val="62666B"/>
                </a:solidFill>
                <a:latin typeface="Arial"/>
                <a:ea typeface="Arial"/>
                <a:cs typeface="Arial"/>
              </a:defRPr>
            </a:lvl3pPr>
            <a:lvl4pPr algn="l">
              <a:defRPr sz="1650" b="0">
                <a:solidFill>
                  <a:srgbClr val="62666B"/>
                </a:solidFill>
                <a:latin typeface="Arial"/>
                <a:ea typeface="Arial"/>
                <a:cs typeface="Arial"/>
              </a:defRPr>
            </a:lvl4pPr>
            <a:lvl5pPr algn="l">
              <a:defRPr sz="1650" b="0">
                <a:solidFill>
                  <a:srgbClr val="62666B"/>
                </a:solidFill>
                <a:latin typeface="Arial"/>
                <a:ea typeface="Arial"/>
                <a:cs typeface="Arial"/>
              </a:defRPr>
            </a:lvl5pPr>
            <a:lvl6pPr algn="l">
              <a:defRPr sz="1650" b="0">
                <a:solidFill>
                  <a:srgbClr val="62666B"/>
                </a:solidFill>
                <a:latin typeface="Arial"/>
                <a:ea typeface="Arial"/>
                <a:cs typeface="Arial"/>
              </a:defRPr>
            </a:lvl6pPr>
            <a:lvl7pPr algn="l">
              <a:defRPr sz="1650" b="0">
                <a:solidFill>
                  <a:srgbClr val="62666B"/>
                </a:solidFill>
                <a:latin typeface="Arial"/>
                <a:ea typeface="Arial"/>
                <a:cs typeface="Arial"/>
              </a:defRPr>
            </a:lvl7pPr>
            <a:lvl8pPr algn="l">
              <a:defRPr sz="1650" b="0">
                <a:solidFill>
                  <a:srgbClr val="62666B"/>
                </a:solidFill>
                <a:latin typeface="Arial"/>
                <a:ea typeface="Arial"/>
                <a:cs typeface="Arial"/>
              </a:defRPr>
            </a:lvl8pPr>
            <a:lvl9pPr algn="l">
              <a:defRPr sz="1650" b="0">
                <a:solidFill>
                  <a:srgbClr val="62666B"/>
                </a:solidFill>
                <a:latin typeface="Arial"/>
                <a:ea typeface="Arial"/>
                <a:cs typeface="Arial"/>
              </a:defRPr>
            </a:lvl9pPr>
          </a:lstStyle>
          <a:p>
            <a:pPr algn="l">
              <a:defRPr sz="1650" b="0">
                <a:solidFill>
                  <a:srgbClr val="62666B"/>
                </a:solidFill>
                <a:latin typeface="Arial"/>
                <a:ea typeface="Arial"/>
                <a:cs typeface="Arial"/>
              </a:defRPr>
            </a:pPr>
            <a:r>
              <a:rPr sz="1650" b="0">
                <a:solidFill>
                  <a:srgbClr val="62666B"/>
                </a:solidFill>
                <a:latin typeface="Arial"/>
                <a:ea typeface="Arial"/>
                <a:cs typeface="Arial"/>
              </a:rPr>
              <a:t>PEG hydrogel indentation experiments</a:t>
            </a:r>
          </a:p>
          <a:p>
            <a:pPr algn="l">
              <a:defRPr sz="1650" b="0">
                <a:solidFill>
                  <a:srgbClr val="62666B"/>
                </a:solidFill>
                <a:latin typeface="Arial"/>
                <a:ea typeface="Arial"/>
                <a:cs typeface="Arial"/>
              </a:defRPr>
            </a:pPr>
            <a:r>
              <a:rPr sz="1650" b="0">
                <a:solidFill>
                  <a:srgbClr val="62666B"/>
                </a:solidFill>
                <a:latin typeface="Arial"/>
                <a:ea typeface="Arial"/>
                <a:cs typeface="Arial"/>
              </a:rPr>
              <a:t>Bush et al., Soft Matter, 2015 [8]</a:t>
            </a:r>
          </a:p>
        </p:txBody>
      </p:sp>
      <p:sp>
        <p:nvSpPr>
          <p:cNvPr id="52" name="physical-meaning">
            <a:extLst>
              <a:ext uri="{FF2B5EF4-FFF2-40B4-BE49-F238E27FC236}">
                <a16:creationId xmlns:a16="http://schemas.microsoft.com/office/drawing/2014/main" id="{B53E3419-EA87-4D01-A746-21A0A0B9F505}"/>
              </a:ext>
            </a:extLst>
          </p:cNvPr>
          <p:cNvSpPr>
            <a:spLocks noGrp="1"/>
          </p:cNvSpPr>
          <p:nvPr/>
        </p:nvSpPr>
        <p:spPr>
          <a:xfrm>
            <a:off x="914400" y="7286625"/>
            <a:ext cx="13411200" cy="457200"/>
          </a:xfrm>
          <a:prstGeom prst="rect">
            <a:avLst/>
          </a:prstGeom>
          <a:noFill/>
          <a:ln w="0">
            <a:noFill/>
          </a:ln>
        </p:spPr>
        <p:txBody>
          <a:bodyPr wrap="square" lIns="0" tIns="0" rIns="0" bIns="0" anchor="t">
            <a:noAutofit/>
          </a:bodyPr>
          <a:lstStyle>
            <a:defPPr algn="l">
              <a:defRPr sz="2025" b="1">
                <a:solidFill>
                  <a:srgbClr val="202124"/>
                </a:solidFill>
                <a:latin typeface="Arial"/>
                <a:ea typeface="Arial"/>
                <a:cs typeface="Arial"/>
              </a:defRPr>
            </a:defPPr>
            <a:lvl1pPr algn="l">
              <a:defRPr sz="2025" b="1">
                <a:solidFill>
                  <a:srgbClr val="202124"/>
                </a:solidFill>
                <a:latin typeface="Arial"/>
                <a:ea typeface="Arial"/>
                <a:cs typeface="Arial"/>
              </a:defRPr>
            </a:lvl1pPr>
            <a:lvl2pPr algn="l">
              <a:defRPr sz="2025" b="1">
                <a:solidFill>
                  <a:srgbClr val="202124"/>
                </a:solidFill>
                <a:latin typeface="Arial"/>
                <a:ea typeface="Arial"/>
                <a:cs typeface="Arial"/>
              </a:defRPr>
            </a:lvl2pPr>
            <a:lvl3pPr algn="l">
              <a:defRPr sz="2025" b="1">
                <a:solidFill>
                  <a:srgbClr val="202124"/>
                </a:solidFill>
                <a:latin typeface="Arial"/>
                <a:ea typeface="Arial"/>
                <a:cs typeface="Arial"/>
              </a:defRPr>
            </a:lvl3pPr>
            <a:lvl4pPr algn="l">
              <a:defRPr sz="2025" b="1">
                <a:solidFill>
                  <a:srgbClr val="202124"/>
                </a:solidFill>
                <a:latin typeface="Arial"/>
                <a:ea typeface="Arial"/>
                <a:cs typeface="Arial"/>
              </a:defRPr>
            </a:lvl4pPr>
            <a:lvl5pPr algn="l">
              <a:defRPr sz="2025" b="1">
                <a:solidFill>
                  <a:srgbClr val="202124"/>
                </a:solidFill>
                <a:latin typeface="Arial"/>
                <a:ea typeface="Arial"/>
                <a:cs typeface="Arial"/>
              </a:defRPr>
            </a:lvl5pPr>
            <a:lvl6pPr algn="l">
              <a:defRPr sz="2025" b="1">
                <a:solidFill>
                  <a:srgbClr val="202124"/>
                </a:solidFill>
                <a:latin typeface="Arial"/>
                <a:ea typeface="Arial"/>
                <a:cs typeface="Arial"/>
              </a:defRPr>
            </a:lvl6pPr>
            <a:lvl7pPr algn="l">
              <a:defRPr sz="2025" b="1">
                <a:solidFill>
                  <a:srgbClr val="202124"/>
                </a:solidFill>
                <a:latin typeface="Arial"/>
                <a:ea typeface="Arial"/>
                <a:cs typeface="Arial"/>
              </a:defRPr>
            </a:lvl7pPr>
            <a:lvl8pPr algn="l">
              <a:defRPr sz="2025" b="1">
                <a:solidFill>
                  <a:srgbClr val="202124"/>
                </a:solidFill>
                <a:latin typeface="Arial"/>
                <a:ea typeface="Arial"/>
                <a:cs typeface="Arial"/>
              </a:defRPr>
            </a:lvl8pPr>
            <a:lvl9pPr algn="l">
              <a:defRPr sz="2025" b="1">
                <a:solidFill>
                  <a:srgbClr val="202124"/>
                </a:solidFill>
                <a:latin typeface="Arial"/>
                <a:ea typeface="Arial"/>
                <a:cs typeface="Arial"/>
              </a:defRPr>
            </a:lvl9pPr>
          </a:lstStyle>
          <a:p>
            <a:pPr algn="l">
              <a:defRPr sz="2025" b="1">
                <a:solidFill>
                  <a:srgbClr val="202124"/>
                </a:solidFill>
                <a:latin typeface="Arial"/>
                <a:ea typeface="Arial"/>
                <a:cs typeface="Arial"/>
              </a:defRPr>
            </a:pPr>
            <a:r>
              <a:rPr sz="2025" b="1">
                <a:solidFill>
                  <a:srgbClr val="202124"/>
                </a:solidFill>
                <a:latin typeface="Arial"/>
                <a:ea typeface="Arial"/>
                <a:cs typeface="Arial"/>
              </a:rPr>
              <a:t>The gel keeps changing internally while the indenter stays still.</a:t>
            </a:r>
          </a:p>
        </p:txBody>
      </p:sp>
      <p:sp>
        <p:nvSpPr>
          <p:cNvPr id="53" name="scale-context">
            <a:extLst>
              <a:ext uri="{FF2B5EF4-FFF2-40B4-BE49-F238E27FC236}">
                <a16:creationId xmlns:a16="http://schemas.microsoft.com/office/drawing/2014/main" id="{FCA9A951-F30E-408A-A164-DA1E0A2D6268}"/>
              </a:ext>
            </a:extLst>
          </p:cNvPr>
          <p:cNvSpPr>
            <a:spLocks noGrp="1"/>
          </p:cNvSpPr>
          <p:nvPr/>
        </p:nvSpPr>
        <p:spPr>
          <a:xfrm>
            <a:off x="914400" y="7762875"/>
            <a:ext cx="13411200" cy="304800"/>
          </a:xfrm>
          <a:prstGeom prst="rect">
            <a:avLst/>
          </a:prstGeom>
          <a:noFill/>
          <a:ln w="0">
            <a:noFill/>
          </a:ln>
        </p:spPr>
        <p:txBody>
          <a:bodyPr wrap="square" lIns="0" tIns="0" rIns="0" bIns="0" anchor="t">
            <a:noAutofit/>
          </a:bodyPr>
          <a:lstStyle>
            <a:defPPr algn="l">
              <a:defRPr sz="1500" b="0">
                <a:solidFill>
                  <a:srgbClr val="62666B"/>
                </a:solidFill>
                <a:latin typeface="Arial"/>
                <a:ea typeface="Arial"/>
                <a:cs typeface="Arial"/>
              </a:defRPr>
            </a:defPPr>
            <a:lvl1pPr algn="l">
              <a:defRPr sz="1500" b="0">
                <a:solidFill>
                  <a:srgbClr val="62666B"/>
                </a:solidFill>
                <a:latin typeface="Arial"/>
                <a:ea typeface="Arial"/>
                <a:cs typeface="Arial"/>
              </a:defRPr>
            </a:lvl1pPr>
            <a:lvl2pPr algn="l">
              <a:defRPr sz="1500" b="0">
                <a:solidFill>
                  <a:srgbClr val="62666B"/>
                </a:solidFill>
                <a:latin typeface="Arial"/>
                <a:ea typeface="Arial"/>
                <a:cs typeface="Arial"/>
              </a:defRPr>
            </a:lvl2pPr>
            <a:lvl3pPr algn="l">
              <a:defRPr sz="1500" b="0">
                <a:solidFill>
                  <a:srgbClr val="62666B"/>
                </a:solidFill>
                <a:latin typeface="Arial"/>
                <a:ea typeface="Arial"/>
                <a:cs typeface="Arial"/>
              </a:defRPr>
            </a:lvl3pPr>
            <a:lvl4pPr algn="l">
              <a:defRPr sz="1500" b="0">
                <a:solidFill>
                  <a:srgbClr val="62666B"/>
                </a:solidFill>
                <a:latin typeface="Arial"/>
                <a:ea typeface="Arial"/>
                <a:cs typeface="Arial"/>
              </a:defRPr>
            </a:lvl4pPr>
            <a:lvl5pPr algn="l">
              <a:defRPr sz="1500" b="0">
                <a:solidFill>
                  <a:srgbClr val="62666B"/>
                </a:solidFill>
                <a:latin typeface="Arial"/>
                <a:ea typeface="Arial"/>
                <a:cs typeface="Arial"/>
              </a:defRPr>
            </a:lvl5pPr>
            <a:lvl6pPr algn="l">
              <a:defRPr sz="1500" b="0">
                <a:solidFill>
                  <a:srgbClr val="62666B"/>
                </a:solidFill>
                <a:latin typeface="Arial"/>
                <a:ea typeface="Arial"/>
                <a:cs typeface="Arial"/>
              </a:defRPr>
            </a:lvl6pPr>
            <a:lvl7pPr algn="l">
              <a:defRPr sz="1500" b="0">
                <a:solidFill>
                  <a:srgbClr val="62666B"/>
                </a:solidFill>
                <a:latin typeface="Arial"/>
                <a:ea typeface="Arial"/>
                <a:cs typeface="Arial"/>
              </a:defRPr>
            </a:lvl7pPr>
            <a:lvl8pPr algn="l">
              <a:defRPr sz="1500" b="0">
                <a:solidFill>
                  <a:srgbClr val="62666B"/>
                </a:solidFill>
                <a:latin typeface="Arial"/>
                <a:ea typeface="Arial"/>
                <a:cs typeface="Arial"/>
              </a:defRPr>
            </a:lvl8pPr>
            <a:lvl9pPr algn="l">
              <a:defRPr sz="1500" b="0">
                <a:solidFill>
                  <a:srgbClr val="62666B"/>
                </a:solidFill>
                <a:latin typeface="Arial"/>
                <a:ea typeface="Arial"/>
                <a:cs typeface="Arial"/>
              </a:defRPr>
            </a:lvl9pPr>
          </a:lstStyle>
          <a:p>
            <a:pPr algn="l">
              <a:defRPr sz="1500" b="0">
                <a:solidFill>
                  <a:srgbClr val="62666B"/>
                </a:solidFill>
                <a:latin typeface="Arial"/>
                <a:ea typeface="Arial"/>
                <a:cs typeface="Arial"/>
              </a:defRPr>
            </a:pPr>
            <a:r>
              <a:rPr sz="1500" b="0">
                <a:solidFill>
                  <a:srgbClr val="62666B"/>
                </a:solidFill>
                <a:latin typeface="Arial"/>
                <a:ea typeface="Arial"/>
                <a:cs typeface="Arial"/>
              </a:rPr>
              <a:t>Relative speeds depend on the material and contact size.</a:t>
            </a:r>
          </a:p>
        </p:txBody>
      </p:sp>
      <p:sp>
        <p:nvSpPr>
          <p:cNvPr id="54" name="source-index">
            <a:extLst>
              <a:ext uri="{FF2B5EF4-FFF2-40B4-BE49-F238E27FC236}">
                <a16:creationId xmlns:a16="http://schemas.microsoft.com/office/drawing/2014/main" id="{6AAE2B03-62EF-4A7C-892A-F591AB509F24}"/>
              </a:ext>
            </a:extLst>
          </p:cNvPr>
          <p:cNvSpPr>
            <a:spLocks noGrp="1"/>
          </p:cNvSpPr>
          <p:nvPr/>
        </p:nvSpPr>
        <p:spPr>
          <a:xfrm>
            <a:off x="914400" y="8172450"/>
            <a:ext cx="12573000" cy="209550"/>
          </a:xfrm>
          <a:prstGeom prst="rect">
            <a:avLst/>
          </a:prstGeom>
          <a:noFill/>
          <a:ln w="0">
            <a:noFill/>
          </a:ln>
        </p:spPr>
        <p:txBody>
          <a:bodyPr wrap="square" lIns="0" tIns="0" rIns="0" bIns="0" anchor="t">
            <a:noAutofit/>
          </a:bodyPr>
          <a:lstStyle>
            <a:defPPr algn="l">
              <a:defRPr sz="1050" b="0">
                <a:solidFill>
                  <a:srgbClr val="62666B"/>
                </a:solidFill>
                <a:latin typeface="Arial"/>
                <a:ea typeface="Arial"/>
                <a:cs typeface="Arial"/>
              </a:defRPr>
            </a:defPPr>
            <a:lvl1pPr algn="l">
              <a:defRPr sz="1050" b="0">
                <a:solidFill>
                  <a:srgbClr val="62666B"/>
                </a:solidFill>
                <a:latin typeface="Arial"/>
                <a:ea typeface="Arial"/>
                <a:cs typeface="Arial"/>
              </a:defRPr>
            </a:lvl1pPr>
            <a:lvl2pPr algn="l">
              <a:defRPr sz="1050" b="0">
                <a:solidFill>
                  <a:srgbClr val="62666B"/>
                </a:solidFill>
                <a:latin typeface="Arial"/>
                <a:ea typeface="Arial"/>
                <a:cs typeface="Arial"/>
              </a:defRPr>
            </a:lvl2pPr>
            <a:lvl3pPr algn="l">
              <a:defRPr sz="1050" b="0">
                <a:solidFill>
                  <a:srgbClr val="62666B"/>
                </a:solidFill>
                <a:latin typeface="Arial"/>
                <a:ea typeface="Arial"/>
                <a:cs typeface="Arial"/>
              </a:defRPr>
            </a:lvl3pPr>
            <a:lvl4pPr algn="l">
              <a:defRPr sz="1050" b="0">
                <a:solidFill>
                  <a:srgbClr val="62666B"/>
                </a:solidFill>
                <a:latin typeface="Arial"/>
                <a:ea typeface="Arial"/>
                <a:cs typeface="Arial"/>
              </a:defRPr>
            </a:lvl4pPr>
            <a:lvl5pPr algn="l">
              <a:defRPr sz="1050" b="0">
                <a:solidFill>
                  <a:srgbClr val="62666B"/>
                </a:solidFill>
                <a:latin typeface="Arial"/>
                <a:ea typeface="Arial"/>
                <a:cs typeface="Arial"/>
              </a:defRPr>
            </a:lvl5pPr>
            <a:lvl6pPr algn="l">
              <a:defRPr sz="1050" b="0">
                <a:solidFill>
                  <a:srgbClr val="62666B"/>
                </a:solidFill>
                <a:latin typeface="Arial"/>
                <a:ea typeface="Arial"/>
                <a:cs typeface="Arial"/>
              </a:defRPr>
            </a:lvl6pPr>
            <a:lvl7pPr algn="l">
              <a:defRPr sz="1050" b="0">
                <a:solidFill>
                  <a:srgbClr val="62666B"/>
                </a:solidFill>
                <a:latin typeface="Arial"/>
                <a:ea typeface="Arial"/>
                <a:cs typeface="Arial"/>
              </a:defRPr>
            </a:lvl7pPr>
            <a:lvl8pPr algn="l">
              <a:defRPr sz="1050" b="0">
                <a:solidFill>
                  <a:srgbClr val="62666B"/>
                </a:solidFill>
                <a:latin typeface="Arial"/>
                <a:ea typeface="Arial"/>
                <a:cs typeface="Arial"/>
              </a:defRPr>
            </a:lvl8pPr>
            <a:lvl9pPr algn="l">
              <a:defRPr sz="1050" b="0">
                <a:solidFill>
                  <a:srgbClr val="62666B"/>
                </a:solidFill>
                <a:latin typeface="Arial"/>
                <a:ea typeface="Arial"/>
                <a:cs typeface="Arial"/>
              </a:defRPr>
            </a:lvl9pPr>
          </a:lstStyle>
          <a:p>
            <a:pPr algn="l">
              <a:defRPr sz="1050" b="0">
                <a:solidFill>
                  <a:srgbClr val="62666B"/>
                </a:solidFill>
                <a:latin typeface="Arial"/>
                <a:ea typeface="Arial"/>
                <a:cs typeface="Arial"/>
              </a:defRPr>
            </a:pPr>
            <a:r>
              <a:rPr sz="1050" b="0">
                <a:solidFill>
                  <a:srgbClr val="62666B"/>
                </a:solidFill>
                <a:latin typeface="Arial"/>
                <a:ea typeface="Arial"/>
                <a:cs typeface="Arial"/>
              </a:rPr>
              <a:t>[8]</a:t>
            </a:r>
          </a:p>
        </p:txBody>
      </p:sp>
      <p:sp>
        <p:nvSpPr>
          <p:cNvPr id="55" name="page">
            <a:extLst>
              <a:ext uri="{FF2B5EF4-FFF2-40B4-BE49-F238E27FC236}">
                <a16:creationId xmlns:a16="http://schemas.microsoft.com/office/drawing/2014/main" id="{03173F3A-68DE-4C53-B215-5336C0427101}"/>
              </a:ext>
            </a:extLst>
          </p:cNvPr>
          <p:cNvSpPr>
            <a:spLocks noGrp="1"/>
          </p:cNvSpPr>
          <p:nvPr/>
        </p:nvSpPr>
        <p:spPr>
          <a:xfrm>
            <a:off x="13906500" y="8153400"/>
            <a:ext cx="419100" cy="238125"/>
          </a:xfrm>
          <a:prstGeom prst="rect">
            <a:avLst/>
          </a:prstGeom>
          <a:noFill/>
          <a:ln w="0">
            <a:noFill/>
          </a:ln>
        </p:spPr>
        <p:txBody>
          <a:bodyPr wrap="square" lIns="0" tIns="0" rIns="0" bIns="0" anchor="t">
            <a:noAutofit/>
          </a:bodyPr>
          <a:lstStyle>
            <a:defPPr algn="r">
              <a:defRPr sz="1050" b="0">
                <a:solidFill>
                  <a:srgbClr val="62666B"/>
                </a:solidFill>
                <a:latin typeface="Arial"/>
                <a:ea typeface="Arial"/>
                <a:cs typeface="Arial"/>
              </a:defRPr>
            </a:defPPr>
            <a:lvl1pPr algn="r">
              <a:defRPr sz="1050" b="0">
                <a:solidFill>
                  <a:srgbClr val="62666B"/>
                </a:solidFill>
                <a:latin typeface="Arial"/>
                <a:ea typeface="Arial"/>
                <a:cs typeface="Arial"/>
              </a:defRPr>
            </a:lvl1pPr>
            <a:lvl2pPr algn="r">
              <a:defRPr sz="1050" b="0">
                <a:solidFill>
                  <a:srgbClr val="62666B"/>
                </a:solidFill>
                <a:latin typeface="Arial"/>
                <a:ea typeface="Arial"/>
                <a:cs typeface="Arial"/>
              </a:defRPr>
            </a:lvl2pPr>
            <a:lvl3pPr algn="r">
              <a:defRPr sz="1050" b="0">
                <a:solidFill>
                  <a:srgbClr val="62666B"/>
                </a:solidFill>
                <a:latin typeface="Arial"/>
                <a:ea typeface="Arial"/>
                <a:cs typeface="Arial"/>
              </a:defRPr>
            </a:lvl3pPr>
            <a:lvl4pPr algn="r">
              <a:defRPr sz="1050" b="0">
                <a:solidFill>
                  <a:srgbClr val="62666B"/>
                </a:solidFill>
                <a:latin typeface="Arial"/>
                <a:ea typeface="Arial"/>
                <a:cs typeface="Arial"/>
              </a:defRPr>
            </a:lvl4pPr>
            <a:lvl5pPr algn="r">
              <a:defRPr sz="1050" b="0">
                <a:solidFill>
                  <a:srgbClr val="62666B"/>
                </a:solidFill>
                <a:latin typeface="Arial"/>
                <a:ea typeface="Arial"/>
                <a:cs typeface="Arial"/>
              </a:defRPr>
            </a:lvl5pPr>
            <a:lvl6pPr algn="r">
              <a:defRPr sz="1050" b="0">
                <a:solidFill>
                  <a:srgbClr val="62666B"/>
                </a:solidFill>
                <a:latin typeface="Arial"/>
                <a:ea typeface="Arial"/>
                <a:cs typeface="Arial"/>
              </a:defRPr>
            </a:lvl6pPr>
            <a:lvl7pPr algn="r">
              <a:defRPr sz="1050" b="0">
                <a:solidFill>
                  <a:srgbClr val="62666B"/>
                </a:solidFill>
                <a:latin typeface="Arial"/>
                <a:ea typeface="Arial"/>
                <a:cs typeface="Arial"/>
              </a:defRPr>
            </a:lvl7pPr>
            <a:lvl8pPr algn="r">
              <a:defRPr sz="1050" b="0">
                <a:solidFill>
                  <a:srgbClr val="62666B"/>
                </a:solidFill>
                <a:latin typeface="Arial"/>
                <a:ea typeface="Arial"/>
                <a:cs typeface="Arial"/>
              </a:defRPr>
            </a:lvl8pPr>
            <a:lvl9pPr algn="r">
              <a:defRPr sz="1050" b="0">
                <a:solidFill>
                  <a:srgbClr val="62666B"/>
                </a:solidFill>
                <a:latin typeface="Arial"/>
                <a:ea typeface="Arial"/>
                <a:cs typeface="Arial"/>
              </a:defRPr>
            </a:lvl9pPr>
          </a:lstStyle>
          <a:p>
            <a:pPr algn="r">
              <a:defRPr sz="1050" b="0">
                <a:solidFill>
                  <a:srgbClr val="62666B"/>
                </a:solidFill>
                <a:latin typeface="Arial"/>
                <a:ea typeface="Arial"/>
                <a:cs typeface="Arial"/>
              </a:defRPr>
            </a:pPr>
            <a:r>
              <a:rPr lang="en-US" altLang="zh-CN" sz="1050" b="0">
                <a:solidFill>
                  <a:srgbClr val="62666B"/>
                </a:solidFill>
                <a:latin typeface="Arial"/>
                <a:ea typeface="Arial"/>
                <a:cs typeface="Arial"/>
              </a:rPr>
              <a:t>04</a:t>
            </a:r>
            <a:endParaRPr sz="1050" b="0">
              <a:solidFill>
                <a:srgbClr val="62666B"/>
              </a:solidFill>
              <a:latin typeface="Arial"/>
              <a:ea typeface="Arial"/>
              <a:cs typeface="Arial"/>
            </a:endParaRPr>
          </a:p>
        </p:txBody>
      </p:sp>
    </p:spTree>
    <p:extLst>
      <p:ext uri="{BB962C8B-B14F-4D97-AF65-F5344CB8AC3E}">
        <p14:creationId xmlns:p14="http://schemas.microsoft.com/office/powerpoint/2010/main" val="8858174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cientific-question">
            <a:extLst>
              <a:ext uri="{FF2B5EF4-FFF2-40B4-BE49-F238E27FC236}">
                <a16:creationId xmlns:a16="http://schemas.microsoft.com/office/drawing/2014/main" id="{A62E1A4F-1865-41C2-B967-DE565D062585}"/>
              </a:ext>
            </a:extLst>
          </p:cNvPr>
          <p:cNvSpPr>
            <a:spLocks noGrp="1"/>
          </p:cNvSpPr>
          <p:nvPr/>
        </p:nvSpPr>
        <p:spPr>
          <a:xfrm>
            <a:off x="914400" y="552450"/>
            <a:ext cx="13411200" cy="533400"/>
          </a:xfrm>
          <a:prstGeom prst="rect">
            <a:avLst/>
          </a:prstGeom>
          <a:noFill/>
          <a:ln w="0">
            <a:noFill/>
          </a:ln>
        </p:spPr>
        <p:txBody>
          <a:bodyPr wrap="square" lIns="0" tIns="0" rIns="0" bIns="0" anchor="t">
            <a:noAutofit/>
          </a:bodyPr>
          <a:lstStyle>
            <a:defPPr algn="l">
              <a:defRPr sz="2400" b="1">
                <a:solidFill>
                  <a:srgbClr val="202124"/>
                </a:solidFill>
                <a:latin typeface="Arial"/>
                <a:ea typeface="Arial"/>
                <a:cs typeface="Arial"/>
              </a:defRPr>
            </a:defPPr>
            <a:lvl1pPr algn="l">
              <a:defRPr sz="2400" b="1">
                <a:solidFill>
                  <a:srgbClr val="202124"/>
                </a:solidFill>
                <a:latin typeface="Arial"/>
                <a:ea typeface="Arial"/>
                <a:cs typeface="Arial"/>
              </a:defRPr>
            </a:lvl1pPr>
            <a:lvl2pPr algn="l">
              <a:defRPr sz="2400" b="1">
                <a:solidFill>
                  <a:srgbClr val="202124"/>
                </a:solidFill>
                <a:latin typeface="Arial"/>
                <a:ea typeface="Arial"/>
                <a:cs typeface="Arial"/>
              </a:defRPr>
            </a:lvl2pPr>
            <a:lvl3pPr algn="l">
              <a:defRPr sz="2400" b="1">
                <a:solidFill>
                  <a:srgbClr val="202124"/>
                </a:solidFill>
                <a:latin typeface="Arial"/>
                <a:ea typeface="Arial"/>
                <a:cs typeface="Arial"/>
              </a:defRPr>
            </a:lvl3pPr>
            <a:lvl4pPr algn="l">
              <a:defRPr sz="2400" b="1">
                <a:solidFill>
                  <a:srgbClr val="202124"/>
                </a:solidFill>
                <a:latin typeface="Arial"/>
                <a:ea typeface="Arial"/>
                <a:cs typeface="Arial"/>
              </a:defRPr>
            </a:lvl4pPr>
            <a:lvl5pPr algn="l">
              <a:defRPr sz="2400" b="1">
                <a:solidFill>
                  <a:srgbClr val="202124"/>
                </a:solidFill>
                <a:latin typeface="Arial"/>
                <a:ea typeface="Arial"/>
                <a:cs typeface="Arial"/>
              </a:defRPr>
            </a:lvl5pPr>
            <a:lvl6pPr algn="l">
              <a:defRPr sz="2400" b="1">
                <a:solidFill>
                  <a:srgbClr val="202124"/>
                </a:solidFill>
                <a:latin typeface="Arial"/>
                <a:ea typeface="Arial"/>
                <a:cs typeface="Arial"/>
              </a:defRPr>
            </a:lvl6pPr>
            <a:lvl7pPr algn="l">
              <a:defRPr sz="2400" b="1">
                <a:solidFill>
                  <a:srgbClr val="202124"/>
                </a:solidFill>
                <a:latin typeface="Arial"/>
                <a:ea typeface="Arial"/>
                <a:cs typeface="Arial"/>
              </a:defRPr>
            </a:lvl7pPr>
            <a:lvl8pPr algn="l">
              <a:defRPr sz="2400" b="1">
                <a:solidFill>
                  <a:srgbClr val="202124"/>
                </a:solidFill>
                <a:latin typeface="Arial"/>
                <a:ea typeface="Arial"/>
                <a:cs typeface="Arial"/>
              </a:defRPr>
            </a:lvl8pPr>
            <a:lvl9pPr algn="l">
              <a:defRPr sz="2400" b="1">
                <a:solidFill>
                  <a:srgbClr val="202124"/>
                </a:solidFill>
                <a:latin typeface="Arial"/>
                <a:ea typeface="Arial"/>
                <a:cs typeface="Arial"/>
              </a:defRPr>
            </a:lvl9pPr>
          </a:lstStyle>
          <a:p>
            <a:pPr algn="l">
              <a:defRPr sz="2400" b="1">
                <a:solidFill>
                  <a:srgbClr val="202124"/>
                </a:solidFill>
                <a:latin typeface="Arial"/>
                <a:ea typeface="Arial"/>
                <a:cs typeface="Arial"/>
              </a:defRPr>
            </a:pPr>
            <a:r>
              <a:rPr sz="2400" b="1">
                <a:solidFill>
                  <a:srgbClr val="202124"/>
                </a:solidFill>
                <a:latin typeface="Arial"/>
                <a:ea typeface="Arial"/>
                <a:cs typeface="Arial"/>
              </a:rPr>
              <a:t>RME, CPF and the estimation target</a:t>
            </a:r>
          </a:p>
        </p:txBody>
      </p:sp>
      <p:sp>
        <p:nvSpPr>
          <p:cNvPr id="2" name="page">
            <a:extLst>
              <a:ext uri="{FF2B5EF4-FFF2-40B4-BE49-F238E27FC236}">
                <a16:creationId xmlns:a16="http://schemas.microsoft.com/office/drawing/2014/main" id="{A154D8F3-D70D-4A25-8C5E-654985A98230}"/>
              </a:ext>
            </a:extLst>
          </p:cNvPr>
          <p:cNvSpPr>
            <a:spLocks noGrp="1"/>
          </p:cNvSpPr>
          <p:nvPr/>
        </p:nvSpPr>
        <p:spPr>
          <a:xfrm>
            <a:off x="13906500" y="8153400"/>
            <a:ext cx="419100" cy="238125"/>
          </a:xfrm>
          <a:prstGeom prst="rect">
            <a:avLst/>
          </a:prstGeom>
          <a:noFill/>
          <a:ln w="0">
            <a:noFill/>
          </a:ln>
        </p:spPr>
        <p:txBody>
          <a:bodyPr wrap="square" lIns="0" tIns="0" rIns="0" bIns="0" anchor="t">
            <a:noAutofit/>
          </a:bodyPr>
          <a:lstStyle>
            <a:defPPr algn="r">
              <a:defRPr sz="1050" b="0">
                <a:solidFill>
                  <a:srgbClr val="62666B"/>
                </a:solidFill>
                <a:latin typeface="Arial"/>
                <a:ea typeface="Arial"/>
                <a:cs typeface="Arial"/>
              </a:defRPr>
            </a:defPPr>
            <a:lvl1pPr algn="r">
              <a:defRPr sz="1050" b="0">
                <a:solidFill>
                  <a:srgbClr val="62666B"/>
                </a:solidFill>
                <a:latin typeface="Arial"/>
                <a:ea typeface="Arial"/>
                <a:cs typeface="Arial"/>
              </a:defRPr>
            </a:lvl1pPr>
            <a:lvl2pPr algn="r">
              <a:defRPr sz="1050" b="0">
                <a:solidFill>
                  <a:srgbClr val="62666B"/>
                </a:solidFill>
                <a:latin typeface="Arial"/>
                <a:ea typeface="Arial"/>
                <a:cs typeface="Arial"/>
              </a:defRPr>
            </a:lvl2pPr>
            <a:lvl3pPr algn="r">
              <a:defRPr sz="1050" b="0">
                <a:solidFill>
                  <a:srgbClr val="62666B"/>
                </a:solidFill>
                <a:latin typeface="Arial"/>
                <a:ea typeface="Arial"/>
                <a:cs typeface="Arial"/>
              </a:defRPr>
            </a:lvl3pPr>
            <a:lvl4pPr algn="r">
              <a:defRPr sz="1050" b="0">
                <a:solidFill>
                  <a:srgbClr val="62666B"/>
                </a:solidFill>
                <a:latin typeface="Arial"/>
                <a:ea typeface="Arial"/>
                <a:cs typeface="Arial"/>
              </a:defRPr>
            </a:lvl4pPr>
            <a:lvl5pPr algn="r">
              <a:defRPr sz="1050" b="0">
                <a:solidFill>
                  <a:srgbClr val="62666B"/>
                </a:solidFill>
                <a:latin typeface="Arial"/>
                <a:ea typeface="Arial"/>
                <a:cs typeface="Arial"/>
              </a:defRPr>
            </a:lvl5pPr>
            <a:lvl6pPr algn="r">
              <a:defRPr sz="1050" b="0">
                <a:solidFill>
                  <a:srgbClr val="62666B"/>
                </a:solidFill>
                <a:latin typeface="Arial"/>
                <a:ea typeface="Arial"/>
                <a:cs typeface="Arial"/>
              </a:defRPr>
            </a:lvl6pPr>
            <a:lvl7pPr algn="r">
              <a:defRPr sz="1050" b="0">
                <a:solidFill>
                  <a:srgbClr val="62666B"/>
                </a:solidFill>
                <a:latin typeface="Arial"/>
                <a:ea typeface="Arial"/>
                <a:cs typeface="Arial"/>
              </a:defRPr>
            </a:lvl7pPr>
            <a:lvl8pPr algn="r">
              <a:defRPr sz="1050" b="0">
                <a:solidFill>
                  <a:srgbClr val="62666B"/>
                </a:solidFill>
                <a:latin typeface="Arial"/>
                <a:ea typeface="Arial"/>
                <a:cs typeface="Arial"/>
              </a:defRPr>
            </a:lvl8pPr>
            <a:lvl9pPr algn="r">
              <a:defRPr sz="1050" b="0">
                <a:solidFill>
                  <a:srgbClr val="62666B"/>
                </a:solidFill>
                <a:latin typeface="Arial"/>
                <a:ea typeface="Arial"/>
                <a:cs typeface="Arial"/>
              </a:defRPr>
            </a:lvl9pPr>
          </a:lstStyle>
          <a:p>
            <a:pPr algn="r">
              <a:defRPr sz="1050" b="0">
                <a:solidFill>
                  <a:srgbClr val="62666B"/>
                </a:solidFill>
                <a:latin typeface="Arial"/>
                <a:ea typeface="Arial"/>
                <a:cs typeface="Arial"/>
              </a:defRPr>
            </a:pPr>
            <a:r>
              <a:rPr lang="en-US" altLang="zh-CN" sz="1050" b="0">
                <a:solidFill>
                  <a:srgbClr val="62666B"/>
                </a:solidFill>
                <a:latin typeface="Arial"/>
                <a:ea typeface="Arial"/>
                <a:cs typeface="Arial"/>
              </a:rPr>
              <a:t>05</a:t>
            </a:r>
            <a:endParaRPr sz="1050" b="0">
              <a:solidFill>
                <a:srgbClr val="62666B"/>
              </a:solidFill>
              <a:latin typeface="Arial"/>
              <a:ea typeface="Arial"/>
              <a:cs typeface="Arial"/>
            </a:endParaRPr>
          </a:p>
        </p:txBody>
      </p:sp>
      <p:sp>
        <p:nvSpPr>
          <p:cNvPr id="3" name="relation-intro">
            <a:extLst>
              <a:ext uri="{FF2B5EF4-FFF2-40B4-BE49-F238E27FC236}">
                <a16:creationId xmlns:a16="http://schemas.microsoft.com/office/drawing/2014/main" id="{44E03496-09E5-4418-B588-FFB5534AAC39}"/>
              </a:ext>
            </a:extLst>
          </p:cNvPr>
          <p:cNvSpPr>
            <a:spLocks noGrp="1"/>
          </p:cNvSpPr>
          <p:nvPr/>
        </p:nvSpPr>
        <p:spPr>
          <a:xfrm>
            <a:off x="914400" y="1323975"/>
            <a:ext cx="13411200" cy="571500"/>
          </a:xfrm>
          <a:prstGeom prst="rect">
            <a:avLst/>
          </a:prstGeom>
          <a:noFill/>
          <a:ln w="0">
            <a:noFill/>
          </a:ln>
        </p:spPr>
        <p:txBody>
          <a:bodyPr wrap="square" lIns="0" tIns="0" rIns="0" bIns="0" anchor="t">
            <a:noAutofit/>
          </a:bodyPr>
          <a:lstStyle>
            <a:defPPr algn="l">
              <a:defRPr sz="1875" b="0">
                <a:solidFill>
                  <a:srgbClr val="202124"/>
                </a:solidFill>
                <a:latin typeface="Arial"/>
                <a:ea typeface="Arial"/>
                <a:cs typeface="Arial"/>
              </a:defRPr>
            </a:defPPr>
            <a:lvl1pPr algn="l">
              <a:defRPr sz="1875" b="0">
                <a:solidFill>
                  <a:srgbClr val="202124"/>
                </a:solidFill>
                <a:latin typeface="Arial"/>
                <a:ea typeface="Arial"/>
                <a:cs typeface="Arial"/>
              </a:defRPr>
            </a:lvl1pPr>
            <a:lvl2pPr algn="l">
              <a:defRPr sz="1875" b="0">
                <a:solidFill>
                  <a:srgbClr val="202124"/>
                </a:solidFill>
                <a:latin typeface="Arial"/>
                <a:ea typeface="Arial"/>
                <a:cs typeface="Arial"/>
              </a:defRPr>
            </a:lvl2pPr>
            <a:lvl3pPr algn="l">
              <a:defRPr sz="1875" b="0">
                <a:solidFill>
                  <a:srgbClr val="202124"/>
                </a:solidFill>
                <a:latin typeface="Arial"/>
                <a:ea typeface="Arial"/>
                <a:cs typeface="Arial"/>
              </a:defRPr>
            </a:lvl3pPr>
            <a:lvl4pPr algn="l">
              <a:defRPr sz="1875" b="0">
                <a:solidFill>
                  <a:srgbClr val="202124"/>
                </a:solidFill>
                <a:latin typeface="Arial"/>
                <a:ea typeface="Arial"/>
                <a:cs typeface="Arial"/>
              </a:defRPr>
            </a:lvl4pPr>
            <a:lvl5pPr algn="l">
              <a:defRPr sz="1875" b="0">
                <a:solidFill>
                  <a:srgbClr val="202124"/>
                </a:solidFill>
                <a:latin typeface="Arial"/>
                <a:ea typeface="Arial"/>
                <a:cs typeface="Arial"/>
              </a:defRPr>
            </a:lvl5pPr>
            <a:lvl6pPr algn="l">
              <a:defRPr sz="1875" b="0">
                <a:solidFill>
                  <a:srgbClr val="202124"/>
                </a:solidFill>
                <a:latin typeface="Arial"/>
                <a:ea typeface="Arial"/>
                <a:cs typeface="Arial"/>
              </a:defRPr>
            </a:lvl6pPr>
            <a:lvl7pPr algn="l">
              <a:defRPr sz="1875" b="0">
                <a:solidFill>
                  <a:srgbClr val="202124"/>
                </a:solidFill>
                <a:latin typeface="Arial"/>
                <a:ea typeface="Arial"/>
                <a:cs typeface="Arial"/>
              </a:defRPr>
            </a:lvl7pPr>
            <a:lvl8pPr algn="l">
              <a:defRPr sz="1875" b="0">
                <a:solidFill>
                  <a:srgbClr val="202124"/>
                </a:solidFill>
                <a:latin typeface="Arial"/>
                <a:ea typeface="Arial"/>
                <a:cs typeface="Arial"/>
              </a:defRPr>
            </a:lvl8pPr>
            <a:lvl9pPr algn="l">
              <a:defRPr sz="1875" b="0">
                <a:solidFill>
                  <a:srgbClr val="202124"/>
                </a:solidFill>
                <a:latin typeface="Arial"/>
                <a:ea typeface="Arial"/>
                <a:cs typeface="Arial"/>
              </a:defRPr>
            </a:lvl9pPr>
          </a:lstStyle>
          <a:p>
            <a:pPr algn="l">
              <a:defRPr sz="1875" b="0">
                <a:solidFill>
                  <a:srgbClr val="202124"/>
                </a:solidFill>
                <a:latin typeface="Arial"/>
                <a:ea typeface="Arial"/>
                <a:cs typeface="Arial"/>
              </a:defRPr>
            </a:pPr>
            <a:r>
              <a:rPr sz="1875" b="0">
                <a:solidFill>
                  <a:srgbClr val="202124"/>
                </a:solidFill>
                <a:latin typeface="Arial"/>
                <a:ea typeface="Arial"/>
                <a:cs typeface="Arial"/>
              </a:rPr>
              <a:t>All three use physical structure to infer quantities that are not directly observed.</a:t>
            </a:r>
          </a:p>
        </p:txBody>
      </p:sp>
      <p:graphicFrame>
        <p:nvGraphicFramePr>
          <p:cNvPr id="4" name="表格 3">
            <a:extLst>
              <a:ext uri="{FF2B5EF4-FFF2-40B4-BE49-F238E27FC236}">
                <a16:creationId xmlns:a16="http://schemas.microsoft.com/office/drawing/2014/main" id="{89B2A7C2-7221-4C1E-83C1-71811A3865D5}"/>
              </a:ext>
            </a:extLst>
          </p:cNvPr>
          <p:cNvGraphicFramePr/>
          <p:nvPr/>
        </p:nvGraphicFramePr>
        <p:xfrm>
          <a:off x="914400" y="2381250"/>
          <a:ext cx="13411200" cy="4733925"/>
        </p:xfrm>
        <a:graphic>
          <a:graphicData uri="http://schemas.openxmlformats.org/drawingml/2006/table">
            <a:tbl>
              <a:tblPr firstRow="1"/>
              <a:tblGrid>
                <a:gridCol w="17145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gridCol w="3505200">
                  <a:extLst>
                    <a:ext uri="{9D8B030D-6E8A-4147-A177-3AD203B41FA5}">
                      <a16:colId xmlns:a16="http://schemas.microsoft.com/office/drawing/2014/main" val="20003"/>
                    </a:ext>
                  </a:extLst>
                </a:gridCol>
              </a:tblGrid>
              <a:tr h="590550">
                <a:tc>
                  <a:txBody>
                    <a:bodyPr/>
                    <a:lstStyle/>
                    <a:p>
                      <a:endParaRPr/>
                    </a:p>
                  </a:txBody>
                  <a:tcPr anchor="ctr">
                    <a:lnL w="0">
                      <a:solidFill>
                        <a:srgbClr val="FFFFFF"/>
                      </a:solidFill>
                      <a:prstDash val="solid"/>
                    </a:lnL>
                    <a:lnR w="0">
                      <a:solidFill>
                        <a:srgbClr val="FFFFFF"/>
                      </a:solidFill>
                      <a:prstDash val="solid"/>
                    </a:lnR>
                    <a:lnT w="0">
                      <a:solidFill>
                        <a:srgbClr val="FFFFFF"/>
                      </a:solidFill>
                      <a:prstDash val="solid"/>
                    </a:lnT>
                    <a:lnB w="0">
                      <a:solidFill>
                        <a:srgbClr val="FFFFFF"/>
                      </a:solidFill>
                      <a:prstDash val="solid"/>
                    </a:lnB>
                    <a:solidFill>
                      <a:srgbClr val="FFFFFF"/>
                    </a:solidFill>
                  </a:tcPr>
                </a:tc>
                <a:tc>
                  <a:txBody>
                    <a:bodyPr/>
                    <a:lstStyle/>
                    <a:p>
                      <a:pPr algn="l"/>
                      <a:r>
                        <a:rPr sz="1800" b="1">
                          <a:solidFill>
                            <a:srgbClr val="62666B"/>
                          </a:solidFill>
                          <a:latin typeface="Arial"/>
                          <a:ea typeface="Arial"/>
                          <a:cs typeface="Arial"/>
                        </a:rPr>
                        <a:t>Evidence</a:t>
                      </a:r>
                    </a:p>
                  </a:txBody>
                  <a:tcPr anchor="ctr">
                    <a:lnL w="0" cap="flat" cmpd="sng" algn="ctr">
                      <a:solidFill>
                        <a:srgbClr val="FFFFFF"/>
                      </a:solidFill>
                      <a:prstDash val="solid"/>
                      <a:round/>
                      <a:headEnd type="none" w="med" len="med"/>
                      <a:tailEnd type="none" w="med" len="med"/>
                    </a:lnL>
                    <a:lnR w="0">
                      <a:solidFill>
                        <a:srgbClr val="FFFFFF"/>
                      </a:solidFill>
                      <a:prstDash val="solid"/>
                    </a:lnR>
                    <a:lnT w="0">
                      <a:solidFill>
                        <a:srgbClr val="FFFFFF"/>
                      </a:solidFill>
                      <a:prstDash val="solid"/>
                    </a:lnT>
                    <a:lnB w="0">
                      <a:solidFill>
                        <a:srgbClr val="FFFFFF"/>
                      </a:solidFill>
                      <a:prstDash val="solid"/>
                    </a:lnB>
                    <a:solidFill>
                      <a:srgbClr val="FFFFFF"/>
                    </a:solidFill>
                  </a:tcPr>
                </a:tc>
                <a:tc>
                  <a:txBody>
                    <a:bodyPr/>
                    <a:lstStyle/>
                    <a:p>
                      <a:pPr algn="l"/>
                      <a:r>
                        <a:rPr sz="1800" b="1">
                          <a:solidFill>
                            <a:srgbClr val="62666B"/>
                          </a:solidFill>
                          <a:latin typeface="Arial"/>
                          <a:ea typeface="Arial"/>
                          <a:cs typeface="Arial"/>
                        </a:rPr>
                        <a:t>Estimated quantity</a:t>
                      </a:r>
                    </a:p>
                  </a:txBody>
                  <a:tcPr anchor="ctr">
                    <a:lnL w="0" cap="flat" cmpd="sng" algn="ctr">
                      <a:solidFill>
                        <a:srgbClr val="FFFFFF"/>
                      </a:solidFill>
                      <a:prstDash val="solid"/>
                      <a:round/>
                      <a:headEnd type="none" w="med" len="med"/>
                      <a:tailEnd type="none" w="med" len="med"/>
                    </a:lnL>
                    <a:lnR w="0">
                      <a:solidFill>
                        <a:srgbClr val="FFFFFF"/>
                      </a:solidFill>
                      <a:prstDash val="solid"/>
                    </a:lnR>
                    <a:lnT w="0">
                      <a:solidFill>
                        <a:srgbClr val="FFFFFF"/>
                      </a:solidFill>
                      <a:prstDash val="solid"/>
                    </a:lnT>
                    <a:lnB w="0">
                      <a:solidFill>
                        <a:srgbClr val="FFFFFF"/>
                      </a:solidFill>
                      <a:prstDash val="solid"/>
                    </a:lnB>
                    <a:solidFill>
                      <a:srgbClr val="FFFFFF"/>
                    </a:solidFill>
                  </a:tcPr>
                </a:tc>
                <a:tc>
                  <a:txBody>
                    <a:bodyPr/>
                    <a:lstStyle/>
                    <a:p>
                      <a:pPr algn="l"/>
                      <a:r>
                        <a:rPr sz="1800" b="1">
                          <a:solidFill>
                            <a:srgbClr val="62666B"/>
                          </a:solidFill>
                          <a:latin typeface="Arial"/>
                          <a:ea typeface="Arial"/>
                          <a:cs typeface="Arial"/>
                        </a:rPr>
                        <a:t>Purpose</a:t>
                      </a:r>
                    </a:p>
                  </a:txBody>
                  <a:tcPr anchor="ctr">
                    <a:lnL w="0" cap="flat" cmpd="sng" algn="ctr">
                      <a:solidFill>
                        <a:srgbClr val="FFFFFF"/>
                      </a:solidFill>
                      <a:prstDash val="solid"/>
                      <a:round/>
                      <a:headEnd type="none" w="med" len="med"/>
                      <a:tailEnd type="none" w="med" len="med"/>
                    </a:lnL>
                    <a:lnR w="0">
                      <a:solidFill>
                        <a:srgbClr val="FFFFFF"/>
                      </a:solidFill>
                      <a:prstDash val="solid"/>
                    </a:lnR>
                    <a:lnT w="0">
                      <a:solidFill>
                        <a:srgbClr val="FFFFFF"/>
                      </a:solidFill>
                      <a:prstDash val="solid"/>
                    </a:lnT>
                    <a:lnB w="0">
                      <a:solidFill>
                        <a:srgbClr val="FFFFFF"/>
                      </a:solidFill>
                      <a:prstDash val="solid"/>
                    </a:lnB>
                    <a:solidFill>
                      <a:srgbClr val="FFFFFF"/>
                    </a:solidFill>
                  </a:tcPr>
                </a:tc>
                <a:extLst>
                  <a:ext uri="{0D108BD9-81ED-4DB2-BD59-A6C34878D82A}">
                    <a16:rowId xmlns:a16="http://schemas.microsoft.com/office/drawing/2014/main" val="10000"/>
                  </a:ext>
                </a:extLst>
              </a:tr>
              <a:tr h="1381125">
                <a:tc>
                  <a:txBody>
                    <a:bodyPr/>
                    <a:lstStyle/>
                    <a:p>
                      <a:pPr algn="l"/>
                      <a:r>
                        <a:rPr sz="1800" b="0">
                          <a:solidFill>
                            <a:srgbClr val="202124"/>
                          </a:solidFill>
                          <a:latin typeface="Arial"/>
                          <a:ea typeface="Arial"/>
                          <a:cs typeface="Arial"/>
                        </a:rPr>
                        <a:t>RME</a:t>
                      </a:r>
                    </a:p>
                  </a:txBody>
                  <a:tcPr anchor="ctr">
                    <a:lnL w="0">
                      <a:solidFill>
                        <a:srgbClr val="FFFFFF"/>
                      </a:solidFill>
                      <a:prstDash val="soli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l"/>
                      <a:r>
                        <a:rPr sz="1800" b="0">
                          <a:solidFill>
                            <a:srgbClr val="202124"/>
                          </a:solidFill>
                          <a:latin typeface="Arial"/>
                          <a:ea typeface="Arial"/>
                          <a:cs typeface="Arial"/>
                        </a:rPr>
                        <a:t>Proprioceptive</a:t>
                      </a:r>
                    </a:p>
                    <a:p>
                      <a:pPr algn="l"/>
                      <a:r>
                        <a:rPr sz="1800" b="0">
                          <a:solidFill>
                            <a:srgbClr val="202124"/>
                          </a:solidFill>
                          <a:latin typeface="Arial"/>
                          <a:ea typeface="Arial"/>
                          <a:cs typeface="Arial"/>
                        </a:rPr>
                        <a:t>dynamics mismatch</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l"/>
                      <a:r>
                        <a:rPr sz="1800" b="0">
                          <a:solidFill>
                            <a:srgbClr val="202124"/>
                          </a:solidFill>
                          <a:latin typeface="Arial"/>
                          <a:ea typeface="Arial"/>
                          <a:cs typeface="Arial"/>
                        </a:rPr>
                        <a:t>Payload mass</a:t>
                      </a:r>
                    </a:p>
                    <a:p>
                      <a:pPr algn="l"/>
                      <a:r>
                        <a:rPr sz="1800" b="0">
                          <a:solidFill>
                            <a:srgbClr val="202124"/>
                          </a:solidFill>
                          <a:latin typeface="Arial"/>
                          <a:ea typeface="Arial"/>
                          <a:cs typeface="Arial"/>
                        </a:rPr>
                        <a:t>and center of mass</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l"/>
                      <a:r>
                        <a:rPr sz="1800" b="0">
                          <a:solidFill>
                            <a:srgbClr val="202124"/>
                          </a:solidFill>
                          <a:latin typeface="Arial"/>
                          <a:ea typeface="Arial"/>
                          <a:cs typeface="Arial"/>
                        </a:rPr>
                        <a:t>Adapt compliant</a:t>
                      </a:r>
                    </a:p>
                    <a:p>
                      <a:pPr algn="l"/>
                      <a:r>
                        <a:rPr sz="1800" b="0">
                          <a:solidFill>
                            <a:srgbClr val="202124"/>
                          </a:solidFill>
                          <a:latin typeface="Arial"/>
                          <a:ea typeface="Arial"/>
                          <a:cs typeface="Arial"/>
                        </a:rPr>
                        <a:t>execution</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extLst>
                  <a:ext uri="{0D108BD9-81ED-4DB2-BD59-A6C34878D82A}">
                    <a16:rowId xmlns:a16="http://schemas.microsoft.com/office/drawing/2014/main" val="10001"/>
                  </a:ext>
                </a:extLst>
              </a:tr>
              <a:tr h="1381125">
                <a:tc>
                  <a:txBody>
                    <a:bodyPr/>
                    <a:lstStyle/>
                    <a:p>
                      <a:pPr algn="l"/>
                      <a:r>
                        <a:rPr sz="1800" b="0">
                          <a:solidFill>
                            <a:srgbClr val="202124"/>
                          </a:solidFill>
                          <a:latin typeface="Arial"/>
                          <a:ea typeface="Arial"/>
                          <a:cs typeface="Arial"/>
                        </a:rPr>
                        <a:t>CPF</a:t>
                      </a:r>
                    </a:p>
                  </a:txBody>
                  <a:tcPr anchor="ctr">
                    <a:lnL w="0">
                      <a:solidFill>
                        <a:srgbClr val="FFFFFF"/>
                      </a:solidFill>
                      <a:prstDash val="soli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l"/>
                      <a:r>
                        <a:rPr sz="1800" b="0">
                          <a:solidFill>
                            <a:srgbClr val="202124"/>
                          </a:solidFill>
                          <a:latin typeface="Arial"/>
                          <a:ea typeface="Arial"/>
                          <a:cs typeface="Arial"/>
                        </a:rPr>
                        <a:t>Momentum residual</a:t>
                      </a:r>
                    </a:p>
                    <a:p>
                      <a:pPr algn="l"/>
                      <a:r>
                        <a:rPr sz="1800" b="0">
                          <a:solidFill>
                            <a:srgbClr val="202124"/>
                          </a:solidFill>
                          <a:latin typeface="Arial"/>
                          <a:ea typeface="Arial"/>
                          <a:cs typeface="Arial"/>
                        </a:rPr>
                        <a:t>and contact constraints</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l"/>
                      <a:r>
                        <a:rPr sz="1800" b="0">
                          <a:solidFill>
                            <a:srgbClr val="202124"/>
                          </a:solidFill>
                          <a:latin typeface="Arial"/>
                          <a:ea typeface="Arial"/>
                          <a:cs typeface="Arial"/>
                        </a:rPr>
                        <a:t>External contact</a:t>
                      </a:r>
                    </a:p>
                    <a:p>
                      <a:pPr algn="l"/>
                      <a:r>
                        <a:rPr sz="1800" b="0">
                          <a:solidFill>
                            <a:srgbClr val="202124"/>
                          </a:solidFill>
                          <a:latin typeface="Arial"/>
                          <a:ea typeface="Arial"/>
                          <a:cs typeface="Arial"/>
                        </a:rPr>
                        <a:t>location and force</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l"/>
                      <a:r>
                        <a:rPr sz="1800" b="0">
                          <a:solidFill>
                            <a:srgbClr val="202124"/>
                          </a:solidFill>
                          <a:latin typeface="Arial"/>
                          <a:ea typeface="Arial"/>
                          <a:cs typeface="Arial"/>
                        </a:rPr>
                        <a:t>Localize physical</a:t>
                      </a:r>
                    </a:p>
                    <a:p>
                      <a:pPr algn="l"/>
                      <a:r>
                        <a:rPr sz="1800" b="0">
                          <a:solidFill>
                            <a:srgbClr val="202124"/>
                          </a:solidFill>
                          <a:latin typeface="Arial"/>
                          <a:ea typeface="Arial"/>
                          <a:cs typeface="Arial"/>
                        </a:rPr>
                        <a:t>contact</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extLst>
                  <a:ext uri="{0D108BD9-81ED-4DB2-BD59-A6C34878D82A}">
                    <a16:rowId xmlns:a16="http://schemas.microsoft.com/office/drawing/2014/main" val="10002"/>
                  </a:ext>
                </a:extLst>
              </a:tr>
              <a:tr h="1381125">
                <a:tc>
                  <a:txBody>
                    <a:bodyPr/>
                    <a:lstStyle/>
                    <a:p>
                      <a:pPr algn="l"/>
                      <a:r>
                        <a:rPr sz="1800" b="0">
                          <a:solidFill>
                            <a:srgbClr val="202124"/>
                          </a:solidFill>
                          <a:latin typeface="Arial"/>
                          <a:ea typeface="Arial"/>
                          <a:cs typeface="Arial"/>
                        </a:rPr>
                        <a:t>NR</a:t>
                      </a:r>
                    </a:p>
                  </a:txBody>
                  <a:tcPr anchor="ctr">
                    <a:lnL w="0">
                      <a:solidFill>
                        <a:srgbClr val="FFFFFF"/>
                      </a:solidFill>
                      <a:prstDash val="soli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l"/>
                      <a:r>
                        <a:rPr sz="1800" b="0">
                          <a:solidFill>
                            <a:srgbClr val="202124"/>
                          </a:solidFill>
                          <a:latin typeface="Arial"/>
                          <a:ea typeface="Arial"/>
                          <a:cs typeface="Arial"/>
                        </a:rPr>
                        <a:t>Loading history</a:t>
                      </a:r>
                    </a:p>
                    <a:p>
                      <a:pPr algn="l"/>
                      <a:r>
                        <a:rPr sz="1800" b="0">
                          <a:solidFill>
                            <a:srgbClr val="202124"/>
                          </a:solidFill>
                          <a:latin typeface="Arial"/>
                          <a:ea typeface="Arial"/>
                          <a:cs typeface="Arial"/>
                        </a:rPr>
                        <a:t>and measured response</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l"/>
                      <a:r>
                        <a:rPr sz="1800" b="0">
                          <a:solidFill>
                            <a:srgbClr val="202124"/>
                          </a:solidFill>
                          <a:latin typeface="Arial"/>
                          <a:ea typeface="Arial"/>
                          <a:cs typeface="Arial"/>
                        </a:rPr>
                        <a:t>Evolving internal</a:t>
                      </a:r>
                    </a:p>
                    <a:p>
                      <a:pPr algn="l"/>
                      <a:r>
                        <a:rPr sz="1800" b="0">
                          <a:solidFill>
                            <a:srgbClr val="202124"/>
                          </a:solidFill>
                          <a:latin typeface="Arial"/>
                          <a:ea typeface="Arial"/>
                          <a:cs typeface="Arial"/>
                        </a:rPr>
                        <a:t>material state</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l"/>
                      <a:r>
                        <a:rPr sz="1800" b="0">
                          <a:solidFill>
                            <a:srgbClr val="202124"/>
                          </a:solidFill>
                          <a:latin typeface="Arial"/>
                          <a:ea typeface="Arial"/>
                          <a:cs typeface="Arial"/>
                        </a:rPr>
                        <a:t>Predict a changed</a:t>
                      </a:r>
                    </a:p>
                    <a:p>
                      <a:pPr algn="l"/>
                      <a:r>
                        <a:rPr sz="1800" b="0">
                          <a:solidFill>
                            <a:srgbClr val="202124"/>
                          </a:solidFill>
                          <a:latin typeface="Arial"/>
                          <a:ea typeface="Arial"/>
                          <a:cs typeface="Arial"/>
                        </a:rPr>
                        <a:t>future interaction</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implication">
            <a:extLst>
              <a:ext uri="{FF2B5EF4-FFF2-40B4-BE49-F238E27FC236}">
                <a16:creationId xmlns:a16="http://schemas.microsoft.com/office/drawing/2014/main" id="{C2C96467-1D14-45B9-B4D6-47F51C14065E}"/>
              </a:ext>
            </a:extLst>
          </p:cNvPr>
          <p:cNvSpPr>
            <a:spLocks noGrp="1"/>
          </p:cNvSpPr>
          <p:nvPr/>
        </p:nvSpPr>
        <p:spPr>
          <a:xfrm>
            <a:off x="914400" y="7753350"/>
            <a:ext cx="13411200" cy="552450"/>
          </a:xfrm>
          <a:prstGeom prst="rect">
            <a:avLst/>
          </a:prstGeom>
          <a:noFill/>
          <a:ln w="0">
            <a:noFill/>
          </a:ln>
        </p:spPr>
        <p:txBody>
          <a:bodyPr wrap="square" lIns="0" tIns="0" rIns="0" bIns="0" anchor="t">
            <a:noAutofit/>
          </a:bodyPr>
          <a:lstStyle>
            <a:defPPr algn="l">
              <a:defRPr sz="1875" b="0">
                <a:solidFill>
                  <a:srgbClr val="202124"/>
                </a:solidFill>
                <a:latin typeface="Arial"/>
                <a:ea typeface="Arial"/>
                <a:cs typeface="Arial"/>
              </a:defRPr>
            </a:defPPr>
            <a:lvl1pPr algn="l">
              <a:defRPr sz="1875" b="0">
                <a:solidFill>
                  <a:srgbClr val="202124"/>
                </a:solidFill>
                <a:latin typeface="Arial"/>
                <a:ea typeface="Arial"/>
                <a:cs typeface="Arial"/>
              </a:defRPr>
            </a:lvl1pPr>
            <a:lvl2pPr algn="l">
              <a:defRPr sz="1875" b="0">
                <a:solidFill>
                  <a:srgbClr val="202124"/>
                </a:solidFill>
                <a:latin typeface="Arial"/>
                <a:ea typeface="Arial"/>
                <a:cs typeface="Arial"/>
              </a:defRPr>
            </a:lvl2pPr>
            <a:lvl3pPr algn="l">
              <a:defRPr sz="1875" b="0">
                <a:solidFill>
                  <a:srgbClr val="202124"/>
                </a:solidFill>
                <a:latin typeface="Arial"/>
                <a:ea typeface="Arial"/>
                <a:cs typeface="Arial"/>
              </a:defRPr>
            </a:lvl3pPr>
            <a:lvl4pPr algn="l">
              <a:defRPr sz="1875" b="0">
                <a:solidFill>
                  <a:srgbClr val="202124"/>
                </a:solidFill>
                <a:latin typeface="Arial"/>
                <a:ea typeface="Arial"/>
                <a:cs typeface="Arial"/>
              </a:defRPr>
            </a:lvl4pPr>
            <a:lvl5pPr algn="l">
              <a:defRPr sz="1875" b="0">
                <a:solidFill>
                  <a:srgbClr val="202124"/>
                </a:solidFill>
                <a:latin typeface="Arial"/>
                <a:ea typeface="Arial"/>
                <a:cs typeface="Arial"/>
              </a:defRPr>
            </a:lvl5pPr>
            <a:lvl6pPr algn="l">
              <a:defRPr sz="1875" b="0">
                <a:solidFill>
                  <a:srgbClr val="202124"/>
                </a:solidFill>
                <a:latin typeface="Arial"/>
                <a:ea typeface="Arial"/>
                <a:cs typeface="Arial"/>
              </a:defRPr>
            </a:lvl6pPr>
            <a:lvl7pPr algn="l">
              <a:defRPr sz="1875" b="0">
                <a:solidFill>
                  <a:srgbClr val="202124"/>
                </a:solidFill>
                <a:latin typeface="Arial"/>
                <a:ea typeface="Arial"/>
                <a:cs typeface="Arial"/>
              </a:defRPr>
            </a:lvl7pPr>
            <a:lvl8pPr algn="l">
              <a:defRPr sz="1875" b="0">
                <a:solidFill>
                  <a:srgbClr val="202124"/>
                </a:solidFill>
                <a:latin typeface="Arial"/>
                <a:ea typeface="Arial"/>
                <a:cs typeface="Arial"/>
              </a:defRPr>
            </a:lvl8pPr>
            <a:lvl9pPr algn="l">
              <a:defRPr sz="1875" b="0">
                <a:solidFill>
                  <a:srgbClr val="202124"/>
                </a:solidFill>
                <a:latin typeface="Arial"/>
                <a:ea typeface="Arial"/>
                <a:cs typeface="Arial"/>
              </a:defRPr>
            </a:lvl9pPr>
          </a:lstStyle>
          <a:p>
            <a:pPr algn="l">
              <a:defRPr sz="1875" b="0">
                <a:solidFill>
                  <a:srgbClr val="202124"/>
                </a:solidFill>
                <a:latin typeface="Arial"/>
                <a:ea typeface="Arial"/>
                <a:cs typeface="Arial"/>
              </a:defRPr>
            </a:pPr>
            <a:r>
              <a:rPr sz="1875" b="0">
                <a:solidFill>
                  <a:srgbClr val="202124"/>
                </a:solidFill>
                <a:latin typeface="Arial"/>
                <a:ea typeface="Arial"/>
                <a:cs typeface="Arial"/>
              </a:rPr>
              <a:t>The extension is the evolving material state and its consequences across interactions.</a:t>
            </a:r>
          </a:p>
        </p:txBody>
      </p:sp>
      <p:sp>
        <p:nvSpPr>
          <p:cNvPr id="7" name="source-index">
            <a:extLst>
              <a:ext uri="{FF2B5EF4-FFF2-40B4-BE49-F238E27FC236}">
                <a16:creationId xmlns:a16="http://schemas.microsoft.com/office/drawing/2014/main" id="{700CC8E9-E5CA-493A-B8BF-9313179198A9}"/>
              </a:ext>
            </a:extLst>
          </p:cNvPr>
          <p:cNvSpPr>
            <a:spLocks noGrp="1"/>
          </p:cNvSpPr>
          <p:nvPr/>
        </p:nvSpPr>
        <p:spPr>
          <a:xfrm>
            <a:off x="914400" y="8172450"/>
            <a:ext cx="12573000" cy="209550"/>
          </a:xfrm>
          <a:prstGeom prst="rect">
            <a:avLst/>
          </a:prstGeom>
          <a:noFill/>
          <a:ln w="0">
            <a:noFill/>
          </a:ln>
        </p:spPr>
        <p:txBody>
          <a:bodyPr wrap="square" lIns="0" tIns="0" rIns="0" bIns="0" anchor="t">
            <a:noAutofit/>
          </a:bodyPr>
          <a:lstStyle>
            <a:defPPr algn="l">
              <a:defRPr sz="1050" b="0">
                <a:solidFill>
                  <a:srgbClr val="62666B"/>
                </a:solidFill>
                <a:latin typeface="Arial"/>
                <a:ea typeface="Arial"/>
                <a:cs typeface="Arial"/>
              </a:defRPr>
            </a:defPPr>
            <a:lvl1pPr algn="l">
              <a:defRPr sz="1050" b="0">
                <a:solidFill>
                  <a:srgbClr val="62666B"/>
                </a:solidFill>
                <a:latin typeface="Arial"/>
                <a:ea typeface="Arial"/>
                <a:cs typeface="Arial"/>
              </a:defRPr>
            </a:lvl1pPr>
            <a:lvl2pPr algn="l">
              <a:defRPr sz="1050" b="0">
                <a:solidFill>
                  <a:srgbClr val="62666B"/>
                </a:solidFill>
                <a:latin typeface="Arial"/>
                <a:ea typeface="Arial"/>
                <a:cs typeface="Arial"/>
              </a:defRPr>
            </a:lvl2pPr>
            <a:lvl3pPr algn="l">
              <a:defRPr sz="1050" b="0">
                <a:solidFill>
                  <a:srgbClr val="62666B"/>
                </a:solidFill>
                <a:latin typeface="Arial"/>
                <a:ea typeface="Arial"/>
                <a:cs typeface="Arial"/>
              </a:defRPr>
            </a:lvl3pPr>
            <a:lvl4pPr algn="l">
              <a:defRPr sz="1050" b="0">
                <a:solidFill>
                  <a:srgbClr val="62666B"/>
                </a:solidFill>
                <a:latin typeface="Arial"/>
                <a:ea typeface="Arial"/>
                <a:cs typeface="Arial"/>
              </a:defRPr>
            </a:lvl4pPr>
            <a:lvl5pPr algn="l">
              <a:defRPr sz="1050" b="0">
                <a:solidFill>
                  <a:srgbClr val="62666B"/>
                </a:solidFill>
                <a:latin typeface="Arial"/>
                <a:ea typeface="Arial"/>
                <a:cs typeface="Arial"/>
              </a:defRPr>
            </a:lvl5pPr>
            <a:lvl6pPr algn="l">
              <a:defRPr sz="1050" b="0">
                <a:solidFill>
                  <a:srgbClr val="62666B"/>
                </a:solidFill>
                <a:latin typeface="Arial"/>
                <a:ea typeface="Arial"/>
                <a:cs typeface="Arial"/>
              </a:defRPr>
            </a:lvl6pPr>
            <a:lvl7pPr algn="l">
              <a:defRPr sz="1050" b="0">
                <a:solidFill>
                  <a:srgbClr val="62666B"/>
                </a:solidFill>
                <a:latin typeface="Arial"/>
                <a:ea typeface="Arial"/>
                <a:cs typeface="Arial"/>
              </a:defRPr>
            </a:lvl7pPr>
            <a:lvl8pPr algn="l">
              <a:defRPr sz="1050" b="0">
                <a:solidFill>
                  <a:srgbClr val="62666B"/>
                </a:solidFill>
                <a:latin typeface="Arial"/>
                <a:ea typeface="Arial"/>
                <a:cs typeface="Arial"/>
              </a:defRPr>
            </a:lvl8pPr>
            <a:lvl9pPr algn="l">
              <a:defRPr sz="1050" b="0">
                <a:solidFill>
                  <a:srgbClr val="62666B"/>
                </a:solidFill>
                <a:latin typeface="Arial"/>
                <a:ea typeface="Arial"/>
                <a:cs typeface="Arial"/>
              </a:defRPr>
            </a:lvl9pPr>
          </a:lstStyle>
          <a:p>
            <a:pPr algn="l">
              <a:defRPr sz="1050" b="0">
                <a:solidFill>
                  <a:srgbClr val="62666B"/>
                </a:solidFill>
                <a:latin typeface="Arial"/>
                <a:ea typeface="Arial"/>
                <a:cs typeface="Arial"/>
              </a:defRPr>
            </a:pPr>
            <a:r>
              <a:rPr sz="1050" b="0">
                <a:solidFill>
                  <a:srgbClr val="62666B"/>
                </a:solidFill>
                <a:latin typeface="Arial"/>
                <a:ea typeface="Arial"/>
                <a:cs typeface="Arial"/>
              </a:rPr>
              <a:t>[2, 3]</a:t>
            </a:r>
          </a:p>
        </p:txBody>
      </p:sp>
    </p:spTree>
    <p:extLst>
      <p:ext uri="{BB962C8B-B14F-4D97-AF65-F5344CB8AC3E}">
        <p14:creationId xmlns:p14="http://schemas.microsoft.com/office/powerpoint/2010/main" val="142034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2DCBF2B6-9836-4119-BF1C-DF19F272B1DA}"/>
              </a:ext>
            </a:extLst>
          </p:cNvPr>
          <p:cNvSpPr>
            <a:spLocks noGrp="1"/>
          </p:cNvSpPr>
          <p:nvPr/>
        </p:nvSpPr>
        <p:spPr>
          <a:xfrm>
            <a:off x="914400" y="552450"/>
            <a:ext cx="13411200" cy="533400"/>
          </a:xfrm>
          <a:prstGeom prst="rect">
            <a:avLst/>
          </a:prstGeom>
          <a:noFill/>
          <a:ln w="0">
            <a:noFill/>
          </a:ln>
        </p:spPr>
        <p:txBody>
          <a:bodyPr wrap="square" lIns="0" tIns="0" rIns="0" bIns="0" anchor="t">
            <a:noAutofit/>
          </a:bodyPr>
          <a:lstStyle>
            <a:defPPr algn="l">
              <a:defRPr sz="2400" b="1">
                <a:solidFill>
                  <a:srgbClr val="202124"/>
                </a:solidFill>
                <a:latin typeface="Arial"/>
                <a:ea typeface="Arial"/>
                <a:cs typeface="Arial"/>
              </a:defRPr>
            </a:defPPr>
            <a:lvl1pPr algn="l">
              <a:defRPr sz="2400" b="1">
                <a:solidFill>
                  <a:srgbClr val="202124"/>
                </a:solidFill>
                <a:latin typeface="Arial"/>
                <a:ea typeface="Arial"/>
                <a:cs typeface="Arial"/>
              </a:defRPr>
            </a:lvl1pPr>
            <a:lvl2pPr algn="l">
              <a:defRPr sz="2400" b="1">
                <a:solidFill>
                  <a:srgbClr val="202124"/>
                </a:solidFill>
                <a:latin typeface="Arial"/>
                <a:ea typeface="Arial"/>
                <a:cs typeface="Arial"/>
              </a:defRPr>
            </a:lvl2pPr>
            <a:lvl3pPr algn="l">
              <a:defRPr sz="2400" b="1">
                <a:solidFill>
                  <a:srgbClr val="202124"/>
                </a:solidFill>
                <a:latin typeface="Arial"/>
                <a:ea typeface="Arial"/>
                <a:cs typeface="Arial"/>
              </a:defRPr>
            </a:lvl3pPr>
            <a:lvl4pPr algn="l">
              <a:defRPr sz="2400" b="1">
                <a:solidFill>
                  <a:srgbClr val="202124"/>
                </a:solidFill>
                <a:latin typeface="Arial"/>
                <a:ea typeface="Arial"/>
                <a:cs typeface="Arial"/>
              </a:defRPr>
            </a:lvl4pPr>
            <a:lvl5pPr algn="l">
              <a:defRPr sz="2400" b="1">
                <a:solidFill>
                  <a:srgbClr val="202124"/>
                </a:solidFill>
                <a:latin typeface="Arial"/>
                <a:ea typeface="Arial"/>
                <a:cs typeface="Arial"/>
              </a:defRPr>
            </a:lvl5pPr>
            <a:lvl6pPr algn="l">
              <a:defRPr sz="2400" b="1">
                <a:solidFill>
                  <a:srgbClr val="202124"/>
                </a:solidFill>
                <a:latin typeface="Arial"/>
                <a:ea typeface="Arial"/>
                <a:cs typeface="Arial"/>
              </a:defRPr>
            </a:lvl6pPr>
            <a:lvl7pPr algn="l">
              <a:defRPr sz="2400" b="1">
                <a:solidFill>
                  <a:srgbClr val="202124"/>
                </a:solidFill>
                <a:latin typeface="Arial"/>
                <a:ea typeface="Arial"/>
                <a:cs typeface="Arial"/>
              </a:defRPr>
            </a:lvl7pPr>
            <a:lvl8pPr algn="l">
              <a:defRPr sz="2400" b="1">
                <a:solidFill>
                  <a:srgbClr val="202124"/>
                </a:solidFill>
                <a:latin typeface="Arial"/>
                <a:ea typeface="Arial"/>
                <a:cs typeface="Arial"/>
              </a:defRPr>
            </a:lvl8pPr>
            <a:lvl9pPr algn="l">
              <a:defRPr sz="2400" b="1">
                <a:solidFill>
                  <a:srgbClr val="202124"/>
                </a:solidFill>
                <a:latin typeface="Arial"/>
                <a:ea typeface="Arial"/>
                <a:cs typeface="Arial"/>
              </a:defRPr>
            </a:lvl9pPr>
          </a:lstStyle>
          <a:p>
            <a:pPr algn="l">
              <a:defRPr sz="2400" b="1">
                <a:solidFill>
                  <a:srgbClr val="202124"/>
                </a:solidFill>
                <a:latin typeface="Arial"/>
                <a:ea typeface="Arial"/>
                <a:cs typeface="Arial"/>
              </a:defRPr>
            </a:pPr>
            <a:r>
              <a:rPr sz="2400" b="1">
                <a:solidFill>
                  <a:srgbClr val="202124"/>
                </a:solidFill>
                <a:latin typeface="Arial"/>
                <a:ea typeface="Arial"/>
                <a:cs typeface="Arial"/>
              </a:rPr>
              <a:t>History-based state inference: related approaches</a:t>
            </a:r>
          </a:p>
        </p:txBody>
      </p:sp>
      <p:sp>
        <p:nvSpPr>
          <p:cNvPr id="2" name="page">
            <a:extLst>
              <a:ext uri="{FF2B5EF4-FFF2-40B4-BE49-F238E27FC236}">
                <a16:creationId xmlns:a16="http://schemas.microsoft.com/office/drawing/2014/main" id="{8934C37C-2445-42EE-AC91-809340612AB6}"/>
              </a:ext>
            </a:extLst>
          </p:cNvPr>
          <p:cNvSpPr>
            <a:spLocks noGrp="1"/>
          </p:cNvSpPr>
          <p:nvPr/>
        </p:nvSpPr>
        <p:spPr>
          <a:xfrm>
            <a:off x="13906500" y="8153400"/>
            <a:ext cx="419100" cy="238125"/>
          </a:xfrm>
          <a:prstGeom prst="rect">
            <a:avLst/>
          </a:prstGeom>
          <a:noFill/>
          <a:ln w="0">
            <a:noFill/>
          </a:ln>
        </p:spPr>
        <p:txBody>
          <a:bodyPr wrap="square" lIns="0" tIns="0" rIns="0" bIns="0" anchor="t">
            <a:noAutofit/>
          </a:bodyPr>
          <a:lstStyle>
            <a:defPPr algn="r">
              <a:defRPr sz="1050" b="0">
                <a:solidFill>
                  <a:srgbClr val="62666B"/>
                </a:solidFill>
                <a:latin typeface="Arial"/>
                <a:ea typeface="Arial"/>
                <a:cs typeface="Arial"/>
              </a:defRPr>
            </a:defPPr>
            <a:lvl1pPr algn="r">
              <a:defRPr sz="1050" b="0">
                <a:solidFill>
                  <a:srgbClr val="62666B"/>
                </a:solidFill>
                <a:latin typeface="Arial"/>
                <a:ea typeface="Arial"/>
                <a:cs typeface="Arial"/>
              </a:defRPr>
            </a:lvl1pPr>
            <a:lvl2pPr algn="r">
              <a:defRPr sz="1050" b="0">
                <a:solidFill>
                  <a:srgbClr val="62666B"/>
                </a:solidFill>
                <a:latin typeface="Arial"/>
                <a:ea typeface="Arial"/>
                <a:cs typeface="Arial"/>
              </a:defRPr>
            </a:lvl2pPr>
            <a:lvl3pPr algn="r">
              <a:defRPr sz="1050" b="0">
                <a:solidFill>
                  <a:srgbClr val="62666B"/>
                </a:solidFill>
                <a:latin typeface="Arial"/>
                <a:ea typeface="Arial"/>
                <a:cs typeface="Arial"/>
              </a:defRPr>
            </a:lvl3pPr>
            <a:lvl4pPr algn="r">
              <a:defRPr sz="1050" b="0">
                <a:solidFill>
                  <a:srgbClr val="62666B"/>
                </a:solidFill>
                <a:latin typeface="Arial"/>
                <a:ea typeface="Arial"/>
                <a:cs typeface="Arial"/>
              </a:defRPr>
            </a:lvl4pPr>
            <a:lvl5pPr algn="r">
              <a:defRPr sz="1050" b="0">
                <a:solidFill>
                  <a:srgbClr val="62666B"/>
                </a:solidFill>
                <a:latin typeface="Arial"/>
                <a:ea typeface="Arial"/>
                <a:cs typeface="Arial"/>
              </a:defRPr>
            </a:lvl5pPr>
            <a:lvl6pPr algn="r">
              <a:defRPr sz="1050" b="0">
                <a:solidFill>
                  <a:srgbClr val="62666B"/>
                </a:solidFill>
                <a:latin typeface="Arial"/>
                <a:ea typeface="Arial"/>
                <a:cs typeface="Arial"/>
              </a:defRPr>
            </a:lvl6pPr>
            <a:lvl7pPr algn="r">
              <a:defRPr sz="1050" b="0">
                <a:solidFill>
                  <a:srgbClr val="62666B"/>
                </a:solidFill>
                <a:latin typeface="Arial"/>
                <a:ea typeface="Arial"/>
                <a:cs typeface="Arial"/>
              </a:defRPr>
            </a:lvl7pPr>
            <a:lvl8pPr algn="r">
              <a:defRPr sz="1050" b="0">
                <a:solidFill>
                  <a:srgbClr val="62666B"/>
                </a:solidFill>
                <a:latin typeface="Arial"/>
                <a:ea typeface="Arial"/>
                <a:cs typeface="Arial"/>
              </a:defRPr>
            </a:lvl8pPr>
            <a:lvl9pPr algn="r">
              <a:defRPr sz="1050" b="0">
                <a:solidFill>
                  <a:srgbClr val="62666B"/>
                </a:solidFill>
                <a:latin typeface="Arial"/>
                <a:ea typeface="Arial"/>
                <a:cs typeface="Arial"/>
              </a:defRPr>
            </a:lvl9pPr>
          </a:lstStyle>
          <a:p>
            <a:pPr algn="r">
              <a:defRPr sz="1050" b="0">
                <a:solidFill>
                  <a:srgbClr val="62666B"/>
                </a:solidFill>
                <a:latin typeface="Arial"/>
                <a:ea typeface="Arial"/>
                <a:cs typeface="Arial"/>
              </a:defRPr>
            </a:pPr>
            <a:r>
              <a:rPr lang="en-US" altLang="zh-CN" sz="1050" b="0">
                <a:solidFill>
                  <a:srgbClr val="62666B"/>
                </a:solidFill>
                <a:latin typeface="Arial"/>
                <a:ea typeface="Arial"/>
                <a:cs typeface="Arial"/>
              </a:rPr>
              <a:t>06</a:t>
            </a:r>
            <a:endParaRPr sz="1050" b="0">
              <a:solidFill>
                <a:srgbClr val="62666B"/>
              </a:solidFill>
              <a:latin typeface="Arial"/>
              <a:ea typeface="Arial"/>
              <a:cs typeface="Arial"/>
            </a:endParaRPr>
          </a:p>
        </p:txBody>
      </p:sp>
      <p:sp>
        <p:nvSpPr>
          <p:cNvPr id="3" name="source-index">
            <a:extLst>
              <a:ext uri="{FF2B5EF4-FFF2-40B4-BE49-F238E27FC236}">
                <a16:creationId xmlns:a16="http://schemas.microsoft.com/office/drawing/2014/main" id="{0563B8E2-0999-47B4-9F79-FA588406F45E}"/>
              </a:ext>
            </a:extLst>
          </p:cNvPr>
          <p:cNvSpPr>
            <a:spLocks noGrp="1"/>
          </p:cNvSpPr>
          <p:nvPr/>
        </p:nvSpPr>
        <p:spPr>
          <a:xfrm>
            <a:off x="914400" y="8172450"/>
            <a:ext cx="12573000" cy="209550"/>
          </a:xfrm>
          <a:prstGeom prst="rect">
            <a:avLst/>
          </a:prstGeom>
          <a:noFill/>
          <a:ln w="0">
            <a:noFill/>
          </a:ln>
        </p:spPr>
        <p:txBody>
          <a:bodyPr wrap="square" lIns="0" tIns="0" rIns="0" bIns="0" anchor="t">
            <a:noAutofit/>
          </a:bodyPr>
          <a:lstStyle>
            <a:defPPr algn="l">
              <a:defRPr sz="1050" b="0">
                <a:solidFill>
                  <a:srgbClr val="62666B"/>
                </a:solidFill>
                <a:latin typeface="Arial"/>
                <a:ea typeface="Arial"/>
                <a:cs typeface="Arial"/>
              </a:defRPr>
            </a:defPPr>
            <a:lvl1pPr algn="l">
              <a:defRPr sz="1050" b="0">
                <a:solidFill>
                  <a:srgbClr val="62666B"/>
                </a:solidFill>
                <a:latin typeface="Arial"/>
                <a:ea typeface="Arial"/>
                <a:cs typeface="Arial"/>
              </a:defRPr>
            </a:lvl1pPr>
            <a:lvl2pPr algn="l">
              <a:defRPr sz="1050" b="0">
                <a:solidFill>
                  <a:srgbClr val="62666B"/>
                </a:solidFill>
                <a:latin typeface="Arial"/>
                <a:ea typeface="Arial"/>
                <a:cs typeface="Arial"/>
              </a:defRPr>
            </a:lvl2pPr>
            <a:lvl3pPr algn="l">
              <a:defRPr sz="1050" b="0">
                <a:solidFill>
                  <a:srgbClr val="62666B"/>
                </a:solidFill>
                <a:latin typeface="Arial"/>
                <a:ea typeface="Arial"/>
                <a:cs typeface="Arial"/>
              </a:defRPr>
            </a:lvl3pPr>
            <a:lvl4pPr algn="l">
              <a:defRPr sz="1050" b="0">
                <a:solidFill>
                  <a:srgbClr val="62666B"/>
                </a:solidFill>
                <a:latin typeface="Arial"/>
                <a:ea typeface="Arial"/>
                <a:cs typeface="Arial"/>
              </a:defRPr>
            </a:lvl4pPr>
            <a:lvl5pPr algn="l">
              <a:defRPr sz="1050" b="0">
                <a:solidFill>
                  <a:srgbClr val="62666B"/>
                </a:solidFill>
                <a:latin typeface="Arial"/>
                <a:ea typeface="Arial"/>
                <a:cs typeface="Arial"/>
              </a:defRPr>
            </a:lvl5pPr>
            <a:lvl6pPr algn="l">
              <a:defRPr sz="1050" b="0">
                <a:solidFill>
                  <a:srgbClr val="62666B"/>
                </a:solidFill>
                <a:latin typeface="Arial"/>
                <a:ea typeface="Arial"/>
                <a:cs typeface="Arial"/>
              </a:defRPr>
            </a:lvl6pPr>
            <a:lvl7pPr algn="l">
              <a:defRPr sz="1050" b="0">
                <a:solidFill>
                  <a:srgbClr val="62666B"/>
                </a:solidFill>
                <a:latin typeface="Arial"/>
                <a:ea typeface="Arial"/>
                <a:cs typeface="Arial"/>
              </a:defRPr>
            </a:lvl7pPr>
            <a:lvl8pPr algn="l">
              <a:defRPr sz="1050" b="0">
                <a:solidFill>
                  <a:srgbClr val="62666B"/>
                </a:solidFill>
                <a:latin typeface="Arial"/>
                <a:ea typeface="Arial"/>
                <a:cs typeface="Arial"/>
              </a:defRPr>
            </a:lvl8pPr>
            <a:lvl9pPr algn="l">
              <a:defRPr sz="1050" b="0">
                <a:solidFill>
                  <a:srgbClr val="62666B"/>
                </a:solidFill>
                <a:latin typeface="Arial"/>
                <a:ea typeface="Arial"/>
                <a:cs typeface="Arial"/>
              </a:defRPr>
            </a:lvl9pPr>
          </a:lstStyle>
          <a:p>
            <a:pPr algn="l">
              <a:defRPr sz="1050" b="0">
                <a:solidFill>
                  <a:srgbClr val="62666B"/>
                </a:solidFill>
                <a:latin typeface="Arial"/>
                <a:ea typeface="Arial"/>
                <a:cs typeface="Arial"/>
              </a:defRPr>
            </a:pPr>
            <a:r>
              <a:rPr sz="1050" b="0">
                <a:solidFill>
                  <a:srgbClr val="62666B"/>
                </a:solidFill>
                <a:latin typeface="Arial"/>
                <a:ea typeface="Arial"/>
                <a:cs typeface="Arial"/>
              </a:rPr>
              <a:t>[4–7]</a:t>
            </a:r>
          </a:p>
        </p:txBody>
      </p:sp>
      <p:graphicFrame>
        <p:nvGraphicFramePr>
          <p:cNvPr id="4" name="表格 3">
            <a:extLst>
              <a:ext uri="{FF2B5EF4-FFF2-40B4-BE49-F238E27FC236}">
                <a16:creationId xmlns:a16="http://schemas.microsoft.com/office/drawing/2014/main" id="{58D1D65B-17FF-4230-A160-D2950B4714D3}"/>
              </a:ext>
            </a:extLst>
          </p:cNvPr>
          <p:cNvGraphicFramePr/>
          <p:nvPr/>
        </p:nvGraphicFramePr>
        <p:xfrm>
          <a:off x="914400" y="1666875"/>
          <a:ext cx="13411200" cy="5524500"/>
        </p:xfrm>
        <a:graphic>
          <a:graphicData uri="http://schemas.openxmlformats.org/drawingml/2006/table">
            <a:tbl>
              <a:tblPr firstRow="1"/>
              <a:tblGrid>
                <a:gridCol w="3619500">
                  <a:extLst>
                    <a:ext uri="{9D8B030D-6E8A-4147-A177-3AD203B41FA5}">
                      <a16:colId xmlns:a16="http://schemas.microsoft.com/office/drawing/2014/main" val="20000"/>
                    </a:ext>
                  </a:extLst>
                </a:gridCol>
                <a:gridCol w="5048250">
                  <a:extLst>
                    <a:ext uri="{9D8B030D-6E8A-4147-A177-3AD203B41FA5}">
                      <a16:colId xmlns:a16="http://schemas.microsoft.com/office/drawing/2014/main" val="20001"/>
                    </a:ext>
                  </a:extLst>
                </a:gridCol>
                <a:gridCol w="4743450">
                  <a:extLst>
                    <a:ext uri="{9D8B030D-6E8A-4147-A177-3AD203B41FA5}">
                      <a16:colId xmlns:a16="http://schemas.microsoft.com/office/drawing/2014/main" val="20002"/>
                    </a:ext>
                  </a:extLst>
                </a:gridCol>
              </a:tblGrid>
              <a:tr h="571500">
                <a:tc>
                  <a:txBody>
                    <a:bodyPr/>
                    <a:lstStyle/>
                    <a:p>
                      <a:pPr algn="l"/>
                      <a:r>
                        <a:rPr sz="1725" b="1">
                          <a:solidFill>
                            <a:srgbClr val="62666B"/>
                          </a:solidFill>
                          <a:latin typeface="Arial"/>
                          <a:ea typeface="Arial"/>
                          <a:cs typeface="Arial"/>
                        </a:rPr>
                        <a:t>Prior work</a:t>
                      </a:r>
                    </a:p>
                  </a:txBody>
                  <a:tcPr anchor="ctr">
                    <a:lnL w="0">
                      <a:solidFill>
                        <a:srgbClr val="FFFFFF"/>
                      </a:solidFill>
                      <a:prstDash val="solid"/>
                    </a:lnL>
                    <a:lnR w="0">
                      <a:solidFill>
                        <a:srgbClr val="FFFFFF"/>
                      </a:solidFill>
                      <a:prstDash val="solid"/>
                    </a:lnR>
                    <a:lnT w="0">
                      <a:solidFill>
                        <a:srgbClr val="FFFFFF"/>
                      </a:solidFill>
                      <a:prstDash val="solid"/>
                    </a:lnT>
                    <a:lnB w="0">
                      <a:solidFill>
                        <a:srgbClr val="FFFFFF"/>
                      </a:solidFill>
                      <a:prstDash val="solid"/>
                    </a:lnB>
                    <a:solidFill>
                      <a:srgbClr val="FFFFFF"/>
                    </a:solidFill>
                  </a:tcPr>
                </a:tc>
                <a:tc>
                  <a:txBody>
                    <a:bodyPr/>
                    <a:lstStyle/>
                    <a:p>
                      <a:pPr algn="l"/>
                      <a:r>
                        <a:rPr sz="1725" b="1">
                          <a:solidFill>
                            <a:srgbClr val="62666B"/>
                          </a:solidFill>
                          <a:latin typeface="Arial"/>
                          <a:ea typeface="Arial"/>
                          <a:cs typeface="Arial"/>
                        </a:rPr>
                        <a:t>Core idea</a:t>
                      </a:r>
                    </a:p>
                  </a:txBody>
                  <a:tcPr anchor="ctr">
                    <a:lnL w="0" cap="flat" cmpd="sng" algn="ctr">
                      <a:solidFill>
                        <a:srgbClr val="FFFFFF"/>
                      </a:solidFill>
                      <a:prstDash val="solid"/>
                      <a:round/>
                      <a:headEnd type="none" w="med" len="med"/>
                      <a:tailEnd type="none" w="med" len="med"/>
                    </a:lnL>
                    <a:lnR w="0">
                      <a:solidFill>
                        <a:srgbClr val="FFFFFF"/>
                      </a:solidFill>
                      <a:prstDash val="solid"/>
                    </a:lnR>
                    <a:lnT w="0">
                      <a:solidFill>
                        <a:srgbClr val="FFFFFF"/>
                      </a:solidFill>
                      <a:prstDash val="solid"/>
                    </a:lnT>
                    <a:lnB w="0">
                      <a:solidFill>
                        <a:srgbClr val="FFFFFF"/>
                      </a:solidFill>
                      <a:prstDash val="solid"/>
                    </a:lnB>
                    <a:solidFill>
                      <a:srgbClr val="FFFFFF"/>
                    </a:solidFill>
                  </a:tcPr>
                </a:tc>
                <a:tc>
                  <a:txBody>
                    <a:bodyPr/>
                    <a:lstStyle/>
                    <a:p>
                      <a:pPr algn="l"/>
                      <a:r>
                        <a:rPr sz="1725" b="1">
                          <a:solidFill>
                            <a:srgbClr val="62666B"/>
                          </a:solidFill>
                          <a:latin typeface="Arial"/>
                          <a:ea typeface="Arial"/>
                          <a:cs typeface="Arial"/>
                        </a:rPr>
                        <a:t>Relation to NR</a:t>
                      </a:r>
                    </a:p>
                  </a:txBody>
                  <a:tcPr anchor="ctr">
                    <a:lnL w="0" cap="flat" cmpd="sng" algn="ctr">
                      <a:solidFill>
                        <a:srgbClr val="FFFFFF"/>
                      </a:solidFill>
                      <a:prstDash val="solid"/>
                      <a:round/>
                      <a:headEnd type="none" w="med" len="med"/>
                      <a:tailEnd type="none" w="med" len="med"/>
                    </a:lnL>
                    <a:lnR w="0">
                      <a:solidFill>
                        <a:srgbClr val="FFFFFF"/>
                      </a:solidFill>
                      <a:prstDash val="solid"/>
                    </a:lnR>
                    <a:lnT w="0">
                      <a:solidFill>
                        <a:srgbClr val="FFFFFF"/>
                      </a:solidFill>
                      <a:prstDash val="solid"/>
                    </a:lnT>
                    <a:lnB w="0">
                      <a:solidFill>
                        <a:srgbClr val="FFFFFF"/>
                      </a:solidFill>
                      <a:prstDash val="solid"/>
                    </a:lnB>
                    <a:solidFill>
                      <a:srgbClr val="FFFFFF"/>
                    </a:solidFill>
                  </a:tcPr>
                </a:tc>
                <a:extLst>
                  <a:ext uri="{0D108BD9-81ED-4DB2-BD59-A6C34878D82A}">
                    <a16:rowId xmlns:a16="http://schemas.microsoft.com/office/drawing/2014/main" val="10000"/>
                  </a:ext>
                </a:extLst>
              </a:tr>
              <a:tr h="1238250">
                <a:tc>
                  <a:txBody>
                    <a:bodyPr/>
                    <a:lstStyle/>
                    <a:p>
                      <a:pPr algn="l"/>
                      <a:r>
                        <a:rPr sz="1725" b="0">
                          <a:solidFill>
                            <a:srgbClr val="202124"/>
                          </a:solidFill>
                          <a:latin typeface="Arial"/>
                          <a:ea typeface="Arial"/>
                          <a:cs typeface="Arial"/>
                        </a:rPr>
                        <a:t>POMDP / belief state</a:t>
                      </a:r>
                    </a:p>
                    <a:p>
                      <a:pPr algn="l"/>
                      <a:r>
                        <a:rPr sz="1725" b="0">
                          <a:solidFill>
                            <a:srgbClr val="202124"/>
                          </a:solidFill>
                          <a:latin typeface="Arial"/>
                          <a:ea typeface="Arial"/>
                          <a:cs typeface="Arial"/>
                        </a:rPr>
                        <a:t>Kaelbling et al., 1998</a:t>
                      </a:r>
                    </a:p>
                  </a:txBody>
                  <a:tcPr anchor="ctr">
                    <a:lnL w="0">
                      <a:solidFill>
                        <a:srgbClr val="FFFFFF"/>
                      </a:solidFill>
                      <a:prstDash val="soli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l"/>
                      <a:r>
                        <a:rPr sz="1725" b="0">
                          <a:solidFill>
                            <a:srgbClr val="202124"/>
                          </a:solidFill>
                          <a:latin typeface="Arial"/>
                          <a:ea typeface="Arial"/>
                          <a:cs typeface="Arial"/>
                        </a:rPr>
                        <a:t>Update state probabilities from</a:t>
                      </a:r>
                    </a:p>
                    <a:p>
                      <a:pPr algn="l"/>
                      <a:r>
                        <a:rPr sz="1725" b="0">
                          <a:solidFill>
                            <a:srgbClr val="202124"/>
                          </a:solidFill>
                          <a:latin typeface="Arial"/>
                          <a:ea typeface="Arial"/>
                          <a:cs typeface="Arial"/>
                        </a:rPr>
                        <a:t>past actions and observations.</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l"/>
                      <a:r>
                        <a:rPr sz="1725" b="0">
                          <a:solidFill>
                            <a:srgbClr val="202124"/>
                          </a:solidFill>
                          <a:latin typeface="Arial"/>
                          <a:ea typeface="Arial"/>
                          <a:cs typeface="Arial"/>
                        </a:rPr>
                        <a:t>Foundation for retaining state</a:t>
                      </a:r>
                    </a:p>
                    <a:p>
                      <a:pPr algn="l"/>
                      <a:r>
                        <a:rPr sz="1725" b="0">
                          <a:solidFill>
                            <a:srgbClr val="202124"/>
                          </a:solidFill>
                          <a:latin typeface="Arial"/>
                          <a:ea typeface="Arial"/>
                          <a:cs typeface="Arial"/>
                        </a:rPr>
                        <a:t>and uncertainty.</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extLst>
                  <a:ext uri="{0D108BD9-81ED-4DB2-BD59-A6C34878D82A}">
                    <a16:rowId xmlns:a16="http://schemas.microsoft.com/office/drawing/2014/main" val="10001"/>
                  </a:ext>
                </a:extLst>
              </a:tr>
              <a:tr h="1238250">
                <a:tc>
                  <a:txBody>
                    <a:bodyPr/>
                    <a:lstStyle/>
                    <a:p>
                      <a:pPr algn="l"/>
                      <a:r>
                        <a:rPr sz="1725" b="0">
                          <a:solidFill>
                            <a:srgbClr val="202124"/>
                          </a:solidFill>
                          <a:latin typeface="Arial"/>
                          <a:ea typeface="Arial"/>
                          <a:cs typeface="Arial"/>
                        </a:rPr>
                        <a:t>PlaNet</a:t>
                      </a:r>
                    </a:p>
                    <a:p>
                      <a:pPr algn="l"/>
                      <a:r>
                        <a:rPr sz="1725" b="0">
                          <a:solidFill>
                            <a:srgbClr val="202124"/>
                          </a:solidFill>
                          <a:latin typeface="Arial"/>
                          <a:ea typeface="Arial"/>
                          <a:cs typeface="Arial"/>
                        </a:rPr>
                        <a:t>Hafner et al., 2019</a:t>
                      </a:r>
                    </a:p>
                  </a:txBody>
                  <a:tcPr anchor="ctr">
                    <a:lnL w="0">
                      <a:solidFill>
                        <a:srgbClr val="FFFFFF"/>
                      </a:solidFill>
                      <a:prstDash val="soli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l"/>
                      <a:r>
                        <a:rPr sz="1725" b="0">
                          <a:solidFill>
                            <a:srgbClr val="202124"/>
                          </a:solidFill>
                          <a:latin typeface="Arial"/>
                          <a:ea typeface="Arial"/>
                          <a:cs typeface="Arial"/>
                        </a:rPr>
                        <a:t>Infer latent state from images and</a:t>
                      </a:r>
                    </a:p>
                    <a:p>
                      <a:pPr algn="l"/>
                      <a:r>
                        <a:rPr sz="1725" b="0">
                          <a:solidFill>
                            <a:srgbClr val="202124"/>
                          </a:solidFill>
                          <a:latin typeface="Arial"/>
                          <a:ea typeface="Arial"/>
                          <a:cs typeface="Arial"/>
                        </a:rPr>
                        <a:t>actions, then predict and plan.</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l">
                        <a:buNone/>
                      </a:pPr>
                      <a:r>
                        <a:rPr sz="1725" b="0">
                          <a:solidFill>
                            <a:srgbClr val="202124"/>
                          </a:solidFill>
                          <a:latin typeface="Arial"/>
                          <a:ea typeface="Arial"/>
                          <a:cs typeface="Arial"/>
                        </a:rPr>
                        <a:t>Separate history-to-state inference</a:t>
                      </a:r>
                    </a:p>
                    <a:p>
                      <a:pPr algn="l">
                        <a:buNone/>
                      </a:pPr>
                      <a:r>
                        <a:rPr sz="1725" b="0">
                          <a:solidFill>
                            <a:srgbClr val="202124"/>
                          </a:solidFill>
                          <a:latin typeface="Arial"/>
                          <a:ea typeface="Arial"/>
                          <a:cs typeface="Arial"/>
                        </a:rPr>
                        <a:t>from action-conditioned prediction.</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extLst>
                  <a:ext uri="{0D108BD9-81ED-4DB2-BD59-A6C34878D82A}">
                    <a16:rowId xmlns:a16="http://schemas.microsoft.com/office/drawing/2014/main" val="10002"/>
                  </a:ext>
                </a:extLst>
              </a:tr>
              <a:tr h="1238250">
                <a:tc>
                  <a:txBody>
                    <a:bodyPr/>
                    <a:lstStyle/>
                    <a:p>
                      <a:pPr algn="l"/>
                      <a:r>
                        <a:rPr sz="1725" b="0">
                          <a:solidFill>
                            <a:srgbClr val="202124"/>
                          </a:solidFill>
                          <a:latin typeface="Arial"/>
                          <a:ea typeface="Arial"/>
                          <a:cs typeface="Arial"/>
                        </a:rPr>
                        <a:t>RMA</a:t>
                      </a:r>
                    </a:p>
                    <a:p>
                      <a:pPr algn="l"/>
                      <a:r>
                        <a:rPr sz="1725" b="0">
                          <a:solidFill>
                            <a:srgbClr val="202124"/>
                          </a:solidFill>
                          <a:latin typeface="Arial"/>
                          <a:ea typeface="Arial"/>
                          <a:cs typeface="Arial"/>
                        </a:rPr>
                        <a:t>Kumar et al., 2021</a:t>
                      </a:r>
                    </a:p>
                  </a:txBody>
                  <a:tcPr anchor="ctr">
                    <a:lnL w="0">
                      <a:solidFill>
                        <a:srgbClr val="FFFFFF"/>
                      </a:solidFill>
                      <a:prstDash val="soli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l"/>
                      <a:r>
                        <a:rPr sz="1725" b="0">
                          <a:solidFill>
                            <a:srgbClr val="202124"/>
                          </a:solidFill>
                          <a:latin typeface="Arial"/>
                          <a:ea typeface="Arial"/>
                          <a:cs typeface="Arial"/>
                        </a:rPr>
                        <a:t>Infer an environment encoding from</a:t>
                      </a:r>
                    </a:p>
                    <a:p>
                      <a:pPr algn="l"/>
                      <a:r>
                        <a:rPr sz="1725" b="0">
                          <a:solidFill>
                            <a:srgbClr val="202124"/>
                          </a:solidFill>
                          <a:latin typeface="Arial"/>
                          <a:ea typeface="Arial"/>
                          <a:cs typeface="Arial"/>
                        </a:rPr>
                        <a:t>recent state and action history.</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l">
                        <a:buNone/>
                      </a:pPr>
                      <a:r>
                        <a:rPr sz="1725" b="0">
                          <a:solidFill>
                            <a:srgbClr val="202124"/>
                          </a:solidFill>
                          <a:latin typeface="Arial"/>
                          <a:ea typeface="Arial"/>
                          <a:cs typeface="Arial"/>
                        </a:rPr>
                        <a:t>Condition a reusable policy on</a:t>
                      </a:r>
                    </a:p>
                    <a:p>
                      <a:pPr algn="l">
                        <a:buNone/>
                      </a:pPr>
                      <a:r>
                        <a:rPr sz="1725" b="0">
                          <a:solidFill>
                            <a:srgbClr val="202124"/>
                          </a:solidFill>
                          <a:latin typeface="Arial"/>
                          <a:ea typeface="Arial"/>
                          <a:cs typeface="Arial"/>
                        </a:rPr>
                        <a:t>an updated environment encoding.</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extLst>
                  <a:ext uri="{0D108BD9-81ED-4DB2-BD59-A6C34878D82A}">
                    <a16:rowId xmlns:a16="http://schemas.microsoft.com/office/drawing/2014/main" val="10003"/>
                  </a:ext>
                </a:extLst>
              </a:tr>
              <a:tr h="1238250">
                <a:tc>
                  <a:txBody>
                    <a:bodyPr/>
                    <a:lstStyle/>
                    <a:p>
                      <a:pPr algn="l"/>
                      <a:r>
                        <a:rPr sz="1725" b="0">
                          <a:solidFill>
                            <a:srgbClr val="202124"/>
                          </a:solidFill>
                          <a:latin typeface="Arial"/>
                          <a:ea typeface="Arial"/>
                          <a:cs typeface="Arial"/>
                        </a:rPr>
                        <a:t>Material internal variables</a:t>
                      </a:r>
                    </a:p>
                    <a:p>
                      <a:pPr algn="l"/>
                      <a:r>
                        <a:rPr sz="1725" b="0">
                          <a:solidFill>
                            <a:srgbClr val="202124"/>
                          </a:solidFill>
                          <a:latin typeface="Arial"/>
                          <a:ea typeface="Arial"/>
                          <a:cs typeface="Arial"/>
                        </a:rPr>
                        <a:t>Rosenkranz et al., 2024</a:t>
                      </a:r>
                    </a:p>
                  </a:txBody>
                  <a:tcPr anchor="ctr">
                    <a:lnL w="0">
                      <a:solidFill>
                        <a:srgbClr val="FFFFFF"/>
                      </a:solidFill>
                      <a:prstDash val="soli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l"/>
                      <a:r>
                        <a:rPr sz="1725" b="0">
                          <a:solidFill>
                            <a:srgbClr val="202124"/>
                          </a:solidFill>
                          <a:latin typeface="Arial"/>
                          <a:ea typeface="Arial"/>
                          <a:cs typeface="Arial"/>
                        </a:rPr>
                        <a:t>Use an auxiliary LSTM in training</a:t>
                      </a:r>
                    </a:p>
                    <a:p>
                      <a:pPr algn="l"/>
                      <a:r>
                        <a:rPr sz="1725" b="0">
                          <a:solidFill>
                            <a:srgbClr val="202124"/>
                          </a:solidFill>
                          <a:latin typeface="Arial"/>
                          <a:ea typeface="Arial"/>
                          <a:cs typeface="Arial"/>
                        </a:rPr>
                        <a:t>a constrained material model.</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l">
                        <a:buNone/>
                      </a:pPr>
                      <a:r>
                        <a:rPr sz="1725" b="0">
                          <a:solidFill>
                            <a:srgbClr val="202124"/>
                          </a:solidFill>
                          <a:latin typeface="Arial"/>
                          <a:ea typeface="Arial"/>
                          <a:cs typeface="Arial"/>
                        </a:rPr>
                        <a:t>Infer material memory from</a:t>
                      </a:r>
                    </a:p>
                    <a:p>
                      <a:pPr algn="l">
                        <a:buNone/>
                      </a:pPr>
                      <a:r>
                        <a:rPr sz="1725" b="0">
                          <a:solidFill>
                            <a:srgbClr val="202124"/>
                          </a:solidFill>
                          <a:latin typeface="Arial"/>
                          <a:ea typeface="Arial"/>
                          <a:cs typeface="Arial"/>
                        </a:rPr>
                        <a:t>observed deformation and stress.</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5" name="position">
            <a:extLst>
              <a:ext uri="{FF2B5EF4-FFF2-40B4-BE49-F238E27FC236}">
                <a16:creationId xmlns:a16="http://schemas.microsoft.com/office/drawing/2014/main" id="{8FD9DB63-B49C-4018-ABA6-D664A5AC0215}"/>
              </a:ext>
            </a:extLst>
          </p:cNvPr>
          <p:cNvSpPr>
            <a:spLocks noGrp="1"/>
          </p:cNvSpPr>
          <p:nvPr/>
        </p:nvSpPr>
        <p:spPr>
          <a:xfrm>
            <a:off x="914400" y="7753350"/>
            <a:ext cx="13411200" cy="381000"/>
          </a:xfrm>
          <a:prstGeom prst="rect">
            <a:avLst/>
          </a:prstGeom>
          <a:noFill/>
          <a:ln w="0">
            <a:noFill/>
          </a:ln>
        </p:spPr>
        <p:txBody>
          <a:bodyPr wrap="square" lIns="0" tIns="0" rIns="0" bIns="0" anchor="t">
            <a:noAutofit/>
          </a:bodyPr>
          <a:lstStyle>
            <a:defPPr algn="l">
              <a:defRPr sz="1800" b="0">
                <a:solidFill>
                  <a:srgbClr val="202124"/>
                </a:solidFill>
                <a:latin typeface="Arial"/>
                <a:ea typeface="Arial"/>
                <a:cs typeface="Arial"/>
              </a:defRPr>
            </a:defPPr>
            <a:lvl1pPr algn="l">
              <a:buNone/>
              <a:defRPr sz="1800" b="0">
                <a:solidFill>
                  <a:srgbClr val="202124"/>
                </a:solidFill>
                <a:latin typeface="Arial"/>
                <a:ea typeface="Arial"/>
                <a:cs typeface="Arial"/>
              </a:defRPr>
            </a:lvl1pPr>
            <a:lvl2pPr algn="l">
              <a:buNone/>
              <a:defRPr sz="1800" b="0">
                <a:solidFill>
                  <a:srgbClr val="202124"/>
                </a:solidFill>
                <a:latin typeface="Arial"/>
                <a:ea typeface="Arial"/>
                <a:cs typeface="Arial"/>
              </a:defRPr>
            </a:lvl2pPr>
            <a:lvl3pPr algn="l">
              <a:buNone/>
              <a:defRPr sz="1800" b="0">
                <a:solidFill>
                  <a:srgbClr val="202124"/>
                </a:solidFill>
                <a:latin typeface="Arial"/>
                <a:ea typeface="Arial"/>
                <a:cs typeface="Arial"/>
              </a:defRPr>
            </a:lvl3pPr>
            <a:lvl4pPr algn="l">
              <a:buNone/>
              <a:defRPr sz="1800" b="0">
                <a:solidFill>
                  <a:srgbClr val="202124"/>
                </a:solidFill>
                <a:latin typeface="Arial"/>
                <a:ea typeface="Arial"/>
                <a:cs typeface="Arial"/>
              </a:defRPr>
            </a:lvl4pPr>
            <a:lvl5pPr algn="l">
              <a:buNone/>
              <a:defRPr sz="1800" b="0">
                <a:solidFill>
                  <a:srgbClr val="202124"/>
                </a:solidFill>
                <a:latin typeface="Arial"/>
                <a:ea typeface="Arial"/>
                <a:cs typeface="Arial"/>
              </a:defRPr>
            </a:lvl5pPr>
            <a:lvl6pPr algn="l">
              <a:buNone/>
              <a:defRPr sz="1800" b="0">
                <a:solidFill>
                  <a:srgbClr val="202124"/>
                </a:solidFill>
                <a:latin typeface="Arial"/>
                <a:ea typeface="Arial"/>
                <a:cs typeface="Arial"/>
              </a:defRPr>
            </a:lvl6pPr>
            <a:lvl7pPr algn="l">
              <a:buNone/>
              <a:defRPr sz="1800" b="0">
                <a:solidFill>
                  <a:srgbClr val="202124"/>
                </a:solidFill>
                <a:latin typeface="Arial"/>
                <a:ea typeface="Arial"/>
                <a:cs typeface="Arial"/>
              </a:defRPr>
            </a:lvl7pPr>
            <a:lvl8pPr algn="l">
              <a:buNone/>
              <a:defRPr sz="1800" b="0">
                <a:solidFill>
                  <a:srgbClr val="202124"/>
                </a:solidFill>
                <a:latin typeface="Arial"/>
                <a:ea typeface="Arial"/>
                <a:cs typeface="Arial"/>
              </a:defRPr>
            </a:lvl8pPr>
            <a:lvl9pPr algn="l">
              <a:buNone/>
              <a:defRPr sz="1800" b="0">
                <a:solidFill>
                  <a:srgbClr val="202124"/>
                </a:solidFill>
                <a:latin typeface="Arial"/>
                <a:ea typeface="Arial"/>
                <a:cs typeface="Arial"/>
              </a:defRPr>
            </a:lvl9pPr>
          </a:lstStyle>
          <a:p>
            <a:pPr algn="l">
              <a:buNone/>
              <a:defRPr sz="1800" b="0">
                <a:solidFill>
                  <a:srgbClr val="202124"/>
                </a:solidFill>
                <a:latin typeface="Arial"/>
                <a:ea typeface="Arial"/>
                <a:cs typeface="Arial"/>
              </a:defRPr>
            </a:pPr>
            <a:r>
              <a:rPr sz="1800" b="0">
                <a:solidFill>
                  <a:srgbClr val="202124"/>
                </a:solidFill>
                <a:latin typeface="Arial"/>
                <a:ea typeface="Arial"/>
                <a:cs typeface="Arial"/>
              </a:rPr>
              <a:t>Design choice: infer a compact material state, then evolve it under the next action.</a:t>
            </a:r>
          </a:p>
        </p:txBody>
      </p:sp>
    </p:spTree>
    <p:extLst>
      <p:ext uri="{BB962C8B-B14F-4D97-AF65-F5344CB8AC3E}">
        <p14:creationId xmlns:p14="http://schemas.microsoft.com/office/powerpoint/2010/main" val="541164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cientific-question">
            <a:extLst>
              <a:ext uri="{FF2B5EF4-FFF2-40B4-BE49-F238E27FC236}">
                <a16:creationId xmlns:a16="http://schemas.microsoft.com/office/drawing/2014/main" id="{69E26CFC-FF38-428E-9A2E-7B530C933214}"/>
              </a:ext>
            </a:extLst>
          </p:cNvPr>
          <p:cNvSpPr>
            <a:spLocks noGrp="1"/>
          </p:cNvSpPr>
          <p:nvPr/>
        </p:nvSpPr>
        <p:spPr>
          <a:xfrm>
            <a:off x="914400" y="552450"/>
            <a:ext cx="13411200" cy="533400"/>
          </a:xfrm>
          <a:prstGeom prst="rect">
            <a:avLst/>
          </a:prstGeom>
          <a:noFill/>
          <a:ln w="0">
            <a:noFill/>
          </a:ln>
        </p:spPr>
        <p:txBody>
          <a:bodyPr wrap="square" lIns="0" tIns="0" rIns="0" bIns="0" anchor="t">
            <a:noAutofit/>
          </a:bodyPr>
          <a:lstStyle>
            <a:defPPr algn="l">
              <a:defRPr sz="2400" b="1">
                <a:solidFill>
                  <a:srgbClr val="202124"/>
                </a:solidFill>
                <a:latin typeface="Arial"/>
                <a:ea typeface="Arial"/>
                <a:cs typeface="Arial"/>
              </a:defRPr>
            </a:defPPr>
            <a:lvl1pPr algn="l">
              <a:buNone/>
              <a:defRPr sz="2400" b="1">
                <a:solidFill>
                  <a:srgbClr val="202124"/>
                </a:solidFill>
                <a:latin typeface="Arial"/>
                <a:ea typeface="Arial"/>
                <a:cs typeface="Arial"/>
              </a:defRPr>
            </a:lvl1pPr>
            <a:lvl2pPr algn="l">
              <a:buNone/>
              <a:defRPr sz="2400" b="1">
                <a:solidFill>
                  <a:srgbClr val="202124"/>
                </a:solidFill>
                <a:latin typeface="Arial"/>
                <a:ea typeface="Arial"/>
                <a:cs typeface="Arial"/>
              </a:defRPr>
            </a:lvl2pPr>
            <a:lvl3pPr algn="l">
              <a:buNone/>
              <a:defRPr sz="2400" b="1">
                <a:solidFill>
                  <a:srgbClr val="202124"/>
                </a:solidFill>
                <a:latin typeface="Arial"/>
                <a:ea typeface="Arial"/>
                <a:cs typeface="Arial"/>
              </a:defRPr>
            </a:lvl3pPr>
            <a:lvl4pPr algn="l">
              <a:buNone/>
              <a:defRPr sz="2400" b="1">
                <a:solidFill>
                  <a:srgbClr val="202124"/>
                </a:solidFill>
                <a:latin typeface="Arial"/>
                <a:ea typeface="Arial"/>
                <a:cs typeface="Arial"/>
              </a:defRPr>
            </a:lvl4pPr>
            <a:lvl5pPr algn="l">
              <a:buNone/>
              <a:defRPr sz="2400" b="1">
                <a:solidFill>
                  <a:srgbClr val="202124"/>
                </a:solidFill>
                <a:latin typeface="Arial"/>
                <a:ea typeface="Arial"/>
                <a:cs typeface="Arial"/>
              </a:defRPr>
            </a:lvl5pPr>
            <a:lvl6pPr algn="l">
              <a:buNone/>
              <a:defRPr sz="2400" b="1">
                <a:solidFill>
                  <a:srgbClr val="202124"/>
                </a:solidFill>
                <a:latin typeface="Arial"/>
                <a:ea typeface="Arial"/>
                <a:cs typeface="Arial"/>
              </a:defRPr>
            </a:lvl6pPr>
            <a:lvl7pPr algn="l">
              <a:buNone/>
              <a:defRPr sz="2400" b="1">
                <a:solidFill>
                  <a:srgbClr val="202124"/>
                </a:solidFill>
                <a:latin typeface="Arial"/>
                <a:ea typeface="Arial"/>
                <a:cs typeface="Arial"/>
              </a:defRPr>
            </a:lvl7pPr>
            <a:lvl8pPr algn="l">
              <a:buNone/>
              <a:defRPr sz="2400" b="1">
                <a:solidFill>
                  <a:srgbClr val="202124"/>
                </a:solidFill>
                <a:latin typeface="Arial"/>
                <a:ea typeface="Arial"/>
                <a:cs typeface="Arial"/>
              </a:defRPr>
            </a:lvl8pPr>
            <a:lvl9pPr algn="l">
              <a:buNone/>
              <a:defRPr sz="2400" b="1">
                <a:solidFill>
                  <a:srgbClr val="202124"/>
                </a:solidFill>
                <a:latin typeface="Arial"/>
                <a:ea typeface="Arial"/>
                <a:cs typeface="Arial"/>
              </a:defRPr>
            </a:lvl9pPr>
          </a:lstStyle>
          <a:p>
            <a:pPr algn="l">
              <a:buNone/>
              <a:defRPr sz="2400" b="1">
                <a:solidFill>
                  <a:srgbClr val="202124"/>
                </a:solidFill>
                <a:latin typeface="Arial"/>
                <a:ea typeface="Arial"/>
                <a:cs typeface="Arial"/>
              </a:defRPr>
            </a:pPr>
            <a:r>
              <a:rPr sz="2400" b="1">
                <a:solidFill>
                  <a:srgbClr val="202124"/>
                </a:solidFill>
                <a:latin typeface="Arial"/>
                <a:ea typeface="Arial"/>
                <a:cs typeface="Arial"/>
              </a:rPr>
              <a:t>Material memory hidden by the current force</a:t>
            </a:r>
          </a:p>
        </p:txBody>
      </p:sp>
      <p:sp>
        <p:nvSpPr>
          <p:cNvPr id="2" name="page">
            <a:extLst>
              <a:ext uri="{FF2B5EF4-FFF2-40B4-BE49-F238E27FC236}">
                <a16:creationId xmlns:a16="http://schemas.microsoft.com/office/drawing/2014/main" id="{DFA82C89-CBB8-4AC3-A0C6-F79CBB500825}"/>
              </a:ext>
            </a:extLst>
          </p:cNvPr>
          <p:cNvSpPr>
            <a:spLocks noGrp="1"/>
          </p:cNvSpPr>
          <p:nvPr/>
        </p:nvSpPr>
        <p:spPr>
          <a:xfrm>
            <a:off x="13906500" y="8153400"/>
            <a:ext cx="419100" cy="238125"/>
          </a:xfrm>
          <a:prstGeom prst="rect">
            <a:avLst/>
          </a:prstGeom>
          <a:noFill/>
          <a:ln w="0">
            <a:noFill/>
          </a:ln>
        </p:spPr>
        <p:txBody>
          <a:bodyPr wrap="square" lIns="0" tIns="0" rIns="0" bIns="0" anchor="t">
            <a:noAutofit/>
          </a:bodyPr>
          <a:lstStyle>
            <a:defPPr algn="r">
              <a:defRPr sz="1050" b="0">
                <a:solidFill>
                  <a:srgbClr val="62666B"/>
                </a:solidFill>
                <a:latin typeface="Arial"/>
                <a:ea typeface="Arial"/>
                <a:cs typeface="Arial"/>
              </a:defRPr>
            </a:defPPr>
            <a:lvl1pPr algn="r">
              <a:defRPr sz="1050" b="0">
                <a:solidFill>
                  <a:srgbClr val="62666B"/>
                </a:solidFill>
                <a:latin typeface="Arial"/>
                <a:ea typeface="Arial"/>
                <a:cs typeface="Arial"/>
              </a:defRPr>
            </a:lvl1pPr>
            <a:lvl2pPr algn="r">
              <a:defRPr sz="1050" b="0">
                <a:solidFill>
                  <a:srgbClr val="62666B"/>
                </a:solidFill>
                <a:latin typeface="Arial"/>
                <a:ea typeface="Arial"/>
                <a:cs typeface="Arial"/>
              </a:defRPr>
            </a:lvl2pPr>
            <a:lvl3pPr algn="r">
              <a:defRPr sz="1050" b="0">
                <a:solidFill>
                  <a:srgbClr val="62666B"/>
                </a:solidFill>
                <a:latin typeface="Arial"/>
                <a:ea typeface="Arial"/>
                <a:cs typeface="Arial"/>
              </a:defRPr>
            </a:lvl3pPr>
            <a:lvl4pPr algn="r">
              <a:defRPr sz="1050" b="0">
                <a:solidFill>
                  <a:srgbClr val="62666B"/>
                </a:solidFill>
                <a:latin typeface="Arial"/>
                <a:ea typeface="Arial"/>
                <a:cs typeface="Arial"/>
              </a:defRPr>
            </a:lvl4pPr>
            <a:lvl5pPr algn="r">
              <a:defRPr sz="1050" b="0">
                <a:solidFill>
                  <a:srgbClr val="62666B"/>
                </a:solidFill>
                <a:latin typeface="Arial"/>
                <a:ea typeface="Arial"/>
                <a:cs typeface="Arial"/>
              </a:defRPr>
            </a:lvl5pPr>
            <a:lvl6pPr algn="r">
              <a:defRPr sz="1050" b="0">
                <a:solidFill>
                  <a:srgbClr val="62666B"/>
                </a:solidFill>
                <a:latin typeface="Arial"/>
                <a:ea typeface="Arial"/>
                <a:cs typeface="Arial"/>
              </a:defRPr>
            </a:lvl6pPr>
            <a:lvl7pPr algn="r">
              <a:defRPr sz="1050" b="0">
                <a:solidFill>
                  <a:srgbClr val="62666B"/>
                </a:solidFill>
                <a:latin typeface="Arial"/>
                <a:ea typeface="Arial"/>
                <a:cs typeface="Arial"/>
              </a:defRPr>
            </a:lvl7pPr>
            <a:lvl8pPr algn="r">
              <a:defRPr sz="1050" b="0">
                <a:solidFill>
                  <a:srgbClr val="62666B"/>
                </a:solidFill>
                <a:latin typeface="Arial"/>
                <a:ea typeface="Arial"/>
                <a:cs typeface="Arial"/>
              </a:defRPr>
            </a:lvl8pPr>
            <a:lvl9pPr algn="r">
              <a:defRPr sz="1050" b="0">
                <a:solidFill>
                  <a:srgbClr val="62666B"/>
                </a:solidFill>
                <a:latin typeface="Arial"/>
                <a:ea typeface="Arial"/>
                <a:cs typeface="Arial"/>
              </a:defRPr>
            </a:lvl9pPr>
          </a:lstStyle>
          <a:p>
            <a:pPr algn="r">
              <a:defRPr sz="1050" b="0">
                <a:solidFill>
                  <a:srgbClr val="62666B"/>
                </a:solidFill>
                <a:latin typeface="Arial"/>
                <a:ea typeface="Arial"/>
                <a:cs typeface="Arial"/>
              </a:defRPr>
            </a:pPr>
            <a:r>
              <a:rPr lang="en-US" altLang="zh-CN" sz="1050" b="0">
                <a:solidFill>
                  <a:srgbClr val="62666B"/>
                </a:solidFill>
                <a:latin typeface="Arial"/>
                <a:ea typeface="Arial"/>
                <a:cs typeface="Arial"/>
              </a:rPr>
              <a:t>07</a:t>
            </a:r>
            <a:endParaRPr sz="1050" b="0">
              <a:solidFill>
                <a:srgbClr val="62666B"/>
              </a:solidFill>
              <a:latin typeface="Arial"/>
              <a:ea typeface="Arial"/>
              <a:cs typeface="Arial"/>
            </a:endParaRPr>
          </a:p>
        </p:txBody>
      </p:sp>
      <p:sp>
        <p:nvSpPr>
          <p:cNvPr id="3" name="interpretation">
            <a:extLst>
              <a:ext uri="{FF2B5EF4-FFF2-40B4-BE49-F238E27FC236}">
                <a16:creationId xmlns:a16="http://schemas.microsoft.com/office/drawing/2014/main" id="{435AC64E-B4AB-4451-80A3-2D1D13F3B3AB}"/>
              </a:ext>
            </a:extLst>
          </p:cNvPr>
          <p:cNvSpPr>
            <a:spLocks noGrp="1"/>
          </p:cNvSpPr>
          <p:nvPr/>
        </p:nvSpPr>
        <p:spPr>
          <a:xfrm>
            <a:off x="11334750" y="2952750"/>
            <a:ext cx="2952750" cy="4286250"/>
          </a:xfrm>
          <a:prstGeom prst="rect">
            <a:avLst/>
          </a:prstGeom>
          <a:noFill/>
          <a:ln w="0">
            <a:noFill/>
          </a:ln>
        </p:spPr>
        <p:txBody>
          <a:bodyPr wrap="square" lIns="0" tIns="0" rIns="0" bIns="0" anchor="t">
            <a:noAutofit/>
          </a:bodyPr>
          <a:lstStyle>
            <a:defPPr algn="l">
              <a:defRPr sz="1800" b="0">
                <a:solidFill>
                  <a:srgbClr val="202124"/>
                </a:solidFill>
                <a:latin typeface="Arial"/>
                <a:ea typeface="Arial"/>
                <a:cs typeface="Arial"/>
              </a:defRPr>
            </a:defPPr>
            <a:lvl1pPr algn="l">
              <a:buNone/>
              <a:defRPr sz="1800" b="0">
                <a:solidFill>
                  <a:srgbClr val="202124"/>
                </a:solidFill>
                <a:latin typeface="Arial"/>
                <a:ea typeface="Arial"/>
                <a:cs typeface="Arial"/>
              </a:defRPr>
            </a:lvl1pPr>
            <a:lvl2pPr algn="l">
              <a:buNone/>
              <a:defRPr sz="1800" b="0">
                <a:solidFill>
                  <a:srgbClr val="202124"/>
                </a:solidFill>
                <a:latin typeface="Arial"/>
                <a:ea typeface="Arial"/>
                <a:cs typeface="Arial"/>
              </a:defRPr>
            </a:lvl2pPr>
            <a:lvl3pPr algn="l">
              <a:buNone/>
              <a:defRPr sz="1800" b="0">
                <a:solidFill>
                  <a:srgbClr val="202124"/>
                </a:solidFill>
                <a:latin typeface="Arial"/>
                <a:ea typeface="Arial"/>
                <a:cs typeface="Arial"/>
              </a:defRPr>
            </a:lvl3pPr>
            <a:lvl4pPr algn="l">
              <a:buNone/>
              <a:defRPr sz="1800" b="0">
                <a:solidFill>
                  <a:srgbClr val="202124"/>
                </a:solidFill>
                <a:latin typeface="Arial"/>
                <a:ea typeface="Arial"/>
                <a:cs typeface="Arial"/>
              </a:defRPr>
            </a:lvl4pPr>
            <a:lvl5pPr algn="l">
              <a:buNone/>
              <a:defRPr sz="1800" b="0">
                <a:solidFill>
                  <a:srgbClr val="202124"/>
                </a:solidFill>
                <a:latin typeface="Arial"/>
                <a:ea typeface="Arial"/>
                <a:cs typeface="Arial"/>
              </a:defRPr>
            </a:lvl5pPr>
            <a:lvl6pPr algn="l">
              <a:buNone/>
              <a:defRPr sz="1800" b="0">
                <a:solidFill>
                  <a:srgbClr val="202124"/>
                </a:solidFill>
                <a:latin typeface="Arial"/>
                <a:ea typeface="Arial"/>
                <a:cs typeface="Arial"/>
              </a:defRPr>
            </a:lvl6pPr>
            <a:lvl7pPr algn="l">
              <a:buNone/>
              <a:defRPr sz="1800" b="0">
                <a:solidFill>
                  <a:srgbClr val="202124"/>
                </a:solidFill>
                <a:latin typeface="Arial"/>
                <a:ea typeface="Arial"/>
                <a:cs typeface="Arial"/>
              </a:defRPr>
            </a:lvl7pPr>
            <a:lvl8pPr algn="l">
              <a:buNone/>
              <a:defRPr sz="1800" b="0">
                <a:solidFill>
                  <a:srgbClr val="202124"/>
                </a:solidFill>
                <a:latin typeface="Arial"/>
                <a:ea typeface="Arial"/>
                <a:cs typeface="Arial"/>
              </a:defRPr>
            </a:lvl8pPr>
            <a:lvl9pPr algn="l">
              <a:buNone/>
              <a:defRPr sz="1800" b="0">
                <a:solidFill>
                  <a:srgbClr val="202124"/>
                </a:solidFill>
                <a:latin typeface="Arial"/>
                <a:ea typeface="Arial"/>
                <a:cs typeface="Arial"/>
              </a:defRPr>
            </a:lvl9pPr>
          </a:lstStyle>
          <a:p>
            <a:pPr algn="l">
              <a:spcAft>
                <a:spcPts val="28"/>
              </a:spcAft>
              <a:buNone/>
              <a:defRPr sz="1800" b="0">
                <a:solidFill>
                  <a:srgbClr val="202124"/>
                </a:solidFill>
                <a:latin typeface="Arial"/>
                <a:ea typeface="Arial"/>
                <a:cs typeface="Arial"/>
              </a:defRPr>
            </a:pPr>
            <a:r>
              <a:rPr sz="1875" b="1">
                <a:solidFill>
                  <a:srgbClr val="202124"/>
                </a:solidFill>
                <a:latin typeface="Arial"/>
                <a:ea typeface="Arial"/>
                <a:cs typeface="Arial"/>
              </a:rPr>
              <a:t>Fast and slow modes can give the same force now, then evolve differently.</a:t>
            </a:r>
          </a:p>
          <a:p>
            <a:pPr algn="l">
              <a:buNone/>
              <a:defRPr sz="1800" b="0">
                <a:solidFill>
                  <a:srgbClr val="202124"/>
                </a:solidFill>
                <a:latin typeface="Arial"/>
                <a:ea typeface="Arial"/>
                <a:cs typeface="Arial"/>
              </a:defRPr>
            </a:pPr>
            <a:r>
              <a:rPr sz="1650">
                <a:solidFill>
                  <a:srgbClr val="62666B"/>
                </a:solidFill>
                <a:latin typeface="Arial"/>
                <a:ea typeface="Arial"/>
                <a:cs typeface="Arial"/>
              </a:rPr>
              <a:t>History estimates their allocation to predict the next contact.</a:t>
            </a:r>
          </a:p>
        </p:txBody>
      </p:sp>
      <p:pic>
        <p:nvPicPr>
          <p:cNvPr id="1003" name="图片 1002" descr="Same test pair: true difference, history prediction, and current-only prediction. True difference is the black dashed line with circles.">
            <a:extLst>
              <a:ext uri="{FF2B5EF4-FFF2-40B4-BE49-F238E27FC236}">
                <a16:creationId xmlns:a16="http://schemas.microsoft.com/office/drawing/2014/main" id="{C80C57F9-8307-433E-88DE-707BE3BAE938}"/>
              </a:ext>
            </a:extLst>
          </p:cNvPr>
          <p:cNvPicPr>
            <a:picLocks noChangeAspect="1"/>
          </p:cNvPicPr>
          <p:nvPr/>
        </p:nvPicPr>
        <p:blipFill>
          <a:blip r:embed="rId3"/>
          <a:stretch/>
        </p:blipFill>
        <p:spPr>
          <a:xfrm>
            <a:off x="1220986" y="1352550"/>
            <a:ext cx="9102328" cy="6619875"/>
          </a:xfrm>
          <a:prstGeom prst="rect">
            <a:avLst/>
          </a:prstGeom>
        </p:spPr>
      </p:pic>
    </p:spTree>
    <p:extLst>
      <p:ext uri="{BB962C8B-B14F-4D97-AF65-F5344CB8AC3E}">
        <p14:creationId xmlns:p14="http://schemas.microsoft.com/office/powerpoint/2010/main" val="925070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29670547-F082-4380-A2DF-4D0CEFFA785F}"/>
              </a:ext>
            </a:extLst>
          </p:cNvPr>
          <p:cNvSpPr>
            <a:spLocks noGrp="1"/>
          </p:cNvSpPr>
          <p:nvPr/>
        </p:nvSpPr>
        <p:spPr>
          <a:xfrm>
            <a:off x="914400" y="552450"/>
            <a:ext cx="13411200" cy="533400"/>
          </a:xfrm>
          <a:prstGeom prst="rect">
            <a:avLst/>
          </a:prstGeom>
          <a:noFill/>
          <a:ln w="0">
            <a:noFill/>
          </a:ln>
        </p:spPr>
        <p:txBody>
          <a:bodyPr wrap="square" lIns="0" tIns="0" rIns="0" bIns="0" anchor="t">
            <a:noAutofit/>
          </a:bodyPr>
          <a:lstStyle>
            <a:defPPr algn="l">
              <a:defRPr sz="2400" b="1">
                <a:solidFill>
                  <a:srgbClr val="202124"/>
                </a:solidFill>
                <a:latin typeface="Arial"/>
                <a:ea typeface="Arial"/>
                <a:cs typeface="Arial"/>
              </a:defRPr>
            </a:defPPr>
            <a:lvl1pPr algn="l">
              <a:defRPr sz="2400" b="1">
                <a:solidFill>
                  <a:srgbClr val="202124"/>
                </a:solidFill>
                <a:latin typeface="Arial"/>
                <a:ea typeface="Arial"/>
                <a:cs typeface="Arial"/>
              </a:defRPr>
            </a:lvl1pPr>
            <a:lvl2pPr algn="l">
              <a:defRPr sz="2400" b="1">
                <a:solidFill>
                  <a:srgbClr val="202124"/>
                </a:solidFill>
                <a:latin typeface="Arial"/>
                <a:ea typeface="Arial"/>
                <a:cs typeface="Arial"/>
              </a:defRPr>
            </a:lvl2pPr>
            <a:lvl3pPr algn="l">
              <a:defRPr sz="2400" b="1">
                <a:solidFill>
                  <a:srgbClr val="202124"/>
                </a:solidFill>
                <a:latin typeface="Arial"/>
                <a:ea typeface="Arial"/>
                <a:cs typeface="Arial"/>
              </a:defRPr>
            </a:lvl3pPr>
            <a:lvl4pPr algn="l">
              <a:defRPr sz="2400" b="1">
                <a:solidFill>
                  <a:srgbClr val="202124"/>
                </a:solidFill>
                <a:latin typeface="Arial"/>
                <a:ea typeface="Arial"/>
                <a:cs typeface="Arial"/>
              </a:defRPr>
            </a:lvl4pPr>
            <a:lvl5pPr algn="l">
              <a:defRPr sz="2400" b="1">
                <a:solidFill>
                  <a:srgbClr val="202124"/>
                </a:solidFill>
                <a:latin typeface="Arial"/>
                <a:ea typeface="Arial"/>
                <a:cs typeface="Arial"/>
              </a:defRPr>
            </a:lvl5pPr>
            <a:lvl6pPr algn="l">
              <a:defRPr sz="2400" b="1">
                <a:solidFill>
                  <a:srgbClr val="202124"/>
                </a:solidFill>
                <a:latin typeface="Arial"/>
                <a:ea typeface="Arial"/>
                <a:cs typeface="Arial"/>
              </a:defRPr>
            </a:lvl6pPr>
            <a:lvl7pPr algn="l">
              <a:defRPr sz="2400" b="1">
                <a:solidFill>
                  <a:srgbClr val="202124"/>
                </a:solidFill>
                <a:latin typeface="Arial"/>
                <a:ea typeface="Arial"/>
                <a:cs typeface="Arial"/>
              </a:defRPr>
            </a:lvl7pPr>
            <a:lvl8pPr algn="l">
              <a:defRPr sz="2400" b="1">
                <a:solidFill>
                  <a:srgbClr val="202124"/>
                </a:solidFill>
                <a:latin typeface="Arial"/>
                <a:ea typeface="Arial"/>
                <a:cs typeface="Arial"/>
              </a:defRPr>
            </a:lvl8pPr>
            <a:lvl9pPr algn="l">
              <a:defRPr sz="2400" b="1">
                <a:solidFill>
                  <a:srgbClr val="202124"/>
                </a:solidFill>
                <a:latin typeface="Arial"/>
                <a:ea typeface="Arial"/>
                <a:cs typeface="Arial"/>
              </a:defRPr>
            </a:lvl9pPr>
          </a:lstStyle>
          <a:p>
            <a:pPr algn="l">
              <a:defRPr sz="2400" b="1">
                <a:solidFill>
                  <a:srgbClr val="202124"/>
                </a:solidFill>
                <a:latin typeface="Arial"/>
                <a:ea typeface="Arial"/>
                <a:cs typeface="Arial"/>
              </a:defRPr>
            </a:pPr>
            <a:r>
              <a:rPr sz="2400" b="1">
                <a:solidFill>
                  <a:srgbClr val="202124"/>
                </a:solidFill>
                <a:latin typeface="Arial"/>
                <a:ea typeface="Arial"/>
                <a:cs typeface="Arial"/>
              </a:rPr>
              <a:t>How the history model is trained</a:t>
            </a:r>
          </a:p>
        </p:txBody>
      </p:sp>
      <p:sp>
        <p:nvSpPr>
          <p:cNvPr id="3" name="page">
            <a:extLst>
              <a:ext uri="{FF2B5EF4-FFF2-40B4-BE49-F238E27FC236}">
                <a16:creationId xmlns:a16="http://schemas.microsoft.com/office/drawing/2014/main" id="{B7FD3415-A676-4946-8480-FD845879E53A}"/>
              </a:ext>
            </a:extLst>
          </p:cNvPr>
          <p:cNvSpPr>
            <a:spLocks noGrp="1"/>
          </p:cNvSpPr>
          <p:nvPr/>
        </p:nvSpPr>
        <p:spPr>
          <a:xfrm>
            <a:off x="13906500" y="8153400"/>
            <a:ext cx="419100" cy="238125"/>
          </a:xfrm>
          <a:prstGeom prst="rect">
            <a:avLst/>
          </a:prstGeom>
          <a:noFill/>
          <a:ln w="0">
            <a:noFill/>
          </a:ln>
        </p:spPr>
        <p:txBody>
          <a:bodyPr wrap="square" lIns="0" tIns="0" rIns="0" bIns="0" anchor="t">
            <a:noAutofit/>
          </a:bodyPr>
          <a:lstStyle>
            <a:defPPr algn="r">
              <a:defRPr sz="1050" b="0">
                <a:solidFill>
                  <a:srgbClr val="62666B"/>
                </a:solidFill>
                <a:latin typeface="Arial"/>
                <a:ea typeface="Arial"/>
                <a:cs typeface="Arial"/>
              </a:defRPr>
            </a:defPPr>
            <a:lvl1pPr algn="r">
              <a:defRPr sz="1050" b="0">
                <a:solidFill>
                  <a:srgbClr val="62666B"/>
                </a:solidFill>
                <a:latin typeface="Arial"/>
                <a:ea typeface="Arial"/>
                <a:cs typeface="Arial"/>
              </a:defRPr>
            </a:lvl1pPr>
            <a:lvl2pPr algn="r">
              <a:defRPr sz="1050" b="0">
                <a:solidFill>
                  <a:srgbClr val="62666B"/>
                </a:solidFill>
                <a:latin typeface="Arial"/>
                <a:ea typeface="Arial"/>
                <a:cs typeface="Arial"/>
              </a:defRPr>
            </a:lvl2pPr>
            <a:lvl3pPr algn="r">
              <a:defRPr sz="1050" b="0">
                <a:solidFill>
                  <a:srgbClr val="62666B"/>
                </a:solidFill>
                <a:latin typeface="Arial"/>
                <a:ea typeface="Arial"/>
                <a:cs typeface="Arial"/>
              </a:defRPr>
            </a:lvl3pPr>
            <a:lvl4pPr algn="r">
              <a:defRPr sz="1050" b="0">
                <a:solidFill>
                  <a:srgbClr val="62666B"/>
                </a:solidFill>
                <a:latin typeface="Arial"/>
                <a:ea typeface="Arial"/>
                <a:cs typeface="Arial"/>
              </a:defRPr>
            </a:lvl4pPr>
            <a:lvl5pPr algn="r">
              <a:defRPr sz="1050" b="0">
                <a:solidFill>
                  <a:srgbClr val="62666B"/>
                </a:solidFill>
                <a:latin typeface="Arial"/>
                <a:ea typeface="Arial"/>
                <a:cs typeface="Arial"/>
              </a:defRPr>
            </a:lvl5pPr>
            <a:lvl6pPr algn="r">
              <a:defRPr sz="1050" b="0">
                <a:solidFill>
                  <a:srgbClr val="62666B"/>
                </a:solidFill>
                <a:latin typeface="Arial"/>
                <a:ea typeface="Arial"/>
                <a:cs typeface="Arial"/>
              </a:defRPr>
            </a:lvl6pPr>
            <a:lvl7pPr algn="r">
              <a:defRPr sz="1050" b="0">
                <a:solidFill>
                  <a:srgbClr val="62666B"/>
                </a:solidFill>
                <a:latin typeface="Arial"/>
                <a:ea typeface="Arial"/>
                <a:cs typeface="Arial"/>
              </a:defRPr>
            </a:lvl7pPr>
            <a:lvl8pPr algn="r">
              <a:defRPr sz="1050" b="0">
                <a:solidFill>
                  <a:srgbClr val="62666B"/>
                </a:solidFill>
                <a:latin typeface="Arial"/>
                <a:ea typeface="Arial"/>
                <a:cs typeface="Arial"/>
              </a:defRPr>
            </a:lvl8pPr>
            <a:lvl9pPr algn="r">
              <a:defRPr sz="1050" b="0">
                <a:solidFill>
                  <a:srgbClr val="62666B"/>
                </a:solidFill>
                <a:latin typeface="Arial"/>
                <a:ea typeface="Arial"/>
                <a:cs typeface="Arial"/>
              </a:defRPr>
            </a:lvl9pPr>
          </a:lstStyle>
          <a:p>
            <a:pPr algn="r">
              <a:defRPr sz="1050" b="0">
                <a:solidFill>
                  <a:srgbClr val="62666B"/>
                </a:solidFill>
                <a:latin typeface="Arial"/>
                <a:ea typeface="Arial"/>
                <a:cs typeface="Arial"/>
              </a:defRPr>
            </a:pPr>
            <a:r>
              <a:rPr lang="en-US" altLang="zh-CN" sz="1050" b="0">
                <a:solidFill>
                  <a:srgbClr val="62666B"/>
                </a:solidFill>
                <a:latin typeface="Arial"/>
                <a:ea typeface="Arial"/>
                <a:cs typeface="Arial"/>
              </a:rPr>
              <a:t>08</a:t>
            </a:r>
            <a:endParaRPr sz="1050" b="0">
              <a:solidFill>
                <a:srgbClr val="62666B"/>
              </a:solidFill>
              <a:latin typeface="Arial"/>
              <a:ea typeface="Arial"/>
              <a:cs typeface="Arial"/>
            </a:endParaRPr>
          </a:p>
        </p:txBody>
      </p:sp>
      <p:sp>
        <p:nvSpPr>
          <p:cNvPr id="4" name="intro">
            <a:extLst>
              <a:ext uri="{FF2B5EF4-FFF2-40B4-BE49-F238E27FC236}">
                <a16:creationId xmlns:a16="http://schemas.microsoft.com/office/drawing/2014/main" id="{654CCEC6-9B43-4828-AA2F-92E693C4B8A9}"/>
              </a:ext>
            </a:extLst>
          </p:cNvPr>
          <p:cNvSpPr>
            <a:spLocks noGrp="1"/>
          </p:cNvSpPr>
          <p:nvPr/>
        </p:nvSpPr>
        <p:spPr>
          <a:xfrm>
            <a:off x="914400" y="1381125"/>
            <a:ext cx="13411200" cy="476250"/>
          </a:xfrm>
          <a:prstGeom prst="rect">
            <a:avLst/>
          </a:prstGeom>
          <a:noFill/>
          <a:ln w="0">
            <a:noFill/>
          </a:ln>
        </p:spPr>
        <p:txBody>
          <a:bodyPr wrap="square" lIns="0" tIns="0" rIns="0" bIns="0" anchor="t">
            <a:noAutofit/>
          </a:bodyPr>
          <a:lstStyle>
            <a:defPPr algn="l">
              <a:defRPr sz="2025" b="0">
                <a:solidFill>
                  <a:srgbClr val="202124"/>
                </a:solidFill>
                <a:latin typeface="Arial"/>
                <a:ea typeface="Arial"/>
                <a:cs typeface="Arial"/>
              </a:defRPr>
            </a:defPPr>
            <a:lvl1pPr algn="l">
              <a:defRPr sz="2025" b="0">
                <a:solidFill>
                  <a:srgbClr val="202124"/>
                </a:solidFill>
                <a:latin typeface="Arial"/>
                <a:ea typeface="Arial"/>
                <a:cs typeface="Arial"/>
              </a:defRPr>
            </a:lvl1pPr>
            <a:lvl2pPr algn="l">
              <a:defRPr sz="2025" b="0">
                <a:solidFill>
                  <a:srgbClr val="202124"/>
                </a:solidFill>
                <a:latin typeface="Arial"/>
                <a:ea typeface="Arial"/>
                <a:cs typeface="Arial"/>
              </a:defRPr>
            </a:lvl2pPr>
            <a:lvl3pPr algn="l">
              <a:defRPr sz="2025" b="0">
                <a:solidFill>
                  <a:srgbClr val="202124"/>
                </a:solidFill>
                <a:latin typeface="Arial"/>
                <a:ea typeface="Arial"/>
                <a:cs typeface="Arial"/>
              </a:defRPr>
            </a:lvl3pPr>
            <a:lvl4pPr algn="l">
              <a:defRPr sz="2025" b="0">
                <a:solidFill>
                  <a:srgbClr val="202124"/>
                </a:solidFill>
                <a:latin typeface="Arial"/>
                <a:ea typeface="Arial"/>
                <a:cs typeface="Arial"/>
              </a:defRPr>
            </a:lvl4pPr>
            <a:lvl5pPr algn="l">
              <a:defRPr sz="2025" b="0">
                <a:solidFill>
                  <a:srgbClr val="202124"/>
                </a:solidFill>
                <a:latin typeface="Arial"/>
                <a:ea typeface="Arial"/>
                <a:cs typeface="Arial"/>
              </a:defRPr>
            </a:lvl5pPr>
            <a:lvl6pPr algn="l">
              <a:defRPr sz="2025" b="0">
                <a:solidFill>
                  <a:srgbClr val="202124"/>
                </a:solidFill>
                <a:latin typeface="Arial"/>
                <a:ea typeface="Arial"/>
                <a:cs typeface="Arial"/>
              </a:defRPr>
            </a:lvl6pPr>
            <a:lvl7pPr algn="l">
              <a:defRPr sz="2025" b="0">
                <a:solidFill>
                  <a:srgbClr val="202124"/>
                </a:solidFill>
                <a:latin typeface="Arial"/>
                <a:ea typeface="Arial"/>
                <a:cs typeface="Arial"/>
              </a:defRPr>
            </a:lvl7pPr>
            <a:lvl8pPr algn="l">
              <a:defRPr sz="2025" b="0">
                <a:solidFill>
                  <a:srgbClr val="202124"/>
                </a:solidFill>
                <a:latin typeface="Arial"/>
                <a:ea typeface="Arial"/>
                <a:cs typeface="Arial"/>
              </a:defRPr>
            </a:lvl8pPr>
            <a:lvl9pPr algn="l">
              <a:defRPr sz="2025" b="0">
                <a:solidFill>
                  <a:srgbClr val="202124"/>
                </a:solidFill>
                <a:latin typeface="Arial"/>
                <a:ea typeface="Arial"/>
                <a:cs typeface="Arial"/>
              </a:defRPr>
            </a:lvl9pPr>
          </a:lstStyle>
          <a:p>
            <a:pPr algn="l">
              <a:defRPr sz="2025" b="0">
                <a:solidFill>
                  <a:srgbClr val="202124"/>
                </a:solidFill>
                <a:latin typeface="Arial"/>
                <a:ea typeface="Arial"/>
                <a:cs typeface="Arial"/>
              </a:defRPr>
            </a:pPr>
            <a:r>
              <a:rPr sz="2025" b="0">
                <a:solidFill>
                  <a:srgbClr val="202124"/>
                </a:solidFill>
                <a:latin typeface="Arial"/>
                <a:ea typeface="Arial"/>
                <a:cs typeface="Arial"/>
              </a:rPr>
              <a:t>A GRU estimates the current material state. Physics predicts what happens next.</a:t>
            </a:r>
          </a:p>
        </p:txBody>
      </p:sp>
      <p:graphicFrame>
        <p:nvGraphicFramePr>
          <p:cNvPr id="5" name="表格 4">
            <a:extLst>
              <a:ext uri="{FF2B5EF4-FFF2-40B4-BE49-F238E27FC236}">
                <a16:creationId xmlns:a16="http://schemas.microsoft.com/office/drawing/2014/main" id="{23A20C83-7D09-4B01-A383-77A612400B8C}"/>
              </a:ext>
            </a:extLst>
          </p:cNvPr>
          <p:cNvGraphicFramePr/>
          <p:nvPr/>
        </p:nvGraphicFramePr>
        <p:xfrm>
          <a:off x="914400" y="2047875"/>
          <a:ext cx="13411200" cy="4972050"/>
        </p:xfrm>
        <a:graphic>
          <a:graphicData uri="http://schemas.openxmlformats.org/drawingml/2006/table">
            <a:tbl>
              <a:tblPr firstRow="1"/>
              <a:tblGrid>
                <a:gridCol w="3238500">
                  <a:extLst>
                    <a:ext uri="{9D8B030D-6E8A-4147-A177-3AD203B41FA5}">
                      <a16:colId xmlns:a16="http://schemas.microsoft.com/office/drawing/2014/main" val="20000"/>
                    </a:ext>
                  </a:extLst>
                </a:gridCol>
                <a:gridCol w="10172700">
                  <a:extLst>
                    <a:ext uri="{9D8B030D-6E8A-4147-A177-3AD203B41FA5}">
                      <a16:colId xmlns:a16="http://schemas.microsoft.com/office/drawing/2014/main" val="20001"/>
                    </a:ext>
                  </a:extLst>
                </a:gridCol>
              </a:tblGrid>
              <a:tr h="552450">
                <a:tc>
                  <a:txBody>
                    <a:bodyPr/>
                    <a:lstStyle/>
                    <a:p>
                      <a:pPr algn="l"/>
                      <a:r>
                        <a:rPr sz="1725" b="1">
                          <a:solidFill>
                            <a:srgbClr val="62666B"/>
                          </a:solidFill>
                          <a:latin typeface="Arial"/>
                          <a:ea typeface="Arial"/>
                          <a:cs typeface="Arial"/>
                        </a:rPr>
                        <a:t>Step</a:t>
                      </a:r>
                    </a:p>
                  </a:txBody>
                  <a:tcPr anchor="ctr">
                    <a:lnL w="0">
                      <a:solidFill>
                        <a:srgbClr val="FFFFFF"/>
                      </a:solidFill>
                      <a:prstDash val="solid"/>
                    </a:lnL>
                    <a:lnR w="0">
                      <a:solidFill>
                        <a:srgbClr val="FFFFFF"/>
                      </a:solidFill>
                      <a:prstDash val="solid"/>
                    </a:lnR>
                    <a:lnT w="0">
                      <a:solidFill>
                        <a:srgbClr val="FFFFFF"/>
                      </a:solidFill>
                      <a:prstDash val="solid"/>
                    </a:lnT>
                    <a:lnB w="0">
                      <a:solidFill>
                        <a:srgbClr val="FFFFFF"/>
                      </a:solidFill>
                      <a:prstDash val="solid"/>
                    </a:lnB>
                    <a:solidFill>
                      <a:srgbClr val="FFFFFF"/>
                    </a:solidFill>
                  </a:tcPr>
                </a:tc>
                <a:tc>
                  <a:txBody>
                    <a:bodyPr/>
                    <a:lstStyle/>
                    <a:p>
                      <a:pPr algn="l"/>
                      <a:r>
                        <a:rPr sz="1725" b="1">
                          <a:solidFill>
                            <a:srgbClr val="62666B"/>
                          </a:solidFill>
                          <a:latin typeface="Arial"/>
                          <a:ea typeface="Arial"/>
                          <a:cs typeface="Arial"/>
                        </a:rPr>
                        <a:t>What the model does</a:t>
                      </a:r>
                    </a:p>
                  </a:txBody>
                  <a:tcPr anchor="ctr">
                    <a:lnL w="0" cap="flat" cmpd="sng" algn="ctr">
                      <a:solidFill>
                        <a:srgbClr val="FFFFFF"/>
                      </a:solidFill>
                      <a:prstDash val="solid"/>
                      <a:round/>
                      <a:headEnd type="none" w="med" len="med"/>
                      <a:tailEnd type="none" w="med" len="med"/>
                    </a:lnL>
                    <a:lnR w="0">
                      <a:solidFill>
                        <a:srgbClr val="FFFFFF"/>
                      </a:solidFill>
                      <a:prstDash val="solid"/>
                    </a:lnR>
                    <a:lnT w="0">
                      <a:solidFill>
                        <a:srgbClr val="FFFFFF"/>
                      </a:solidFill>
                      <a:prstDash val="solid"/>
                    </a:lnT>
                    <a:lnB w="0">
                      <a:solidFill>
                        <a:srgbClr val="FFFFFF"/>
                      </a:solidFill>
                      <a:prstDash val="solid"/>
                    </a:lnB>
                    <a:solidFill>
                      <a:srgbClr val="FFFFFF"/>
                    </a:solidFill>
                  </a:tcPr>
                </a:tc>
                <a:extLst>
                  <a:ext uri="{0D108BD9-81ED-4DB2-BD59-A6C34878D82A}">
                    <a16:rowId xmlns:a16="http://schemas.microsoft.com/office/drawing/2014/main" val="10000"/>
                  </a:ext>
                </a:extLst>
              </a:tr>
              <a:tr h="1104900">
                <a:tc>
                  <a:txBody>
                    <a:bodyPr/>
                    <a:lstStyle/>
                    <a:p>
                      <a:pPr algn="l"/>
                      <a:r>
                        <a:rPr sz="1875" b="1">
                          <a:solidFill>
                            <a:srgbClr val="202124"/>
                          </a:solidFill>
                          <a:latin typeface="Arial"/>
                          <a:ea typeface="Arial"/>
                          <a:cs typeface="Arial"/>
                        </a:rPr>
                        <a:t>1  Read the history</a:t>
                      </a:r>
                    </a:p>
                  </a:txBody>
                  <a:tcPr anchor="ctr">
                    <a:lnL w="0">
                      <a:solidFill>
                        <a:srgbClr val="FFFFFF"/>
                      </a:solidFill>
                      <a:prstDash val="soli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l"/>
                      <a:r>
                        <a:rPr sz="1875" b="0">
                          <a:solidFill>
                            <a:srgbClr val="202124"/>
                          </a:solidFill>
                          <a:latin typeface="Arial"/>
                          <a:ea typeface="Arial"/>
                          <a:cs typeface="Arial"/>
                        </a:rPr>
                        <a:t>Past 3 s, sampled every 0.01 s:</a:t>
                      </a:r>
                    </a:p>
                    <a:p>
                      <a:pPr algn="l"/>
                      <a:r>
                        <a:rPr sz="1875" b="0">
                          <a:solidFill>
                            <a:srgbClr val="202124"/>
                          </a:solidFill>
                          <a:latin typeface="Arial"/>
                          <a:ea typeface="Arial"/>
                          <a:cs typeface="Arial"/>
                        </a:rPr>
                        <a:t>position, velocity, contact force, command and time step.</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extLst>
                  <a:ext uri="{0D108BD9-81ED-4DB2-BD59-A6C34878D82A}">
                    <a16:rowId xmlns:a16="http://schemas.microsoft.com/office/drawing/2014/main" val="10001"/>
                  </a:ext>
                </a:extLst>
              </a:tr>
              <a:tr h="1104900">
                <a:tc>
                  <a:txBody>
                    <a:bodyPr/>
                    <a:lstStyle/>
                    <a:p>
                      <a:pPr algn="l"/>
                      <a:r>
                        <a:rPr sz="1875" b="1">
                          <a:solidFill>
                            <a:srgbClr val="202124"/>
                          </a:solidFill>
                          <a:latin typeface="Arial"/>
                          <a:ea typeface="Arial"/>
                          <a:cs typeface="Arial"/>
                        </a:rPr>
                        <a:t>2  Estimate the state</a:t>
                      </a:r>
                    </a:p>
                  </a:txBody>
                  <a:tcPr anchor="ctr">
                    <a:lnL w="0">
                      <a:solidFill>
                        <a:srgbClr val="FFFFFF"/>
                      </a:solidFill>
                      <a:prstDash val="soli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l"/>
                      <a:r>
                        <a:rPr sz="1875" b="0">
                          <a:solidFill>
                            <a:srgbClr val="202124"/>
                          </a:solidFill>
                          <a:latin typeface="Arial"/>
                          <a:ea typeface="Arial"/>
                          <a:cs typeface="Arial"/>
                        </a:rPr>
                        <a:t>The GRU estimates the allocation between fast and slow</a:t>
                      </a:r>
                    </a:p>
                    <a:p>
                      <a:pPr algn="l"/>
                      <a:r>
                        <a:rPr sz="1875" b="0">
                          <a:solidFill>
                            <a:srgbClr val="202124"/>
                          </a:solidFill>
                          <a:latin typeface="Arial"/>
                          <a:ea typeface="Arial"/>
                          <a:cs typeface="Arial"/>
                        </a:rPr>
                        <a:t>components, giving the current material state (z1, z2).</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extLst>
                  <a:ext uri="{0D108BD9-81ED-4DB2-BD59-A6C34878D82A}">
                    <a16:rowId xmlns:a16="http://schemas.microsoft.com/office/drawing/2014/main" val="10002"/>
                  </a:ext>
                </a:extLst>
              </a:tr>
              <a:tr h="1104900">
                <a:tc>
                  <a:txBody>
                    <a:bodyPr/>
                    <a:lstStyle/>
                    <a:p>
                      <a:pPr algn="l"/>
                      <a:r>
                        <a:rPr sz="1875" b="1">
                          <a:solidFill>
                            <a:srgbClr val="202124"/>
                          </a:solidFill>
                          <a:latin typeface="Arial"/>
                          <a:ea typeface="Arial"/>
                          <a:cs typeface="Arial"/>
                        </a:rPr>
                        <a:t>3  Predict the response</a:t>
                      </a:r>
                    </a:p>
                  </a:txBody>
                  <a:tcPr anchor="ctr">
                    <a:lnL w="0">
                      <a:solidFill>
                        <a:srgbClr val="FFFFFF"/>
                      </a:solidFill>
                      <a:prstDash val="soli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l"/>
                      <a:r>
                        <a:rPr sz="1875" b="0">
                          <a:solidFill>
                            <a:srgbClr val="202124"/>
                          </a:solidFill>
                          <a:latin typeface="Arial"/>
                          <a:ea typeface="Arial"/>
                          <a:cs typeface="Arial"/>
                        </a:rPr>
                        <a:t>Fixed dynamics use that state, current motion and planned</a:t>
                      </a:r>
                    </a:p>
                    <a:p>
                      <a:pPr algn="l"/>
                      <a:r>
                        <a:rPr sz="1875" b="0">
                          <a:solidFill>
                            <a:srgbClr val="202124"/>
                          </a:solidFill>
                          <a:latin typeface="Arial"/>
                          <a:ea typeface="Arial"/>
                          <a:cs typeface="Arial"/>
                        </a:rPr>
                        <a:t>commands to predict future force and position.</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extLst>
                  <a:ext uri="{0D108BD9-81ED-4DB2-BD59-A6C34878D82A}">
                    <a16:rowId xmlns:a16="http://schemas.microsoft.com/office/drawing/2014/main" val="10003"/>
                  </a:ext>
                </a:extLst>
              </a:tr>
              <a:tr h="1104900">
                <a:tc>
                  <a:txBody>
                    <a:bodyPr/>
                    <a:lstStyle/>
                    <a:p>
                      <a:pPr algn="l"/>
                      <a:r>
                        <a:rPr sz="1875" b="1">
                          <a:solidFill>
                            <a:srgbClr val="202124"/>
                          </a:solidFill>
                          <a:latin typeface="Arial"/>
                          <a:ea typeface="Arial"/>
                          <a:cs typeface="Arial"/>
                        </a:rPr>
                        <a:t>4  Train the GRU</a:t>
                      </a:r>
                    </a:p>
                  </a:txBody>
                  <a:tcPr anchor="ctr">
                    <a:lnL w="0">
                      <a:solidFill>
                        <a:srgbClr val="FFFFFF"/>
                      </a:solidFill>
                      <a:prstDash val="soli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pPr algn="l"/>
                      <a:r>
                        <a:rPr sz="1875" b="0">
                          <a:solidFill>
                            <a:srgbClr val="202124"/>
                          </a:solidFill>
                          <a:latin typeface="Arial"/>
                          <a:ea typeface="Arial"/>
                          <a:cs typeface="Arial"/>
                        </a:rPr>
                        <a:t>Compare predictions with subsequent simulation records.</a:t>
                      </a:r>
                    </a:p>
                    <a:p>
                      <a:pPr algn="l"/>
                      <a:r>
                        <a:rPr sz="1875" b="0">
                          <a:solidFill>
                            <a:srgbClr val="202124"/>
                          </a:solidFill>
                          <a:latin typeface="Arial"/>
                          <a:ea typeface="Arial"/>
                          <a:cs typeface="Arial"/>
                        </a:rPr>
                        <a:t>Backpropagate force and position errors to update the GRU.</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6" name="fixed-law">
            <a:extLst>
              <a:ext uri="{FF2B5EF4-FFF2-40B4-BE49-F238E27FC236}">
                <a16:creationId xmlns:a16="http://schemas.microsoft.com/office/drawing/2014/main" id="{6F09D158-B8A6-4B3E-8180-7D6637A82B41}"/>
              </a:ext>
            </a:extLst>
          </p:cNvPr>
          <p:cNvSpPr>
            <a:spLocks noGrp="1"/>
          </p:cNvSpPr>
          <p:nvPr/>
        </p:nvSpPr>
        <p:spPr>
          <a:xfrm>
            <a:off x="914400" y="7334250"/>
            <a:ext cx="13411200" cy="381000"/>
          </a:xfrm>
          <a:prstGeom prst="rect">
            <a:avLst/>
          </a:prstGeom>
          <a:noFill/>
          <a:ln w="0">
            <a:noFill/>
          </a:ln>
        </p:spPr>
        <p:txBody>
          <a:bodyPr wrap="square" lIns="0" tIns="0" rIns="0" bIns="0" anchor="t">
            <a:noAutofit/>
          </a:bodyPr>
          <a:lstStyle>
            <a:defPPr algn="l">
              <a:defRPr sz="1800" b="0">
                <a:solidFill>
                  <a:srgbClr val="62666B"/>
                </a:solidFill>
                <a:latin typeface="Arial"/>
                <a:ea typeface="Arial"/>
                <a:cs typeface="Arial"/>
              </a:defRPr>
            </a:defPPr>
            <a:lvl1pPr algn="l">
              <a:defRPr sz="1800" b="0">
                <a:solidFill>
                  <a:srgbClr val="62666B"/>
                </a:solidFill>
                <a:latin typeface="Arial"/>
                <a:ea typeface="Arial"/>
                <a:cs typeface="Arial"/>
              </a:defRPr>
            </a:lvl1pPr>
            <a:lvl2pPr algn="l">
              <a:defRPr sz="1800" b="0">
                <a:solidFill>
                  <a:srgbClr val="62666B"/>
                </a:solidFill>
                <a:latin typeface="Arial"/>
                <a:ea typeface="Arial"/>
                <a:cs typeface="Arial"/>
              </a:defRPr>
            </a:lvl2pPr>
            <a:lvl3pPr algn="l">
              <a:defRPr sz="1800" b="0">
                <a:solidFill>
                  <a:srgbClr val="62666B"/>
                </a:solidFill>
                <a:latin typeface="Arial"/>
                <a:ea typeface="Arial"/>
                <a:cs typeface="Arial"/>
              </a:defRPr>
            </a:lvl3pPr>
            <a:lvl4pPr algn="l">
              <a:defRPr sz="1800" b="0">
                <a:solidFill>
                  <a:srgbClr val="62666B"/>
                </a:solidFill>
                <a:latin typeface="Arial"/>
                <a:ea typeface="Arial"/>
                <a:cs typeface="Arial"/>
              </a:defRPr>
            </a:lvl4pPr>
            <a:lvl5pPr algn="l">
              <a:defRPr sz="1800" b="0">
                <a:solidFill>
                  <a:srgbClr val="62666B"/>
                </a:solidFill>
                <a:latin typeface="Arial"/>
                <a:ea typeface="Arial"/>
                <a:cs typeface="Arial"/>
              </a:defRPr>
            </a:lvl5pPr>
            <a:lvl6pPr algn="l">
              <a:defRPr sz="1800" b="0">
                <a:solidFill>
                  <a:srgbClr val="62666B"/>
                </a:solidFill>
                <a:latin typeface="Arial"/>
                <a:ea typeface="Arial"/>
                <a:cs typeface="Arial"/>
              </a:defRPr>
            </a:lvl6pPr>
            <a:lvl7pPr algn="l">
              <a:defRPr sz="1800" b="0">
                <a:solidFill>
                  <a:srgbClr val="62666B"/>
                </a:solidFill>
                <a:latin typeface="Arial"/>
                <a:ea typeface="Arial"/>
                <a:cs typeface="Arial"/>
              </a:defRPr>
            </a:lvl7pPr>
            <a:lvl8pPr algn="l">
              <a:defRPr sz="1800" b="0">
                <a:solidFill>
                  <a:srgbClr val="62666B"/>
                </a:solidFill>
                <a:latin typeface="Arial"/>
                <a:ea typeface="Arial"/>
                <a:cs typeface="Arial"/>
              </a:defRPr>
            </a:lvl8pPr>
            <a:lvl9pPr algn="l">
              <a:defRPr sz="1800" b="0">
                <a:solidFill>
                  <a:srgbClr val="62666B"/>
                </a:solidFill>
                <a:latin typeface="Arial"/>
                <a:ea typeface="Arial"/>
                <a:cs typeface="Arial"/>
              </a:defRPr>
            </a:lvl9pPr>
          </a:lstStyle>
          <a:p>
            <a:pPr algn="l">
              <a:defRPr sz="1800" b="0">
                <a:solidFill>
                  <a:srgbClr val="62666B"/>
                </a:solidFill>
                <a:latin typeface="Arial"/>
                <a:ea typeface="Arial"/>
                <a:cs typeface="Arial"/>
              </a:defRPr>
            </a:pPr>
            <a:r>
              <a:rPr sz="1800" b="0">
                <a:solidFill>
                  <a:srgbClr val="62666B"/>
                </a:solidFill>
                <a:latin typeface="Arial"/>
                <a:ea typeface="Arial"/>
                <a:cs typeface="Arial"/>
              </a:rPr>
              <a:t>Material parameters are fitted on training data, then held fixed.</a:t>
            </a:r>
          </a:p>
        </p:txBody>
      </p:sp>
      <p:sp>
        <p:nvSpPr>
          <p:cNvPr id="7" name="dimensions">
            <a:extLst>
              <a:ext uri="{FF2B5EF4-FFF2-40B4-BE49-F238E27FC236}">
                <a16:creationId xmlns:a16="http://schemas.microsoft.com/office/drawing/2014/main" id="{CAAA786B-7827-4B2A-8E1F-C2247E7CEF20}"/>
              </a:ext>
            </a:extLst>
          </p:cNvPr>
          <p:cNvSpPr>
            <a:spLocks noGrp="1"/>
          </p:cNvSpPr>
          <p:nvPr/>
        </p:nvSpPr>
        <p:spPr>
          <a:xfrm>
            <a:off x="914400" y="7753350"/>
            <a:ext cx="13411200" cy="304800"/>
          </a:xfrm>
          <a:prstGeom prst="rect">
            <a:avLst/>
          </a:prstGeom>
          <a:noFill/>
          <a:ln w="0">
            <a:noFill/>
          </a:ln>
        </p:spPr>
        <p:txBody>
          <a:bodyPr wrap="square" lIns="0" tIns="0" rIns="0" bIns="0" anchor="t">
            <a:noAutofit/>
          </a:bodyPr>
          <a:lstStyle>
            <a:defPPr algn="l">
              <a:defRPr sz="1725" b="1">
                <a:solidFill>
                  <a:srgbClr val="202124"/>
                </a:solidFill>
                <a:latin typeface="Arial"/>
                <a:ea typeface="Arial"/>
                <a:cs typeface="Arial"/>
              </a:defRPr>
            </a:defPPr>
            <a:lvl1pPr algn="l">
              <a:defRPr sz="1725" b="1">
                <a:solidFill>
                  <a:srgbClr val="202124"/>
                </a:solidFill>
                <a:latin typeface="Arial"/>
                <a:ea typeface="Arial"/>
                <a:cs typeface="Arial"/>
              </a:defRPr>
            </a:lvl1pPr>
            <a:lvl2pPr algn="l">
              <a:defRPr sz="1725" b="1">
                <a:solidFill>
                  <a:srgbClr val="202124"/>
                </a:solidFill>
                <a:latin typeface="Arial"/>
                <a:ea typeface="Arial"/>
                <a:cs typeface="Arial"/>
              </a:defRPr>
            </a:lvl2pPr>
            <a:lvl3pPr algn="l">
              <a:defRPr sz="1725" b="1">
                <a:solidFill>
                  <a:srgbClr val="202124"/>
                </a:solidFill>
                <a:latin typeface="Arial"/>
                <a:ea typeface="Arial"/>
                <a:cs typeface="Arial"/>
              </a:defRPr>
            </a:lvl3pPr>
            <a:lvl4pPr algn="l">
              <a:defRPr sz="1725" b="1">
                <a:solidFill>
                  <a:srgbClr val="202124"/>
                </a:solidFill>
                <a:latin typeface="Arial"/>
                <a:ea typeface="Arial"/>
                <a:cs typeface="Arial"/>
              </a:defRPr>
            </a:lvl4pPr>
            <a:lvl5pPr algn="l">
              <a:defRPr sz="1725" b="1">
                <a:solidFill>
                  <a:srgbClr val="202124"/>
                </a:solidFill>
                <a:latin typeface="Arial"/>
                <a:ea typeface="Arial"/>
                <a:cs typeface="Arial"/>
              </a:defRPr>
            </a:lvl5pPr>
            <a:lvl6pPr algn="l">
              <a:defRPr sz="1725" b="1">
                <a:solidFill>
                  <a:srgbClr val="202124"/>
                </a:solidFill>
                <a:latin typeface="Arial"/>
                <a:ea typeface="Arial"/>
                <a:cs typeface="Arial"/>
              </a:defRPr>
            </a:lvl6pPr>
            <a:lvl7pPr algn="l">
              <a:defRPr sz="1725" b="1">
                <a:solidFill>
                  <a:srgbClr val="202124"/>
                </a:solidFill>
                <a:latin typeface="Arial"/>
                <a:ea typeface="Arial"/>
                <a:cs typeface="Arial"/>
              </a:defRPr>
            </a:lvl7pPr>
            <a:lvl8pPr algn="l">
              <a:defRPr sz="1725" b="1">
                <a:solidFill>
                  <a:srgbClr val="202124"/>
                </a:solidFill>
                <a:latin typeface="Arial"/>
                <a:ea typeface="Arial"/>
                <a:cs typeface="Arial"/>
              </a:defRPr>
            </a:lvl8pPr>
            <a:lvl9pPr algn="l">
              <a:defRPr sz="1725" b="1">
                <a:solidFill>
                  <a:srgbClr val="202124"/>
                </a:solidFill>
                <a:latin typeface="Arial"/>
                <a:ea typeface="Arial"/>
                <a:cs typeface="Arial"/>
              </a:defRPr>
            </a:lvl9pPr>
          </a:lstStyle>
          <a:p>
            <a:pPr algn="l">
              <a:defRPr sz="1725" b="1">
                <a:solidFill>
                  <a:srgbClr val="202124"/>
                </a:solidFill>
                <a:latin typeface="Arial"/>
                <a:ea typeface="Arial"/>
                <a:cs typeface="Arial"/>
              </a:defRPr>
            </a:pPr>
            <a:r>
              <a:rPr sz="1725" b="1">
                <a:solidFill>
                  <a:srgbClr val="202124"/>
                </a:solidFill>
                <a:latin typeface="Arial"/>
                <a:ea typeface="Arial"/>
                <a:cs typeface="Arial"/>
              </a:rPr>
              <a:t>1D motion with a 2D material state.</a:t>
            </a:r>
          </a:p>
        </p:txBody>
      </p:sp>
    </p:spTree>
    <p:extLst>
      <p:ext uri="{BB962C8B-B14F-4D97-AF65-F5344CB8AC3E}">
        <p14:creationId xmlns:p14="http://schemas.microsoft.com/office/powerpoint/2010/main" val="1725711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a:extLst>
              <a:ext uri="{FF2B5EF4-FFF2-40B4-BE49-F238E27FC236}">
                <a16:creationId xmlns:a16="http://schemas.microsoft.com/office/drawing/2014/main" id="{55C00896-2B51-4BC5-A78B-107BD608C32E}"/>
              </a:ext>
            </a:extLst>
          </p:cNvPr>
          <p:cNvSpPr>
            <a:spLocks noGrp="1"/>
          </p:cNvSpPr>
          <p:nvPr/>
        </p:nvSpPr>
        <p:spPr>
          <a:xfrm>
            <a:off x="914400" y="552450"/>
            <a:ext cx="13411200" cy="533400"/>
          </a:xfrm>
          <a:prstGeom prst="rect">
            <a:avLst/>
          </a:prstGeom>
          <a:noFill/>
          <a:ln w="0">
            <a:noFill/>
          </a:ln>
        </p:spPr>
        <p:txBody>
          <a:bodyPr wrap="square" lIns="0" tIns="0" rIns="0" bIns="0" anchor="t">
            <a:noAutofit/>
          </a:bodyPr>
          <a:lstStyle>
            <a:defPPr algn="l">
              <a:defRPr sz="2400" b="1">
                <a:solidFill>
                  <a:srgbClr val="202124"/>
                </a:solidFill>
                <a:latin typeface="Arial"/>
                <a:ea typeface="Arial"/>
                <a:cs typeface="Arial"/>
              </a:defRPr>
            </a:defPPr>
            <a:lvl1pPr algn="l">
              <a:defRPr sz="2400" b="1">
                <a:solidFill>
                  <a:srgbClr val="202124"/>
                </a:solidFill>
                <a:latin typeface="Arial"/>
                <a:ea typeface="Arial"/>
                <a:cs typeface="Arial"/>
              </a:defRPr>
            </a:lvl1pPr>
            <a:lvl2pPr algn="l">
              <a:defRPr sz="2400" b="1">
                <a:solidFill>
                  <a:srgbClr val="202124"/>
                </a:solidFill>
                <a:latin typeface="Arial"/>
                <a:ea typeface="Arial"/>
                <a:cs typeface="Arial"/>
              </a:defRPr>
            </a:lvl2pPr>
            <a:lvl3pPr algn="l">
              <a:defRPr sz="2400" b="1">
                <a:solidFill>
                  <a:srgbClr val="202124"/>
                </a:solidFill>
                <a:latin typeface="Arial"/>
                <a:ea typeface="Arial"/>
                <a:cs typeface="Arial"/>
              </a:defRPr>
            </a:lvl3pPr>
            <a:lvl4pPr algn="l">
              <a:defRPr sz="2400" b="1">
                <a:solidFill>
                  <a:srgbClr val="202124"/>
                </a:solidFill>
                <a:latin typeface="Arial"/>
                <a:ea typeface="Arial"/>
                <a:cs typeface="Arial"/>
              </a:defRPr>
            </a:lvl4pPr>
            <a:lvl5pPr algn="l">
              <a:defRPr sz="2400" b="1">
                <a:solidFill>
                  <a:srgbClr val="202124"/>
                </a:solidFill>
                <a:latin typeface="Arial"/>
                <a:ea typeface="Arial"/>
                <a:cs typeface="Arial"/>
              </a:defRPr>
            </a:lvl5pPr>
            <a:lvl6pPr algn="l">
              <a:defRPr sz="2400" b="1">
                <a:solidFill>
                  <a:srgbClr val="202124"/>
                </a:solidFill>
                <a:latin typeface="Arial"/>
                <a:ea typeface="Arial"/>
                <a:cs typeface="Arial"/>
              </a:defRPr>
            </a:lvl6pPr>
            <a:lvl7pPr algn="l">
              <a:defRPr sz="2400" b="1">
                <a:solidFill>
                  <a:srgbClr val="202124"/>
                </a:solidFill>
                <a:latin typeface="Arial"/>
                <a:ea typeface="Arial"/>
                <a:cs typeface="Arial"/>
              </a:defRPr>
            </a:lvl7pPr>
            <a:lvl8pPr algn="l">
              <a:defRPr sz="2400" b="1">
                <a:solidFill>
                  <a:srgbClr val="202124"/>
                </a:solidFill>
                <a:latin typeface="Arial"/>
                <a:ea typeface="Arial"/>
                <a:cs typeface="Arial"/>
              </a:defRPr>
            </a:lvl8pPr>
            <a:lvl9pPr algn="l">
              <a:defRPr sz="2400" b="1">
                <a:solidFill>
                  <a:srgbClr val="202124"/>
                </a:solidFill>
                <a:latin typeface="Arial"/>
                <a:ea typeface="Arial"/>
                <a:cs typeface="Arial"/>
              </a:defRPr>
            </a:lvl9pPr>
          </a:lstStyle>
          <a:p>
            <a:pPr algn="l">
              <a:defRPr sz="2400" b="1">
                <a:solidFill>
                  <a:srgbClr val="202124"/>
                </a:solidFill>
                <a:latin typeface="Arial"/>
                <a:ea typeface="Arial"/>
                <a:cs typeface="Arial"/>
              </a:defRPr>
            </a:pPr>
            <a:r>
              <a:rPr sz="2400" b="1">
                <a:solidFill>
                  <a:srgbClr val="202124"/>
                </a:solidFill>
                <a:latin typeface="Arial"/>
                <a:ea typeface="Arial"/>
                <a:cs typeface="Arial"/>
              </a:rPr>
              <a:t>History-based state estimation and prediction</a:t>
            </a:r>
          </a:p>
        </p:txBody>
      </p:sp>
      <p:sp>
        <p:nvSpPr>
          <p:cNvPr id="2" name="source-index">
            <a:extLst>
              <a:ext uri="{FF2B5EF4-FFF2-40B4-BE49-F238E27FC236}">
                <a16:creationId xmlns:a16="http://schemas.microsoft.com/office/drawing/2014/main" id="{6120EFD3-4538-4ED1-A8FB-863DD8377E25}"/>
              </a:ext>
            </a:extLst>
          </p:cNvPr>
          <p:cNvSpPr>
            <a:spLocks noGrp="1"/>
          </p:cNvSpPr>
          <p:nvPr/>
        </p:nvSpPr>
        <p:spPr>
          <a:xfrm>
            <a:off x="914400" y="8172450"/>
            <a:ext cx="12573000" cy="209550"/>
          </a:xfrm>
          <a:prstGeom prst="rect">
            <a:avLst/>
          </a:prstGeom>
          <a:noFill/>
          <a:ln w="0">
            <a:noFill/>
          </a:ln>
        </p:spPr>
        <p:txBody>
          <a:bodyPr wrap="square" lIns="0" tIns="0" rIns="0" bIns="0" anchor="t">
            <a:noAutofit/>
          </a:bodyPr>
          <a:lstStyle>
            <a:defPPr algn="l">
              <a:defRPr sz="1050" b="0">
                <a:solidFill>
                  <a:srgbClr val="62666B"/>
                </a:solidFill>
                <a:latin typeface="Arial"/>
                <a:ea typeface="Arial"/>
                <a:cs typeface="Arial"/>
              </a:defRPr>
            </a:defPPr>
            <a:lvl1pPr algn="l">
              <a:defRPr sz="1050" b="0">
                <a:solidFill>
                  <a:srgbClr val="62666B"/>
                </a:solidFill>
                <a:latin typeface="Arial"/>
                <a:ea typeface="Arial"/>
                <a:cs typeface="Arial"/>
              </a:defRPr>
            </a:lvl1pPr>
            <a:lvl2pPr algn="l">
              <a:defRPr sz="1050" b="0">
                <a:solidFill>
                  <a:srgbClr val="62666B"/>
                </a:solidFill>
                <a:latin typeface="Arial"/>
                <a:ea typeface="Arial"/>
                <a:cs typeface="Arial"/>
              </a:defRPr>
            </a:lvl2pPr>
            <a:lvl3pPr algn="l">
              <a:defRPr sz="1050" b="0">
                <a:solidFill>
                  <a:srgbClr val="62666B"/>
                </a:solidFill>
                <a:latin typeface="Arial"/>
                <a:ea typeface="Arial"/>
                <a:cs typeface="Arial"/>
              </a:defRPr>
            </a:lvl3pPr>
            <a:lvl4pPr algn="l">
              <a:defRPr sz="1050" b="0">
                <a:solidFill>
                  <a:srgbClr val="62666B"/>
                </a:solidFill>
                <a:latin typeface="Arial"/>
                <a:ea typeface="Arial"/>
                <a:cs typeface="Arial"/>
              </a:defRPr>
            </a:lvl4pPr>
            <a:lvl5pPr algn="l">
              <a:defRPr sz="1050" b="0">
                <a:solidFill>
                  <a:srgbClr val="62666B"/>
                </a:solidFill>
                <a:latin typeface="Arial"/>
                <a:ea typeface="Arial"/>
                <a:cs typeface="Arial"/>
              </a:defRPr>
            </a:lvl5pPr>
            <a:lvl6pPr algn="l">
              <a:defRPr sz="1050" b="0">
                <a:solidFill>
                  <a:srgbClr val="62666B"/>
                </a:solidFill>
                <a:latin typeface="Arial"/>
                <a:ea typeface="Arial"/>
                <a:cs typeface="Arial"/>
              </a:defRPr>
            </a:lvl6pPr>
            <a:lvl7pPr algn="l">
              <a:defRPr sz="1050" b="0">
                <a:solidFill>
                  <a:srgbClr val="62666B"/>
                </a:solidFill>
                <a:latin typeface="Arial"/>
                <a:ea typeface="Arial"/>
                <a:cs typeface="Arial"/>
              </a:defRPr>
            </a:lvl7pPr>
            <a:lvl8pPr algn="l">
              <a:defRPr sz="1050" b="0">
                <a:solidFill>
                  <a:srgbClr val="62666B"/>
                </a:solidFill>
                <a:latin typeface="Arial"/>
                <a:ea typeface="Arial"/>
                <a:cs typeface="Arial"/>
              </a:defRPr>
            </a:lvl8pPr>
            <a:lvl9pPr algn="l">
              <a:defRPr sz="1050" b="0">
                <a:solidFill>
                  <a:srgbClr val="62666B"/>
                </a:solidFill>
                <a:latin typeface="Arial"/>
                <a:ea typeface="Arial"/>
                <a:cs typeface="Arial"/>
              </a:defRPr>
            </a:lvl9pPr>
          </a:lstStyle>
          <a:p>
            <a:pPr algn="l">
              <a:defRPr sz="1050" b="0">
                <a:solidFill>
                  <a:srgbClr val="62666B"/>
                </a:solidFill>
                <a:latin typeface="Arial"/>
                <a:ea typeface="Arial"/>
                <a:cs typeface="Arial"/>
              </a:defRPr>
            </a:pPr>
            <a:r>
              <a:rPr sz="1050" b="0">
                <a:solidFill>
                  <a:srgbClr val="62666B"/>
                </a:solidFill>
                <a:latin typeface="Arial"/>
                <a:ea typeface="Arial"/>
                <a:cs typeface="Arial"/>
              </a:rPr>
              <a:t>[E1]</a:t>
            </a:r>
          </a:p>
        </p:txBody>
      </p:sp>
      <p:sp>
        <p:nvSpPr>
          <p:cNvPr id="3" name="page">
            <a:extLst>
              <a:ext uri="{FF2B5EF4-FFF2-40B4-BE49-F238E27FC236}">
                <a16:creationId xmlns:a16="http://schemas.microsoft.com/office/drawing/2014/main" id="{6BA8CA3B-2D38-41CE-882D-4062F239E4E9}"/>
              </a:ext>
            </a:extLst>
          </p:cNvPr>
          <p:cNvSpPr>
            <a:spLocks noGrp="1"/>
          </p:cNvSpPr>
          <p:nvPr/>
        </p:nvSpPr>
        <p:spPr>
          <a:xfrm>
            <a:off x="13906500" y="8153400"/>
            <a:ext cx="419100" cy="238125"/>
          </a:xfrm>
          <a:prstGeom prst="rect">
            <a:avLst/>
          </a:prstGeom>
          <a:noFill/>
          <a:ln w="0">
            <a:noFill/>
          </a:ln>
        </p:spPr>
        <p:txBody>
          <a:bodyPr wrap="square" lIns="0" tIns="0" rIns="0" bIns="0" anchor="t">
            <a:noAutofit/>
          </a:bodyPr>
          <a:lstStyle>
            <a:defPPr algn="r">
              <a:defRPr sz="1050" b="0">
                <a:solidFill>
                  <a:srgbClr val="62666B"/>
                </a:solidFill>
                <a:latin typeface="Arial"/>
                <a:ea typeface="Arial"/>
                <a:cs typeface="Arial"/>
              </a:defRPr>
            </a:defPPr>
            <a:lvl1pPr algn="r">
              <a:defRPr sz="1050" b="0">
                <a:solidFill>
                  <a:srgbClr val="62666B"/>
                </a:solidFill>
                <a:latin typeface="Arial"/>
                <a:ea typeface="Arial"/>
                <a:cs typeface="Arial"/>
              </a:defRPr>
            </a:lvl1pPr>
            <a:lvl2pPr algn="r">
              <a:defRPr sz="1050" b="0">
                <a:solidFill>
                  <a:srgbClr val="62666B"/>
                </a:solidFill>
                <a:latin typeface="Arial"/>
                <a:ea typeface="Arial"/>
                <a:cs typeface="Arial"/>
              </a:defRPr>
            </a:lvl2pPr>
            <a:lvl3pPr algn="r">
              <a:defRPr sz="1050" b="0">
                <a:solidFill>
                  <a:srgbClr val="62666B"/>
                </a:solidFill>
                <a:latin typeface="Arial"/>
                <a:ea typeface="Arial"/>
                <a:cs typeface="Arial"/>
              </a:defRPr>
            </a:lvl3pPr>
            <a:lvl4pPr algn="r">
              <a:defRPr sz="1050" b="0">
                <a:solidFill>
                  <a:srgbClr val="62666B"/>
                </a:solidFill>
                <a:latin typeface="Arial"/>
                <a:ea typeface="Arial"/>
                <a:cs typeface="Arial"/>
              </a:defRPr>
            </a:lvl4pPr>
            <a:lvl5pPr algn="r">
              <a:defRPr sz="1050" b="0">
                <a:solidFill>
                  <a:srgbClr val="62666B"/>
                </a:solidFill>
                <a:latin typeface="Arial"/>
                <a:ea typeface="Arial"/>
                <a:cs typeface="Arial"/>
              </a:defRPr>
            </a:lvl5pPr>
            <a:lvl6pPr algn="r">
              <a:defRPr sz="1050" b="0">
                <a:solidFill>
                  <a:srgbClr val="62666B"/>
                </a:solidFill>
                <a:latin typeface="Arial"/>
                <a:ea typeface="Arial"/>
                <a:cs typeface="Arial"/>
              </a:defRPr>
            </a:lvl6pPr>
            <a:lvl7pPr algn="r">
              <a:defRPr sz="1050" b="0">
                <a:solidFill>
                  <a:srgbClr val="62666B"/>
                </a:solidFill>
                <a:latin typeface="Arial"/>
                <a:ea typeface="Arial"/>
                <a:cs typeface="Arial"/>
              </a:defRPr>
            </a:lvl7pPr>
            <a:lvl8pPr algn="r">
              <a:defRPr sz="1050" b="0">
                <a:solidFill>
                  <a:srgbClr val="62666B"/>
                </a:solidFill>
                <a:latin typeface="Arial"/>
                <a:ea typeface="Arial"/>
                <a:cs typeface="Arial"/>
              </a:defRPr>
            </a:lvl8pPr>
            <a:lvl9pPr algn="r">
              <a:defRPr sz="1050" b="0">
                <a:solidFill>
                  <a:srgbClr val="62666B"/>
                </a:solidFill>
                <a:latin typeface="Arial"/>
                <a:ea typeface="Arial"/>
                <a:cs typeface="Arial"/>
              </a:defRPr>
            </a:lvl9pPr>
          </a:lstStyle>
          <a:p>
            <a:pPr algn="r">
              <a:defRPr sz="1050" b="0">
                <a:solidFill>
                  <a:srgbClr val="62666B"/>
                </a:solidFill>
                <a:latin typeface="Arial"/>
                <a:ea typeface="Arial"/>
                <a:cs typeface="Arial"/>
              </a:defRPr>
            </a:pPr>
            <a:r>
              <a:rPr lang="en-US" altLang="zh-CN" sz="1050" b="0">
                <a:solidFill>
                  <a:srgbClr val="62666B"/>
                </a:solidFill>
                <a:latin typeface="Arial"/>
                <a:ea typeface="Arial"/>
                <a:cs typeface="Arial"/>
              </a:rPr>
              <a:t>09</a:t>
            </a:r>
            <a:endParaRPr sz="1050" b="0">
              <a:solidFill>
                <a:srgbClr val="62666B"/>
              </a:solidFill>
              <a:latin typeface="Arial"/>
              <a:ea typeface="Arial"/>
              <a:cs typeface="Arial"/>
            </a:endParaRPr>
          </a:p>
        </p:txBody>
      </p:sp>
      <p:sp>
        <p:nvSpPr>
          <p:cNvPr id="4" name="state-heading">
            <a:extLst>
              <a:ext uri="{FF2B5EF4-FFF2-40B4-BE49-F238E27FC236}">
                <a16:creationId xmlns:a16="http://schemas.microsoft.com/office/drawing/2014/main" id="{C596E7F8-CADE-43AC-A24D-1127BB069051}"/>
              </a:ext>
            </a:extLst>
          </p:cNvPr>
          <p:cNvSpPr>
            <a:spLocks noGrp="1"/>
          </p:cNvSpPr>
          <p:nvPr/>
        </p:nvSpPr>
        <p:spPr>
          <a:xfrm>
            <a:off x="914400" y="1428750"/>
            <a:ext cx="6667500" cy="381000"/>
          </a:xfrm>
          <a:prstGeom prst="rect">
            <a:avLst/>
          </a:prstGeom>
          <a:noFill/>
          <a:ln w="0">
            <a:noFill/>
          </a:ln>
        </p:spPr>
        <p:txBody>
          <a:bodyPr wrap="square" lIns="0" tIns="0" rIns="0" bIns="0" anchor="t">
            <a:noAutofit/>
          </a:bodyPr>
          <a:lstStyle>
            <a:defPPr algn="l">
              <a:defRPr sz="2025" b="1">
                <a:solidFill>
                  <a:srgbClr val="202124"/>
                </a:solidFill>
                <a:latin typeface="Arial"/>
                <a:ea typeface="Arial"/>
                <a:cs typeface="Arial"/>
              </a:defRPr>
            </a:defPPr>
            <a:lvl1pPr algn="l">
              <a:defRPr sz="2025" b="1">
                <a:solidFill>
                  <a:srgbClr val="202124"/>
                </a:solidFill>
                <a:latin typeface="Arial"/>
                <a:ea typeface="Arial"/>
                <a:cs typeface="Arial"/>
              </a:defRPr>
            </a:lvl1pPr>
            <a:lvl2pPr algn="l">
              <a:defRPr sz="2025" b="1">
                <a:solidFill>
                  <a:srgbClr val="202124"/>
                </a:solidFill>
                <a:latin typeface="Arial"/>
                <a:ea typeface="Arial"/>
                <a:cs typeface="Arial"/>
              </a:defRPr>
            </a:lvl2pPr>
            <a:lvl3pPr algn="l">
              <a:defRPr sz="2025" b="1">
                <a:solidFill>
                  <a:srgbClr val="202124"/>
                </a:solidFill>
                <a:latin typeface="Arial"/>
                <a:ea typeface="Arial"/>
                <a:cs typeface="Arial"/>
              </a:defRPr>
            </a:lvl3pPr>
            <a:lvl4pPr algn="l">
              <a:defRPr sz="2025" b="1">
                <a:solidFill>
                  <a:srgbClr val="202124"/>
                </a:solidFill>
                <a:latin typeface="Arial"/>
                <a:ea typeface="Arial"/>
                <a:cs typeface="Arial"/>
              </a:defRPr>
            </a:lvl4pPr>
            <a:lvl5pPr algn="l">
              <a:defRPr sz="2025" b="1">
                <a:solidFill>
                  <a:srgbClr val="202124"/>
                </a:solidFill>
                <a:latin typeface="Arial"/>
                <a:ea typeface="Arial"/>
                <a:cs typeface="Arial"/>
              </a:defRPr>
            </a:lvl5pPr>
            <a:lvl6pPr algn="l">
              <a:defRPr sz="2025" b="1">
                <a:solidFill>
                  <a:srgbClr val="202124"/>
                </a:solidFill>
                <a:latin typeface="Arial"/>
                <a:ea typeface="Arial"/>
                <a:cs typeface="Arial"/>
              </a:defRPr>
            </a:lvl6pPr>
            <a:lvl7pPr algn="l">
              <a:defRPr sz="2025" b="1">
                <a:solidFill>
                  <a:srgbClr val="202124"/>
                </a:solidFill>
                <a:latin typeface="Arial"/>
                <a:ea typeface="Arial"/>
                <a:cs typeface="Arial"/>
              </a:defRPr>
            </a:lvl7pPr>
            <a:lvl8pPr algn="l">
              <a:defRPr sz="2025" b="1">
                <a:solidFill>
                  <a:srgbClr val="202124"/>
                </a:solidFill>
                <a:latin typeface="Arial"/>
                <a:ea typeface="Arial"/>
                <a:cs typeface="Arial"/>
              </a:defRPr>
            </a:lvl8pPr>
            <a:lvl9pPr algn="l">
              <a:defRPr sz="2025" b="1">
                <a:solidFill>
                  <a:srgbClr val="202124"/>
                </a:solidFill>
                <a:latin typeface="Arial"/>
                <a:ea typeface="Arial"/>
                <a:cs typeface="Arial"/>
              </a:defRPr>
            </a:lvl9pPr>
          </a:lstStyle>
          <a:p>
            <a:pPr algn="l">
              <a:defRPr sz="2025" b="1">
                <a:solidFill>
                  <a:srgbClr val="202124"/>
                </a:solidFill>
                <a:latin typeface="Arial"/>
                <a:ea typeface="Arial"/>
                <a:cs typeface="Arial"/>
              </a:defRPr>
            </a:pPr>
            <a:r>
              <a:rPr sz="2025" b="1">
                <a:solidFill>
                  <a:srgbClr val="202124"/>
                </a:solidFill>
                <a:latin typeface="Arial"/>
                <a:ea typeface="Arial"/>
                <a:cs typeface="Arial"/>
              </a:rPr>
              <a:t>1  Estimate the current state</a:t>
            </a:r>
          </a:p>
        </p:txBody>
      </p:sp>
      <p:sp>
        <p:nvSpPr>
          <p:cNvPr id="5" name="history-input">
            <a:extLst>
              <a:ext uri="{FF2B5EF4-FFF2-40B4-BE49-F238E27FC236}">
                <a16:creationId xmlns:a16="http://schemas.microsoft.com/office/drawing/2014/main" id="{7ED1454C-92FE-4D88-BC42-245FA32209FE}"/>
              </a:ext>
            </a:extLst>
          </p:cNvPr>
          <p:cNvSpPr>
            <a:spLocks noGrp="1"/>
          </p:cNvSpPr>
          <p:nvPr/>
        </p:nvSpPr>
        <p:spPr>
          <a:xfrm>
            <a:off x="914400" y="1905000"/>
            <a:ext cx="6667500" cy="381000"/>
          </a:xfrm>
          <a:prstGeom prst="rect">
            <a:avLst/>
          </a:prstGeom>
          <a:noFill/>
          <a:ln w="0">
            <a:noFill/>
          </a:ln>
        </p:spPr>
        <p:txBody>
          <a:bodyPr wrap="square" lIns="0" tIns="0" rIns="0" bIns="0" anchor="t">
            <a:noAutofit/>
          </a:bodyPr>
          <a:lstStyle>
            <a:defPPr algn="l">
              <a:defRPr sz="1725" b="0">
                <a:solidFill>
                  <a:srgbClr val="62666B"/>
                </a:solidFill>
                <a:latin typeface="Arial"/>
                <a:ea typeface="Arial"/>
                <a:cs typeface="Arial"/>
              </a:defRPr>
            </a:defPPr>
            <a:lvl1pPr algn="l">
              <a:defRPr sz="1725" b="0">
                <a:solidFill>
                  <a:srgbClr val="62666B"/>
                </a:solidFill>
                <a:latin typeface="Arial"/>
                <a:ea typeface="Arial"/>
                <a:cs typeface="Arial"/>
              </a:defRPr>
            </a:lvl1pPr>
            <a:lvl2pPr algn="l">
              <a:defRPr sz="1725" b="0">
                <a:solidFill>
                  <a:srgbClr val="62666B"/>
                </a:solidFill>
                <a:latin typeface="Arial"/>
                <a:ea typeface="Arial"/>
                <a:cs typeface="Arial"/>
              </a:defRPr>
            </a:lvl2pPr>
            <a:lvl3pPr algn="l">
              <a:defRPr sz="1725" b="0">
                <a:solidFill>
                  <a:srgbClr val="62666B"/>
                </a:solidFill>
                <a:latin typeface="Arial"/>
                <a:ea typeface="Arial"/>
                <a:cs typeface="Arial"/>
              </a:defRPr>
            </a:lvl3pPr>
            <a:lvl4pPr algn="l">
              <a:defRPr sz="1725" b="0">
                <a:solidFill>
                  <a:srgbClr val="62666B"/>
                </a:solidFill>
                <a:latin typeface="Arial"/>
                <a:ea typeface="Arial"/>
                <a:cs typeface="Arial"/>
              </a:defRPr>
            </a:lvl4pPr>
            <a:lvl5pPr algn="l">
              <a:defRPr sz="1725" b="0">
                <a:solidFill>
                  <a:srgbClr val="62666B"/>
                </a:solidFill>
                <a:latin typeface="Arial"/>
                <a:ea typeface="Arial"/>
                <a:cs typeface="Arial"/>
              </a:defRPr>
            </a:lvl5pPr>
            <a:lvl6pPr algn="l">
              <a:defRPr sz="1725" b="0">
                <a:solidFill>
                  <a:srgbClr val="62666B"/>
                </a:solidFill>
                <a:latin typeface="Arial"/>
                <a:ea typeface="Arial"/>
                <a:cs typeface="Arial"/>
              </a:defRPr>
            </a:lvl6pPr>
            <a:lvl7pPr algn="l">
              <a:defRPr sz="1725" b="0">
                <a:solidFill>
                  <a:srgbClr val="62666B"/>
                </a:solidFill>
                <a:latin typeface="Arial"/>
                <a:ea typeface="Arial"/>
                <a:cs typeface="Arial"/>
              </a:defRPr>
            </a:lvl7pPr>
            <a:lvl8pPr algn="l">
              <a:defRPr sz="1725" b="0">
                <a:solidFill>
                  <a:srgbClr val="62666B"/>
                </a:solidFill>
                <a:latin typeface="Arial"/>
                <a:ea typeface="Arial"/>
                <a:cs typeface="Arial"/>
              </a:defRPr>
            </a:lvl8pPr>
            <a:lvl9pPr algn="l">
              <a:defRPr sz="1725" b="0">
                <a:solidFill>
                  <a:srgbClr val="62666B"/>
                </a:solidFill>
                <a:latin typeface="Arial"/>
                <a:ea typeface="Arial"/>
                <a:cs typeface="Arial"/>
              </a:defRPr>
            </a:lvl9pPr>
          </a:lstStyle>
          <a:p>
            <a:pPr algn="l">
              <a:defRPr sz="1725" b="0">
                <a:solidFill>
                  <a:srgbClr val="62666B"/>
                </a:solidFill>
                <a:latin typeface="Arial"/>
                <a:ea typeface="Arial"/>
                <a:cs typeface="Arial"/>
              </a:defRPr>
            </a:pPr>
            <a:r>
              <a:rPr sz="1725" b="0">
                <a:solidFill>
                  <a:srgbClr val="62666B"/>
                </a:solidFill>
                <a:latin typeface="Arial"/>
                <a:ea typeface="Arial"/>
                <a:cs typeface="Arial"/>
              </a:rPr>
              <a:t>Hₜ: 3 s of (x, v, F, u, Δt), sampled every 0.01 s</a:t>
            </a:r>
          </a:p>
        </p:txBody>
      </p:sp>
      <p:sp>
        <p:nvSpPr>
          <p:cNvPr id="6" name="encoder-equation">
            <a:extLst>
              <a:ext uri="{FF2B5EF4-FFF2-40B4-BE49-F238E27FC236}">
                <a16:creationId xmlns:a16="http://schemas.microsoft.com/office/drawing/2014/main" id="{6CD9C47C-4ABD-4D62-AA9C-A0505A0B38F3}"/>
              </a:ext>
            </a:extLst>
          </p:cNvPr>
          <p:cNvSpPr>
            <a:spLocks noGrp="1"/>
          </p:cNvSpPr>
          <p:nvPr/>
        </p:nvSpPr>
        <p:spPr>
          <a:xfrm>
            <a:off x="914400" y="2381250"/>
            <a:ext cx="6667500" cy="438150"/>
          </a:xfrm>
          <a:prstGeom prst="rect">
            <a:avLst/>
          </a:prstGeom>
          <a:noFill/>
          <a:ln w="0">
            <a:noFill/>
          </a:ln>
        </p:spPr>
        <p:txBody>
          <a:bodyPr wrap="square" lIns="0" tIns="0" rIns="0" bIns="0" anchor="t">
            <a:noAutofit/>
          </a:bodyPr>
          <a:lstStyle>
            <a:defPPr algn="l">
              <a:defRPr sz="2100" b="0">
                <a:solidFill>
                  <a:srgbClr val="202124"/>
                </a:solidFill>
                <a:latin typeface="Arial"/>
                <a:ea typeface="Arial"/>
                <a:cs typeface="Arial"/>
              </a:defRPr>
            </a:defPPr>
            <a:lvl1pPr algn="l">
              <a:defRPr sz="2100" b="0">
                <a:solidFill>
                  <a:srgbClr val="202124"/>
                </a:solidFill>
                <a:latin typeface="Arial"/>
                <a:ea typeface="Arial"/>
                <a:cs typeface="Arial"/>
              </a:defRPr>
            </a:lvl1pPr>
            <a:lvl2pPr algn="l">
              <a:defRPr sz="2100" b="0">
                <a:solidFill>
                  <a:srgbClr val="202124"/>
                </a:solidFill>
                <a:latin typeface="Arial"/>
                <a:ea typeface="Arial"/>
                <a:cs typeface="Arial"/>
              </a:defRPr>
            </a:lvl2pPr>
            <a:lvl3pPr algn="l">
              <a:defRPr sz="2100" b="0">
                <a:solidFill>
                  <a:srgbClr val="202124"/>
                </a:solidFill>
                <a:latin typeface="Arial"/>
                <a:ea typeface="Arial"/>
                <a:cs typeface="Arial"/>
              </a:defRPr>
            </a:lvl3pPr>
            <a:lvl4pPr algn="l">
              <a:defRPr sz="2100" b="0">
                <a:solidFill>
                  <a:srgbClr val="202124"/>
                </a:solidFill>
                <a:latin typeface="Arial"/>
                <a:ea typeface="Arial"/>
                <a:cs typeface="Arial"/>
              </a:defRPr>
            </a:lvl4pPr>
            <a:lvl5pPr algn="l">
              <a:defRPr sz="2100" b="0">
                <a:solidFill>
                  <a:srgbClr val="202124"/>
                </a:solidFill>
                <a:latin typeface="Arial"/>
                <a:ea typeface="Arial"/>
                <a:cs typeface="Arial"/>
              </a:defRPr>
            </a:lvl5pPr>
            <a:lvl6pPr algn="l">
              <a:defRPr sz="2100" b="0">
                <a:solidFill>
                  <a:srgbClr val="202124"/>
                </a:solidFill>
                <a:latin typeface="Arial"/>
                <a:ea typeface="Arial"/>
                <a:cs typeface="Arial"/>
              </a:defRPr>
            </a:lvl6pPr>
            <a:lvl7pPr algn="l">
              <a:defRPr sz="2100" b="0">
                <a:solidFill>
                  <a:srgbClr val="202124"/>
                </a:solidFill>
                <a:latin typeface="Arial"/>
                <a:ea typeface="Arial"/>
                <a:cs typeface="Arial"/>
              </a:defRPr>
            </a:lvl7pPr>
            <a:lvl8pPr algn="l">
              <a:defRPr sz="2100" b="0">
                <a:solidFill>
                  <a:srgbClr val="202124"/>
                </a:solidFill>
                <a:latin typeface="Arial"/>
                <a:ea typeface="Arial"/>
                <a:cs typeface="Arial"/>
              </a:defRPr>
            </a:lvl8pPr>
            <a:lvl9pPr algn="l">
              <a:defRPr sz="2100" b="0">
                <a:solidFill>
                  <a:srgbClr val="202124"/>
                </a:solidFill>
                <a:latin typeface="Arial"/>
                <a:ea typeface="Arial"/>
                <a:cs typeface="Arial"/>
              </a:defRPr>
            </a:lvl9pPr>
          </a:lstStyle>
          <a:p>
            <a:pPr algn="l">
              <a:defRPr sz="2100" b="0">
                <a:solidFill>
                  <a:srgbClr val="202124"/>
                </a:solidFill>
                <a:latin typeface="Arial"/>
                <a:ea typeface="Arial"/>
                <a:cs typeface="Arial"/>
              </a:defRPr>
            </a:pPr>
            <a:r>
              <a:rPr sz="2100" b="0">
                <a:solidFill>
                  <a:srgbClr val="202124"/>
                </a:solidFill>
                <a:latin typeface="Arial"/>
                <a:ea typeface="Arial"/>
                <a:cs typeface="Arial"/>
              </a:rPr>
              <a:t>hₜ = GRU</a:t>
            </a:r>
            <a:r>
              <a:rPr sz="1512" b="0" baseline="-25000">
                <a:solidFill>
                  <a:srgbClr val="202124"/>
                </a:solidFill>
                <a:latin typeface="Arial"/>
                <a:ea typeface="Arial"/>
                <a:cs typeface="Arial"/>
              </a:rPr>
              <a:t>θ</a:t>
            </a:r>
            <a:r>
              <a:rPr sz="2100" b="0">
                <a:solidFill>
                  <a:srgbClr val="202124"/>
                </a:solidFill>
                <a:latin typeface="Arial"/>
                <a:ea typeface="Arial"/>
                <a:cs typeface="Arial"/>
              </a:rPr>
              <a:t>(Hₜ),    α = σ(wᵀhₜ + b)</a:t>
            </a:r>
          </a:p>
        </p:txBody>
      </p:sp>
      <p:sp>
        <p:nvSpPr>
          <p:cNvPr id="7" name="current-constraint">
            <a:extLst>
              <a:ext uri="{FF2B5EF4-FFF2-40B4-BE49-F238E27FC236}">
                <a16:creationId xmlns:a16="http://schemas.microsoft.com/office/drawing/2014/main" id="{ED5DA01B-21BA-4425-80BF-C203C1AFABCC}"/>
              </a:ext>
            </a:extLst>
          </p:cNvPr>
          <p:cNvSpPr>
            <a:spLocks noGrp="1"/>
          </p:cNvSpPr>
          <p:nvPr/>
        </p:nvSpPr>
        <p:spPr>
          <a:xfrm>
            <a:off x="914400" y="2952750"/>
            <a:ext cx="6667500" cy="438150"/>
          </a:xfrm>
          <a:prstGeom prst="rect">
            <a:avLst/>
          </a:prstGeom>
          <a:noFill/>
          <a:ln w="0">
            <a:noFill/>
          </a:ln>
        </p:spPr>
        <p:txBody>
          <a:bodyPr wrap="square" lIns="0" tIns="0" rIns="0" bIns="0" anchor="t">
            <a:noAutofit/>
          </a:bodyPr>
          <a:lstStyle>
            <a:defPPr algn="l">
              <a:defRPr sz="2175" b="0">
                <a:solidFill>
                  <a:srgbClr val="202124"/>
                </a:solidFill>
                <a:latin typeface="Arial"/>
                <a:ea typeface="Arial"/>
                <a:cs typeface="Arial"/>
              </a:defRPr>
            </a:defPPr>
            <a:lvl1pPr algn="l">
              <a:defRPr sz="2175" b="0">
                <a:solidFill>
                  <a:srgbClr val="202124"/>
                </a:solidFill>
                <a:latin typeface="Arial"/>
                <a:ea typeface="Arial"/>
                <a:cs typeface="Arial"/>
              </a:defRPr>
            </a:lvl1pPr>
            <a:lvl2pPr algn="l">
              <a:defRPr sz="2175" b="0">
                <a:solidFill>
                  <a:srgbClr val="202124"/>
                </a:solidFill>
                <a:latin typeface="Arial"/>
                <a:ea typeface="Arial"/>
                <a:cs typeface="Arial"/>
              </a:defRPr>
            </a:lvl2pPr>
            <a:lvl3pPr algn="l">
              <a:defRPr sz="2175" b="0">
                <a:solidFill>
                  <a:srgbClr val="202124"/>
                </a:solidFill>
                <a:latin typeface="Arial"/>
                <a:ea typeface="Arial"/>
                <a:cs typeface="Arial"/>
              </a:defRPr>
            </a:lvl3pPr>
            <a:lvl4pPr algn="l">
              <a:defRPr sz="2175" b="0">
                <a:solidFill>
                  <a:srgbClr val="202124"/>
                </a:solidFill>
                <a:latin typeface="Arial"/>
                <a:ea typeface="Arial"/>
                <a:cs typeface="Arial"/>
              </a:defRPr>
            </a:lvl4pPr>
            <a:lvl5pPr algn="l">
              <a:defRPr sz="2175" b="0">
                <a:solidFill>
                  <a:srgbClr val="202124"/>
                </a:solidFill>
                <a:latin typeface="Arial"/>
                <a:ea typeface="Arial"/>
                <a:cs typeface="Arial"/>
              </a:defRPr>
            </a:lvl5pPr>
            <a:lvl6pPr algn="l">
              <a:defRPr sz="2175" b="0">
                <a:solidFill>
                  <a:srgbClr val="202124"/>
                </a:solidFill>
                <a:latin typeface="Arial"/>
                <a:ea typeface="Arial"/>
                <a:cs typeface="Arial"/>
              </a:defRPr>
            </a:lvl6pPr>
            <a:lvl7pPr algn="l">
              <a:defRPr sz="2175" b="0">
                <a:solidFill>
                  <a:srgbClr val="202124"/>
                </a:solidFill>
                <a:latin typeface="Arial"/>
                <a:ea typeface="Arial"/>
                <a:cs typeface="Arial"/>
              </a:defRPr>
            </a:lvl7pPr>
            <a:lvl8pPr algn="l">
              <a:defRPr sz="2175" b="0">
                <a:solidFill>
                  <a:srgbClr val="202124"/>
                </a:solidFill>
                <a:latin typeface="Arial"/>
                <a:ea typeface="Arial"/>
                <a:cs typeface="Arial"/>
              </a:defRPr>
            </a:lvl8pPr>
            <a:lvl9pPr algn="l">
              <a:defRPr sz="2175" b="0">
                <a:solidFill>
                  <a:srgbClr val="202124"/>
                </a:solidFill>
                <a:latin typeface="Arial"/>
                <a:ea typeface="Arial"/>
                <a:cs typeface="Arial"/>
              </a:defRPr>
            </a:lvl9pPr>
          </a:lstStyle>
          <a:p>
            <a:pPr algn="l">
              <a:defRPr sz="2175" b="0">
                <a:solidFill>
                  <a:srgbClr val="202124"/>
                </a:solidFill>
                <a:latin typeface="Arial"/>
                <a:ea typeface="Arial"/>
                <a:cs typeface="Arial"/>
              </a:defRPr>
            </a:pPr>
            <a:r>
              <a:rPr sz="2175" b="0">
                <a:solidFill>
                  <a:srgbClr val="202124"/>
                </a:solidFill>
                <a:latin typeface="Arial"/>
                <a:ea typeface="Arial"/>
                <a:cs typeface="Arial"/>
              </a:rPr>
              <a:t>Sₜ = max(k</a:t>
            </a:r>
            <a:r>
              <a:rPr sz="1566" b="0" baseline="-25000">
                <a:solidFill>
                  <a:srgbClr val="202124"/>
                </a:solidFill>
                <a:latin typeface="Arial"/>
                <a:ea typeface="Arial"/>
                <a:cs typeface="Arial"/>
              </a:rPr>
              <a:t>Σ</a:t>
            </a:r>
            <a:r>
              <a:rPr sz="2175" b="0">
                <a:solidFill>
                  <a:srgbClr val="202124"/>
                </a:solidFill>
                <a:latin typeface="Arial"/>
                <a:ea typeface="Arial"/>
                <a:cs typeface="Arial"/>
              </a:rPr>
              <a:t> xₜ − Fₜ, ε)</a:t>
            </a:r>
          </a:p>
        </p:txBody>
      </p:sp>
      <p:sp>
        <p:nvSpPr>
          <p:cNvPr id="8" name="state-equation">
            <a:extLst>
              <a:ext uri="{FF2B5EF4-FFF2-40B4-BE49-F238E27FC236}">
                <a16:creationId xmlns:a16="http://schemas.microsoft.com/office/drawing/2014/main" id="{296DDED9-C169-490D-AC92-F7B687943CE6}"/>
              </a:ext>
            </a:extLst>
          </p:cNvPr>
          <p:cNvSpPr>
            <a:spLocks noGrp="1"/>
          </p:cNvSpPr>
          <p:nvPr/>
        </p:nvSpPr>
        <p:spPr>
          <a:xfrm>
            <a:off x="914400" y="3524250"/>
            <a:ext cx="6667500" cy="438150"/>
          </a:xfrm>
          <a:prstGeom prst="rect">
            <a:avLst/>
          </a:prstGeom>
          <a:noFill/>
          <a:ln w="0">
            <a:noFill/>
          </a:ln>
        </p:spPr>
        <p:txBody>
          <a:bodyPr wrap="square" lIns="0" tIns="0" rIns="0" bIns="0" anchor="t">
            <a:noAutofit/>
          </a:bodyPr>
          <a:lstStyle>
            <a:defPPr algn="l">
              <a:defRPr sz="2175" b="0">
                <a:solidFill>
                  <a:srgbClr val="202124"/>
                </a:solidFill>
                <a:latin typeface="Arial"/>
                <a:ea typeface="Arial"/>
                <a:cs typeface="Arial"/>
              </a:defRPr>
            </a:defPPr>
            <a:lvl1pPr algn="l">
              <a:defRPr sz="2175" b="0">
                <a:solidFill>
                  <a:srgbClr val="202124"/>
                </a:solidFill>
                <a:latin typeface="Arial"/>
                <a:ea typeface="Arial"/>
                <a:cs typeface="Arial"/>
              </a:defRPr>
            </a:lvl1pPr>
            <a:lvl2pPr algn="l">
              <a:defRPr sz="2175" b="0">
                <a:solidFill>
                  <a:srgbClr val="202124"/>
                </a:solidFill>
                <a:latin typeface="Arial"/>
                <a:ea typeface="Arial"/>
                <a:cs typeface="Arial"/>
              </a:defRPr>
            </a:lvl2pPr>
            <a:lvl3pPr algn="l">
              <a:defRPr sz="2175" b="0">
                <a:solidFill>
                  <a:srgbClr val="202124"/>
                </a:solidFill>
                <a:latin typeface="Arial"/>
                <a:ea typeface="Arial"/>
                <a:cs typeface="Arial"/>
              </a:defRPr>
            </a:lvl3pPr>
            <a:lvl4pPr algn="l">
              <a:defRPr sz="2175" b="0">
                <a:solidFill>
                  <a:srgbClr val="202124"/>
                </a:solidFill>
                <a:latin typeface="Arial"/>
                <a:ea typeface="Arial"/>
                <a:cs typeface="Arial"/>
              </a:defRPr>
            </a:lvl4pPr>
            <a:lvl5pPr algn="l">
              <a:defRPr sz="2175" b="0">
                <a:solidFill>
                  <a:srgbClr val="202124"/>
                </a:solidFill>
                <a:latin typeface="Arial"/>
                <a:ea typeface="Arial"/>
                <a:cs typeface="Arial"/>
              </a:defRPr>
            </a:lvl5pPr>
            <a:lvl6pPr algn="l">
              <a:defRPr sz="2175" b="0">
                <a:solidFill>
                  <a:srgbClr val="202124"/>
                </a:solidFill>
                <a:latin typeface="Arial"/>
                <a:ea typeface="Arial"/>
                <a:cs typeface="Arial"/>
              </a:defRPr>
            </a:lvl6pPr>
            <a:lvl7pPr algn="l">
              <a:defRPr sz="2175" b="0">
                <a:solidFill>
                  <a:srgbClr val="202124"/>
                </a:solidFill>
                <a:latin typeface="Arial"/>
                <a:ea typeface="Arial"/>
                <a:cs typeface="Arial"/>
              </a:defRPr>
            </a:lvl7pPr>
            <a:lvl8pPr algn="l">
              <a:defRPr sz="2175" b="0">
                <a:solidFill>
                  <a:srgbClr val="202124"/>
                </a:solidFill>
                <a:latin typeface="Arial"/>
                <a:ea typeface="Arial"/>
                <a:cs typeface="Arial"/>
              </a:defRPr>
            </a:lvl8pPr>
            <a:lvl9pPr algn="l">
              <a:defRPr sz="2175" b="0">
                <a:solidFill>
                  <a:srgbClr val="202124"/>
                </a:solidFill>
                <a:latin typeface="Arial"/>
                <a:ea typeface="Arial"/>
                <a:cs typeface="Arial"/>
              </a:defRPr>
            </a:lvl9pPr>
          </a:lstStyle>
          <a:p>
            <a:pPr algn="l">
              <a:defRPr sz="2175" b="0">
                <a:solidFill>
                  <a:srgbClr val="202124"/>
                </a:solidFill>
                <a:latin typeface="Arial"/>
                <a:ea typeface="Arial"/>
                <a:cs typeface="Arial"/>
              </a:defRPr>
            </a:pPr>
            <a:r>
              <a:rPr sz="2175" b="0">
                <a:solidFill>
                  <a:srgbClr val="202124"/>
                </a:solidFill>
                <a:latin typeface="Arial"/>
                <a:ea typeface="Arial"/>
                <a:cs typeface="Arial"/>
              </a:rPr>
              <a:t>ẑ₁ = αSₜ/k₁,    ẑ₂ = (1 − α)Sₜ/k₂</a:t>
            </a:r>
          </a:p>
        </p:txBody>
      </p:sp>
      <p:sp>
        <p:nvSpPr>
          <p:cNvPr id="9" name="allocation-meaning">
            <a:extLst>
              <a:ext uri="{FF2B5EF4-FFF2-40B4-BE49-F238E27FC236}">
                <a16:creationId xmlns:a16="http://schemas.microsoft.com/office/drawing/2014/main" id="{11F89A8E-4E3C-43F0-96AA-43962B765B07}"/>
              </a:ext>
            </a:extLst>
          </p:cNvPr>
          <p:cNvSpPr>
            <a:spLocks noGrp="1"/>
          </p:cNvSpPr>
          <p:nvPr/>
        </p:nvSpPr>
        <p:spPr>
          <a:xfrm>
            <a:off x="914400" y="4114800"/>
            <a:ext cx="6667500" cy="619125"/>
          </a:xfrm>
          <a:prstGeom prst="rect">
            <a:avLst/>
          </a:prstGeom>
          <a:noFill/>
          <a:ln w="0">
            <a:noFill/>
          </a:ln>
        </p:spPr>
        <p:txBody>
          <a:bodyPr wrap="square" lIns="0" tIns="0" rIns="0" bIns="0" anchor="t">
            <a:noAutofit/>
          </a:bodyPr>
          <a:lstStyle>
            <a:defPPr algn="l">
              <a:defRPr sz="1725" b="0">
                <a:solidFill>
                  <a:srgbClr val="62666B"/>
                </a:solidFill>
                <a:latin typeface="Arial"/>
                <a:ea typeface="Arial"/>
                <a:cs typeface="Arial"/>
              </a:defRPr>
            </a:defPPr>
            <a:lvl1pPr algn="l">
              <a:defRPr sz="1725" b="0">
                <a:solidFill>
                  <a:srgbClr val="62666B"/>
                </a:solidFill>
                <a:latin typeface="Arial"/>
                <a:ea typeface="Arial"/>
                <a:cs typeface="Arial"/>
              </a:defRPr>
            </a:lvl1pPr>
            <a:lvl2pPr algn="l">
              <a:defRPr sz="1725" b="0">
                <a:solidFill>
                  <a:srgbClr val="62666B"/>
                </a:solidFill>
                <a:latin typeface="Arial"/>
                <a:ea typeface="Arial"/>
                <a:cs typeface="Arial"/>
              </a:defRPr>
            </a:lvl2pPr>
            <a:lvl3pPr algn="l">
              <a:defRPr sz="1725" b="0">
                <a:solidFill>
                  <a:srgbClr val="62666B"/>
                </a:solidFill>
                <a:latin typeface="Arial"/>
                <a:ea typeface="Arial"/>
                <a:cs typeface="Arial"/>
              </a:defRPr>
            </a:lvl3pPr>
            <a:lvl4pPr algn="l">
              <a:defRPr sz="1725" b="0">
                <a:solidFill>
                  <a:srgbClr val="62666B"/>
                </a:solidFill>
                <a:latin typeface="Arial"/>
                <a:ea typeface="Arial"/>
                <a:cs typeface="Arial"/>
              </a:defRPr>
            </a:lvl4pPr>
            <a:lvl5pPr algn="l">
              <a:defRPr sz="1725" b="0">
                <a:solidFill>
                  <a:srgbClr val="62666B"/>
                </a:solidFill>
                <a:latin typeface="Arial"/>
                <a:ea typeface="Arial"/>
                <a:cs typeface="Arial"/>
              </a:defRPr>
            </a:lvl5pPr>
            <a:lvl6pPr algn="l">
              <a:defRPr sz="1725" b="0">
                <a:solidFill>
                  <a:srgbClr val="62666B"/>
                </a:solidFill>
                <a:latin typeface="Arial"/>
                <a:ea typeface="Arial"/>
                <a:cs typeface="Arial"/>
              </a:defRPr>
            </a:lvl6pPr>
            <a:lvl7pPr algn="l">
              <a:defRPr sz="1725" b="0">
                <a:solidFill>
                  <a:srgbClr val="62666B"/>
                </a:solidFill>
                <a:latin typeface="Arial"/>
                <a:ea typeface="Arial"/>
                <a:cs typeface="Arial"/>
              </a:defRPr>
            </a:lvl7pPr>
            <a:lvl8pPr algn="l">
              <a:defRPr sz="1725" b="0">
                <a:solidFill>
                  <a:srgbClr val="62666B"/>
                </a:solidFill>
                <a:latin typeface="Arial"/>
                <a:ea typeface="Arial"/>
                <a:cs typeface="Arial"/>
              </a:defRPr>
            </a:lvl8pPr>
            <a:lvl9pPr algn="l">
              <a:defRPr sz="1725" b="0">
                <a:solidFill>
                  <a:srgbClr val="62666B"/>
                </a:solidFill>
                <a:latin typeface="Arial"/>
                <a:ea typeface="Arial"/>
                <a:cs typeface="Arial"/>
              </a:defRPr>
            </a:lvl9pPr>
          </a:lstStyle>
          <a:p>
            <a:pPr algn="l">
              <a:defRPr sz="1725" b="0">
                <a:solidFill>
                  <a:srgbClr val="62666B"/>
                </a:solidFill>
                <a:latin typeface="Arial"/>
                <a:ea typeface="Arial"/>
                <a:cs typeface="Arial"/>
              </a:defRPr>
            </a:pPr>
            <a:r>
              <a:rPr sz="1725" b="0">
                <a:solidFill>
                  <a:srgbClr val="62666B"/>
                </a:solidFill>
                <a:latin typeface="Arial"/>
                <a:ea typeface="Arial"/>
                <a:cs typeface="Arial"/>
              </a:rPr>
              <a:t>α allocates the weighted internal state</a:t>
            </a:r>
          </a:p>
          <a:p>
            <a:pPr algn="l">
              <a:defRPr sz="1725" b="0">
                <a:solidFill>
                  <a:srgbClr val="62666B"/>
                </a:solidFill>
                <a:latin typeface="Arial"/>
                <a:ea typeface="Arial"/>
                <a:cs typeface="Arial"/>
              </a:defRPr>
            </a:pPr>
            <a:r>
              <a:rPr sz="1725" b="0">
                <a:solidFill>
                  <a:srgbClr val="62666B"/>
                </a:solidFill>
                <a:latin typeface="Arial"/>
                <a:ea typeface="Arial"/>
                <a:cs typeface="Arial"/>
              </a:rPr>
              <a:t>between fast and slow components.</a:t>
            </a:r>
          </a:p>
        </p:txBody>
      </p:sp>
      <p:sp>
        <p:nvSpPr>
          <p:cNvPr id="10" name="training-heading">
            <a:extLst>
              <a:ext uri="{FF2B5EF4-FFF2-40B4-BE49-F238E27FC236}">
                <a16:creationId xmlns:a16="http://schemas.microsoft.com/office/drawing/2014/main" id="{59522B00-07E1-41C4-BA25-B1132FC89C62}"/>
              </a:ext>
            </a:extLst>
          </p:cNvPr>
          <p:cNvSpPr>
            <a:spLocks noGrp="1"/>
          </p:cNvSpPr>
          <p:nvPr/>
        </p:nvSpPr>
        <p:spPr>
          <a:xfrm>
            <a:off x="914400" y="5143500"/>
            <a:ext cx="6667500" cy="381000"/>
          </a:xfrm>
          <a:prstGeom prst="rect">
            <a:avLst/>
          </a:prstGeom>
          <a:noFill/>
          <a:ln w="0">
            <a:noFill/>
          </a:ln>
        </p:spPr>
        <p:txBody>
          <a:bodyPr wrap="square" lIns="0" tIns="0" rIns="0" bIns="0" anchor="t">
            <a:noAutofit/>
          </a:bodyPr>
          <a:lstStyle>
            <a:defPPr algn="l">
              <a:defRPr sz="2025" b="1">
                <a:solidFill>
                  <a:srgbClr val="202124"/>
                </a:solidFill>
                <a:latin typeface="Arial"/>
                <a:ea typeface="Arial"/>
                <a:cs typeface="Arial"/>
              </a:defRPr>
            </a:defPPr>
            <a:lvl1pPr algn="l">
              <a:defRPr sz="2025" b="1">
                <a:solidFill>
                  <a:srgbClr val="202124"/>
                </a:solidFill>
                <a:latin typeface="Arial"/>
                <a:ea typeface="Arial"/>
                <a:cs typeface="Arial"/>
              </a:defRPr>
            </a:lvl1pPr>
            <a:lvl2pPr algn="l">
              <a:defRPr sz="2025" b="1">
                <a:solidFill>
                  <a:srgbClr val="202124"/>
                </a:solidFill>
                <a:latin typeface="Arial"/>
                <a:ea typeface="Arial"/>
                <a:cs typeface="Arial"/>
              </a:defRPr>
            </a:lvl2pPr>
            <a:lvl3pPr algn="l">
              <a:defRPr sz="2025" b="1">
                <a:solidFill>
                  <a:srgbClr val="202124"/>
                </a:solidFill>
                <a:latin typeface="Arial"/>
                <a:ea typeface="Arial"/>
                <a:cs typeface="Arial"/>
              </a:defRPr>
            </a:lvl3pPr>
            <a:lvl4pPr algn="l">
              <a:defRPr sz="2025" b="1">
                <a:solidFill>
                  <a:srgbClr val="202124"/>
                </a:solidFill>
                <a:latin typeface="Arial"/>
                <a:ea typeface="Arial"/>
                <a:cs typeface="Arial"/>
              </a:defRPr>
            </a:lvl4pPr>
            <a:lvl5pPr algn="l">
              <a:defRPr sz="2025" b="1">
                <a:solidFill>
                  <a:srgbClr val="202124"/>
                </a:solidFill>
                <a:latin typeface="Arial"/>
                <a:ea typeface="Arial"/>
                <a:cs typeface="Arial"/>
              </a:defRPr>
            </a:lvl5pPr>
            <a:lvl6pPr algn="l">
              <a:defRPr sz="2025" b="1">
                <a:solidFill>
                  <a:srgbClr val="202124"/>
                </a:solidFill>
                <a:latin typeface="Arial"/>
                <a:ea typeface="Arial"/>
                <a:cs typeface="Arial"/>
              </a:defRPr>
            </a:lvl6pPr>
            <a:lvl7pPr algn="l">
              <a:defRPr sz="2025" b="1">
                <a:solidFill>
                  <a:srgbClr val="202124"/>
                </a:solidFill>
                <a:latin typeface="Arial"/>
                <a:ea typeface="Arial"/>
                <a:cs typeface="Arial"/>
              </a:defRPr>
            </a:lvl7pPr>
            <a:lvl8pPr algn="l">
              <a:defRPr sz="2025" b="1">
                <a:solidFill>
                  <a:srgbClr val="202124"/>
                </a:solidFill>
                <a:latin typeface="Arial"/>
                <a:ea typeface="Arial"/>
                <a:cs typeface="Arial"/>
              </a:defRPr>
            </a:lvl8pPr>
            <a:lvl9pPr algn="l">
              <a:defRPr sz="2025" b="1">
                <a:solidFill>
                  <a:srgbClr val="202124"/>
                </a:solidFill>
                <a:latin typeface="Arial"/>
                <a:ea typeface="Arial"/>
                <a:cs typeface="Arial"/>
              </a:defRPr>
            </a:lvl9pPr>
          </a:lstStyle>
          <a:p>
            <a:pPr algn="l">
              <a:defRPr sz="2025" b="1">
                <a:solidFill>
                  <a:srgbClr val="202124"/>
                </a:solidFill>
                <a:latin typeface="Arial"/>
                <a:ea typeface="Arial"/>
                <a:cs typeface="Arial"/>
              </a:defRPr>
            </a:pPr>
            <a:r>
              <a:rPr sz="2025" b="1">
                <a:solidFill>
                  <a:srgbClr val="202124"/>
                </a:solidFill>
                <a:latin typeface="Arial"/>
                <a:ea typeface="Arial"/>
                <a:cs typeface="Arial"/>
              </a:rPr>
              <a:t>3  Train with future responses</a:t>
            </a:r>
          </a:p>
        </p:txBody>
      </p:sp>
      <p:sp>
        <p:nvSpPr>
          <p:cNvPr id="11" name="loss-equation">
            <a:extLst>
              <a:ext uri="{FF2B5EF4-FFF2-40B4-BE49-F238E27FC236}">
                <a16:creationId xmlns:a16="http://schemas.microsoft.com/office/drawing/2014/main" id="{68E103E9-35E0-46DF-897D-C8917268319F}"/>
              </a:ext>
            </a:extLst>
          </p:cNvPr>
          <p:cNvSpPr>
            <a:spLocks noGrp="1"/>
          </p:cNvSpPr>
          <p:nvPr/>
        </p:nvSpPr>
        <p:spPr>
          <a:xfrm>
            <a:off x="914400" y="5686425"/>
            <a:ext cx="6667500" cy="457200"/>
          </a:xfrm>
          <a:prstGeom prst="rect">
            <a:avLst/>
          </a:prstGeom>
          <a:noFill/>
          <a:ln w="0">
            <a:noFill/>
          </a:ln>
        </p:spPr>
        <p:txBody>
          <a:bodyPr wrap="square" lIns="0" tIns="0" rIns="0" bIns="0" anchor="t">
            <a:noAutofit/>
          </a:bodyPr>
          <a:lstStyle>
            <a:defPPr algn="l">
              <a:defRPr sz="2025" b="0">
                <a:solidFill>
                  <a:srgbClr val="202124"/>
                </a:solidFill>
                <a:latin typeface="Arial"/>
                <a:ea typeface="Arial"/>
                <a:cs typeface="Arial"/>
              </a:defRPr>
            </a:defPPr>
            <a:lvl1pPr algn="l">
              <a:defRPr sz="2025" b="0">
                <a:solidFill>
                  <a:srgbClr val="202124"/>
                </a:solidFill>
                <a:latin typeface="Arial"/>
                <a:ea typeface="Arial"/>
                <a:cs typeface="Arial"/>
              </a:defRPr>
            </a:lvl1pPr>
            <a:lvl2pPr algn="l">
              <a:defRPr sz="2025" b="0">
                <a:solidFill>
                  <a:srgbClr val="202124"/>
                </a:solidFill>
                <a:latin typeface="Arial"/>
                <a:ea typeface="Arial"/>
                <a:cs typeface="Arial"/>
              </a:defRPr>
            </a:lvl2pPr>
            <a:lvl3pPr algn="l">
              <a:defRPr sz="2025" b="0">
                <a:solidFill>
                  <a:srgbClr val="202124"/>
                </a:solidFill>
                <a:latin typeface="Arial"/>
                <a:ea typeface="Arial"/>
                <a:cs typeface="Arial"/>
              </a:defRPr>
            </a:lvl3pPr>
            <a:lvl4pPr algn="l">
              <a:defRPr sz="2025" b="0">
                <a:solidFill>
                  <a:srgbClr val="202124"/>
                </a:solidFill>
                <a:latin typeface="Arial"/>
                <a:ea typeface="Arial"/>
                <a:cs typeface="Arial"/>
              </a:defRPr>
            </a:lvl4pPr>
            <a:lvl5pPr algn="l">
              <a:defRPr sz="2025" b="0">
                <a:solidFill>
                  <a:srgbClr val="202124"/>
                </a:solidFill>
                <a:latin typeface="Arial"/>
                <a:ea typeface="Arial"/>
                <a:cs typeface="Arial"/>
              </a:defRPr>
            </a:lvl5pPr>
            <a:lvl6pPr algn="l">
              <a:defRPr sz="2025" b="0">
                <a:solidFill>
                  <a:srgbClr val="202124"/>
                </a:solidFill>
                <a:latin typeface="Arial"/>
                <a:ea typeface="Arial"/>
                <a:cs typeface="Arial"/>
              </a:defRPr>
            </a:lvl6pPr>
            <a:lvl7pPr algn="l">
              <a:defRPr sz="2025" b="0">
                <a:solidFill>
                  <a:srgbClr val="202124"/>
                </a:solidFill>
                <a:latin typeface="Arial"/>
                <a:ea typeface="Arial"/>
                <a:cs typeface="Arial"/>
              </a:defRPr>
            </a:lvl7pPr>
            <a:lvl8pPr algn="l">
              <a:defRPr sz="2025" b="0">
                <a:solidFill>
                  <a:srgbClr val="202124"/>
                </a:solidFill>
                <a:latin typeface="Arial"/>
                <a:ea typeface="Arial"/>
                <a:cs typeface="Arial"/>
              </a:defRPr>
            </a:lvl8pPr>
            <a:lvl9pPr algn="l">
              <a:defRPr sz="2025" b="0">
                <a:solidFill>
                  <a:srgbClr val="202124"/>
                </a:solidFill>
                <a:latin typeface="Arial"/>
                <a:ea typeface="Arial"/>
                <a:cs typeface="Arial"/>
              </a:defRPr>
            </a:lvl9pPr>
          </a:lstStyle>
          <a:p>
            <a:pPr algn="l">
              <a:defRPr sz="2025" b="0">
                <a:solidFill>
                  <a:srgbClr val="202124"/>
                </a:solidFill>
                <a:latin typeface="Arial"/>
                <a:ea typeface="Arial"/>
                <a:cs typeface="Arial"/>
              </a:defRPr>
            </a:pPr>
            <a:r>
              <a:rPr sz="2025" b="0">
                <a:solidFill>
                  <a:srgbClr val="202124"/>
                </a:solidFill>
                <a:latin typeface="Arial"/>
                <a:ea typeface="Arial"/>
                <a:cs typeface="Arial"/>
              </a:rPr>
              <a:t>L = ⟨((F̂ − F)/s</a:t>
            </a:r>
            <a:r>
              <a:rPr sz="1458" b="0" baseline="-25000">
                <a:solidFill>
                  <a:srgbClr val="202124"/>
                </a:solidFill>
                <a:latin typeface="Arial"/>
                <a:ea typeface="Arial"/>
                <a:cs typeface="Arial"/>
              </a:rPr>
              <a:t>F</a:t>
            </a:r>
            <a:r>
              <a:rPr sz="2025" b="0">
                <a:solidFill>
                  <a:srgbClr val="202124"/>
                </a:solidFill>
                <a:latin typeface="Arial"/>
                <a:ea typeface="Arial"/>
                <a:cs typeface="Arial"/>
              </a:rPr>
              <a:t>)² + ((x̂ − x)/s</a:t>
            </a:r>
            <a:r>
              <a:rPr sz="1458" b="0" baseline="-25000">
                <a:solidFill>
                  <a:srgbClr val="202124"/>
                </a:solidFill>
                <a:latin typeface="Arial"/>
                <a:ea typeface="Arial"/>
                <a:cs typeface="Arial"/>
              </a:rPr>
              <a:t>x</a:t>
            </a:r>
            <a:r>
              <a:rPr sz="2025" b="0">
                <a:solidFill>
                  <a:srgbClr val="202124"/>
                </a:solidFill>
                <a:latin typeface="Arial"/>
                <a:ea typeface="Arial"/>
                <a:cs typeface="Arial"/>
              </a:rPr>
              <a:t>)²⟩</a:t>
            </a:r>
          </a:p>
        </p:txBody>
      </p:sp>
      <p:sp>
        <p:nvSpPr>
          <p:cNvPr id="12" name="loss-meaning">
            <a:extLst>
              <a:ext uri="{FF2B5EF4-FFF2-40B4-BE49-F238E27FC236}">
                <a16:creationId xmlns:a16="http://schemas.microsoft.com/office/drawing/2014/main" id="{F4716531-2258-4093-9BA0-B813B0FE7E25}"/>
              </a:ext>
            </a:extLst>
          </p:cNvPr>
          <p:cNvSpPr>
            <a:spLocks noGrp="1"/>
          </p:cNvSpPr>
          <p:nvPr/>
        </p:nvSpPr>
        <p:spPr>
          <a:xfrm>
            <a:off x="914400" y="6296025"/>
            <a:ext cx="6667500" cy="666750"/>
          </a:xfrm>
          <a:prstGeom prst="rect">
            <a:avLst/>
          </a:prstGeom>
          <a:noFill/>
          <a:ln w="0">
            <a:noFill/>
          </a:ln>
        </p:spPr>
        <p:txBody>
          <a:bodyPr wrap="square" lIns="0" tIns="0" rIns="0" bIns="0" anchor="t">
            <a:noAutofit/>
          </a:bodyPr>
          <a:lstStyle>
            <a:defPPr algn="l">
              <a:defRPr sz="1725" b="0">
                <a:solidFill>
                  <a:srgbClr val="202124"/>
                </a:solidFill>
                <a:latin typeface="Arial"/>
                <a:ea typeface="Arial"/>
                <a:cs typeface="Arial"/>
              </a:defRPr>
            </a:defPPr>
            <a:lvl1pPr algn="l">
              <a:defRPr sz="1725" b="0">
                <a:solidFill>
                  <a:srgbClr val="202124"/>
                </a:solidFill>
                <a:latin typeface="Arial"/>
                <a:ea typeface="Arial"/>
                <a:cs typeface="Arial"/>
              </a:defRPr>
            </a:lvl1pPr>
            <a:lvl2pPr algn="l">
              <a:defRPr sz="1725" b="0">
                <a:solidFill>
                  <a:srgbClr val="202124"/>
                </a:solidFill>
                <a:latin typeface="Arial"/>
                <a:ea typeface="Arial"/>
                <a:cs typeface="Arial"/>
              </a:defRPr>
            </a:lvl2pPr>
            <a:lvl3pPr algn="l">
              <a:defRPr sz="1725" b="0">
                <a:solidFill>
                  <a:srgbClr val="202124"/>
                </a:solidFill>
                <a:latin typeface="Arial"/>
                <a:ea typeface="Arial"/>
                <a:cs typeface="Arial"/>
              </a:defRPr>
            </a:lvl3pPr>
            <a:lvl4pPr algn="l">
              <a:defRPr sz="1725" b="0">
                <a:solidFill>
                  <a:srgbClr val="202124"/>
                </a:solidFill>
                <a:latin typeface="Arial"/>
                <a:ea typeface="Arial"/>
                <a:cs typeface="Arial"/>
              </a:defRPr>
            </a:lvl4pPr>
            <a:lvl5pPr algn="l">
              <a:defRPr sz="1725" b="0">
                <a:solidFill>
                  <a:srgbClr val="202124"/>
                </a:solidFill>
                <a:latin typeface="Arial"/>
                <a:ea typeface="Arial"/>
                <a:cs typeface="Arial"/>
              </a:defRPr>
            </a:lvl5pPr>
            <a:lvl6pPr algn="l">
              <a:defRPr sz="1725" b="0">
                <a:solidFill>
                  <a:srgbClr val="202124"/>
                </a:solidFill>
                <a:latin typeface="Arial"/>
                <a:ea typeface="Arial"/>
                <a:cs typeface="Arial"/>
              </a:defRPr>
            </a:lvl6pPr>
            <a:lvl7pPr algn="l">
              <a:defRPr sz="1725" b="0">
                <a:solidFill>
                  <a:srgbClr val="202124"/>
                </a:solidFill>
                <a:latin typeface="Arial"/>
                <a:ea typeface="Arial"/>
                <a:cs typeface="Arial"/>
              </a:defRPr>
            </a:lvl7pPr>
            <a:lvl8pPr algn="l">
              <a:defRPr sz="1725" b="0">
                <a:solidFill>
                  <a:srgbClr val="202124"/>
                </a:solidFill>
                <a:latin typeface="Arial"/>
                <a:ea typeface="Arial"/>
                <a:cs typeface="Arial"/>
              </a:defRPr>
            </a:lvl8pPr>
            <a:lvl9pPr algn="l">
              <a:defRPr sz="1725" b="0">
                <a:solidFill>
                  <a:srgbClr val="202124"/>
                </a:solidFill>
                <a:latin typeface="Arial"/>
                <a:ea typeface="Arial"/>
                <a:cs typeface="Arial"/>
              </a:defRPr>
            </a:lvl9pPr>
          </a:lstStyle>
          <a:p>
            <a:pPr algn="l">
              <a:defRPr sz="1725" b="0">
                <a:solidFill>
                  <a:srgbClr val="202124"/>
                </a:solidFill>
                <a:latin typeface="Arial"/>
                <a:ea typeface="Arial"/>
                <a:cs typeface="Arial"/>
              </a:defRPr>
            </a:pPr>
            <a:r>
              <a:rPr sz="1725" b="0">
                <a:solidFill>
                  <a:srgbClr val="202124"/>
                </a:solidFill>
                <a:latin typeface="Arial"/>
                <a:ea typeface="Arial"/>
                <a:cs typeface="Arial"/>
              </a:rPr>
              <a:t>Future force and position supervise the estimate.</a:t>
            </a:r>
          </a:p>
          <a:p>
            <a:pPr algn="l">
              <a:defRPr sz="1725" b="0">
                <a:solidFill>
                  <a:srgbClr val="202124"/>
                </a:solidFill>
                <a:latin typeface="Arial"/>
                <a:ea typeface="Arial"/>
                <a:cs typeface="Arial"/>
              </a:defRPr>
            </a:pPr>
            <a:r>
              <a:rPr sz="1725" b="0">
                <a:solidFill>
                  <a:srgbClr val="202124"/>
                </a:solidFill>
                <a:latin typeface="Arial"/>
                <a:ea typeface="Arial"/>
                <a:cs typeface="Arial"/>
              </a:rPr>
              <a:t>Backpropagation updates the GRU and allocation head.</a:t>
            </a:r>
          </a:p>
        </p:txBody>
      </p:sp>
      <p:sp>
        <p:nvSpPr>
          <p:cNvPr id="13" name="scales">
            <a:extLst>
              <a:ext uri="{FF2B5EF4-FFF2-40B4-BE49-F238E27FC236}">
                <a16:creationId xmlns:a16="http://schemas.microsoft.com/office/drawing/2014/main" id="{847CE012-7273-4B6F-B7C7-518A58339E72}"/>
              </a:ext>
            </a:extLst>
          </p:cNvPr>
          <p:cNvSpPr>
            <a:spLocks noGrp="1"/>
          </p:cNvSpPr>
          <p:nvPr/>
        </p:nvSpPr>
        <p:spPr>
          <a:xfrm>
            <a:off x="914400" y="7067550"/>
            <a:ext cx="6667500" cy="304800"/>
          </a:xfrm>
          <a:prstGeom prst="rect">
            <a:avLst/>
          </a:prstGeom>
          <a:noFill/>
          <a:ln w="0">
            <a:noFill/>
          </a:ln>
        </p:spPr>
        <p:txBody>
          <a:bodyPr wrap="square" lIns="0" tIns="0" rIns="0" bIns="0" anchor="t">
            <a:noAutofit/>
          </a:bodyPr>
          <a:lstStyle>
            <a:defPPr algn="l">
              <a:defRPr sz="1575" b="0">
                <a:solidFill>
                  <a:srgbClr val="62666B"/>
                </a:solidFill>
                <a:latin typeface="Arial"/>
                <a:ea typeface="Arial"/>
                <a:cs typeface="Arial"/>
              </a:defRPr>
            </a:defPPr>
            <a:lvl1pPr algn="l">
              <a:defRPr sz="1575" b="0">
                <a:solidFill>
                  <a:srgbClr val="62666B"/>
                </a:solidFill>
                <a:latin typeface="Arial"/>
                <a:ea typeface="Arial"/>
                <a:cs typeface="Arial"/>
              </a:defRPr>
            </a:lvl1pPr>
            <a:lvl2pPr algn="l">
              <a:defRPr sz="1575" b="0">
                <a:solidFill>
                  <a:srgbClr val="62666B"/>
                </a:solidFill>
                <a:latin typeface="Arial"/>
                <a:ea typeface="Arial"/>
                <a:cs typeface="Arial"/>
              </a:defRPr>
            </a:lvl2pPr>
            <a:lvl3pPr algn="l">
              <a:defRPr sz="1575" b="0">
                <a:solidFill>
                  <a:srgbClr val="62666B"/>
                </a:solidFill>
                <a:latin typeface="Arial"/>
                <a:ea typeface="Arial"/>
                <a:cs typeface="Arial"/>
              </a:defRPr>
            </a:lvl3pPr>
            <a:lvl4pPr algn="l">
              <a:defRPr sz="1575" b="0">
                <a:solidFill>
                  <a:srgbClr val="62666B"/>
                </a:solidFill>
                <a:latin typeface="Arial"/>
                <a:ea typeface="Arial"/>
                <a:cs typeface="Arial"/>
              </a:defRPr>
            </a:lvl4pPr>
            <a:lvl5pPr algn="l">
              <a:defRPr sz="1575" b="0">
                <a:solidFill>
                  <a:srgbClr val="62666B"/>
                </a:solidFill>
                <a:latin typeface="Arial"/>
                <a:ea typeface="Arial"/>
                <a:cs typeface="Arial"/>
              </a:defRPr>
            </a:lvl5pPr>
            <a:lvl6pPr algn="l">
              <a:defRPr sz="1575" b="0">
                <a:solidFill>
                  <a:srgbClr val="62666B"/>
                </a:solidFill>
                <a:latin typeface="Arial"/>
                <a:ea typeface="Arial"/>
                <a:cs typeface="Arial"/>
              </a:defRPr>
            </a:lvl6pPr>
            <a:lvl7pPr algn="l">
              <a:defRPr sz="1575" b="0">
                <a:solidFill>
                  <a:srgbClr val="62666B"/>
                </a:solidFill>
                <a:latin typeface="Arial"/>
                <a:ea typeface="Arial"/>
                <a:cs typeface="Arial"/>
              </a:defRPr>
            </a:lvl7pPr>
            <a:lvl8pPr algn="l">
              <a:defRPr sz="1575" b="0">
                <a:solidFill>
                  <a:srgbClr val="62666B"/>
                </a:solidFill>
                <a:latin typeface="Arial"/>
                <a:ea typeface="Arial"/>
                <a:cs typeface="Arial"/>
              </a:defRPr>
            </a:lvl8pPr>
            <a:lvl9pPr algn="l">
              <a:defRPr sz="1575" b="0">
                <a:solidFill>
                  <a:srgbClr val="62666B"/>
                </a:solidFill>
                <a:latin typeface="Arial"/>
                <a:ea typeface="Arial"/>
                <a:cs typeface="Arial"/>
              </a:defRPr>
            </a:lvl9pPr>
          </a:lstStyle>
          <a:p>
            <a:pPr algn="l">
              <a:defRPr sz="1575" b="0">
                <a:solidFill>
                  <a:srgbClr val="62666B"/>
                </a:solidFill>
                <a:latin typeface="Arial"/>
                <a:ea typeface="Arial"/>
                <a:cs typeface="Arial"/>
              </a:defRPr>
            </a:pPr>
            <a:r>
              <a:rPr sz="1575" b="0">
                <a:solidFill>
                  <a:srgbClr val="62666B"/>
                </a:solidFill>
                <a:latin typeface="Arial"/>
                <a:ea typeface="Arial"/>
                <a:cs typeface="Arial"/>
              </a:rPr>
              <a:t>s</a:t>
            </a:r>
            <a:r>
              <a:rPr sz="1134" b="0" baseline="-25000">
                <a:solidFill>
                  <a:srgbClr val="62666B"/>
                </a:solidFill>
                <a:latin typeface="Arial"/>
                <a:ea typeface="Arial"/>
                <a:cs typeface="Arial"/>
              </a:rPr>
              <a:t>F</a:t>
            </a:r>
            <a:r>
              <a:rPr sz="1575" b="0">
                <a:solidFill>
                  <a:srgbClr val="62666B"/>
                </a:solidFill>
                <a:latin typeface="Arial"/>
                <a:ea typeface="Arial"/>
                <a:cs typeface="Arial"/>
              </a:rPr>
              <a:t> and s</a:t>
            </a:r>
            <a:r>
              <a:rPr sz="1134" b="0" baseline="-25000">
                <a:solidFill>
                  <a:srgbClr val="62666B"/>
                </a:solidFill>
                <a:latin typeface="Arial"/>
                <a:ea typeface="Arial"/>
                <a:cs typeface="Arial"/>
              </a:rPr>
              <a:t>x</a:t>
            </a:r>
            <a:r>
              <a:rPr sz="1575" b="0">
                <a:solidFill>
                  <a:srgbClr val="62666B"/>
                </a:solidFill>
                <a:latin typeface="Arial"/>
                <a:ea typeface="Arial"/>
                <a:cs typeface="Arial"/>
              </a:rPr>
              <a:t> normalize the prediction errors.</a:t>
            </a:r>
          </a:p>
        </p:txBody>
      </p:sp>
      <p:sp>
        <p:nvSpPr>
          <p:cNvPr id="14" name="physics-heading">
            <a:extLst>
              <a:ext uri="{FF2B5EF4-FFF2-40B4-BE49-F238E27FC236}">
                <a16:creationId xmlns:a16="http://schemas.microsoft.com/office/drawing/2014/main" id="{14C36125-C8B8-4792-A479-5ED708B0031F}"/>
              </a:ext>
            </a:extLst>
          </p:cNvPr>
          <p:cNvSpPr>
            <a:spLocks noGrp="1"/>
          </p:cNvSpPr>
          <p:nvPr/>
        </p:nvSpPr>
        <p:spPr>
          <a:xfrm>
            <a:off x="8001000" y="1428750"/>
            <a:ext cx="6324600" cy="381000"/>
          </a:xfrm>
          <a:prstGeom prst="rect">
            <a:avLst/>
          </a:prstGeom>
          <a:noFill/>
          <a:ln w="0">
            <a:noFill/>
          </a:ln>
        </p:spPr>
        <p:txBody>
          <a:bodyPr wrap="square" lIns="0" tIns="0" rIns="0" bIns="0" anchor="t">
            <a:noAutofit/>
          </a:bodyPr>
          <a:lstStyle>
            <a:defPPr algn="l">
              <a:defRPr sz="2025" b="1">
                <a:solidFill>
                  <a:srgbClr val="202124"/>
                </a:solidFill>
                <a:latin typeface="Arial"/>
                <a:ea typeface="Arial"/>
                <a:cs typeface="Arial"/>
              </a:defRPr>
            </a:defPPr>
            <a:lvl1pPr algn="l">
              <a:defRPr sz="2025" b="1">
                <a:solidFill>
                  <a:srgbClr val="202124"/>
                </a:solidFill>
                <a:latin typeface="Arial"/>
                <a:ea typeface="Arial"/>
                <a:cs typeface="Arial"/>
              </a:defRPr>
            </a:lvl1pPr>
            <a:lvl2pPr algn="l">
              <a:defRPr sz="2025" b="1">
                <a:solidFill>
                  <a:srgbClr val="202124"/>
                </a:solidFill>
                <a:latin typeface="Arial"/>
                <a:ea typeface="Arial"/>
                <a:cs typeface="Arial"/>
              </a:defRPr>
            </a:lvl2pPr>
            <a:lvl3pPr algn="l">
              <a:defRPr sz="2025" b="1">
                <a:solidFill>
                  <a:srgbClr val="202124"/>
                </a:solidFill>
                <a:latin typeface="Arial"/>
                <a:ea typeface="Arial"/>
                <a:cs typeface="Arial"/>
              </a:defRPr>
            </a:lvl3pPr>
            <a:lvl4pPr algn="l">
              <a:defRPr sz="2025" b="1">
                <a:solidFill>
                  <a:srgbClr val="202124"/>
                </a:solidFill>
                <a:latin typeface="Arial"/>
                <a:ea typeface="Arial"/>
                <a:cs typeface="Arial"/>
              </a:defRPr>
            </a:lvl4pPr>
            <a:lvl5pPr algn="l">
              <a:defRPr sz="2025" b="1">
                <a:solidFill>
                  <a:srgbClr val="202124"/>
                </a:solidFill>
                <a:latin typeface="Arial"/>
                <a:ea typeface="Arial"/>
                <a:cs typeface="Arial"/>
              </a:defRPr>
            </a:lvl5pPr>
            <a:lvl6pPr algn="l">
              <a:defRPr sz="2025" b="1">
                <a:solidFill>
                  <a:srgbClr val="202124"/>
                </a:solidFill>
                <a:latin typeface="Arial"/>
                <a:ea typeface="Arial"/>
                <a:cs typeface="Arial"/>
              </a:defRPr>
            </a:lvl6pPr>
            <a:lvl7pPr algn="l">
              <a:defRPr sz="2025" b="1">
                <a:solidFill>
                  <a:srgbClr val="202124"/>
                </a:solidFill>
                <a:latin typeface="Arial"/>
                <a:ea typeface="Arial"/>
                <a:cs typeface="Arial"/>
              </a:defRPr>
            </a:lvl7pPr>
            <a:lvl8pPr algn="l">
              <a:defRPr sz="2025" b="1">
                <a:solidFill>
                  <a:srgbClr val="202124"/>
                </a:solidFill>
                <a:latin typeface="Arial"/>
                <a:ea typeface="Arial"/>
                <a:cs typeface="Arial"/>
              </a:defRPr>
            </a:lvl8pPr>
            <a:lvl9pPr algn="l">
              <a:defRPr sz="2025" b="1">
                <a:solidFill>
                  <a:srgbClr val="202124"/>
                </a:solidFill>
                <a:latin typeface="Arial"/>
                <a:ea typeface="Arial"/>
                <a:cs typeface="Arial"/>
              </a:defRPr>
            </a:lvl9pPr>
          </a:lstStyle>
          <a:p>
            <a:pPr algn="l">
              <a:defRPr sz="2025" b="1">
                <a:solidFill>
                  <a:srgbClr val="202124"/>
                </a:solidFill>
                <a:latin typeface="Arial"/>
                <a:ea typeface="Arial"/>
                <a:cs typeface="Arial"/>
              </a:defRPr>
            </a:pPr>
            <a:r>
              <a:rPr sz="2025" b="1">
                <a:solidFill>
                  <a:srgbClr val="202124"/>
                </a:solidFill>
                <a:latin typeface="Arial"/>
                <a:ea typeface="Arial"/>
                <a:cs typeface="Arial"/>
              </a:rPr>
              <a:t>2  Predict force and motion</a:t>
            </a:r>
          </a:p>
        </p:txBody>
      </p:sp>
      <p:sp>
        <p:nvSpPr>
          <p:cNvPr id="15" name="stiffness-sum">
            <a:extLst>
              <a:ext uri="{FF2B5EF4-FFF2-40B4-BE49-F238E27FC236}">
                <a16:creationId xmlns:a16="http://schemas.microsoft.com/office/drawing/2014/main" id="{7039C08E-C7BA-4DF6-9E6D-F9EDA2851B5A}"/>
              </a:ext>
            </a:extLst>
          </p:cNvPr>
          <p:cNvSpPr>
            <a:spLocks noGrp="1"/>
          </p:cNvSpPr>
          <p:nvPr/>
        </p:nvSpPr>
        <p:spPr>
          <a:xfrm>
            <a:off x="8001000" y="1952625"/>
            <a:ext cx="6324600" cy="419100"/>
          </a:xfrm>
          <a:prstGeom prst="rect">
            <a:avLst/>
          </a:prstGeom>
          <a:noFill/>
          <a:ln w="0">
            <a:noFill/>
          </a:ln>
        </p:spPr>
        <p:txBody>
          <a:bodyPr wrap="square" lIns="0" tIns="0" rIns="0" bIns="0" anchor="t">
            <a:noAutofit/>
          </a:bodyPr>
          <a:lstStyle>
            <a:defPPr algn="l">
              <a:defRPr sz="2100" b="0">
                <a:solidFill>
                  <a:srgbClr val="202124"/>
                </a:solidFill>
                <a:latin typeface="Arial"/>
                <a:ea typeface="Arial"/>
                <a:cs typeface="Arial"/>
              </a:defRPr>
            </a:defPPr>
            <a:lvl1pPr algn="l">
              <a:defRPr sz="2100" b="0">
                <a:solidFill>
                  <a:srgbClr val="202124"/>
                </a:solidFill>
                <a:latin typeface="Arial"/>
                <a:ea typeface="Arial"/>
                <a:cs typeface="Arial"/>
              </a:defRPr>
            </a:lvl1pPr>
            <a:lvl2pPr algn="l">
              <a:defRPr sz="2100" b="0">
                <a:solidFill>
                  <a:srgbClr val="202124"/>
                </a:solidFill>
                <a:latin typeface="Arial"/>
                <a:ea typeface="Arial"/>
                <a:cs typeface="Arial"/>
              </a:defRPr>
            </a:lvl2pPr>
            <a:lvl3pPr algn="l">
              <a:defRPr sz="2100" b="0">
                <a:solidFill>
                  <a:srgbClr val="202124"/>
                </a:solidFill>
                <a:latin typeface="Arial"/>
                <a:ea typeface="Arial"/>
                <a:cs typeface="Arial"/>
              </a:defRPr>
            </a:lvl3pPr>
            <a:lvl4pPr algn="l">
              <a:defRPr sz="2100" b="0">
                <a:solidFill>
                  <a:srgbClr val="202124"/>
                </a:solidFill>
                <a:latin typeface="Arial"/>
                <a:ea typeface="Arial"/>
                <a:cs typeface="Arial"/>
              </a:defRPr>
            </a:lvl4pPr>
            <a:lvl5pPr algn="l">
              <a:defRPr sz="2100" b="0">
                <a:solidFill>
                  <a:srgbClr val="202124"/>
                </a:solidFill>
                <a:latin typeface="Arial"/>
                <a:ea typeface="Arial"/>
                <a:cs typeface="Arial"/>
              </a:defRPr>
            </a:lvl5pPr>
            <a:lvl6pPr algn="l">
              <a:defRPr sz="2100" b="0">
                <a:solidFill>
                  <a:srgbClr val="202124"/>
                </a:solidFill>
                <a:latin typeface="Arial"/>
                <a:ea typeface="Arial"/>
                <a:cs typeface="Arial"/>
              </a:defRPr>
            </a:lvl6pPr>
            <a:lvl7pPr algn="l">
              <a:defRPr sz="2100" b="0">
                <a:solidFill>
                  <a:srgbClr val="202124"/>
                </a:solidFill>
                <a:latin typeface="Arial"/>
                <a:ea typeface="Arial"/>
                <a:cs typeface="Arial"/>
              </a:defRPr>
            </a:lvl7pPr>
            <a:lvl8pPr algn="l">
              <a:defRPr sz="2100" b="0">
                <a:solidFill>
                  <a:srgbClr val="202124"/>
                </a:solidFill>
                <a:latin typeface="Arial"/>
                <a:ea typeface="Arial"/>
                <a:cs typeface="Arial"/>
              </a:defRPr>
            </a:lvl8pPr>
            <a:lvl9pPr algn="l">
              <a:defRPr sz="2100" b="0">
                <a:solidFill>
                  <a:srgbClr val="202124"/>
                </a:solidFill>
                <a:latin typeface="Arial"/>
                <a:ea typeface="Arial"/>
                <a:cs typeface="Arial"/>
              </a:defRPr>
            </a:lvl9pPr>
          </a:lstStyle>
          <a:p>
            <a:pPr algn="l">
              <a:defRPr sz="2100" b="0">
                <a:solidFill>
                  <a:srgbClr val="202124"/>
                </a:solidFill>
                <a:latin typeface="Arial"/>
                <a:ea typeface="Arial"/>
                <a:cs typeface="Arial"/>
              </a:defRPr>
            </a:pPr>
            <a:r>
              <a:rPr sz="2100" b="0">
                <a:solidFill>
                  <a:srgbClr val="202124"/>
                </a:solidFill>
                <a:latin typeface="Arial"/>
                <a:ea typeface="Arial"/>
                <a:cs typeface="Arial"/>
              </a:rPr>
              <a:t>k</a:t>
            </a:r>
            <a:r>
              <a:rPr sz="1512" b="0" baseline="-25000">
                <a:solidFill>
                  <a:srgbClr val="202124"/>
                </a:solidFill>
                <a:latin typeface="Arial"/>
                <a:ea typeface="Arial"/>
                <a:cs typeface="Arial"/>
              </a:rPr>
              <a:t>Σ</a:t>
            </a:r>
            <a:r>
              <a:rPr sz="2100" b="0">
                <a:solidFill>
                  <a:srgbClr val="202124"/>
                </a:solidFill>
                <a:latin typeface="Arial"/>
                <a:ea typeface="Arial"/>
                <a:cs typeface="Arial"/>
              </a:rPr>
              <a:t> = k</a:t>
            </a:r>
            <a:r>
              <a:rPr sz="1512" b="0" baseline="-25000">
                <a:solidFill>
                  <a:srgbClr val="202124"/>
                </a:solidFill>
                <a:latin typeface="Arial"/>
                <a:ea typeface="Arial"/>
                <a:cs typeface="Arial"/>
              </a:rPr>
              <a:t>∞</a:t>
            </a:r>
            <a:r>
              <a:rPr sz="2100" b="0">
                <a:solidFill>
                  <a:srgbClr val="202124"/>
                </a:solidFill>
                <a:latin typeface="Arial"/>
                <a:ea typeface="Arial"/>
                <a:cs typeface="Arial"/>
              </a:rPr>
              <a:t> + k₁ + k₂</a:t>
            </a:r>
          </a:p>
        </p:txBody>
      </p:sp>
      <p:sp>
        <p:nvSpPr>
          <p:cNvPr id="16" name="force-equation">
            <a:extLst>
              <a:ext uri="{FF2B5EF4-FFF2-40B4-BE49-F238E27FC236}">
                <a16:creationId xmlns:a16="http://schemas.microsoft.com/office/drawing/2014/main" id="{1708DC9E-9E45-4972-9662-7FADA232EE6F}"/>
              </a:ext>
            </a:extLst>
          </p:cNvPr>
          <p:cNvSpPr>
            <a:spLocks noGrp="1"/>
          </p:cNvSpPr>
          <p:nvPr/>
        </p:nvSpPr>
        <p:spPr>
          <a:xfrm>
            <a:off x="8001000" y="2524125"/>
            <a:ext cx="6324600" cy="457200"/>
          </a:xfrm>
          <a:prstGeom prst="rect">
            <a:avLst/>
          </a:prstGeom>
          <a:noFill/>
          <a:ln w="0">
            <a:noFill/>
          </a:ln>
        </p:spPr>
        <p:txBody>
          <a:bodyPr wrap="square" lIns="0" tIns="0" rIns="0" bIns="0" anchor="t">
            <a:noAutofit/>
          </a:bodyPr>
          <a:lstStyle>
            <a:defPPr algn="l">
              <a:defRPr sz="2250" b="0">
                <a:solidFill>
                  <a:srgbClr val="202124"/>
                </a:solidFill>
                <a:latin typeface="Arial"/>
                <a:ea typeface="Arial"/>
                <a:cs typeface="Arial"/>
              </a:defRPr>
            </a:defPPr>
            <a:lvl1pPr algn="l">
              <a:defRPr sz="2250" b="0">
                <a:solidFill>
                  <a:srgbClr val="202124"/>
                </a:solidFill>
                <a:latin typeface="Arial"/>
                <a:ea typeface="Arial"/>
                <a:cs typeface="Arial"/>
              </a:defRPr>
            </a:lvl1pPr>
            <a:lvl2pPr algn="l">
              <a:defRPr sz="2250" b="0">
                <a:solidFill>
                  <a:srgbClr val="202124"/>
                </a:solidFill>
                <a:latin typeface="Arial"/>
                <a:ea typeface="Arial"/>
                <a:cs typeface="Arial"/>
              </a:defRPr>
            </a:lvl2pPr>
            <a:lvl3pPr algn="l">
              <a:defRPr sz="2250" b="0">
                <a:solidFill>
                  <a:srgbClr val="202124"/>
                </a:solidFill>
                <a:latin typeface="Arial"/>
                <a:ea typeface="Arial"/>
                <a:cs typeface="Arial"/>
              </a:defRPr>
            </a:lvl3pPr>
            <a:lvl4pPr algn="l">
              <a:defRPr sz="2250" b="0">
                <a:solidFill>
                  <a:srgbClr val="202124"/>
                </a:solidFill>
                <a:latin typeface="Arial"/>
                <a:ea typeface="Arial"/>
                <a:cs typeface="Arial"/>
              </a:defRPr>
            </a:lvl4pPr>
            <a:lvl5pPr algn="l">
              <a:defRPr sz="2250" b="0">
                <a:solidFill>
                  <a:srgbClr val="202124"/>
                </a:solidFill>
                <a:latin typeface="Arial"/>
                <a:ea typeface="Arial"/>
                <a:cs typeface="Arial"/>
              </a:defRPr>
            </a:lvl5pPr>
            <a:lvl6pPr algn="l">
              <a:defRPr sz="2250" b="0">
                <a:solidFill>
                  <a:srgbClr val="202124"/>
                </a:solidFill>
                <a:latin typeface="Arial"/>
                <a:ea typeface="Arial"/>
                <a:cs typeface="Arial"/>
              </a:defRPr>
            </a:lvl6pPr>
            <a:lvl7pPr algn="l">
              <a:defRPr sz="2250" b="0">
                <a:solidFill>
                  <a:srgbClr val="202124"/>
                </a:solidFill>
                <a:latin typeface="Arial"/>
                <a:ea typeface="Arial"/>
                <a:cs typeface="Arial"/>
              </a:defRPr>
            </a:lvl7pPr>
            <a:lvl8pPr algn="l">
              <a:defRPr sz="2250" b="0">
                <a:solidFill>
                  <a:srgbClr val="202124"/>
                </a:solidFill>
                <a:latin typeface="Arial"/>
                <a:ea typeface="Arial"/>
                <a:cs typeface="Arial"/>
              </a:defRPr>
            </a:lvl8pPr>
            <a:lvl9pPr algn="l">
              <a:defRPr sz="2250" b="0">
                <a:solidFill>
                  <a:srgbClr val="202124"/>
                </a:solidFill>
                <a:latin typeface="Arial"/>
                <a:ea typeface="Arial"/>
                <a:cs typeface="Arial"/>
              </a:defRPr>
            </a:lvl9pPr>
          </a:lstStyle>
          <a:p>
            <a:pPr algn="l">
              <a:defRPr sz="2250" b="0">
                <a:solidFill>
                  <a:srgbClr val="202124"/>
                </a:solidFill>
                <a:latin typeface="Arial"/>
                <a:ea typeface="Arial"/>
                <a:cs typeface="Arial"/>
              </a:defRPr>
            </a:pPr>
            <a:r>
              <a:rPr sz="2250" b="0">
                <a:solidFill>
                  <a:srgbClr val="202124"/>
                </a:solidFill>
                <a:latin typeface="Arial"/>
                <a:ea typeface="Arial"/>
                <a:cs typeface="Arial"/>
              </a:rPr>
              <a:t>F = max(k</a:t>
            </a:r>
            <a:r>
              <a:rPr sz="1620" b="0" baseline="-25000">
                <a:solidFill>
                  <a:srgbClr val="202124"/>
                </a:solidFill>
                <a:latin typeface="Arial"/>
                <a:ea typeface="Arial"/>
                <a:cs typeface="Arial"/>
              </a:rPr>
              <a:t>Σ</a:t>
            </a:r>
            <a:r>
              <a:rPr sz="2250" b="0">
                <a:solidFill>
                  <a:srgbClr val="202124"/>
                </a:solidFill>
                <a:latin typeface="Arial"/>
                <a:ea typeface="Arial"/>
                <a:cs typeface="Arial"/>
              </a:rPr>
              <a:t> x − k₁z₁ − k₂z₂, 0)</a:t>
            </a:r>
          </a:p>
        </p:txBody>
      </p:sp>
      <p:sp>
        <p:nvSpPr>
          <p:cNvPr id="17" name="surface-equation">
            <a:extLst>
              <a:ext uri="{FF2B5EF4-FFF2-40B4-BE49-F238E27FC236}">
                <a16:creationId xmlns:a16="http://schemas.microsoft.com/office/drawing/2014/main" id="{4587991B-342A-452D-96D5-9854D37D712D}"/>
              </a:ext>
            </a:extLst>
          </p:cNvPr>
          <p:cNvSpPr>
            <a:spLocks noGrp="1"/>
          </p:cNvSpPr>
          <p:nvPr/>
        </p:nvSpPr>
        <p:spPr>
          <a:xfrm>
            <a:off x="8001000" y="3124200"/>
            <a:ext cx="6324600" cy="457200"/>
          </a:xfrm>
          <a:prstGeom prst="rect">
            <a:avLst/>
          </a:prstGeom>
          <a:noFill/>
          <a:ln w="0">
            <a:noFill/>
          </a:ln>
        </p:spPr>
        <p:txBody>
          <a:bodyPr wrap="square" lIns="0" tIns="0" rIns="0" bIns="0" anchor="t">
            <a:noAutofit/>
          </a:bodyPr>
          <a:lstStyle>
            <a:defPPr algn="l">
              <a:defRPr sz="2250" b="0">
                <a:solidFill>
                  <a:srgbClr val="202124"/>
                </a:solidFill>
                <a:latin typeface="Arial"/>
                <a:ea typeface="Arial"/>
                <a:cs typeface="Arial"/>
              </a:defRPr>
            </a:defPPr>
            <a:lvl1pPr algn="l">
              <a:defRPr sz="2250" b="0">
                <a:solidFill>
                  <a:srgbClr val="202124"/>
                </a:solidFill>
                <a:latin typeface="Arial"/>
                <a:ea typeface="Arial"/>
                <a:cs typeface="Arial"/>
              </a:defRPr>
            </a:lvl1pPr>
            <a:lvl2pPr algn="l">
              <a:defRPr sz="2250" b="0">
                <a:solidFill>
                  <a:srgbClr val="202124"/>
                </a:solidFill>
                <a:latin typeface="Arial"/>
                <a:ea typeface="Arial"/>
                <a:cs typeface="Arial"/>
              </a:defRPr>
            </a:lvl2pPr>
            <a:lvl3pPr algn="l">
              <a:defRPr sz="2250" b="0">
                <a:solidFill>
                  <a:srgbClr val="202124"/>
                </a:solidFill>
                <a:latin typeface="Arial"/>
                <a:ea typeface="Arial"/>
                <a:cs typeface="Arial"/>
              </a:defRPr>
            </a:lvl3pPr>
            <a:lvl4pPr algn="l">
              <a:defRPr sz="2250" b="0">
                <a:solidFill>
                  <a:srgbClr val="202124"/>
                </a:solidFill>
                <a:latin typeface="Arial"/>
                <a:ea typeface="Arial"/>
                <a:cs typeface="Arial"/>
              </a:defRPr>
            </a:lvl4pPr>
            <a:lvl5pPr algn="l">
              <a:defRPr sz="2250" b="0">
                <a:solidFill>
                  <a:srgbClr val="202124"/>
                </a:solidFill>
                <a:latin typeface="Arial"/>
                <a:ea typeface="Arial"/>
                <a:cs typeface="Arial"/>
              </a:defRPr>
            </a:lvl5pPr>
            <a:lvl6pPr algn="l">
              <a:defRPr sz="2250" b="0">
                <a:solidFill>
                  <a:srgbClr val="202124"/>
                </a:solidFill>
                <a:latin typeface="Arial"/>
                <a:ea typeface="Arial"/>
                <a:cs typeface="Arial"/>
              </a:defRPr>
            </a:lvl6pPr>
            <a:lvl7pPr algn="l">
              <a:defRPr sz="2250" b="0">
                <a:solidFill>
                  <a:srgbClr val="202124"/>
                </a:solidFill>
                <a:latin typeface="Arial"/>
                <a:ea typeface="Arial"/>
                <a:cs typeface="Arial"/>
              </a:defRPr>
            </a:lvl7pPr>
            <a:lvl8pPr algn="l">
              <a:defRPr sz="2250" b="0">
                <a:solidFill>
                  <a:srgbClr val="202124"/>
                </a:solidFill>
                <a:latin typeface="Arial"/>
                <a:ea typeface="Arial"/>
                <a:cs typeface="Arial"/>
              </a:defRPr>
            </a:lvl8pPr>
            <a:lvl9pPr algn="l">
              <a:defRPr sz="2250" b="0">
                <a:solidFill>
                  <a:srgbClr val="202124"/>
                </a:solidFill>
                <a:latin typeface="Arial"/>
                <a:ea typeface="Arial"/>
                <a:cs typeface="Arial"/>
              </a:defRPr>
            </a:lvl9pPr>
          </a:lstStyle>
          <a:p>
            <a:pPr algn="l">
              <a:defRPr sz="2250" b="0">
                <a:solidFill>
                  <a:srgbClr val="202124"/>
                </a:solidFill>
                <a:latin typeface="Arial"/>
                <a:ea typeface="Arial"/>
                <a:cs typeface="Arial"/>
              </a:defRPr>
            </a:pPr>
            <a:r>
              <a:rPr sz="2250" b="0">
                <a:solidFill>
                  <a:srgbClr val="202124"/>
                </a:solidFill>
                <a:latin typeface="Arial"/>
                <a:ea typeface="Arial"/>
                <a:cs typeface="Arial"/>
              </a:rPr>
              <a:t>q(z) = (k₁z₁ + k₂z₂)/k</a:t>
            </a:r>
            <a:r>
              <a:rPr sz="1620" b="0" baseline="-25000">
                <a:solidFill>
                  <a:srgbClr val="202124"/>
                </a:solidFill>
                <a:latin typeface="Arial"/>
                <a:ea typeface="Arial"/>
                <a:cs typeface="Arial"/>
              </a:rPr>
              <a:t>Σ</a:t>
            </a:r>
          </a:p>
        </p:txBody>
      </p:sp>
      <p:sp>
        <p:nvSpPr>
          <p:cNvPr id="18" name="state-evolution">
            <a:extLst>
              <a:ext uri="{FF2B5EF4-FFF2-40B4-BE49-F238E27FC236}">
                <a16:creationId xmlns:a16="http://schemas.microsoft.com/office/drawing/2014/main" id="{34835254-1B4C-4FC7-8BE8-EA115EC96766}"/>
              </a:ext>
            </a:extLst>
          </p:cNvPr>
          <p:cNvSpPr>
            <a:spLocks noGrp="1"/>
          </p:cNvSpPr>
          <p:nvPr/>
        </p:nvSpPr>
        <p:spPr>
          <a:xfrm>
            <a:off x="8001000" y="3724275"/>
            <a:ext cx="6324600" cy="457200"/>
          </a:xfrm>
          <a:prstGeom prst="rect">
            <a:avLst/>
          </a:prstGeom>
          <a:noFill/>
          <a:ln w="0">
            <a:noFill/>
          </a:ln>
        </p:spPr>
        <p:txBody>
          <a:bodyPr wrap="square" lIns="0" tIns="0" rIns="0" bIns="0" anchor="t">
            <a:noAutofit/>
          </a:bodyPr>
          <a:lstStyle>
            <a:defPPr algn="l">
              <a:defRPr sz="2175" b="0">
                <a:solidFill>
                  <a:srgbClr val="202124"/>
                </a:solidFill>
                <a:latin typeface="Arial"/>
                <a:ea typeface="Arial"/>
                <a:cs typeface="Arial"/>
              </a:defRPr>
            </a:defPPr>
            <a:lvl1pPr algn="l">
              <a:defRPr sz="2175" b="0">
                <a:solidFill>
                  <a:srgbClr val="202124"/>
                </a:solidFill>
                <a:latin typeface="Arial"/>
                <a:ea typeface="Arial"/>
                <a:cs typeface="Arial"/>
              </a:defRPr>
            </a:lvl1pPr>
            <a:lvl2pPr algn="l">
              <a:defRPr sz="2175" b="0">
                <a:solidFill>
                  <a:srgbClr val="202124"/>
                </a:solidFill>
                <a:latin typeface="Arial"/>
                <a:ea typeface="Arial"/>
                <a:cs typeface="Arial"/>
              </a:defRPr>
            </a:lvl2pPr>
            <a:lvl3pPr algn="l">
              <a:defRPr sz="2175" b="0">
                <a:solidFill>
                  <a:srgbClr val="202124"/>
                </a:solidFill>
                <a:latin typeface="Arial"/>
                <a:ea typeface="Arial"/>
                <a:cs typeface="Arial"/>
              </a:defRPr>
            </a:lvl3pPr>
            <a:lvl4pPr algn="l">
              <a:defRPr sz="2175" b="0">
                <a:solidFill>
                  <a:srgbClr val="202124"/>
                </a:solidFill>
                <a:latin typeface="Arial"/>
                <a:ea typeface="Arial"/>
                <a:cs typeface="Arial"/>
              </a:defRPr>
            </a:lvl4pPr>
            <a:lvl5pPr algn="l">
              <a:defRPr sz="2175" b="0">
                <a:solidFill>
                  <a:srgbClr val="202124"/>
                </a:solidFill>
                <a:latin typeface="Arial"/>
                <a:ea typeface="Arial"/>
                <a:cs typeface="Arial"/>
              </a:defRPr>
            </a:lvl5pPr>
            <a:lvl6pPr algn="l">
              <a:defRPr sz="2175" b="0">
                <a:solidFill>
                  <a:srgbClr val="202124"/>
                </a:solidFill>
                <a:latin typeface="Arial"/>
                <a:ea typeface="Arial"/>
                <a:cs typeface="Arial"/>
              </a:defRPr>
            </a:lvl6pPr>
            <a:lvl7pPr algn="l">
              <a:defRPr sz="2175" b="0">
                <a:solidFill>
                  <a:srgbClr val="202124"/>
                </a:solidFill>
                <a:latin typeface="Arial"/>
                <a:ea typeface="Arial"/>
                <a:cs typeface="Arial"/>
              </a:defRPr>
            </a:lvl7pPr>
            <a:lvl8pPr algn="l">
              <a:defRPr sz="2175" b="0">
                <a:solidFill>
                  <a:srgbClr val="202124"/>
                </a:solidFill>
                <a:latin typeface="Arial"/>
                <a:ea typeface="Arial"/>
                <a:cs typeface="Arial"/>
              </a:defRPr>
            </a:lvl8pPr>
            <a:lvl9pPr algn="l">
              <a:defRPr sz="2175" b="0">
                <a:solidFill>
                  <a:srgbClr val="202124"/>
                </a:solidFill>
                <a:latin typeface="Arial"/>
                <a:ea typeface="Arial"/>
                <a:cs typeface="Arial"/>
              </a:defRPr>
            </a:lvl9pPr>
          </a:lstStyle>
          <a:p>
            <a:pPr algn="l">
              <a:defRPr sz="2175" b="0">
                <a:solidFill>
                  <a:srgbClr val="202124"/>
                </a:solidFill>
                <a:latin typeface="Arial"/>
                <a:ea typeface="Arial"/>
                <a:cs typeface="Arial"/>
              </a:defRPr>
            </a:pPr>
            <a:r>
              <a:rPr sz="2175" b="0">
                <a:solidFill>
                  <a:srgbClr val="202124"/>
                </a:solidFill>
                <a:latin typeface="Arial"/>
                <a:ea typeface="Arial"/>
                <a:cs typeface="Arial"/>
              </a:rPr>
              <a:t>żᵢ = [max(x, q(z)) − zᵢ]/τᵢ</a:t>
            </a:r>
          </a:p>
        </p:txBody>
      </p:sp>
      <p:sp>
        <p:nvSpPr>
          <p:cNvPr id="19" name="motion-equation">
            <a:extLst>
              <a:ext uri="{FF2B5EF4-FFF2-40B4-BE49-F238E27FC236}">
                <a16:creationId xmlns:a16="http://schemas.microsoft.com/office/drawing/2014/main" id="{04D90DE8-EE43-4244-9E91-EF8D532FDB76}"/>
              </a:ext>
            </a:extLst>
          </p:cNvPr>
          <p:cNvSpPr>
            <a:spLocks noGrp="1"/>
          </p:cNvSpPr>
          <p:nvPr/>
        </p:nvSpPr>
        <p:spPr>
          <a:xfrm>
            <a:off x="8001000" y="4324350"/>
            <a:ext cx="6324600" cy="476250"/>
          </a:xfrm>
          <a:prstGeom prst="rect">
            <a:avLst/>
          </a:prstGeom>
          <a:noFill/>
          <a:ln w="0">
            <a:noFill/>
          </a:ln>
        </p:spPr>
        <p:txBody>
          <a:bodyPr wrap="square" lIns="0" tIns="0" rIns="0" bIns="0" anchor="t">
            <a:noAutofit/>
          </a:bodyPr>
          <a:lstStyle>
            <a:defPPr algn="l">
              <a:defRPr sz="2100" b="0">
                <a:solidFill>
                  <a:srgbClr val="202124"/>
                </a:solidFill>
                <a:latin typeface="Arial"/>
                <a:ea typeface="Arial"/>
                <a:cs typeface="Arial"/>
              </a:defRPr>
            </a:defPPr>
            <a:lvl1pPr algn="l">
              <a:defRPr sz="2100" b="0">
                <a:solidFill>
                  <a:srgbClr val="202124"/>
                </a:solidFill>
                <a:latin typeface="Arial"/>
                <a:ea typeface="Arial"/>
                <a:cs typeface="Arial"/>
              </a:defRPr>
            </a:lvl1pPr>
            <a:lvl2pPr algn="l">
              <a:defRPr sz="2100" b="0">
                <a:solidFill>
                  <a:srgbClr val="202124"/>
                </a:solidFill>
                <a:latin typeface="Arial"/>
                <a:ea typeface="Arial"/>
                <a:cs typeface="Arial"/>
              </a:defRPr>
            </a:lvl2pPr>
            <a:lvl3pPr algn="l">
              <a:defRPr sz="2100" b="0">
                <a:solidFill>
                  <a:srgbClr val="202124"/>
                </a:solidFill>
                <a:latin typeface="Arial"/>
                <a:ea typeface="Arial"/>
                <a:cs typeface="Arial"/>
              </a:defRPr>
            </a:lvl3pPr>
            <a:lvl4pPr algn="l">
              <a:defRPr sz="2100" b="0">
                <a:solidFill>
                  <a:srgbClr val="202124"/>
                </a:solidFill>
                <a:latin typeface="Arial"/>
                <a:ea typeface="Arial"/>
                <a:cs typeface="Arial"/>
              </a:defRPr>
            </a:lvl4pPr>
            <a:lvl5pPr algn="l">
              <a:defRPr sz="2100" b="0">
                <a:solidFill>
                  <a:srgbClr val="202124"/>
                </a:solidFill>
                <a:latin typeface="Arial"/>
                <a:ea typeface="Arial"/>
                <a:cs typeface="Arial"/>
              </a:defRPr>
            </a:lvl5pPr>
            <a:lvl6pPr algn="l">
              <a:defRPr sz="2100" b="0">
                <a:solidFill>
                  <a:srgbClr val="202124"/>
                </a:solidFill>
                <a:latin typeface="Arial"/>
                <a:ea typeface="Arial"/>
                <a:cs typeface="Arial"/>
              </a:defRPr>
            </a:lvl6pPr>
            <a:lvl7pPr algn="l">
              <a:defRPr sz="2100" b="0">
                <a:solidFill>
                  <a:srgbClr val="202124"/>
                </a:solidFill>
                <a:latin typeface="Arial"/>
                <a:ea typeface="Arial"/>
                <a:cs typeface="Arial"/>
              </a:defRPr>
            </a:lvl7pPr>
            <a:lvl8pPr algn="l">
              <a:defRPr sz="2100" b="0">
                <a:solidFill>
                  <a:srgbClr val="202124"/>
                </a:solidFill>
                <a:latin typeface="Arial"/>
                <a:ea typeface="Arial"/>
                <a:cs typeface="Arial"/>
              </a:defRPr>
            </a:lvl8pPr>
            <a:lvl9pPr algn="l">
              <a:defRPr sz="2100" b="0">
                <a:solidFill>
                  <a:srgbClr val="202124"/>
                </a:solidFill>
                <a:latin typeface="Arial"/>
                <a:ea typeface="Arial"/>
                <a:cs typeface="Arial"/>
              </a:defRPr>
            </a:lvl9pPr>
          </a:lstStyle>
          <a:p>
            <a:pPr algn="l">
              <a:defRPr sz="2100" b="0">
                <a:solidFill>
                  <a:srgbClr val="202124"/>
                </a:solidFill>
                <a:latin typeface="Arial"/>
                <a:ea typeface="Arial"/>
                <a:cs typeface="Arial"/>
              </a:defRPr>
            </a:pPr>
            <a:r>
              <a:rPr sz="2100" b="0">
                <a:solidFill>
                  <a:srgbClr val="202124"/>
                </a:solidFill>
                <a:latin typeface="Arial"/>
                <a:ea typeface="Arial"/>
                <a:cs typeface="Arial"/>
              </a:rPr>
              <a:t>ẋ = v,    m v̇ = K(u − x) − Dv − F</a:t>
            </a:r>
          </a:p>
        </p:txBody>
      </p:sp>
      <p:sp>
        <p:nvSpPr>
          <p:cNvPr id="20" name="symbols">
            <a:extLst>
              <a:ext uri="{FF2B5EF4-FFF2-40B4-BE49-F238E27FC236}">
                <a16:creationId xmlns:a16="http://schemas.microsoft.com/office/drawing/2014/main" id="{9A476A8C-0F77-4C5D-A9F3-5CD7352B1C0D}"/>
              </a:ext>
            </a:extLst>
          </p:cNvPr>
          <p:cNvSpPr>
            <a:spLocks noGrp="1"/>
          </p:cNvSpPr>
          <p:nvPr/>
        </p:nvSpPr>
        <p:spPr>
          <a:xfrm>
            <a:off x="8001000" y="5038725"/>
            <a:ext cx="6324600" cy="1219200"/>
          </a:xfrm>
          <a:prstGeom prst="rect">
            <a:avLst/>
          </a:prstGeom>
          <a:noFill/>
          <a:ln w="0">
            <a:noFill/>
          </a:ln>
        </p:spPr>
        <p:txBody>
          <a:bodyPr wrap="square" lIns="0" tIns="0" rIns="0" bIns="0" anchor="t">
            <a:noAutofit/>
          </a:bodyPr>
          <a:lstStyle>
            <a:defPPr algn="l">
              <a:defRPr sz="1725" b="0">
                <a:solidFill>
                  <a:srgbClr val="62666B"/>
                </a:solidFill>
                <a:latin typeface="Arial"/>
                <a:ea typeface="Arial"/>
                <a:cs typeface="Arial"/>
              </a:defRPr>
            </a:defPPr>
            <a:lvl1pPr algn="l">
              <a:defRPr sz="1725" b="0">
                <a:solidFill>
                  <a:srgbClr val="62666B"/>
                </a:solidFill>
                <a:latin typeface="Arial"/>
                <a:ea typeface="Arial"/>
                <a:cs typeface="Arial"/>
              </a:defRPr>
            </a:lvl1pPr>
            <a:lvl2pPr algn="l">
              <a:defRPr sz="1725" b="0">
                <a:solidFill>
                  <a:srgbClr val="62666B"/>
                </a:solidFill>
                <a:latin typeface="Arial"/>
                <a:ea typeface="Arial"/>
                <a:cs typeface="Arial"/>
              </a:defRPr>
            </a:lvl2pPr>
            <a:lvl3pPr algn="l">
              <a:defRPr sz="1725" b="0">
                <a:solidFill>
                  <a:srgbClr val="62666B"/>
                </a:solidFill>
                <a:latin typeface="Arial"/>
                <a:ea typeface="Arial"/>
                <a:cs typeface="Arial"/>
              </a:defRPr>
            </a:lvl3pPr>
            <a:lvl4pPr algn="l">
              <a:defRPr sz="1725" b="0">
                <a:solidFill>
                  <a:srgbClr val="62666B"/>
                </a:solidFill>
                <a:latin typeface="Arial"/>
                <a:ea typeface="Arial"/>
                <a:cs typeface="Arial"/>
              </a:defRPr>
            </a:lvl4pPr>
            <a:lvl5pPr algn="l">
              <a:defRPr sz="1725" b="0">
                <a:solidFill>
                  <a:srgbClr val="62666B"/>
                </a:solidFill>
                <a:latin typeface="Arial"/>
                <a:ea typeface="Arial"/>
                <a:cs typeface="Arial"/>
              </a:defRPr>
            </a:lvl5pPr>
            <a:lvl6pPr algn="l">
              <a:defRPr sz="1725" b="0">
                <a:solidFill>
                  <a:srgbClr val="62666B"/>
                </a:solidFill>
                <a:latin typeface="Arial"/>
                <a:ea typeface="Arial"/>
                <a:cs typeface="Arial"/>
              </a:defRPr>
            </a:lvl6pPr>
            <a:lvl7pPr algn="l">
              <a:defRPr sz="1725" b="0">
                <a:solidFill>
                  <a:srgbClr val="62666B"/>
                </a:solidFill>
                <a:latin typeface="Arial"/>
                <a:ea typeface="Arial"/>
                <a:cs typeface="Arial"/>
              </a:defRPr>
            </a:lvl7pPr>
            <a:lvl8pPr algn="l">
              <a:defRPr sz="1725" b="0">
                <a:solidFill>
                  <a:srgbClr val="62666B"/>
                </a:solidFill>
                <a:latin typeface="Arial"/>
                <a:ea typeface="Arial"/>
                <a:cs typeface="Arial"/>
              </a:defRPr>
            </a:lvl8pPr>
            <a:lvl9pPr algn="l">
              <a:defRPr sz="1725" b="0">
                <a:solidFill>
                  <a:srgbClr val="62666B"/>
                </a:solidFill>
                <a:latin typeface="Arial"/>
                <a:ea typeface="Arial"/>
                <a:cs typeface="Arial"/>
              </a:defRPr>
            </a:lvl9pPr>
          </a:lstStyle>
          <a:p>
            <a:pPr algn="l">
              <a:defRPr sz="1725" b="0">
                <a:solidFill>
                  <a:srgbClr val="62666B"/>
                </a:solidFill>
                <a:latin typeface="Arial"/>
                <a:ea typeface="Arial"/>
                <a:cs typeface="Arial"/>
              </a:defRPr>
            </a:pPr>
            <a:r>
              <a:rPr sz="1725" b="0">
                <a:solidFill>
                  <a:srgbClr val="62666B"/>
                </a:solidFill>
                <a:latin typeface="Arial"/>
                <a:ea typeface="Arial"/>
                <a:cs typeface="Arial"/>
              </a:rPr>
              <a:t>u: planned position command</a:t>
            </a:r>
          </a:p>
          <a:p>
            <a:pPr algn="l">
              <a:defRPr sz="1725" b="0">
                <a:solidFill>
                  <a:srgbClr val="62666B"/>
                </a:solidFill>
                <a:latin typeface="Arial"/>
                <a:ea typeface="Arial"/>
                <a:cs typeface="Arial"/>
              </a:defRPr>
            </a:pPr>
            <a:r>
              <a:rPr sz="1725" b="0">
                <a:solidFill>
                  <a:srgbClr val="62666B"/>
                </a:solidFill>
                <a:latin typeface="Arial"/>
                <a:ea typeface="Arial"/>
                <a:cs typeface="Arial"/>
              </a:rPr>
              <a:t>K, D: controller stiffness and damping</a:t>
            </a:r>
          </a:p>
          <a:p>
            <a:pPr algn="l">
              <a:defRPr sz="1725" b="0">
                <a:solidFill>
                  <a:srgbClr val="62666B"/>
                </a:solidFill>
                <a:latin typeface="Arial"/>
                <a:ea typeface="Arial"/>
                <a:cs typeface="Arial"/>
              </a:defRPr>
            </a:pPr>
            <a:r>
              <a:rPr sz="1725" b="0">
                <a:solidFill>
                  <a:srgbClr val="62666B"/>
                </a:solidFill>
                <a:latin typeface="Arial"/>
                <a:ea typeface="Arial"/>
                <a:cs typeface="Arial"/>
              </a:rPr>
              <a:t>q(z): free-surface compression</a:t>
            </a:r>
          </a:p>
          <a:p>
            <a:pPr algn="l">
              <a:defRPr sz="1725" b="0">
                <a:solidFill>
                  <a:srgbClr val="62666B"/>
                </a:solidFill>
                <a:latin typeface="Arial"/>
                <a:ea typeface="Arial"/>
                <a:cs typeface="Arial"/>
              </a:defRPr>
            </a:pPr>
            <a:r>
              <a:rPr sz="1725" b="0">
                <a:solidFill>
                  <a:srgbClr val="62666B"/>
                </a:solidFill>
                <a:latin typeface="Arial"/>
                <a:ea typeface="Arial"/>
                <a:cs typeface="Arial"/>
              </a:rPr>
              <a:t>m: actuator mass    τᵢ: relaxation time</a:t>
            </a:r>
          </a:p>
        </p:txBody>
      </p:sp>
      <p:sp>
        <p:nvSpPr>
          <p:cNvPr id="21" name="initialization">
            <a:extLst>
              <a:ext uri="{FF2B5EF4-FFF2-40B4-BE49-F238E27FC236}">
                <a16:creationId xmlns:a16="http://schemas.microsoft.com/office/drawing/2014/main" id="{D7C21FB7-7B65-4E00-9098-261270DA4BE3}"/>
              </a:ext>
            </a:extLst>
          </p:cNvPr>
          <p:cNvSpPr>
            <a:spLocks noGrp="1"/>
          </p:cNvSpPr>
          <p:nvPr/>
        </p:nvSpPr>
        <p:spPr>
          <a:xfrm>
            <a:off x="8001000" y="6353175"/>
            <a:ext cx="6324600" cy="666750"/>
          </a:xfrm>
          <a:prstGeom prst="rect">
            <a:avLst/>
          </a:prstGeom>
          <a:noFill/>
          <a:ln w="0">
            <a:noFill/>
          </a:ln>
        </p:spPr>
        <p:txBody>
          <a:bodyPr wrap="square" lIns="0" tIns="0" rIns="0" bIns="0" anchor="t">
            <a:noAutofit/>
          </a:bodyPr>
          <a:lstStyle>
            <a:defPPr algn="l">
              <a:defRPr sz="1800" b="0">
                <a:solidFill>
                  <a:srgbClr val="202124"/>
                </a:solidFill>
                <a:latin typeface="Arial"/>
                <a:ea typeface="Arial"/>
                <a:cs typeface="Arial"/>
              </a:defRPr>
            </a:defPPr>
            <a:lvl1pPr algn="l">
              <a:defRPr sz="1800" b="0">
                <a:solidFill>
                  <a:srgbClr val="202124"/>
                </a:solidFill>
                <a:latin typeface="Arial"/>
                <a:ea typeface="Arial"/>
                <a:cs typeface="Arial"/>
              </a:defRPr>
            </a:lvl1pPr>
            <a:lvl2pPr algn="l">
              <a:defRPr sz="1800" b="0">
                <a:solidFill>
                  <a:srgbClr val="202124"/>
                </a:solidFill>
                <a:latin typeface="Arial"/>
                <a:ea typeface="Arial"/>
                <a:cs typeface="Arial"/>
              </a:defRPr>
            </a:lvl2pPr>
            <a:lvl3pPr algn="l">
              <a:defRPr sz="1800" b="0">
                <a:solidFill>
                  <a:srgbClr val="202124"/>
                </a:solidFill>
                <a:latin typeface="Arial"/>
                <a:ea typeface="Arial"/>
                <a:cs typeface="Arial"/>
              </a:defRPr>
            </a:lvl3pPr>
            <a:lvl4pPr algn="l">
              <a:defRPr sz="1800" b="0">
                <a:solidFill>
                  <a:srgbClr val="202124"/>
                </a:solidFill>
                <a:latin typeface="Arial"/>
                <a:ea typeface="Arial"/>
                <a:cs typeface="Arial"/>
              </a:defRPr>
            </a:lvl4pPr>
            <a:lvl5pPr algn="l">
              <a:defRPr sz="1800" b="0">
                <a:solidFill>
                  <a:srgbClr val="202124"/>
                </a:solidFill>
                <a:latin typeface="Arial"/>
                <a:ea typeface="Arial"/>
                <a:cs typeface="Arial"/>
              </a:defRPr>
            </a:lvl5pPr>
            <a:lvl6pPr algn="l">
              <a:defRPr sz="1800" b="0">
                <a:solidFill>
                  <a:srgbClr val="202124"/>
                </a:solidFill>
                <a:latin typeface="Arial"/>
                <a:ea typeface="Arial"/>
                <a:cs typeface="Arial"/>
              </a:defRPr>
            </a:lvl6pPr>
            <a:lvl7pPr algn="l">
              <a:defRPr sz="1800" b="0">
                <a:solidFill>
                  <a:srgbClr val="202124"/>
                </a:solidFill>
                <a:latin typeface="Arial"/>
                <a:ea typeface="Arial"/>
                <a:cs typeface="Arial"/>
              </a:defRPr>
            </a:lvl7pPr>
            <a:lvl8pPr algn="l">
              <a:defRPr sz="1800" b="0">
                <a:solidFill>
                  <a:srgbClr val="202124"/>
                </a:solidFill>
                <a:latin typeface="Arial"/>
                <a:ea typeface="Arial"/>
                <a:cs typeface="Arial"/>
              </a:defRPr>
            </a:lvl8pPr>
            <a:lvl9pPr algn="l">
              <a:defRPr sz="1800" b="0">
                <a:solidFill>
                  <a:srgbClr val="202124"/>
                </a:solidFill>
                <a:latin typeface="Arial"/>
                <a:ea typeface="Arial"/>
                <a:cs typeface="Arial"/>
              </a:defRPr>
            </a:lvl9pPr>
          </a:lstStyle>
          <a:p>
            <a:pPr algn="l">
              <a:defRPr sz="1800" b="0">
                <a:solidFill>
                  <a:srgbClr val="202124"/>
                </a:solidFill>
                <a:latin typeface="Arial"/>
                <a:ea typeface="Arial"/>
                <a:cs typeface="Arial"/>
              </a:defRPr>
            </a:pPr>
            <a:r>
              <a:rPr sz="1800" b="0">
                <a:solidFill>
                  <a:srgbClr val="202124"/>
                </a:solidFill>
                <a:latin typeface="Arial"/>
                <a:ea typeface="Arial"/>
                <a:cs typeface="Arial"/>
              </a:rPr>
              <a:t>Integrate from (xₜ, vₜ, ẑ₁, ẑ₂)</a:t>
            </a:r>
          </a:p>
          <a:p>
            <a:pPr algn="l">
              <a:defRPr sz="1800" b="0">
                <a:solidFill>
                  <a:srgbClr val="202124"/>
                </a:solidFill>
                <a:latin typeface="Arial"/>
                <a:ea typeface="Arial"/>
                <a:cs typeface="Arial"/>
              </a:defRPr>
            </a:pPr>
            <a:r>
              <a:rPr sz="1800" b="0">
                <a:solidFill>
                  <a:srgbClr val="202124"/>
                </a:solidFill>
                <a:latin typeface="Arial"/>
                <a:ea typeface="Arial"/>
                <a:cs typeface="Arial"/>
              </a:rPr>
              <a:t>with the planned future commands.</a:t>
            </a:r>
          </a:p>
        </p:txBody>
      </p:sp>
      <p:sp>
        <p:nvSpPr>
          <p:cNvPr id="22" name="setup">
            <a:extLst>
              <a:ext uri="{FF2B5EF4-FFF2-40B4-BE49-F238E27FC236}">
                <a16:creationId xmlns:a16="http://schemas.microsoft.com/office/drawing/2014/main" id="{6952EB71-C600-4FD8-A1C0-A131AF216A0B}"/>
              </a:ext>
            </a:extLst>
          </p:cNvPr>
          <p:cNvSpPr>
            <a:spLocks noGrp="1"/>
          </p:cNvSpPr>
          <p:nvPr/>
        </p:nvSpPr>
        <p:spPr>
          <a:xfrm>
            <a:off x="914400" y="7762875"/>
            <a:ext cx="13411200" cy="333375"/>
          </a:xfrm>
          <a:prstGeom prst="rect">
            <a:avLst/>
          </a:prstGeom>
          <a:noFill/>
          <a:ln w="0">
            <a:noFill/>
          </a:ln>
        </p:spPr>
        <p:txBody>
          <a:bodyPr wrap="square" lIns="0" tIns="0" rIns="0" bIns="0" anchor="t">
            <a:noAutofit/>
          </a:bodyPr>
          <a:lstStyle>
            <a:defPPr algn="l">
              <a:defRPr sz="1725" b="0">
                <a:solidFill>
                  <a:srgbClr val="62666B"/>
                </a:solidFill>
                <a:latin typeface="Arial"/>
                <a:ea typeface="Arial"/>
                <a:cs typeface="Arial"/>
              </a:defRPr>
            </a:defPPr>
            <a:lvl1pPr algn="l">
              <a:defRPr sz="1725" b="0">
                <a:solidFill>
                  <a:srgbClr val="62666B"/>
                </a:solidFill>
                <a:latin typeface="Arial"/>
                <a:ea typeface="Arial"/>
                <a:cs typeface="Arial"/>
              </a:defRPr>
            </a:lvl1pPr>
            <a:lvl2pPr algn="l">
              <a:defRPr sz="1725" b="0">
                <a:solidFill>
                  <a:srgbClr val="62666B"/>
                </a:solidFill>
                <a:latin typeface="Arial"/>
                <a:ea typeface="Arial"/>
                <a:cs typeface="Arial"/>
              </a:defRPr>
            </a:lvl2pPr>
            <a:lvl3pPr algn="l">
              <a:defRPr sz="1725" b="0">
                <a:solidFill>
                  <a:srgbClr val="62666B"/>
                </a:solidFill>
                <a:latin typeface="Arial"/>
                <a:ea typeface="Arial"/>
                <a:cs typeface="Arial"/>
              </a:defRPr>
            </a:lvl3pPr>
            <a:lvl4pPr algn="l">
              <a:defRPr sz="1725" b="0">
                <a:solidFill>
                  <a:srgbClr val="62666B"/>
                </a:solidFill>
                <a:latin typeface="Arial"/>
                <a:ea typeface="Arial"/>
                <a:cs typeface="Arial"/>
              </a:defRPr>
            </a:lvl4pPr>
            <a:lvl5pPr algn="l">
              <a:defRPr sz="1725" b="0">
                <a:solidFill>
                  <a:srgbClr val="62666B"/>
                </a:solidFill>
                <a:latin typeface="Arial"/>
                <a:ea typeface="Arial"/>
                <a:cs typeface="Arial"/>
              </a:defRPr>
            </a:lvl5pPr>
            <a:lvl6pPr algn="l">
              <a:defRPr sz="1725" b="0">
                <a:solidFill>
                  <a:srgbClr val="62666B"/>
                </a:solidFill>
                <a:latin typeface="Arial"/>
                <a:ea typeface="Arial"/>
                <a:cs typeface="Arial"/>
              </a:defRPr>
            </a:lvl6pPr>
            <a:lvl7pPr algn="l">
              <a:defRPr sz="1725" b="0">
                <a:solidFill>
                  <a:srgbClr val="62666B"/>
                </a:solidFill>
                <a:latin typeface="Arial"/>
                <a:ea typeface="Arial"/>
                <a:cs typeface="Arial"/>
              </a:defRPr>
            </a:lvl7pPr>
            <a:lvl8pPr algn="l">
              <a:defRPr sz="1725" b="0">
                <a:solidFill>
                  <a:srgbClr val="62666B"/>
                </a:solidFill>
                <a:latin typeface="Arial"/>
                <a:ea typeface="Arial"/>
                <a:cs typeface="Arial"/>
              </a:defRPr>
            </a:lvl8pPr>
            <a:lvl9pPr algn="l">
              <a:defRPr sz="1725" b="0">
                <a:solidFill>
                  <a:srgbClr val="62666B"/>
                </a:solidFill>
                <a:latin typeface="Arial"/>
                <a:ea typeface="Arial"/>
                <a:cs typeface="Arial"/>
              </a:defRPr>
            </a:lvl9pPr>
          </a:lstStyle>
          <a:p>
            <a:pPr algn="l">
              <a:defRPr sz="1725" b="0">
                <a:solidFill>
                  <a:srgbClr val="62666B"/>
                </a:solidFill>
                <a:latin typeface="Arial"/>
                <a:ea typeface="Arial"/>
                <a:cs typeface="Arial"/>
              </a:defRPr>
            </a:pPr>
            <a:r>
              <a:rPr sz="1725" b="0">
                <a:solidFill>
                  <a:srgbClr val="62666B"/>
                </a:solidFill>
                <a:latin typeface="Arial"/>
                <a:ea typeface="Arial"/>
                <a:cs typeface="Arial"/>
              </a:rPr>
              <a:t>Material parameters stay fixed during encoder training. 1D motion, 2D material state.</a:t>
            </a:r>
          </a:p>
        </p:txBody>
      </p:sp>
    </p:spTree>
    <p:extLst>
      <p:ext uri="{BB962C8B-B14F-4D97-AF65-F5344CB8AC3E}">
        <p14:creationId xmlns:p14="http://schemas.microsoft.com/office/powerpoint/2010/main" val="261086289"/>
      </p:ext>
    </p:extLst>
  </p:cSld>
  <p:clrMapOvr>
    <a:masterClrMapping/>
  </p:clrMapOvr>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1C496FFE-B6C0-4DA0-B88A-236BAC997007}"/>
              </a:ext>
            </a:extLst>
          </p:cNvPr>
          <p:cNvSpPr>
            <a:spLocks xmlns:a="http://schemas.openxmlformats.org/drawingml/2006/main" noGrp="1"/>
          </p:cNvSpPr>
          <p:nvPr/>
        </p:nvSpPr>
        <p:spPr>
          <a:xfrm xmlns:a="http://schemas.openxmlformats.org/drawingml/2006/main">
            <a:off x="914400" y="552450"/>
            <a:ext cx="1341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02124"/>
                </a:solidFill>
                <a:latin typeface="Arial"/>
                <a:ea typeface="Arial"/>
                <a:cs typeface="Arial"/>
              </a:defRPr>
            </a:defPPr>
            <a:lvl1pPr algn="l">
              <a:defRPr sz="2400" b="1">
                <a:solidFill>
                  <a:srgbClr val="202124"/>
                </a:solidFill>
                <a:latin typeface="Arial"/>
                <a:ea typeface="Arial"/>
                <a:cs typeface="Arial"/>
              </a:defRPr>
            </a:lvl1pPr>
            <a:lvl2pPr algn="l">
              <a:defRPr sz="2400" b="1">
                <a:solidFill>
                  <a:srgbClr val="202124"/>
                </a:solidFill>
                <a:latin typeface="Arial"/>
                <a:ea typeface="Arial"/>
                <a:cs typeface="Arial"/>
              </a:defRPr>
            </a:lvl2pPr>
            <a:lvl3pPr algn="l">
              <a:defRPr sz="2400" b="1">
                <a:solidFill>
                  <a:srgbClr val="202124"/>
                </a:solidFill>
                <a:latin typeface="Arial"/>
                <a:ea typeface="Arial"/>
                <a:cs typeface="Arial"/>
              </a:defRPr>
            </a:lvl3pPr>
            <a:lvl4pPr algn="l">
              <a:defRPr sz="2400" b="1">
                <a:solidFill>
                  <a:srgbClr val="202124"/>
                </a:solidFill>
                <a:latin typeface="Arial"/>
                <a:ea typeface="Arial"/>
                <a:cs typeface="Arial"/>
              </a:defRPr>
            </a:lvl4pPr>
            <a:lvl5pPr algn="l">
              <a:defRPr sz="2400" b="1">
                <a:solidFill>
                  <a:srgbClr val="202124"/>
                </a:solidFill>
                <a:latin typeface="Arial"/>
                <a:ea typeface="Arial"/>
                <a:cs typeface="Arial"/>
              </a:defRPr>
            </a:lvl5pPr>
            <a:lvl6pPr algn="l">
              <a:defRPr sz="2400" b="1">
                <a:solidFill>
                  <a:srgbClr val="202124"/>
                </a:solidFill>
                <a:latin typeface="Arial"/>
                <a:ea typeface="Arial"/>
                <a:cs typeface="Arial"/>
              </a:defRPr>
            </a:lvl6pPr>
            <a:lvl7pPr algn="l">
              <a:defRPr sz="2400" b="1">
                <a:solidFill>
                  <a:srgbClr val="202124"/>
                </a:solidFill>
                <a:latin typeface="Arial"/>
                <a:ea typeface="Arial"/>
                <a:cs typeface="Arial"/>
              </a:defRPr>
            </a:lvl7pPr>
            <a:lvl8pPr algn="l">
              <a:defRPr sz="2400" b="1">
                <a:solidFill>
                  <a:srgbClr val="202124"/>
                </a:solidFill>
                <a:latin typeface="Arial"/>
                <a:ea typeface="Arial"/>
                <a:cs typeface="Arial"/>
              </a:defRPr>
            </a:lvl8pPr>
            <a:lvl9pPr algn="l">
              <a:defRPr sz="2400" b="1">
                <a:solidFill>
                  <a:srgbClr val="202124"/>
                </a:solidFill>
                <a:latin typeface="Arial"/>
                <a:ea typeface="Arial"/>
                <a:cs typeface="Arial"/>
              </a:defRPr>
            </a:lvl9pPr>
          </a:lstStyle>
          <a:p xmlns:a="http://schemas.openxmlformats.org/drawingml/2006/main">
            <a:pPr algn="l">
              <a:defRPr sz="2400" b="1">
                <a:solidFill>
                  <a:srgbClr val="202124"/>
                </a:solidFill>
                <a:latin typeface="Arial"/>
                <a:ea typeface="Arial"/>
                <a:cs typeface="Arial"/>
              </a:defRPr>
            </a:pPr>
            <a:r>
              <a:rPr sz="2400" b="1">
                <a:solidFill>
                  <a:srgbClr val="202124"/>
                </a:solidFill>
                <a:latin typeface="Arial"/>
                <a:ea typeface="Arial"/>
                <a:cs typeface="Arial"/>
              </a:rPr>
              <a:t>Baseline characteristics and the RME adaptation</a:t>
            </a:r>
          </a:p>
        </p:txBody>
      </p:sp>
      <p:sp>
        <p:nvSpPr>
          <p:cNvPr id="2" name="baseline-scope">
            <a:extLst xmlns:a="http://schemas.openxmlformats.org/drawingml/2006/main">
              <a:ext uri="{FF2B5EF4-FFF2-40B4-BE49-F238E27FC236}">
                <a16:creationId xmlns:a16="http://schemas.microsoft.com/office/drawing/2014/main" id="{2FA5C2AD-B518-47B4-A736-E2058572ABB7}"/>
              </a:ext>
            </a:extLst>
          </p:cNvPr>
          <p:cNvSpPr>
            <a:spLocks xmlns:a="http://schemas.openxmlformats.org/drawingml/2006/main" noGrp="1"/>
          </p:cNvSpPr>
          <p:nvPr/>
        </p:nvSpPr>
        <p:spPr>
          <a:xfrm xmlns:a="http://schemas.openxmlformats.org/drawingml/2006/main">
            <a:off x="914400" y="1333500"/>
            <a:ext cx="1341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124"/>
                </a:solidFill>
                <a:latin typeface="Arial"/>
                <a:ea typeface="Arial"/>
                <a:cs typeface="Arial"/>
              </a:defRPr>
            </a:defPPr>
            <a:lvl1pPr algn="l">
              <a:defRPr sz="1800" b="0">
                <a:solidFill>
                  <a:srgbClr val="202124"/>
                </a:solidFill>
                <a:latin typeface="Arial"/>
                <a:ea typeface="Arial"/>
                <a:cs typeface="Arial"/>
              </a:defRPr>
            </a:lvl1pPr>
            <a:lvl2pPr algn="l">
              <a:defRPr sz="1800" b="0">
                <a:solidFill>
                  <a:srgbClr val="202124"/>
                </a:solidFill>
                <a:latin typeface="Arial"/>
                <a:ea typeface="Arial"/>
                <a:cs typeface="Arial"/>
              </a:defRPr>
            </a:lvl2pPr>
            <a:lvl3pPr algn="l">
              <a:defRPr sz="1800" b="0">
                <a:solidFill>
                  <a:srgbClr val="202124"/>
                </a:solidFill>
                <a:latin typeface="Arial"/>
                <a:ea typeface="Arial"/>
                <a:cs typeface="Arial"/>
              </a:defRPr>
            </a:lvl3pPr>
            <a:lvl4pPr algn="l">
              <a:defRPr sz="1800" b="0">
                <a:solidFill>
                  <a:srgbClr val="202124"/>
                </a:solidFill>
                <a:latin typeface="Arial"/>
                <a:ea typeface="Arial"/>
                <a:cs typeface="Arial"/>
              </a:defRPr>
            </a:lvl4pPr>
            <a:lvl5pPr algn="l">
              <a:defRPr sz="1800" b="0">
                <a:solidFill>
                  <a:srgbClr val="202124"/>
                </a:solidFill>
                <a:latin typeface="Arial"/>
                <a:ea typeface="Arial"/>
                <a:cs typeface="Arial"/>
              </a:defRPr>
            </a:lvl5pPr>
            <a:lvl6pPr algn="l">
              <a:defRPr sz="1800" b="0">
                <a:solidFill>
                  <a:srgbClr val="202124"/>
                </a:solidFill>
                <a:latin typeface="Arial"/>
                <a:ea typeface="Arial"/>
                <a:cs typeface="Arial"/>
              </a:defRPr>
            </a:lvl6pPr>
            <a:lvl7pPr algn="l">
              <a:defRPr sz="1800" b="0">
                <a:solidFill>
                  <a:srgbClr val="202124"/>
                </a:solidFill>
                <a:latin typeface="Arial"/>
                <a:ea typeface="Arial"/>
                <a:cs typeface="Arial"/>
              </a:defRPr>
            </a:lvl7pPr>
            <a:lvl8pPr algn="l">
              <a:defRPr sz="1800" b="0">
                <a:solidFill>
                  <a:srgbClr val="202124"/>
                </a:solidFill>
                <a:latin typeface="Arial"/>
                <a:ea typeface="Arial"/>
                <a:cs typeface="Arial"/>
              </a:defRPr>
            </a:lvl8pPr>
            <a:lvl9pPr algn="l">
              <a:defRPr sz="1800" b="0">
                <a:solidFill>
                  <a:srgbClr val="202124"/>
                </a:solidFill>
                <a:latin typeface="Arial"/>
                <a:ea typeface="Arial"/>
                <a:cs typeface="Arial"/>
              </a:defRPr>
            </a:lvl9pPr>
          </a:lstStyle>
          <a:p xmlns:a="http://schemas.openxmlformats.org/drawingml/2006/main">
            <a:pPr algn="l">
              <a:defRPr sz="1800" b="0">
                <a:solidFill>
                  <a:srgbClr val="202124"/>
                </a:solidFill>
                <a:latin typeface="Arial"/>
                <a:ea typeface="Arial"/>
                <a:cs typeface="Arial"/>
              </a:defRPr>
            </a:pPr>
            <a:r>
              <a:rPr sz="1800" b="0">
                <a:solidFill>
                  <a:srgbClr val="202124"/>
                </a:solidFill>
                <a:latin typeface="Arial"/>
                <a:ea typeface="Arial"/>
                <a:cs typeface="Arial"/>
              </a:rPr>
              <a:t>Material models (rows 1–3) and state estimation (row 4) test different parts of NR.</a:t>
            </a:r>
          </a:p>
        </p:txBody>
      </p:sp>
      <p:graphicFrame>
        <p:nvGraphicFramePr>
          <p:cNvPr id="3" name="">
            <a:extLst xmlns:a="http://schemas.openxmlformats.org/drawingml/2006/main">
              <a:ext uri="{FF2B5EF4-FFF2-40B4-BE49-F238E27FC236}">
                <a16:creationId xmlns:a16="http://schemas.microsoft.com/office/drawing/2014/main" id="{0FDC5407-BA0F-4D4C-89FD-95B792388216}"/>
              </a:ext>
            </a:extLst>
          </p:cNvPr>
          <p:cNvGraphicFramePr/>
          <p:nvPr/>
        </p:nvGraphicFramePr>
        <p:xfrm>
          <a:off xmlns:a="http://schemas.openxmlformats.org/drawingml/2006/main" x="914400" y="1924050"/>
          <a:ext xmlns:a="http://schemas.openxmlformats.org/drawingml/2006/main" cx="13411200" cy="4819650"/>
        </p:xfrm>
        <a:graphic xmlns:a="http://schemas.openxmlformats.org/drawingml/2006/main">
          <a:graphicData uri="http://schemas.openxmlformats.org/drawingml/2006/table">
            <a:tbl>
              <a:tblPr firstRow="1" bandRow="0"/>
              <a:tblGrid>
                <a:gridCol w="3314700"/>
                <a:gridCol w="5219700"/>
                <a:gridCol w="4876800"/>
              </a:tblGrid>
              <a:tr h="514350">
                <a:tc>
                  <a:txBody>
                    <a:bodyPr wrap="square" lIns="76200" tIns="95250" rIns="171450" bIns="95250">
                      <a:noAutofit/>
                    </a:bodyPr>
                    <a:lstStyle/>
                    <a:p>
                      <a:pPr algn="l"/>
                      <a:r>
                        <a:rPr sz="1725" b="1">
                          <a:solidFill>
                            <a:srgbClr val="62666B"/>
                          </a:solidFill>
                          <a:latin typeface="Arial"/>
                          <a:ea typeface="Arial"/>
                          <a:cs typeface="Arial"/>
                        </a:rPr>
                        <a:t>Baseline / source</a:t>
                      </a:r>
                    </a:p>
                  </a:txBody>
                  <a:tcPr marL="91440" marR="91440" marT="45720" marB="45720" anchor="ctr">
                    <a:lnL w="0">
                      <a:solidFill>
                        <a:srgbClr val="FFFFFF"/>
                      </a:solidFill>
                      <a:prstDash val="solid"/>
                    </a:lnL>
                    <a:lnR w="0">
                      <a:solidFill>
                        <a:srgbClr val="FFFFFF"/>
                      </a:solidFill>
                      <a:prstDash val="solid"/>
                    </a:lnR>
                    <a:lnT w="0">
                      <a:solidFill>
                        <a:srgbClr val="FFFFFF"/>
                      </a:solidFill>
                      <a:prstDash val="solid"/>
                    </a:lnT>
                    <a:lnB w="0">
                      <a:solidFill>
                        <a:srgbClr val="FFFFFF"/>
                      </a:solidFill>
                      <a:prstDash val="solid"/>
                    </a:lnB>
                    <a:solidFill>
                      <a:srgbClr val="FFFFFF"/>
                    </a:solidFill>
                  </a:tcPr>
                </a:tc>
                <a:tc>
                  <a:txBody>
                    <a:bodyPr wrap="square" lIns="76200" tIns="95250" rIns="171450" bIns="95250">
                      <a:noAutofit/>
                    </a:bodyPr>
                    <a:lstStyle/>
                    <a:p>
                      <a:pPr algn="l"/>
                      <a:r>
                        <a:rPr sz="1725" b="1">
                          <a:solidFill>
                            <a:srgbClr val="62666B"/>
                          </a:solidFill>
                          <a:latin typeface="Arial"/>
                          <a:ea typeface="Arial"/>
                          <a:cs typeface="Arial"/>
                        </a:rPr>
                        <a:t>Key characteristics</a:t>
                      </a:r>
                    </a:p>
                  </a:txBody>
                  <a:tcPr marL="91440" marR="91440" marT="45720" marB="45720" anchor="ctr">
                    <a:lnR w="0">
                      <a:solidFill>
                        <a:srgbClr val="FFFFFF"/>
                      </a:solidFill>
                      <a:prstDash val="solid"/>
                    </a:lnR>
                    <a:lnT w="0">
                      <a:solidFill>
                        <a:srgbClr val="FFFFFF"/>
                      </a:solidFill>
                      <a:prstDash val="solid"/>
                    </a:lnT>
                    <a:lnB w="0">
                      <a:solidFill>
                        <a:srgbClr val="FFFFFF"/>
                      </a:solidFill>
                      <a:prstDash val="solid"/>
                    </a:lnB>
                    <a:solidFill>
                      <a:srgbClr val="FFFFFF"/>
                    </a:solidFill>
                  </a:tcPr>
                </a:tc>
                <a:tc>
                  <a:txBody>
                    <a:bodyPr wrap="square" lIns="76200" tIns="95250" rIns="171450" bIns="95250">
                      <a:noAutofit/>
                    </a:bodyPr>
                    <a:lstStyle/>
                    <a:p>
                      <a:pPr algn="l"/>
                      <a:r>
                        <a:rPr sz="1725" b="1">
                          <a:solidFill>
                            <a:srgbClr val="62666B"/>
                          </a:solidFill>
                          <a:latin typeface="Arial"/>
                          <a:ea typeface="Arial"/>
                          <a:cs typeface="Arial"/>
                        </a:rPr>
                        <a:t>Role in our experiment</a:t>
                      </a:r>
                    </a:p>
                  </a:txBody>
                  <a:tcPr marL="91440" marR="91440" marT="45720" marB="45720" anchor="ctr">
                    <a:lnR w="0">
                      <a:solidFill>
                        <a:srgbClr val="FFFFFF"/>
                      </a:solidFill>
                      <a:prstDash val="solid"/>
                    </a:lnR>
                    <a:lnT w="0">
                      <a:solidFill>
                        <a:srgbClr val="FFFFFF"/>
                      </a:solidFill>
                      <a:prstDash val="solid"/>
                    </a:lnT>
                    <a:lnB w="0">
                      <a:solidFill>
                        <a:srgbClr val="FFFFFF"/>
                      </a:solidFill>
                      <a:prstDash val="solid"/>
                    </a:lnB>
                    <a:solidFill>
                      <a:srgbClr val="FFFFFF"/>
                    </a:solidFill>
                  </a:tcPr>
                </a:tc>
              </a:tr>
              <a:tr h="1028700">
                <a:tc>
                  <a:txBody>
                    <a:bodyPr wrap="square" lIns="76200" tIns="95250" rIns="171450" bIns="95250">
                      <a:noAutofit/>
                    </a:bodyPr>
                    <a:lstStyle/>
                    <a:p>
                      <a:pPr algn="l"/>
                      <a:r>
                        <a:rPr sz="1650" b="0">
                          <a:solidFill>
                            <a:srgbClr val="202124"/>
                          </a:solidFill>
                          <a:latin typeface="Arial"/>
                          <a:ea typeface="Arial"/>
                          <a:cs typeface="Arial"/>
                        </a:rPr>
                        <a:t>Generalized Maxwell / Prony</a:t>
                      </a:r>
                    </a:p>
                    <a:p>
                      <a:pPr algn="l"/>
                      <a:r>
                        <a:rPr sz="1650" b="0">
                          <a:solidFill>
                            <a:srgbClr val="202124"/>
                          </a:solidFill>
                          <a:latin typeface="Arial"/>
                          <a:ea typeface="Arial"/>
                          <a:cs typeface="Arial"/>
                        </a:rPr>
                        <a:t>Park &amp; Schapery, 1999 [B1]</a:t>
                      </a:r>
                    </a:p>
                  </a:txBody>
                  <a:tcPr marL="91440" marR="91440" marT="45720" marB="45720" anchor="ctr">
                    <a:lnL w="0">
                      <a:solidFill>
                        <a:srgbClr val="FFFFFF"/>
                      </a:solidFill>
                      <a:prstDash val="solid"/>
                    </a:lnL>
                    <a:lnR w="0">
                      <a:solidFill>
                        <a:srgbClr val="FFFFFF"/>
                      </a:solidFill>
                      <a:prstDash val="solid"/>
                    </a:lnR>
                    <a:lnB w="0">
                      <a:solidFill>
                        <a:srgbClr val="FFFFFF"/>
                      </a:solidFill>
                      <a:prstDash val="solid"/>
                    </a:lnB>
                    <a:solidFill>
                      <a:srgbClr val="FFFFFF"/>
                    </a:solidFill>
                  </a:tcPr>
                </a:tc>
                <a:tc>
                  <a:txBody>
                    <a:bodyPr wrap="square" lIns="76200" tIns="95250" rIns="171450" bIns="95250">
                      <a:noAutofit/>
                    </a:bodyPr>
                    <a:lstStyle/>
                    <a:p>
                      <a:pPr algn="l"/>
                      <a:r>
                        <a:rPr sz="1650" b="0">
                          <a:solidFill>
                            <a:srgbClr val="202124"/>
                          </a:solidFill>
                          <a:latin typeface="Arial"/>
                          <a:ea typeface="Arial"/>
                          <a:cs typeface="Arial"/>
                        </a:rPr>
                        <a:t>Fixed relaxation modes; interpretable parameters.</a:t>
                      </a:r>
                    </a:p>
                    <a:p>
                      <a:pPr algn="l"/>
                      <a:r>
                        <a:rPr sz="1650" b="0">
                          <a:solidFill>
                            <a:srgbClr val="202124"/>
                          </a:solidFill>
                          <a:latin typeface="Arial"/>
                          <a:ea typeface="Arial"/>
                          <a:cs typeface="Arial"/>
                        </a:rPr>
                        <a:t>No neural network.</a:t>
                      </a:r>
                    </a:p>
                  </a:txBody>
                  <a:tcPr marL="91440" marR="91440" marT="45720" marB="45720" anchor="ctr">
                    <a:lnR w="0">
                      <a:solidFill>
                        <a:srgbClr val="FFFFFF"/>
                      </a:solidFill>
                      <a:prstDash val="solid"/>
                    </a:lnR>
                    <a:lnB w="0">
                      <a:solidFill>
                        <a:srgbClr val="FFFFFF"/>
                      </a:solidFill>
                      <a:prstDash val="solid"/>
                    </a:lnB>
                    <a:solidFill>
                      <a:srgbClr val="FFFFFF"/>
                    </a:solidFill>
                  </a:tcPr>
                </a:tc>
                <a:tc>
                  <a:txBody>
                    <a:bodyPr wrap="square" lIns="76200" tIns="95250" rIns="171450" bIns="95250">
                      <a:noAutofit/>
                    </a:bodyPr>
                    <a:lstStyle/>
                    <a:p>
                      <a:pPr algn="l"/>
                      <a:r>
                        <a:rPr sz="1650" b="0">
                          <a:solidFill>
                            <a:srgbClr val="202124"/>
                          </a:solidFill>
                          <a:latin typeface="Arial"/>
                          <a:ea typeface="Arial"/>
                          <a:cs typeface="Arial"/>
                        </a:rPr>
                        <a:t>Classical material-response reference.</a:t>
                      </a:r>
                    </a:p>
                    <a:p>
                      <a:pPr algn="l"/>
                      <a:r>
                        <a:rPr sz="1650" b="0">
                          <a:solidFill>
                            <a:srgbClr val="202124"/>
                          </a:solidFill>
                          <a:latin typeface="Arial"/>
                          <a:ea typeface="Arial"/>
                          <a:cs typeface="Arial"/>
                        </a:rPr>
                        <a:t>Select mode count on validation data.</a:t>
                      </a:r>
                    </a:p>
                  </a:txBody>
                  <a:tcPr marL="91440" marR="91440" marT="45720" marB="45720" anchor="ctr">
                    <a:lnR w="0">
                      <a:solidFill>
                        <a:srgbClr val="FFFFFF"/>
                      </a:solidFill>
                      <a:prstDash val="solid"/>
                    </a:lnR>
                    <a:lnB w="0">
                      <a:solidFill>
                        <a:srgbClr val="FFFFFF"/>
                      </a:solidFill>
                      <a:prstDash val="solid"/>
                    </a:lnB>
                    <a:solidFill>
                      <a:srgbClr val="FFFFFF"/>
                    </a:solidFill>
                  </a:tcPr>
                </a:tc>
              </a:tr>
              <a:tr h="1066800">
                <a:tc>
                  <a:txBody>
                    <a:bodyPr wrap="square" lIns="76200" tIns="95250" rIns="171450" bIns="95250">
                      <a:noAutofit/>
                    </a:bodyPr>
                    <a:lstStyle/>
                    <a:p>
                      <a:pPr algn="l"/>
                      <a:r>
                        <a:rPr sz="1650" b="0">
                          <a:solidFill>
                            <a:srgbClr val="202124"/>
                          </a:solidFill>
                          <a:latin typeface="Arial"/>
                          <a:ea typeface="Arial"/>
                          <a:cs typeface="Arial"/>
                        </a:rPr>
                        <a:t>LSTM stress predictor</a:t>
                      </a:r>
                    </a:p>
                    <a:p>
                      <a:pPr algn="l"/>
                      <a:r>
                        <a:rPr sz="1650" b="0">
                          <a:solidFill>
                            <a:srgbClr val="202124"/>
                          </a:solidFill>
                          <a:latin typeface="Arial"/>
                          <a:ea typeface="Arial"/>
                          <a:cs typeface="Arial"/>
                        </a:rPr>
                        <a:t>Rosenkranz et al., 2023 [B2]</a:t>
                      </a:r>
                    </a:p>
                  </a:txBody>
                  <a:tcPr marL="91440" marR="91440" marT="45720" marB="45720" anchor="ctr">
                    <a:lnL w="0">
                      <a:solidFill>
                        <a:srgbClr val="FFFFFF"/>
                      </a:solidFill>
                      <a:prstDash val="solid"/>
                    </a:lnL>
                    <a:lnR w="0">
                      <a:solidFill>
                        <a:srgbClr val="FFFFFF"/>
                      </a:solidFill>
                      <a:prstDash val="solid"/>
                    </a:lnR>
                    <a:lnB w="0">
                      <a:solidFill>
                        <a:srgbClr val="FFFFFF"/>
                      </a:solidFill>
                      <a:prstDash val="solid"/>
                    </a:lnB>
                    <a:solidFill>
                      <a:srgbClr val="FFFFFF"/>
                    </a:solidFill>
                  </a:tcPr>
                </a:tc>
                <a:tc>
                  <a:txBody>
                    <a:bodyPr wrap="square" lIns="76200" tIns="95250" rIns="171450" bIns="95250">
                      <a:noAutofit/>
                    </a:bodyPr>
                    <a:lstStyle/>
                    <a:p>
                      <a:pPr algn="l"/>
                      <a:r>
                        <a:rPr sz="1650" b="0">
                          <a:solidFill>
                            <a:srgbClr val="202124"/>
                          </a:solidFill>
                          <a:latin typeface="Arial"/>
                          <a:ea typeface="Arial"/>
                          <a:cs typeface="Arial"/>
                        </a:rPr>
                        <a:t>Learns sequence memory; strain + time step → stress.</a:t>
                      </a:r>
                    </a:p>
                    <a:p>
                      <a:pPr algn="l"/>
                      <a:r>
                        <a:rPr sz="1650" b="0">
                          <a:solidFill>
                            <a:srgbClr val="202124"/>
                          </a:solidFill>
                          <a:latin typeface="Arial"/>
                          <a:ea typeface="Arial"/>
                          <a:cs typeface="Arial"/>
                        </a:rPr>
                        <a:t>No prescribed constitutive law.</a:t>
                      </a:r>
                    </a:p>
                  </a:txBody>
                  <a:tcPr marL="91440" marR="91440" marT="45720" marB="45720" anchor="ctr">
                    <a:lnR w="0">
                      <a:solidFill>
                        <a:srgbClr val="FFFFFF"/>
                      </a:solidFill>
                      <a:prstDash val="solid"/>
                    </a:lnR>
                    <a:lnB w="0">
                      <a:solidFill>
                        <a:srgbClr val="FFFFFF"/>
                      </a:solidFill>
                      <a:prstDash val="solid"/>
                    </a:lnB>
                    <a:solidFill>
                      <a:srgbClr val="FFFFFF"/>
                    </a:solidFill>
                  </a:tcPr>
                </a:tc>
                <a:tc>
                  <a:txBody>
                    <a:bodyPr wrap="square" lIns="76200" tIns="95250" rIns="171450" bIns="95250">
                      <a:noAutofit/>
                    </a:bodyPr>
                    <a:lstStyle/>
                    <a:p>
                      <a:pPr algn="l"/>
                      <a:r>
                        <a:rPr sz="1650" b="0">
                          <a:solidFill>
                            <a:srgbClr val="202124"/>
                          </a:solidFill>
                          <a:latin typeface="Arial"/>
                          <a:ea typeface="Arial"/>
                          <a:cs typeface="Arial"/>
                        </a:rPr>
                        <a:t>Compare direct sequence prediction with</a:t>
                      </a:r>
                    </a:p>
                    <a:p>
                      <a:pPr algn="l"/>
                      <a:r>
                        <a:rPr sz="1650" b="0">
                          <a:solidFill>
                            <a:srgbClr val="202124"/>
                          </a:solidFill>
                          <a:latin typeface="Arial"/>
                          <a:ea typeface="Arial"/>
                          <a:cs typeface="Arial"/>
                        </a:rPr>
                        <a:t>explicit physical state and dynamics.</a:t>
                      </a:r>
                    </a:p>
                  </a:txBody>
                  <a:tcPr marL="91440" marR="91440" marT="45720" marB="45720" anchor="ctr">
                    <a:lnR w="0">
                      <a:solidFill>
                        <a:srgbClr val="FFFFFF"/>
                      </a:solidFill>
                      <a:prstDash val="solid"/>
                    </a:lnR>
                    <a:lnB w="0">
                      <a:solidFill>
                        <a:srgbClr val="FFFFFF"/>
                      </a:solidFill>
                      <a:prstDash val="solid"/>
                    </a:lnB>
                    <a:solidFill>
                      <a:srgbClr val="FFFFFF"/>
                    </a:solidFill>
                  </a:tcPr>
                </a:tc>
              </a:tr>
              <a:tr h="1104900">
                <a:tc>
                  <a:txBody>
                    <a:bodyPr wrap="square" lIns="76200" tIns="95250" rIns="171450" bIns="95250">
                      <a:noAutofit/>
                    </a:bodyPr>
                    <a:lstStyle/>
                    <a:p>
                      <a:pPr algn="l"/>
                      <a:r>
                        <a:rPr sz="1650" b="0">
                          <a:solidFill>
                            <a:srgbClr val="202124"/>
                          </a:solidFill>
                          <a:latin typeface="Arial"/>
                          <a:ea typeface="Arial"/>
                          <a:cs typeface="Arial"/>
                        </a:rPr>
                        <a:t>Physics-augmented model</a:t>
                      </a:r>
                    </a:p>
                    <a:p>
                      <a:pPr algn="l"/>
                      <a:r>
                        <a:rPr sz="1650" b="0">
                          <a:solidFill>
                            <a:srgbClr val="202124"/>
                          </a:solidFill>
                          <a:latin typeface="Arial"/>
                          <a:ea typeface="Arial"/>
                          <a:cs typeface="Arial"/>
                        </a:rPr>
                        <a:t>Rosenkranz et al., 2024 [6]</a:t>
                      </a:r>
                    </a:p>
                  </a:txBody>
                  <a:tcPr marL="91440" marR="91440" marT="45720" marB="45720" anchor="ctr">
                    <a:lnL w="0">
                      <a:solidFill>
                        <a:srgbClr val="FFFFFF"/>
                      </a:solidFill>
                      <a:prstDash val="solid"/>
                    </a:lnL>
                    <a:lnR w="0">
                      <a:solidFill>
                        <a:srgbClr val="FFFFFF"/>
                      </a:solidFill>
                      <a:prstDash val="solid"/>
                    </a:lnR>
                    <a:lnB w="0">
                      <a:solidFill>
                        <a:srgbClr val="FFFFFF"/>
                      </a:solidFill>
                      <a:prstDash val="solid"/>
                    </a:lnB>
                    <a:solidFill>
                      <a:srgbClr val="FFFFFF"/>
                    </a:solidFill>
                  </a:tcPr>
                </a:tc>
                <a:tc>
                  <a:txBody>
                    <a:bodyPr wrap="square" lIns="76200" tIns="95250" rIns="171450" bIns="95250">
                      <a:noAutofit/>
                    </a:bodyPr>
                    <a:lstStyle/>
                    <a:p>
                      <a:pPr algn="l"/>
                      <a:r>
                        <a:rPr sz="1650" b="0">
                          <a:solidFill>
                            <a:srgbClr val="202124"/>
                          </a:solidFill>
                          <a:latin typeface="Arial"/>
                          <a:ea typeface="Arial"/>
                          <a:cs typeface="Arial"/>
                        </a:rPr>
                        <a:t>Learns free energy and a dissipation potential.</a:t>
                      </a:r>
                    </a:p>
                    <a:p>
                      <a:pPr algn="l"/>
                      <a:r>
                        <a:rPr sz="1650" b="0">
                          <a:solidFill>
                            <a:srgbClr val="202124"/>
                          </a:solidFill>
                          <a:latin typeface="Arial"/>
                          <a:ea typeface="Arial"/>
                          <a:cs typeface="Arial"/>
                        </a:rPr>
                        <a:t>Thermodynamic structure; LSTM assists training.</a:t>
                      </a:r>
                    </a:p>
                  </a:txBody>
                  <a:tcPr marL="91440" marR="91440" marT="45720" marB="45720" anchor="ctr">
                    <a:lnR w="0">
                      <a:solidFill>
                        <a:srgbClr val="FFFFFF"/>
                      </a:solidFill>
                      <a:prstDash val="solid"/>
                    </a:lnR>
                    <a:lnB w="0">
                      <a:solidFill>
                        <a:srgbClr val="FFFFFF"/>
                      </a:solidFill>
                      <a:prstDash val="solid"/>
                    </a:lnB>
                    <a:solidFill>
                      <a:srgbClr val="FFFFFF"/>
                    </a:solidFill>
                  </a:tcPr>
                </a:tc>
                <a:tc>
                  <a:txBody>
                    <a:bodyPr wrap="square" lIns="76200" tIns="95250" rIns="171450" bIns="95250">
                      <a:noAutofit/>
                    </a:bodyPr>
                    <a:lstStyle/>
                    <a:p>
                      <a:pPr algn="l"/>
                      <a:r>
                        <a:rPr sz="1650" b="0">
                          <a:solidFill>
                            <a:srgbClr val="202124"/>
                          </a:solidFill>
                          <a:latin typeface="Arial"/>
                          <a:ea typeface="Arial"/>
                          <a:cs typeface="Arial"/>
                        </a:rPr>
                        <a:t>Compare learned material evolution.</a:t>
                      </a:r>
                    </a:p>
                    <a:p>
                      <a:pPr algn="l"/>
                      <a:r>
                        <a:rPr sz="1650" b="0">
                          <a:solidFill>
                            <a:srgbClr val="202124"/>
                          </a:solidFill>
                          <a:latin typeface="Arial"/>
                          <a:ea typeface="Arial"/>
                          <a:cs typeface="Arial"/>
                        </a:rPr>
                        <a:t>Adapt the paper to a 1D material model.</a:t>
                      </a:r>
                    </a:p>
                  </a:txBody>
                  <a:tcPr marL="91440" marR="91440" marT="45720" marB="45720" anchor="ctr">
                    <a:lnR w="0">
                      <a:solidFill>
                        <a:srgbClr val="FFFFFF"/>
                      </a:solidFill>
                      <a:prstDash val="solid"/>
                    </a:lnR>
                    <a:lnB w="0">
                      <a:solidFill>
                        <a:srgbClr val="FFFFFF"/>
                      </a:solidFill>
                      <a:prstDash val="solid"/>
                    </a:lnB>
                    <a:solidFill>
                      <a:srgbClr val="FFFFFF"/>
                    </a:solidFill>
                  </a:tcPr>
                </a:tc>
              </a:tr>
              <a:tr h="1104900">
                <a:tc>
                  <a:txBody>
                    <a:bodyPr wrap="square" lIns="76200" tIns="95250" rIns="171450" bIns="95250">
                      <a:noAutofit/>
                    </a:bodyPr>
                    <a:lstStyle/>
                    <a:p>
                      <a:pPr algn="l"/>
                      <a:r>
                        <a:rPr sz="1650" b="0">
                          <a:solidFill>
                            <a:srgbClr val="202124"/>
                          </a:solidFill>
                          <a:latin typeface="Arial"/>
                          <a:ea typeface="Arial"/>
                          <a:cs typeface="Arial"/>
                        </a:rPr>
                        <a:t>RME-inspired estimator</a:t>
                      </a:r>
                    </a:p>
                    <a:p>
                      <a:pPr algn="l"/>
                      <a:r>
                        <a:rPr sz="1650" b="0">
                          <a:solidFill>
                            <a:srgbClr val="202124"/>
                          </a:solidFill>
                          <a:latin typeface="Arial"/>
                          <a:ea typeface="Arial"/>
                          <a:cs typeface="Arial"/>
                        </a:rPr>
                        <a:t>Jaszczuk &amp; Figueroa, 2025 [2]</a:t>
                      </a:r>
                    </a:p>
                  </a:txBody>
                  <a:tcPr marL="91440" marR="91440" marT="45720" marB="45720" anchor="ctr">
                    <a:lnL w="0">
                      <a:solidFill>
                        <a:srgbClr val="FFFFFF"/>
                      </a:solidFill>
                      <a:prstDash val="solid"/>
                    </a:lnL>
                    <a:lnR w="0">
                      <a:solidFill>
                        <a:srgbClr val="FFFFFF"/>
                      </a:solidFill>
                      <a:prstDash val="solid"/>
                    </a:lnR>
                    <a:lnB w="0">
                      <a:solidFill>
                        <a:srgbClr val="FFFFFF"/>
                      </a:solidFill>
                      <a:prstDash val="solid"/>
                    </a:lnB>
                    <a:solidFill>
                      <a:srgbClr val="FFFFFF"/>
                    </a:solidFill>
                  </a:tcPr>
                </a:tc>
                <a:tc>
                  <a:txBody>
                    <a:bodyPr wrap="square" lIns="76200" tIns="95250" rIns="171450" bIns="95250">
                      <a:noAutofit/>
                    </a:bodyPr>
                    <a:lstStyle/>
                    <a:p>
                      <a:pPr algn="l"/>
                      <a:r>
                        <a:rPr sz="1650" b="0">
                          <a:solidFill>
                            <a:srgbClr val="202124"/>
                          </a:solidFill>
                          <a:latin typeface="Arial"/>
                          <a:ea typeface="Arial"/>
                          <a:cs typeface="Arial"/>
                        </a:rPr>
                        <a:t>Neural prior + variational inference.</a:t>
                      </a:r>
                    </a:p>
                    <a:p>
                      <a:pPr algn="l"/>
                      <a:r>
                        <a:rPr sz="1650" b="0">
                          <a:solidFill>
                            <a:srgbClr val="202124"/>
                          </a:solidFill>
                          <a:latin typeface="Arial"/>
                          <a:ea typeface="Arial"/>
                          <a:cs typeface="Arial"/>
                        </a:rPr>
                        <a:t>Quantifies uncertainty in physical unknowns.</a:t>
                      </a:r>
                    </a:p>
                  </a:txBody>
                  <a:tcPr marL="91440" marR="91440" marT="45720" marB="45720" anchor="ctr">
                    <a:lnR w="0">
                      <a:solidFill>
                        <a:srgbClr val="FFFFFF"/>
                      </a:solidFill>
                      <a:prstDash val="solid"/>
                    </a:lnR>
                    <a:lnB w="0">
                      <a:solidFill>
                        <a:srgbClr val="FFFFFF"/>
                      </a:solidFill>
                      <a:prstDash val="solid"/>
                    </a:lnB>
                    <a:solidFill>
                      <a:srgbClr val="FFFFFF"/>
                    </a:solidFill>
                  </a:tcPr>
                </a:tc>
                <a:tc>
                  <a:txBody>
                    <a:bodyPr wrap="square" lIns="76200" tIns="95250" rIns="171450" bIns="95250">
                      <a:noAutofit/>
                    </a:bodyPr>
                    <a:lstStyle/>
                    <a:p>
                      <a:pPr algn="l"/>
                      <a:r>
                        <a:rPr sz="1650" b="0">
                          <a:solidFill>
                            <a:srgbClr val="202124"/>
                          </a:solidFill>
                          <a:latin typeface="Arial"/>
                          <a:ea typeface="Arial"/>
                          <a:cs typeface="Arial"/>
                        </a:rPr>
                        <a:t>Adapt mass/CoM estimation to material state z.</a:t>
                      </a:r>
                    </a:p>
                    <a:p>
                      <a:pPr algn="l"/>
                      <a:r>
                        <a:rPr sz="1650" b="0">
                          <a:solidFill>
                            <a:srgbClr val="202124"/>
                          </a:solidFill>
                          <a:latin typeface="Arial"/>
                          <a:ea typeface="Arial"/>
                          <a:cs typeface="Arial"/>
                        </a:rPr>
                        <a:t>Use the same fixed material law.</a:t>
                      </a:r>
                    </a:p>
                  </a:txBody>
                  <a:tcPr marL="91440" marR="91440" marT="45720" marB="45720" anchor="ctr">
                    <a:lnR w="0">
                      <a:solidFill>
                        <a:srgbClr val="FFFFFF"/>
                      </a:solidFill>
                      <a:prstDash val="solid"/>
                    </a:lnR>
                    <a:lnB w="0">
                      <a:solidFill>
                        <a:srgbClr val="FFFFFF"/>
                      </a:solidFill>
                      <a:prstDash val="solid"/>
                    </a:lnB>
                    <a:solidFill>
                      <a:srgbClr val="FFFFFF"/>
                    </a:solidFill>
                  </a:tcPr>
                </a:tc>
              </a:tr>
            </a:tbl>
          </a:graphicData>
        </a:graphic>
      </p:graphicFrame>
      <p:sp>
        <p:nvSpPr>
          <p:cNvPr id="4" name="comparison-protocol">
            <a:extLst xmlns:a="http://schemas.openxmlformats.org/drawingml/2006/main">
              <a:ext uri="{FF2B5EF4-FFF2-40B4-BE49-F238E27FC236}">
                <a16:creationId xmlns:a16="http://schemas.microsoft.com/office/drawing/2014/main" id="{84E91046-6CD3-42CA-A48E-CE71EC4FAA03}"/>
              </a:ext>
            </a:extLst>
          </p:cNvPr>
          <p:cNvSpPr>
            <a:spLocks xmlns:a="http://schemas.openxmlformats.org/drawingml/2006/main" noGrp="1"/>
          </p:cNvSpPr>
          <p:nvPr/>
        </p:nvSpPr>
        <p:spPr>
          <a:xfrm xmlns:a="http://schemas.openxmlformats.org/drawingml/2006/main">
            <a:off x="914400" y="7105650"/>
            <a:ext cx="13411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124"/>
                </a:solidFill>
                <a:latin typeface="Arial"/>
                <a:ea typeface="Arial"/>
                <a:cs typeface="Arial"/>
              </a:defRPr>
            </a:defPPr>
            <a:lvl1pPr algn="l">
              <a:defRPr sz="1650" b="0">
                <a:solidFill>
                  <a:srgbClr val="202124"/>
                </a:solidFill>
                <a:latin typeface="Arial"/>
                <a:ea typeface="Arial"/>
                <a:cs typeface="Arial"/>
              </a:defRPr>
            </a:lvl1pPr>
            <a:lvl2pPr algn="l">
              <a:defRPr sz="1650" b="0">
                <a:solidFill>
                  <a:srgbClr val="202124"/>
                </a:solidFill>
                <a:latin typeface="Arial"/>
                <a:ea typeface="Arial"/>
                <a:cs typeface="Arial"/>
              </a:defRPr>
            </a:lvl2pPr>
            <a:lvl3pPr algn="l">
              <a:defRPr sz="1650" b="0">
                <a:solidFill>
                  <a:srgbClr val="202124"/>
                </a:solidFill>
                <a:latin typeface="Arial"/>
                <a:ea typeface="Arial"/>
                <a:cs typeface="Arial"/>
              </a:defRPr>
            </a:lvl3pPr>
            <a:lvl4pPr algn="l">
              <a:defRPr sz="1650" b="0">
                <a:solidFill>
                  <a:srgbClr val="202124"/>
                </a:solidFill>
                <a:latin typeface="Arial"/>
                <a:ea typeface="Arial"/>
                <a:cs typeface="Arial"/>
              </a:defRPr>
            </a:lvl4pPr>
            <a:lvl5pPr algn="l">
              <a:defRPr sz="1650" b="0">
                <a:solidFill>
                  <a:srgbClr val="202124"/>
                </a:solidFill>
                <a:latin typeface="Arial"/>
                <a:ea typeface="Arial"/>
                <a:cs typeface="Arial"/>
              </a:defRPr>
            </a:lvl5pPr>
            <a:lvl6pPr algn="l">
              <a:defRPr sz="1650" b="0">
                <a:solidFill>
                  <a:srgbClr val="202124"/>
                </a:solidFill>
                <a:latin typeface="Arial"/>
                <a:ea typeface="Arial"/>
                <a:cs typeface="Arial"/>
              </a:defRPr>
            </a:lvl6pPr>
            <a:lvl7pPr algn="l">
              <a:defRPr sz="1650" b="0">
                <a:solidFill>
                  <a:srgbClr val="202124"/>
                </a:solidFill>
                <a:latin typeface="Arial"/>
                <a:ea typeface="Arial"/>
                <a:cs typeface="Arial"/>
              </a:defRPr>
            </a:lvl7pPr>
            <a:lvl8pPr algn="l">
              <a:defRPr sz="1650" b="0">
                <a:solidFill>
                  <a:srgbClr val="202124"/>
                </a:solidFill>
                <a:latin typeface="Arial"/>
                <a:ea typeface="Arial"/>
                <a:cs typeface="Arial"/>
              </a:defRPr>
            </a:lvl8pPr>
            <a:lvl9pPr algn="l">
              <a:defRPr sz="1650" b="0">
                <a:solidFill>
                  <a:srgbClr val="202124"/>
                </a:solidFill>
                <a:latin typeface="Arial"/>
                <a:ea typeface="Arial"/>
                <a:cs typeface="Arial"/>
              </a:defRPr>
            </a:lvl9pPr>
          </a:lstStyle>
          <a:p xmlns:a="http://schemas.openxmlformats.org/drawingml/2006/main">
            <a:pPr algn="l">
              <a:defRPr sz="1650" b="0">
                <a:solidFill>
                  <a:srgbClr val="202124"/>
                </a:solidFill>
                <a:latin typeface="Arial"/>
                <a:ea typeface="Arial"/>
                <a:cs typeface="Arial"/>
              </a:defRPr>
            </a:pPr>
            <a:r>
              <a:rPr sz="1650" b="0">
                <a:solidFill>
                  <a:srgbClr val="202124"/>
                </a:solidFill>
                <a:latin typeface="Arial"/>
                <a:ea typeface="Arial"/>
                <a:cs typeface="Arial"/>
              </a:rPr>
              <a:t>Model comparison: same deformation paths. State comparison: same dynamics and observations.</a:t>
            </a:r>
          </a:p>
          <a:p xmlns:a="http://schemas.openxmlformats.org/drawingml/2006/main">
            <a:pPr algn="l">
              <a:defRPr sz="1650" b="0">
                <a:solidFill>
                  <a:srgbClr val="202124"/>
                </a:solidFill>
                <a:latin typeface="Arial"/>
                <a:ea typeface="Arial"/>
                <a:cs typeface="Arial"/>
              </a:defRPr>
            </a:pPr>
            <a:r>
              <a:rPr sz="1650" b="0">
                <a:solidFill>
                  <a:srgbClr val="202124"/>
                </a:solidFill>
                <a:latin typeface="Arial"/>
                <a:ea typeface="Arial"/>
                <a:cs typeface="Arial"/>
              </a:rPr>
              <a:t>Report force error; for the RME adaptation, also report update time and uncertainty calibration.</a:t>
            </a:r>
          </a:p>
        </p:txBody>
      </p:sp>
      <p:sp>
        <p:nvSpPr>
          <p:cNvPr id="5" name="implementation-status">
            <a:extLst xmlns:a="http://schemas.openxmlformats.org/drawingml/2006/main">
              <a:ext uri="{FF2B5EF4-FFF2-40B4-BE49-F238E27FC236}">
                <a16:creationId xmlns:a16="http://schemas.microsoft.com/office/drawing/2014/main" id="{F71CD52C-6C5A-430B-9D76-92D03A044E53}"/>
              </a:ext>
            </a:extLst>
          </p:cNvPr>
          <p:cNvSpPr>
            <a:spLocks xmlns:a="http://schemas.openxmlformats.org/drawingml/2006/main" noGrp="1"/>
          </p:cNvSpPr>
          <p:nvPr/>
        </p:nvSpPr>
        <p:spPr>
          <a:xfrm xmlns:a="http://schemas.openxmlformats.org/drawingml/2006/main">
            <a:off x="914400" y="7791450"/>
            <a:ext cx="1341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2666B"/>
                </a:solidFill>
                <a:latin typeface="Arial"/>
                <a:ea typeface="Arial"/>
                <a:cs typeface="Arial"/>
              </a:defRPr>
            </a:defPPr>
            <a:lvl1pPr algn="l">
              <a:defRPr sz="1425" b="0">
                <a:solidFill>
                  <a:srgbClr val="62666B"/>
                </a:solidFill>
                <a:latin typeface="Arial"/>
                <a:ea typeface="Arial"/>
                <a:cs typeface="Arial"/>
              </a:defRPr>
            </a:lvl1pPr>
            <a:lvl2pPr algn="l">
              <a:defRPr sz="1425" b="0">
                <a:solidFill>
                  <a:srgbClr val="62666B"/>
                </a:solidFill>
                <a:latin typeface="Arial"/>
                <a:ea typeface="Arial"/>
                <a:cs typeface="Arial"/>
              </a:defRPr>
            </a:lvl2pPr>
            <a:lvl3pPr algn="l">
              <a:defRPr sz="1425" b="0">
                <a:solidFill>
                  <a:srgbClr val="62666B"/>
                </a:solidFill>
                <a:latin typeface="Arial"/>
                <a:ea typeface="Arial"/>
                <a:cs typeface="Arial"/>
              </a:defRPr>
            </a:lvl3pPr>
            <a:lvl4pPr algn="l">
              <a:defRPr sz="1425" b="0">
                <a:solidFill>
                  <a:srgbClr val="62666B"/>
                </a:solidFill>
                <a:latin typeface="Arial"/>
                <a:ea typeface="Arial"/>
                <a:cs typeface="Arial"/>
              </a:defRPr>
            </a:lvl4pPr>
            <a:lvl5pPr algn="l">
              <a:defRPr sz="1425" b="0">
                <a:solidFill>
                  <a:srgbClr val="62666B"/>
                </a:solidFill>
                <a:latin typeface="Arial"/>
                <a:ea typeface="Arial"/>
                <a:cs typeface="Arial"/>
              </a:defRPr>
            </a:lvl5pPr>
            <a:lvl6pPr algn="l">
              <a:defRPr sz="1425" b="0">
                <a:solidFill>
                  <a:srgbClr val="62666B"/>
                </a:solidFill>
                <a:latin typeface="Arial"/>
                <a:ea typeface="Arial"/>
                <a:cs typeface="Arial"/>
              </a:defRPr>
            </a:lvl6pPr>
            <a:lvl7pPr algn="l">
              <a:defRPr sz="1425" b="0">
                <a:solidFill>
                  <a:srgbClr val="62666B"/>
                </a:solidFill>
                <a:latin typeface="Arial"/>
                <a:ea typeface="Arial"/>
                <a:cs typeface="Arial"/>
              </a:defRPr>
            </a:lvl7pPr>
            <a:lvl8pPr algn="l">
              <a:defRPr sz="1425" b="0">
                <a:solidFill>
                  <a:srgbClr val="62666B"/>
                </a:solidFill>
                <a:latin typeface="Arial"/>
                <a:ea typeface="Arial"/>
                <a:cs typeface="Arial"/>
              </a:defRPr>
            </a:lvl8pPr>
            <a:lvl9pPr algn="l">
              <a:defRPr sz="1425" b="0">
                <a:solidFill>
                  <a:srgbClr val="62666B"/>
                </a:solidFill>
                <a:latin typeface="Arial"/>
                <a:ea typeface="Arial"/>
                <a:cs typeface="Arial"/>
              </a:defRPr>
            </a:lvl9pPr>
          </a:lstStyle>
          <a:p xmlns:a="http://schemas.openxmlformats.org/drawingml/2006/main">
            <a:pPr algn="l">
              <a:defRPr sz="1425" b="0">
                <a:solidFill>
                  <a:srgbClr val="62666B"/>
                </a:solidFill>
                <a:latin typeface="Arial"/>
                <a:ea typeface="Arial"/>
                <a:cs typeface="Arial"/>
              </a:defRPr>
            </a:pPr>
            <a:r>
              <a:rPr sz="1425" b="0">
                <a:solidFill>
                  <a:srgbClr val="62666B"/>
                </a:solidFill>
                <a:latin typeface="Arial"/>
                <a:ea typeface="Arial"/>
                <a:cs typeface="Arial"/>
              </a:rPr>
              <a:t>Paper adaptations are planned. Current NR retains 1D motion and a 2D material state.</a:t>
            </a:r>
          </a:p>
        </p:txBody>
      </p:sp>
      <p:sp>
        <p:nvSpPr>
          <p:cNvPr id="6" name="source-index">
            <a:extLst xmlns:a="http://schemas.openxmlformats.org/drawingml/2006/main">
              <a:ext uri="{FF2B5EF4-FFF2-40B4-BE49-F238E27FC236}">
                <a16:creationId xmlns:a16="http://schemas.microsoft.com/office/drawing/2014/main" id="{8E4EFEFC-A553-4114-A71E-62C023A81C8A}"/>
              </a:ext>
            </a:extLst>
          </p:cNvPr>
          <p:cNvSpPr>
            <a:spLocks xmlns:a="http://schemas.openxmlformats.org/drawingml/2006/main" noGrp="1"/>
          </p:cNvSpPr>
          <p:nvPr/>
        </p:nvSpPr>
        <p:spPr>
          <a:xfrm xmlns:a="http://schemas.openxmlformats.org/drawingml/2006/main">
            <a:off x="914400" y="8172450"/>
            <a:ext cx="1257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66B"/>
                </a:solidFill>
                <a:latin typeface="Arial"/>
                <a:ea typeface="Arial"/>
                <a:cs typeface="Arial"/>
              </a:defRPr>
            </a:defPPr>
            <a:lvl1pPr algn="l">
              <a:defRPr sz="1050" b="0">
                <a:solidFill>
                  <a:srgbClr val="62666B"/>
                </a:solidFill>
                <a:latin typeface="Arial"/>
                <a:ea typeface="Arial"/>
                <a:cs typeface="Arial"/>
              </a:defRPr>
            </a:lvl1pPr>
            <a:lvl2pPr algn="l">
              <a:defRPr sz="1050" b="0">
                <a:solidFill>
                  <a:srgbClr val="62666B"/>
                </a:solidFill>
                <a:latin typeface="Arial"/>
                <a:ea typeface="Arial"/>
                <a:cs typeface="Arial"/>
              </a:defRPr>
            </a:lvl2pPr>
            <a:lvl3pPr algn="l">
              <a:defRPr sz="1050" b="0">
                <a:solidFill>
                  <a:srgbClr val="62666B"/>
                </a:solidFill>
                <a:latin typeface="Arial"/>
                <a:ea typeface="Arial"/>
                <a:cs typeface="Arial"/>
              </a:defRPr>
            </a:lvl3pPr>
            <a:lvl4pPr algn="l">
              <a:defRPr sz="1050" b="0">
                <a:solidFill>
                  <a:srgbClr val="62666B"/>
                </a:solidFill>
                <a:latin typeface="Arial"/>
                <a:ea typeface="Arial"/>
                <a:cs typeface="Arial"/>
              </a:defRPr>
            </a:lvl4pPr>
            <a:lvl5pPr algn="l">
              <a:defRPr sz="1050" b="0">
                <a:solidFill>
                  <a:srgbClr val="62666B"/>
                </a:solidFill>
                <a:latin typeface="Arial"/>
                <a:ea typeface="Arial"/>
                <a:cs typeface="Arial"/>
              </a:defRPr>
            </a:lvl5pPr>
            <a:lvl6pPr algn="l">
              <a:defRPr sz="1050" b="0">
                <a:solidFill>
                  <a:srgbClr val="62666B"/>
                </a:solidFill>
                <a:latin typeface="Arial"/>
                <a:ea typeface="Arial"/>
                <a:cs typeface="Arial"/>
              </a:defRPr>
            </a:lvl6pPr>
            <a:lvl7pPr algn="l">
              <a:defRPr sz="1050" b="0">
                <a:solidFill>
                  <a:srgbClr val="62666B"/>
                </a:solidFill>
                <a:latin typeface="Arial"/>
                <a:ea typeface="Arial"/>
                <a:cs typeface="Arial"/>
              </a:defRPr>
            </a:lvl7pPr>
            <a:lvl8pPr algn="l">
              <a:defRPr sz="1050" b="0">
                <a:solidFill>
                  <a:srgbClr val="62666B"/>
                </a:solidFill>
                <a:latin typeface="Arial"/>
                <a:ea typeface="Arial"/>
                <a:cs typeface="Arial"/>
              </a:defRPr>
            </a:lvl8pPr>
            <a:lvl9pPr algn="l">
              <a:defRPr sz="1050" b="0">
                <a:solidFill>
                  <a:srgbClr val="62666B"/>
                </a:solidFill>
                <a:latin typeface="Arial"/>
                <a:ea typeface="Arial"/>
                <a:cs typeface="Arial"/>
              </a:defRPr>
            </a:lvl9pPr>
          </a:lstStyle>
          <a:p xmlns:a="http://schemas.openxmlformats.org/drawingml/2006/main">
            <a:pPr algn="l">
              <a:defRPr sz="1050" b="0">
                <a:solidFill>
                  <a:srgbClr val="62666B"/>
                </a:solidFill>
                <a:latin typeface="Arial"/>
                <a:ea typeface="Arial"/>
                <a:cs typeface="Arial"/>
              </a:defRPr>
            </a:pPr>
            <a:r>
              <a:rPr sz="1050" b="0">
                <a:solidFill>
                  <a:srgbClr val="62666B"/>
                </a:solidFill>
                <a:latin typeface="Arial"/>
                <a:ea typeface="Arial"/>
                <a:cs typeface="Arial"/>
              </a:rPr>
              <a:t>[B1] IJSS 1999   [B2] IJNME 2023   [6] Computational Mechanics 2024   [2] CoRL 2025  |  Full references in notes</a:t>
            </a:r>
          </a:p>
        </p:txBody>
      </p:sp>
      <p:sp>
        <p:nvSpPr>
          <p:cNvPr id="7" name="page">
            <a:extLst xmlns:a="http://schemas.openxmlformats.org/drawingml/2006/main">
              <a:ext uri="{FF2B5EF4-FFF2-40B4-BE49-F238E27FC236}">
                <a16:creationId xmlns:a16="http://schemas.microsoft.com/office/drawing/2014/main" id="{16E2141D-FBE8-4689-BB30-4779EEDFA29C}"/>
              </a:ext>
            </a:extLst>
          </p:cNvPr>
          <p:cNvSpPr>
            <a:spLocks xmlns:a="http://schemas.openxmlformats.org/drawingml/2006/main" noGrp="1"/>
          </p:cNvSpPr>
          <p:nvPr/>
        </p:nvSpPr>
        <p:spPr>
          <a:xfrm xmlns:a="http://schemas.openxmlformats.org/drawingml/2006/main">
            <a:off x="13906500" y="815340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2666B"/>
                </a:solidFill>
                <a:latin typeface="Arial"/>
                <a:ea typeface="Arial"/>
                <a:cs typeface="Arial"/>
              </a:defRPr>
            </a:defPPr>
            <a:lvl1pPr algn="r">
              <a:defRPr sz="1050" b="0">
                <a:solidFill>
                  <a:srgbClr val="62666B"/>
                </a:solidFill>
                <a:latin typeface="Arial"/>
                <a:ea typeface="Arial"/>
                <a:cs typeface="Arial"/>
              </a:defRPr>
            </a:lvl1pPr>
            <a:lvl2pPr algn="r">
              <a:defRPr sz="1050" b="0">
                <a:solidFill>
                  <a:srgbClr val="62666B"/>
                </a:solidFill>
                <a:latin typeface="Arial"/>
                <a:ea typeface="Arial"/>
                <a:cs typeface="Arial"/>
              </a:defRPr>
            </a:lvl2pPr>
            <a:lvl3pPr algn="r">
              <a:defRPr sz="1050" b="0">
                <a:solidFill>
                  <a:srgbClr val="62666B"/>
                </a:solidFill>
                <a:latin typeface="Arial"/>
                <a:ea typeface="Arial"/>
                <a:cs typeface="Arial"/>
              </a:defRPr>
            </a:lvl3pPr>
            <a:lvl4pPr algn="r">
              <a:defRPr sz="1050" b="0">
                <a:solidFill>
                  <a:srgbClr val="62666B"/>
                </a:solidFill>
                <a:latin typeface="Arial"/>
                <a:ea typeface="Arial"/>
                <a:cs typeface="Arial"/>
              </a:defRPr>
            </a:lvl4pPr>
            <a:lvl5pPr algn="r">
              <a:defRPr sz="1050" b="0">
                <a:solidFill>
                  <a:srgbClr val="62666B"/>
                </a:solidFill>
                <a:latin typeface="Arial"/>
                <a:ea typeface="Arial"/>
                <a:cs typeface="Arial"/>
              </a:defRPr>
            </a:lvl5pPr>
            <a:lvl6pPr algn="r">
              <a:defRPr sz="1050" b="0">
                <a:solidFill>
                  <a:srgbClr val="62666B"/>
                </a:solidFill>
                <a:latin typeface="Arial"/>
                <a:ea typeface="Arial"/>
                <a:cs typeface="Arial"/>
              </a:defRPr>
            </a:lvl6pPr>
            <a:lvl7pPr algn="r">
              <a:defRPr sz="1050" b="0">
                <a:solidFill>
                  <a:srgbClr val="62666B"/>
                </a:solidFill>
                <a:latin typeface="Arial"/>
                <a:ea typeface="Arial"/>
                <a:cs typeface="Arial"/>
              </a:defRPr>
            </a:lvl7pPr>
            <a:lvl8pPr algn="r">
              <a:defRPr sz="1050" b="0">
                <a:solidFill>
                  <a:srgbClr val="62666B"/>
                </a:solidFill>
                <a:latin typeface="Arial"/>
                <a:ea typeface="Arial"/>
                <a:cs typeface="Arial"/>
              </a:defRPr>
            </a:lvl8pPr>
            <a:lvl9pPr algn="r">
              <a:defRPr sz="1050" b="0">
                <a:solidFill>
                  <a:srgbClr val="62666B"/>
                </a:solidFill>
                <a:latin typeface="Arial"/>
                <a:ea typeface="Arial"/>
                <a:cs typeface="Arial"/>
              </a:defRPr>
            </a:lvl9pPr>
          </a:lstStyle>
          <a:p xmlns:a="http://schemas.openxmlformats.org/drawingml/2006/main">
            <a:pPr algn="r">
              <a:defRPr sz="1050" b="0">
                <a:solidFill>
                  <a:srgbClr val="62666B"/>
                </a:solidFill>
                <a:latin typeface="Arial"/>
                <a:ea typeface="Arial"/>
                <a:cs typeface="Arial"/>
              </a:defRPr>
            </a:pPr>
            <a:r>
              <a:rPr sz="1050" b="0">
                <a:solidFill>
                  <a:srgbClr val="62666B"/>
                </a:solidFill>
                <a:latin typeface="Arial"/>
                <a:ea typeface="Arial"/>
                <a:cs typeface="Arial"/>
              </a:rPr>
              <a:t>10</a:t>
            </a:r>
          </a:p>
        </p:txBody>
      </p:sp>
    </p:spTree>
    <p:extLst>
      <p:ext uri="{BB962C8B-B14F-4D97-AF65-F5344CB8AC3E}">
        <p14:creationId xmlns:p14="http://schemas.microsoft.com/office/powerpoint/2010/main" val="1292958789"/>
      </p:ext>
    </p:extLst>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urce-index">
            <a:extLst>
              <a:ext uri="{FF2B5EF4-FFF2-40B4-BE49-F238E27FC236}">
                <a16:creationId xmlns:a16="http://schemas.microsoft.com/office/drawing/2014/main" id="{0B701E08-4F2B-4DD5-94B9-CC4AA302525B}"/>
              </a:ext>
            </a:extLst>
          </p:cNvPr>
          <p:cNvSpPr>
            <a:spLocks noGrp="1"/>
          </p:cNvSpPr>
          <p:nvPr/>
        </p:nvSpPr>
        <p:spPr>
          <a:xfrm>
            <a:off x="914400" y="8172450"/>
            <a:ext cx="12573000" cy="209550"/>
          </a:xfrm>
          <a:prstGeom prst="rect">
            <a:avLst/>
          </a:prstGeom>
          <a:noFill/>
          <a:ln w="0">
            <a:noFill/>
          </a:ln>
        </p:spPr>
        <p:txBody>
          <a:bodyPr wrap="square" lIns="0" tIns="0" rIns="0" bIns="0" anchor="t">
            <a:noAutofit/>
          </a:bodyPr>
          <a:lstStyle>
            <a:defPPr algn="l">
              <a:defRPr sz="1050" b="0">
                <a:solidFill>
                  <a:srgbClr val="62666B"/>
                </a:solidFill>
                <a:latin typeface="Arial"/>
                <a:ea typeface="Arial"/>
                <a:cs typeface="Arial"/>
              </a:defRPr>
            </a:defPPr>
            <a:lvl1pPr algn="l">
              <a:defRPr sz="1050" b="0">
                <a:solidFill>
                  <a:srgbClr val="62666B"/>
                </a:solidFill>
                <a:latin typeface="Arial"/>
                <a:ea typeface="Arial"/>
                <a:cs typeface="Arial"/>
              </a:defRPr>
            </a:lvl1pPr>
            <a:lvl2pPr algn="l">
              <a:defRPr sz="1050" b="0">
                <a:solidFill>
                  <a:srgbClr val="62666B"/>
                </a:solidFill>
                <a:latin typeface="Arial"/>
                <a:ea typeface="Arial"/>
                <a:cs typeface="Arial"/>
              </a:defRPr>
            </a:lvl2pPr>
            <a:lvl3pPr algn="l">
              <a:defRPr sz="1050" b="0">
                <a:solidFill>
                  <a:srgbClr val="62666B"/>
                </a:solidFill>
                <a:latin typeface="Arial"/>
                <a:ea typeface="Arial"/>
                <a:cs typeface="Arial"/>
              </a:defRPr>
            </a:lvl3pPr>
            <a:lvl4pPr algn="l">
              <a:defRPr sz="1050" b="0">
                <a:solidFill>
                  <a:srgbClr val="62666B"/>
                </a:solidFill>
                <a:latin typeface="Arial"/>
                <a:ea typeface="Arial"/>
                <a:cs typeface="Arial"/>
              </a:defRPr>
            </a:lvl4pPr>
            <a:lvl5pPr algn="l">
              <a:defRPr sz="1050" b="0">
                <a:solidFill>
                  <a:srgbClr val="62666B"/>
                </a:solidFill>
                <a:latin typeface="Arial"/>
                <a:ea typeface="Arial"/>
                <a:cs typeface="Arial"/>
              </a:defRPr>
            </a:lvl5pPr>
            <a:lvl6pPr algn="l">
              <a:defRPr sz="1050" b="0">
                <a:solidFill>
                  <a:srgbClr val="62666B"/>
                </a:solidFill>
                <a:latin typeface="Arial"/>
                <a:ea typeface="Arial"/>
                <a:cs typeface="Arial"/>
              </a:defRPr>
            </a:lvl6pPr>
            <a:lvl7pPr algn="l">
              <a:defRPr sz="1050" b="0">
                <a:solidFill>
                  <a:srgbClr val="62666B"/>
                </a:solidFill>
                <a:latin typeface="Arial"/>
                <a:ea typeface="Arial"/>
                <a:cs typeface="Arial"/>
              </a:defRPr>
            </a:lvl7pPr>
            <a:lvl8pPr algn="l">
              <a:defRPr sz="1050" b="0">
                <a:solidFill>
                  <a:srgbClr val="62666B"/>
                </a:solidFill>
                <a:latin typeface="Arial"/>
                <a:ea typeface="Arial"/>
                <a:cs typeface="Arial"/>
              </a:defRPr>
            </a:lvl8pPr>
            <a:lvl9pPr algn="l">
              <a:defRPr sz="1050" b="0">
                <a:solidFill>
                  <a:srgbClr val="62666B"/>
                </a:solidFill>
                <a:latin typeface="Arial"/>
                <a:ea typeface="Arial"/>
                <a:cs typeface="Arial"/>
              </a:defRPr>
            </a:lvl9pPr>
          </a:lstStyle>
          <a:p>
            <a:pPr algn="l">
              <a:defRPr sz="1050" b="0">
                <a:solidFill>
                  <a:srgbClr val="62666B"/>
                </a:solidFill>
                <a:latin typeface="Arial"/>
                <a:ea typeface="Arial"/>
                <a:cs typeface="Arial"/>
              </a:defRPr>
            </a:pPr>
            <a:r>
              <a:rPr sz="1050" b="0">
                <a:solidFill>
                  <a:srgbClr val="62666B"/>
                </a:solidFill>
                <a:latin typeface="Arial"/>
                <a:ea typeface="Arial"/>
                <a:cs typeface="Arial"/>
              </a:rPr>
              <a:t>[E1–E3]</a:t>
            </a:r>
          </a:p>
        </p:txBody>
      </p:sp>
      <p:sp>
        <p:nvSpPr>
          <p:cNvPr id="3" name="page">
            <a:extLst>
              <a:ext uri="{FF2B5EF4-FFF2-40B4-BE49-F238E27FC236}">
                <a16:creationId xmlns:a16="http://schemas.microsoft.com/office/drawing/2014/main" id="{10C21571-9103-4BF0-BD73-0DA36D02E7EA}"/>
              </a:ext>
            </a:extLst>
          </p:cNvPr>
          <p:cNvSpPr>
            <a:spLocks noGrp="1"/>
          </p:cNvSpPr>
          <p:nvPr/>
        </p:nvSpPr>
        <p:spPr>
          <a:xfrm>
            <a:off x="13906500" y="8153400"/>
            <a:ext cx="419100" cy="238125"/>
          </a:xfrm>
          <a:prstGeom prst="rect">
            <a:avLst/>
          </a:prstGeom>
          <a:noFill/>
          <a:ln w="0">
            <a:noFill/>
          </a:ln>
        </p:spPr>
        <p:txBody>
          <a:bodyPr wrap="square" lIns="0" tIns="0" rIns="0" bIns="0" anchor="t">
            <a:noAutofit/>
          </a:bodyPr>
          <a:lstStyle>
            <a:defPPr algn="r">
              <a:defRPr sz="1050" b="0">
                <a:solidFill>
                  <a:srgbClr val="62666B"/>
                </a:solidFill>
                <a:latin typeface="Arial"/>
                <a:ea typeface="Arial"/>
                <a:cs typeface="Arial"/>
              </a:defRPr>
            </a:defPPr>
            <a:lvl1pPr algn="r">
              <a:defRPr sz="1050" b="0">
                <a:solidFill>
                  <a:srgbClr val="62666B"/>
                </a:solidFill>
                <a:latin typeface="Arial"/>
                <a:ea typeface="Arial"/>
                <a:cs typeface="Arial"/>
              </a:defRPr>
            </a:lvl1pPr>
            <a:lvl2pPr algn="r">
              <a:defRPr sz="1050" b="0">
                <a:solidFill>
                  <a:srgbClr val="62666B"/>
                </a:solidFill>
                <a:latin typeface="Arial"/>
                <a:ea typeface="Arial"/>
                <a:cs typeface="Arial"/>
              </a:defRPr>
            </a:lvl2pPr>
            <a:lvl3pPr algn="r">
              <a:defRPr sz="1050" b="0">
                <a:solidFill>
                  <a:srgbClr val="62666B"/>
                </a:solidFill>
                <a:latin typeface="Arial"/>
                <a:ea typeface="Arial"/>
                <a:cs typeface="Arial"/>
              </a:defRPr>
            </a:lvl3pPr>
            <a:lvl4pPr algn="r">
              <a:defRPr sz="1050" b="0">
                <a:solidFill>
                  <a:srgbClr val="62666B"/>
                </a:solidFill>
                <a:latin typeface="Arial"/>
                <a:ea typeface="Arial"/>
                <a:cs typeface="Arial"/>
              </a:defRPr>
            </a:lvl4pPr>
            <a:lvl5pPr algn="r">
              <a:defRPr sz="1050" b="0">
                <a:solidFill>
                  <a:srgbClr val="62666B"/>
                </a:solidFill>
                <a:latin typeface="Arial"/>
                <a:ea typeface="Arial"/>
                <a:cs typeface="Arial"/>
              </a:defRPr>
            </a:lvl5pPr>
            <a:lvl6pPr algn="r">
              <a:defRPr sz="1050" b="0">
                <a:solidFill>
                  <a:srgbClr val="62666B"/>
                </a:solidFill>
                <a:latin typeface="Arial"/>
                <a:ea typeface="Arial"/>
                <a:cs typeface="Arial"/>
              </a:defRPr>
            </a:lvl6pPr>
            <a:lvl7pPr algn="r">
              <a:defRPr sz="1050" b="0">
                <a:solidFill>
                  <a:srgbClr val="62666B"/>
                </a:solidFill>
                <a:latin typeface="Arial"/>
                <a:ea typeface="Arial"/>
                <a:cs typeface="Arial"/>
              </a:defRPr>
            </a:lvl7pPr>
            <a:lvl8pPr algn="r">
              <a:defRPr sz="1050" b="0">
                <a:solidFill>
                  <a:srgbClr val="62666B"/>
                </a:solidFill>
                <a:latin typeface="Arial"/>
                <a:ea typeface="Arial"/>
                <a:cs typeface="Arial"/>
              </a:defRPr>
            </a:lvl8pPr>
            <a:lvl9pPr algn="r">
              <a:defRPr sz="1050" b="0">
                <a:solidFill>
                  <a:srgbClr val="62666B"/>
                </a:solidFill>
                <a:latin typeface="Arial"/>
                <a:ea typeface="Arial"/>
                <a:cs typeface="Arial"/>
              </a:defRPr>
            </a:lvl9pPr>
          </a:lstStyle>
          <a:p>
            <a:pPr algn="r">
              <a:defRPr sz="1050" b="0">
                <a:solidFill>
                  <a:srgbClr val="62666B"/>
                </a:solidFill>
                <a:latin typeface="Arial"/>
                <a:ea typeface="Arial"/>
                <a:cs typeface="Arial"/>
              </a:defRPr>
            </a:pPr>
            <a:r>
              <a:rPr lang="en-US" altLang="zh-CN" sz="1050" b="0">
                <a:solidFill>
                  <a:srgbClr val="62666B"/>
                </a:solidFill>
                <a:latin typeface="Arial"/>
                <a:ea typeface="Arial"/>
                <a:cs typeface="Arial"/>
              </a:rPr>
              <a:t>11</a:t>
            </a:r>
            <a:endParaRPr sz="1050" b="0">
              <a:solidFill>
                <a:srgbClr val="62666B"/>
              </a:solidFill>
              <a:latin typeface="Arial"/>
              <a:ea typeface="Arial"/>
              <a:cs typeface="Arial"/>
            </a:endParaRPr>
          </a:p>
        </p:txBody>
      </p:sp>
      <p:sp>
        <p:nvSpPr>
          <p:cNvPr id="4" name="finding1">
            <a:extLst>
              <a:ext uri="{FF2B5EF4-FFF2-40B4-BE49-F238E27FC236}">
                <a16:creationId xmlns:a16="http://schemas.microsoft.com/office/drawing/2014/main" id="{682A5BA9-AEB1-42B2-AB83-B7989ADF19F1}"/>
              </a:ext>
            </a:extLst>
          </p:cNvPr>
          <p:cNvSpPr>
            <a:spLocks noGrp="1"/>
          </p:cNvSpPr>
          <p:nvPr/>
        </p:nvSpPr>
        <p:spPr>
          <a:xfrm>
            <a:off x="914400" y="1619250"/>
            <a:ext cx="13411200" cy="447675"/>
          </a:xfrm>
          <a:prstGeom prst="rect">
            <a:avLst/>
          </a:prstGeom>
          <a:noFill/>
          <a:ln w="0">
            <a:noFill/>
          </a:ln>
        </p:spPr>
        <p:txBody>
          <a:bodyPr wrap="square" lIns="0" tIns="0" rIns="0" bIns="0" anchor="t">
            <a:noAutofit/>
          </a:bodyPr>
          <a:lstStyle>
            <a:defPPr algn="l">
              <a:defRPr sz="2175" b="1">
                <a:solidFill>
                  <a:srgbClr val="202124"/>
                </a:solidFill>
                <a:latin typeface="Arial"/>
                <a:ea typeface="Arial"/>
                <a:cs typeface="Arial"/>
              </a:defRPr>
            </a:defPPr>
            <a:lvl1pPr algn="l">
              <a:defRPr sz="2175" b="1">
                <a:solidFill>
                  <a:srgbClr val="202124"/>
                </a:solidFill>
                <a:latin typeface="Arial"/>
                <a:ea typeface="Arial"/>
                <a:cs typeface="Arial"/>
              </a:defRPr>
            </a:lvl1pPr>
            <a:lvl2pPr algn="l">
              <a:defRPr sz="2175" b="1">
                <a:solidFill>
                  <a:srgbClr val="202124"/>
                </a:solidFill>
                <a:latin typeface="Arial"/>
                <a:ea typeface="Arial"/>
                <a:cs typeface="Arial"/>
              </a:defRPr>
            </a:lvl2pPr>
            <a:lvl3pPr algn="l">
              <a:defRPr sz="2175" b="1">
                <a:solidFill>
                  <a:srgbClr val="202124"/>
                </a:solidFill>
                <a:latin typeface="Arial"/>
                <a:ea typeface="Arial"/>
                <a:cs typeface="Arial"/>
              </a:defRPr>
            </a:lvl3pPr>
            <a:lvl4pPr algn="l">
              <a:defRPr sz="2175" b="1">
                <a:solidFill>
                  <a:srgbClr val="202124"/>
                </a:solidFill>
                <a:latin typeface="Arial"/>
                <a:ea typeface="Arial"/>
                <a:cs typeface="Arial"/>
              </a:defRPr>
            </a:lvl4pPr>
            <a:lvl5pPr algn="l">
              <a:defRPr sz="2175" b="1">
                <a:solidFill>
                  <a:srgbClr val="202124"/>
                </a:solidFill>
                <a:latin typeface="Arial"/>
                <a:ea typeface="Arial"/>
                <a:cs typeface="Arial"/>
              </a:defRPr>
            </a:lvl5pPr>
            <a:lvl6pPr algn="l">
              <a:defRPr sz="2175" b="1">
                <a:solidFill>
                  <a:srgbClr val="202124"/>
                </a:solidFill>
                <a:latin typeface="Arial"/>
                <a:ea typeface="Arial"/>
                <a:cs typeface="Arial"/>
              </a:defRPr>
            </a:lvl6pPr>
            <a:lvl7pPr algn="l">
              <a:defRPr sz="2175" b="1">
                <a:solidFill>
                  <a:srgbClr val="202124"/>
                </a:solidFill>
                <a:latin typeface="Arial"/>
                <a:ea typeface="Arial"/>
                <a:cs typeface="Arial"/>
              </a:defRPr>
            </a:lvl7pPr>
            <a:lvl8pPr algn="l">
              <a:defRPr sz="2175" b="1">
                <a:solidFill>
                  <a:srgbClr val="202124"/>
                </a:solidFill>
                <a:latin typeface="Arial"/>
                <a:ea typeface="Arial"/>
                <a:cs typeface="Arial"/>
              </a:defRPr>
            </a:lvl8pPr>
            <a:lvl9pPr algn="l">
              <a:defRPr sz="2175" b="1">
                <a:solidFill>
                  <a:srgbClr val="202124"/>
                </a:solidFill>
                <a:latin typeface="Arial"/>
                <a:ea typeface="Arial"/>
                <a:cs typeface="Arial"/>
              </a:defRPr>
            </a:lvl9pPr>
          </a:lstStyle>
          <a:p>
            <a:pPr algn="l">
              <a:defRPr sz="2175" b="1">
                <a:solidFill>
                  <a:srgbClr val="202124"/>
                </a:solidFill>
                <a:latin typeface="Arial"/>
                <a:ea typeface="Arial"/>
                <a:cs typeface="Arial"/>
              </a:defRPr>
            </a:pPr>
            <a:r>
              <a:rPr sz="2175" b="1">
                <a:solidFill>
                  <a:srgbClr val="202124"/>
                </a:solidFill>
                <a:latin typeface="Arial"/>
                <a:ea typeface="Arial"/>
                <a:cs typeface="Arial"/>
              </a:rPr>
              <a:t>History distinguishes material states hidden by the current readings</a:t>
            </a:r>
          </a:p>
        </p:txBody>
      </p:sp>
      <p:sp>
        <p:nvSpPr>
          <p:cNvPr id="5" name="explanation1">
            <a:extLst>
              <a:ext uri="{FF2B5EF4-FFF2-40B4-BE49-F238E27FC236}">
                <a16:creationId xmlns:a16="http://schemas.microsoft.com/office/drawing/2014/main" id="{8C18FCBC-376B-45E4-A7AA-A65F0B83A682}"/>
              </a:ext>
            </a:extLst>
          </p:cNvPr>
          <p:cNvSpPr>
            <a:spLocks noGrp="1"/>
          </p:cNvSpPr>
          <p:nvPr/>
        </p:nvSpPr>
        <p:spPr>
          <a:xfrm>
            <a:off x="914400" y="2276475"/>
            <a:ext cx="13411200" cy="952500"/>
          </a:xfrm>
          <a:prstGeom prst="rect">
            <a:avLst/>
          </a:prstGeom>
          <a:noFill/>
          <a:ln w="0">
            <a:noFill/>
          </a:ln>
        </p:spPr>
        <p:txBody>
          <a:bodyPr wrap="square" lIns="0" tIns="0" rIns="0" bIns="0" anchor="t">
            <a:noAutofit/>
          </a:bodyPr>
          <a:lstStyle>
            <a:defPPr algn="l">
              <a:defRPr sz="1950" b="0">
                <a:solidFill>
                  <a:srgbClr val="202124"/>
                </a:solidFill>
                <a:latin typeface="Arial"/>
                <a:ea typeface="Arial"/>
                <a:cs typeface="Arial"/>
              </a:defRPr>
            </a:defPPr>
            <a:lvl1pPr algn="l">
              <a:defRPr sz="1950" b="0">
                <a:solidFill>
                  <a:srgbClr val="202124"/>
                </a:solidFill>
                <a:latin typeface="Arial"/>
                <a:ea typeface="Arial"/>
                <a:cs typeface="Arial"/>
              </a:defRPr>
            </a:lvl1pPr>
            <a:lvl2pPr algn="l">
              <a:defRPr sz="1950" b="0">
                <a:solidFill>
                  <a:srgbClr val="202124"/>
                </a:solidFill>
                <a:latin typeface="Arial"/>
                <a:ea typeface="Arial"/>
                <a:cs typeface="Arial"/>
              </a:defRPr>
            </a:lvl2pPr>
            <a:lvl3pPr algn="l">
              <a:defRPr sz="1950" b="0">
                <a:solidFill>
                  <a:srgbClr val="202124"/>
                </a:solidFill>
                <a:latin typeface="Arial"/>
                <a:ea typeface="Arial"/>
                <a:cs typeface="Arial"/>
              </a:defRPr>
            </a:lvl3pPr>
            <a:lvl4pPr algn="l">
              <a:defRPr sz="1950" b="0">
                <a:solidFill>
                  <a:srgbClr val="202124"/>
                </a:solidFill>
                <a:latin typeface="Arial"/>
                <a:ea typeface="Arial"/>
                <a:cs typeface="Arial"/>
              </a:defRPr>
            </a:lvl4pPr>
            <a:lvl5pPr algn="l">
              <a:defRPr sz="1950" b="0">
                <a:solidFill>
                  <a:srgbClr val="202124"/>
                </a:solidFill>
                <a:latin typeface="Arial"/>
                <a:ea typeface="Arial"/>
                <a:cs typeface="Arial"/>
              </a:defRPr>
            </a:lvl5pPr>
            <a:lvl6pPr algn="l">
              <a:defRPr sz="1950" b="0">
                <a:solidFill>
                  <a:srgbClr val="202124"/>
                </a:solidFill>
                <a:latin typeface="Arial"/>
                <a:ea typeface="Arial"/>
                <a:cs typeface="Arial"/>
              </a:defRPr>
            </a:lvl6pPr>
            <a:lvl7pPr algn="l">
              <a:defRPr sz="1950" b="0">
                <a:solidFill>
                  <a:srgbClr val="202124"/>
                </a:solidFill>
                <a:latin typeface="Arial"/>
                <a:ea typeface="Arial"/>
                <a:cs typeface="Arial"/>
              </a:defRPr>
            </a:lvl7pPr>
            <a:lvl8pPr algn="l">
              <a:defRPr sz="1950" b="0">
                <a:solidFill>
                  <a:srgbClr val="202124"/>
                </a:solidFill>
                <a:latin typeface="Arial"/>
                <a:ea typeface="Arial"/>
                <a:cs typeface="Arial"/>
              </a:defRPr>
            </a:lvl8pPr>
            <a:lvl9pPr algn="l">
              <a:defRPr sz="1950" b="0">
                <a:solidFill>
                  <a:srgbClr val="202124"/>
                </a:solidFill>
                <a:latin typeface="Arial"/>
                <a:ea typeface="Arial"/>
                <a:cs typeface="Arial"/>
              </a:defRPr>
            </a:lvl9pPr>
          </a:lstStyle>
          <a:p>
            <a:pPr algn="l">
              <a:defRPr sz="1950" b="0">
                <a:solidFill>
                  <a:srgbClr val="202124"/>
                </a:solidFill>
                <a:latin typeface="Arial"/>
                <a:ea typeface="Arial"/>
                <a:cs typeface="Arial"/>
              </a:defRPr>
            </a:pPr>
            <a:r>
              <a:rPr sz="1950" b="0">
                <a:solidFill>
                  <a:srgbClr val="202124"/>
                </a:solidFill>
                <a:latin typeface="Arial"/>
                <a:ea typeface="Arial"/>
                <a:cs typeface="Arial"/>
              </a:rPr>
              <a:t>Different loading paths can end at the same measured position, speed and force.</a:t>
            </a:r>
          </a:p>
          <a:p>
            <a:pPr algn="l">
              <a:defRPr sz="1950" b="0">
                <a:solidFill>
                  <a:srgbClr val="202124"/>
                </a:solidFill>
                <a:latin typeface="Arial"/>
                <a:ea typeface="Arial"/>
                <a:cs typeface="Arial"/>
              </a:defRPr>
            </a:pPr>
            <a:r>
              <a:rPr sz="1950" b="0">
                <a:solidFill>
                  <a:srgbClr val="202124"/>
                </a:solidFill>
                <a:latin typeface="Arial"/>
                <a:ea typeface="Arial"/>
                <a:cs typeface="Arial"/>
              </a:rPr>
              <a:t>Their later responses still differ, and history helps predict that difference.</a:t>
            </a:r>
          </a:p>
        </p:txBody>
      </p:sp>
      <p:sp>
        <p:nvSpPr>
          <p:cNvPr id="6" name="finding2">
            <a:extLst>
              <a:ext uri="{FF2B5EF4-FFF2-40B4-BE49-F238E27FC236}">
                <a16:creationId xmlns:a16="http://schemas.microsoft.com/office/drawing/2014/main" id="{7AC7D535-C935-4539-8AD8-BF46569D41BC}"/>
              </a:ext>
            </a:extLst>
          </p:cNvPr>
          <p:cNvSpPr>
            <a:spLocks noGrp="1"/>
          </p:cNvSpPr>
          <p:nvPr/>
        </p:nvSpPr>
        <p:spPr>
          <a:xfrm>
            <a:off x="914400" y="3619500"/>
            <a:ext cx="13411200" cy="447675"/>
          </a:xfrm>
          <a:prstGeom prst="rect">
            <a:avLst/>
          </a:prstGeom>
          <a:noFill/>
          <a:ln w="0">
            <a:noFill/>
          </a:ln>
        </p:spPr>
        <p:txBody>
          <a:bodyPr wrap="square" lIns="0" tIns="0" rIns="0" bIns="0" anchor="t">
            <a:noAutofit/>
          </a:bodyPr>
          <a:lstStyle>
            <a:defPPr algn="l">
              <a:defRPr sz="2175" b="1">
                <a:solidFill>
                  <a:srgbClr val="202124"/>
                </a:solidFill>
                <a:latin typeface="Arial"/>
                <a:ea typeface="Arial"/>
                <a:cs typeface="Arial"/>
              </a:defRPr>
            </a:defPPr>
            <a:lvl1pPr algn="l">
              <a:defRPr sz="2175" b="1">
                <a:solidFill>
                  <a:srgbClr val="202124"/>
                </a:solidFill>
                <a:latin typeface="Arial"/>
                <a:ea typeface="Arial"/>
                <a:cs typeface="Arial"/>
              </a:defRPr>
            </a:lvl1pPr>
            <a:lvl2pPr algn="l">
              <a:defRPr sz="2175" b="1">
                <a:solidFill>
                  <a:srgbClr val="202124"/>
                </a:solidFill>
                <a:latin typeface="Arial"/>
                <a:ea typeface="Arial"/>
                <a:cs typeface="Arial"/>
              </a:defRPr>
            </a:lvl2pPr>
            <a:lvl3pPr algn="l">
              <a:defRPr sz="2175" b="1">
                <a:solidFill>
                  <a:srgbClr val="202124"/>
                </a:solidFill>
                <a:latin typeface="Arial"/>
                <a:ea typeface="Arial"/>
                <a:cs typeface="Arial"/>
              </a:defRPr>
            </a:lvl3pPr>
            <a:lvl4pPr algn="l">
              <a:defRPr sz="2175" b="1">
                <a:solidFill>
                  <a:srgbClr val="202124"/>
                </a:solidFill>
                <a:latin typeface="Arial"/>
                <a:ea typeface="Arial"/>
                <a:cs typeface="Arial"/>
              </a:defRPr>
            </a:lvl4pPr>
            <a:lvl5pPr algn="l">
              <a:defRPr sz="2175" b="1">
                <a:solidFill>
                  <a:srgbClr val="202124"/>
                </a:solidFill>
                <a:latin typeface="Arial"/>
                <a:ea typeface="Arial"/>
                <a:cs typeface="Arial"/>
              </a:defRPr>
            </a:lvl5pPr>
            <a:lvl6pPr algn="l">
              <a:defRPr sz="2175" b="1">
                <a:solidFill>
                  <a:srgbClr val="202124"/>
                </a:solidFill>
                <a:latin typeface="Arial"/>
                <a:ea typeface="Arial"/>
                <a:cs typeface="Arial"/>
              </a:defRPr>
            </a:lvl6pPr>
            <a:lvl7pPr algn="l">
              <a:defRPr sz="2175" b="1">
                <a:solidFill>
                  <a:srgbClr val="202124"/>
                </a:solidFill>
                <a:latin typeface="Arial"/>
                <a:ea typeface="Arial"/>
                <a:cs typeface="Arial"/>
              </a:defRPr>
            </a:lvl7pPr>
            <a:lvl8pPr algn="l">
              <a:defRPr sz="2175" b="1">
                <a:solidFill>
                  <a:srgbClr val="202124"/>
                </a:solidFill>
                <a:latin typeface="Arial"/>
                <a:ea typeface="Arial"/>
                <a:cs typeface="Arial"/>
              </a:defRPr>
            </a:lvl8pPr>
            <a:lvl9pPr algn="l">
              <a:defRPr sz="2175" b="1">
                <a:solidFill>
                  <a:srgbClr val="202124"/>
                </a:solidFill>
                <a:latin typeface="Arial"/>
                <a:ea typeface="Arial"/>
                <a:cs typeface="Arial"/>
              </a:defRPr>
            </a:lvl9pPr>
          </a:lstStyle>
          <a:p>
            <a:pPr algn="l">
              <a:defRPr sz="2175" b="1">
                <a:solidFill>
                  <a:srgbClr val="202124"/>
                </a:solidFill>
                <a:latin typeface="Arial"/>
                <a:ea typeface="Arial"/>
                <a:cs typeface="Arial"/>
              </a:defRPr>
            </a:pPr>
            <a:r>
              <a:rPr sz="2175" b="1">
                <a:solidFill>
                  <a:srgbClr val="202124"/>
                </a:solidFill>
                <a:latin typeface="Arial"/>
                <a:ea typeface="Arial"/>
                <a:cs typeface="Arial"/>
              </a:rPr>
              <a:t>The inferred state can be reused under different future controls</a:t>
            </a:r>
          </a:p>
        </p:txBody>
      </p:sp>
      <p:sp>
        <p:nvSpPr>
          <p:cNvPr id="7" name="explanation2">
            <a:extLst>
              <a:ext uri="{FF2B5EF4-FFF2-40B4-BE49-F238E27FC236}">
                <a16:creationId xmlns:a16="http://schemas.microsoft.com/office/drawing/2014/main" id="{F3DF2081-DD5A-43D3-A62B-C126AFF2404C}"/>
              </a:ext>
            </a:extLst>
          </p:cNvPr>
          <p:cNvSpPr>
            <a:spLocks noGrp="1"/>
          </p:cNvSpPr>
          <p:nvPr/>
        </p:nvSpPr>
        <p:spPr>
          <a:xfrm>
            <a:off x="914400" y="4276725"/>
            <a:ext cx="13411200" cy="952500"/>
          </a:xfrm>
          <a:prstGeom prst="rect">
            <a:avLst/>
          </a:prstGeom>
          <a:noFill/>
          <a:ln w="0">
            <a:noFill/>
          </a:ln>
        </p:spPr>
        <p:txBody>
          <a:bodyPr wrap="square" lIns="0" tIns="0" rIns="0" bIns="0" anchor="t">
            <a:noAutofit/>
          </a:bodyPr>
          <a:lstStyle>
            <a:defPPr algn="l">
              <a:defRPr sz="1950" b="0">
                <a:solidFill>
                  <a:srgbClr val="202124"/>
                </a:solidFill>
                <a:latin typeface="Arial"/>
                <a:ea typeface="Arial"/>
                <a:cs typeface="Arial"/>
              </a:defRPr>
            </a:defPPr>
            <a:lvl1pPr algn="l">
              <a:defRPr sz="1950" b="0">
                <a:solidFill>
                  <a:srgbClr val="202124"/>
                </a:solidFill>
                <a:latin typeface="Arial"/>
                <a:ea typeface="Arial"/>
                <a:cs typeface="Arial"/>
              </a:defRPr>
            </a:lvl1pPr>
            <a:lvl2pPr algn="l">
              <a:defRPr sz="1950" b="0">
                <a:solidFill>
                  <a:srgbClr val="202124"/>
                </a:solidFill>
                <a:latin typeface="Arial"/>
                <a:ea typeface="Arial"/>
                <a:cs typeface="Arial"/>
              </a:defRPr>
            </a:lvl2pPr>
            <a:lvl3pPr algn="l">
              <a:defRPr sz="1950" b="0">
                <a:solidFill>
                  <a:srgbClr val="202124"/>
                </a:solidFill>
                <a:latin typeface="Arial"/>
                <a:ea typeface="Arial"/>
                <a:cs typeface="Arial"/>
              </a:defRPr>
            </a:lvl3pPr>
            <a:lvl4pPr algn="l">
              <a:defRPr sz="1950" b="0">
                <a:solidFill>
                  <a:srgbClr val="202124"/>
                </a:solidFill>
                <a:latin typeface="Arial"/>
                <a:ea typeface="Arial"/>
                <a:cs typeface="Arial"/>
              </a:defRPr>
            </a:lvl4pPr>
            <a:lvl5pPr algn="l">
              <a:defRPr sz="1950" b="0">
                <a:solidFill>
                  <a:srgbClr val="202124"/>
                </a:solidFill>
                <a:latin typeface="Arial"/>
                <a:ea typeface="Arial"/>
                <a:cs typeface="Arial"/>
              </a:defRPr>
            </a:lvl5pPr>
            <a:lvl6pPr algn="l">
              <a:defRPr sz="1950" b="0">
                <a:solidFill>
                  <a:srgbClr val="202124"/>
                </a:solidFill>
                <a:latin typeface="Arial"/>
                <a:ea typeface="Arial"/>
                <a:cs typeface="Arial"/>
              </a:defRPr>
            </a:lvl6pPr>
            <a:lvl7pPr algn="l">
              <a:defRPr sz="1950" b="0">
                <a:solidFill>
                  <a:srgbClr val="202124"/>
                </a:solidFill>
                <a:latin typeface="Arial"/>
                <a:ea typeface="Arial"/>
                <a:cs typeface="Arial"/>
              </a:defRPr>
            </a:lvl7pPr>
            <a:lvl8pPr algn="l">
              <a:defRPr sz="1950" b="0">
                <a:solidFill>
                  <a:srgbClr val="202124"/>
                </a:solidFill>
                <a:latin typeface="Arial"/>
                <a:ea typeface="Arial"/>
                <a:cs typeface="Arial"/>
              </a:defRPr>
            </a:lvl8pPr>
            <a:lvl9pPr algn="l">
              <a:defRPr sz="1950" b="0">
                <a:solidFill>
                  <a:srgbClr val="202124"/>
                </a:solidFill>
                <a:latin typeface="Arial"/>
                <a:ea typeface="Arial"/>
                <a:cs typeface="Arial"/>
              </a:defRPr>
            </a:lvl9pPr>
          </a:lstStyle>
          <a:p>
            <a:pPr algn="l">
              <a:defRPr sz="1950" b="0">
                <a:solidFill>
                  <a:srgbClr val="202124"/>
                </a:solidFill>
                <a:latin typeface="Arial"/>
                <a:ea typeface="Arial"/>
                <a:cs typeface="Arial"/>
              </a:defRPr>
            </a:pPr>
            <a:r>
              <a:rPr sz="1950" b="0">
                <a:solidFill>
                  <a:srgbClr val="202124"/>
                </a:solidFill>
                <a:latin typeface="Arial"/>
                <a:ea typeface="Arial"/>
                <a:cs typeface="Arial"/>
              </a:rPr>
              <a:t>Encode the past once, then use the same material state to predict responses</a:t>
            </a:r>
          </a:p>
          <a:p>
            <a:pPr algn="l">
              <a:defRPr sz="1950" b="0">
                <a:solidFill>
                  <a:srgbClr val="202124"/>
                </a:solidFill>
                <a:latin typeface="Arial"/>
                <a:ea typeface="Arial"/>
                <a:cs typeface="Arial"/>
              </a:defRPr>
            </a:pPr>
            <a:r>
              <a:rPr sz="1950" b="0">
                <a:solidFill>
                  <a:srgbClr val="202124"/>
                </a:solidFill>
                <a:latin typeface="Arial"/>
                <a:ea typeface="Arial"/>
                <a:cs typeface="Arial"/>
              </a:rPr>
              <a:t>under new controller settings. History inference and future control stay separate.</a:t>
            </a:r>
          </a:p>
        </p:txBody>
      </p:sp>
      <p:sp>
        <p:nvSpPr>
          <p:cNvPr id="8" name="finding3">
            <a:extLst>
              <a:ext uri="{FF2B5EF4-FFF2-40B4-BE49-F238E27FC236}">
                <a16:creationId xmlns:a16="http://schemas.microsoft.com/office/drawing/2014/main" id="{3282DAFA-2D01-47F5-8AA9-403CB261A35B}"/>
              </a:ext>
            </a:extLst>
          </p:cNvPr>
          <p:cNvSpPr>
            <a:spLocks noGrp="1"/>
          </p:cNvSpPr>
          <p:nvPr/>
        </p:nvSpPr>
        <p:spPr>
          <a:xfrm>
            <a:off x="914400" y="5619750"/>
            <a:ext cx="13411200" cy="447675"/>
          </a:xfrm>
          <a:prstGeom prst="rect">
            <a:avLst/>
          </a:prstGeom>
          <a:noFill/>
          <a:ln w="0">
            <a:noFill/>
          </a:ln>
        </p:spPr>
        <p:txBody>
          <a:bodyPr wrap="square" lIns="0" tIns="0" rIns="0" bIns="0" anchor="t">
            <a:noAutofit/>
          </a:bodyPr>
          <a:lstStyle>
            <a:defPPr algn="l">
              <a:defRPr sz="2175" b="1">
                <a:solidFill>
                  <a:srgbClr val="202124"/>
                </a:solidFill>
                <a:latin typeface="Arial"/>
                <a:ea typeface="Arial"/>
                <a:cs typeface="Arial"/>
              </a:defRPr>
            </a:defPPr>
            <a:lvl1pPr algn="l">
              <a:defRPr sz="2175" b="1">
                <a:solidFill>
                  <a:srgbClr val="202124"/>
                </a:solidFill>
                <a:latin typeface="Arial"/>
                <a:ea typeface="Arial"/>
                <a:cs typeface="Arial"/>
              </a:defRPr>
            </a:lvl1pPr>
            <a:lvl2pPr algn="l">
              <a:defRPr sz="2175" b="1">
                <a:solidFill>
                  <a:srgbClr val="202124"/>
                </a:solidFill>
                <a:latin typeface="Arial"/>
                <a:ea typeface="Arial"/>
                <a:cs typeface="Arial"/>
              </a:defRPr>
            </a:lvl2pPr>
            <a:lvl3pPr algn="l">
              <a:defRPr sz="2175" b="1">
                <a:solidFill>
                  <a:srgbClr val="202124"/>
                </a:solidFill>
                <a:latin typeface="Arial"/>
                <a:ea typeface="Arial"/>
                <a:cs typeface="Arial"/>
              </a:defRPr>
            </a:lvl3pPr>
            <a:lvl4pPr algn="l">
              <a:defRPr sz="2175" b="1">
                <a:solidFill>
                  <a:srgbClr val="202124"/>
                </a:solidFill>
                <a:latin typeface="Arial"/>
                <a:ea typeface="Arial"/>
                <a:cs typeface="Arial"/>
              </a:defRPr>
            </a:lvl4pPr>
            <a:lvl5pPr algn="l">
              <a:defRPr sz="2175" b="1">
                <a:solidFill>
                  <a:srgbClr val="202124"/>
                </a:solidFill>
                <a:latin typeface="Arial"/>
                <a:ea typeface="Arial"/>
                <a:cs typeface="Arial"/>
              </a:defRPr>
            </a:lvl5pPr>
            <a:lvl6pPr algn="l">
              <a:defRPr sz="2175" b="1">
                <a:solidFill>
                  <a:srgbClr val="202124"/>
                </a:solidFill>
                <a:latin typeface="Arial"/>
                <a:ea typeface="Arial"/>
                <a:cs typeface="Arial"/>
              </a:defRPr>
            </a:lvl6pPr>
            <a:lvl7pPr algn="l">
              <a:defRPr sz="2175" b="1">
                <a:solidFill>
                  <a:srgbClr val="202124"/>
                </a:solidFill>
                <a:latin typeface="Arial"/>
                <a:ea typeface="Arial"/>
                <a:cs typeface="Arial"/>
              </a:defRPr>
            </a:lvl7pPr>
            <a:lvl8pPr algn="l">
              <a:defRPr sz="2175" b="1">
                <a:solidFill>
                  <a:srgbClr val="202124"/>
                </a:solidFill>
                <a:latin typeface="Arial"/>
                <a:ea typeface="Arial"/>
                <a:cs typeface="Arial"/>
              </a:defRPr>
            </a:lvl8pPr>
            <a:lvl9pPr algn="l">
              <a:defRPr sz="2175" b="1">
                <a:solidFill>
                  <a:srgbClr val="202124"/>
                </a:solidFill>
                <a:latin typeface="Arial"/>
                <a:ea typeface="Arial"/>
                <a:cs typeface="Arial"/>
              </a:defRPr>
            </a:lvl9pPr>
          </a:lstStyle>
          <a:p>
            <a:pPr algn="l">
              <a:defRPr sz="2175" b="1">
                <a:solidFill>
                  <a:srgbClr val="202124"/>
                </a:solidFill>
                <a:latin typeface="Arial"/>
                <a:ea typeface="Arial"/>
                <a:cs typeface="Arial"/>
              </a:defRPr>
            </a:pPr>
            <a:r>
              <a:rPr sz="2175" b="1">
                <a:solidFill>
                  <a:srgbClr val="202124"/>
                </a:solidFill>
                <a:latin typeface="Arial"/>
                <a:ea typeface="Arial"/>
                <a:cs typeface="Arial"/>
              </a:rPr>
              <a:t>Shared feedback largely removes the added action benefit</a:t>
            </a:r>
          </a:p>
        </p:txBody>
      </p:sp>
      <p:sp>
        <p:nvSpPr>
          <p:cNvPr id="9" name="explanation3">
            <a:extLst>
              <a:ext uri="{FF2B5EF4-FFF2-40B4-BE49-F238E27FC236}">
                <a16:creationId xmlns:a16="http://schemas.microsoft.com/office/drawing/2014/main" id="{ABE5CC7C-88C0-4AC4-8F80-D50B99FEDE93}"/>
              </a:ext>
            </a:extLst>
          </p:cNvPr>
          <p:cNvSpPr>
            <a:spLocks noGrp="1"/>
          </p:cNvSpPr>
          <p:nvPr/>
        </p:nvSpPr>
        <p:spPr>
          <a:xfrm>
            <a:off x="914400" y="6276975"/>
            <a:ext cx="13411200" cy="952500"/>
          </a:xfrm>
          <a:prstGeom prst="rect">
            <a:avLst/>
          </a:prstGeom>
          <a:noFill/>
          <a:ln w="0">
            <a:noFill/>
          </a:ln>
        </p:spPr>
        <p:txBody>
          <a:bodyPr wrap="square" lIns="0" tIns="0" rIns="0" bIns="0" anchor="t">
            <a:noAutofit/>
          </a:bodyPr>
          <a:lstStyle>
            <a:defPPr algn="l">
              <a:defRPr sz="1950" b="0">
                <a:solidFill>
                  <a:srgbClr val="202124"/>
                </a:solidFill>
                <a:latin typeface="Arial"/>
                <a:ea typeface="Arial"/>
                <a:cs typeface="Arial"/>
              </a:defRPr>
            </a:defPPr>
            <a:lvl1pPr algn="l">
              <a:defRPr sz="1950" b="0">
                <a:solidFill>
                  <a:srgbClr val="202124"/>
                </a:solidFill>
                <a:latin typeface="Arial"/>
                <a:ea typeface="Arial"/>
                <a:cs typeface="Arial"/>
              </a:defRPr>
            </a:lvl1pPr>
            <a:lvl2pPr algn="l">
              <a:defRPr sz="1950" b="0">
                <a:solidFill>
                  <a:srgbClr val="202124"/>
                </a:solidFill>
                <a:latin typeface="Arial"/>
                <a:ea typeface="Arial"/>
                <a:cs typeface="Arial"/>
              </a:defRPr>
            </a:lvl2pPr>
            <a:lvl3pPr algn="l">
              <a:defRPr sz="1950" b="0">
                <a:solidFill>
                  <a:srgbClr val="202124"/>
                </a:solidFill>
                <a:latin typeface="Arial"/>
                <a:ea typeface="Arial"/>
                <a:cs typeface="Arial"/>
              </a:defRPr>
            </a:lvl3pPr>
            <a:lvl4pPr algn="l">
              <a:defRPr sz="1950" b="0">
                <a:solidFill>
                  <a:srgbClr val="202124"/>
                </a:solidFill>
                <a:latin typeface="Arial"/>
                <a:ea typeface="Arial"/>
                <a:cs typeface="Arial"/>
              </a:defRPr>
            </a:lvl4pPr>
            <a:lvl5pPr algn="l">
              <a:defRPr sz="1950" b="0">
                <a:solidFill>
                  <a:srgbClr val="202124"/>
                </a:solidFill>
                <a:latin typeface="Arial"/>
                <a:ea typeface="Arial"/>
                <a:cs typeface="Arial"/>
              </a:defRPr>
            </a:lvl5pPr>
            <a:lvl6pPr algn="l">
              <a:defRPr sz="1950" b="0">
                <a:solidFill>
                  <a:srgbClr val="202124"/>
                </a:solidFill>
                <a:latin typeface="Arial"/>
                <a:ea typeface="Arial"/>
                <a:cs typeface="Arial"/>
              </a:defRPr>
            </a:lvl6pPr>
            <a:lvl7pPr algn="l">
              <a:defRPr sz="1950" b="0">
                <a:solidFill>
                  <a:srgbClr val="202124"/>
                </a:solidFill>
                <a:latin typeface="Arial"/>
                <a:ea typeface="Arial"/>
                <a:cs typeface="Arial"/>
              </a:defRPr>
            </a:lvl7pPr>
            <a:lvl8pPr algn="l">
              <a:defRPr sz="1950" b="0">
                <a:solidFill>
                  <a:srgbClr val="202124"/>
                </a:solidFill>
                <a:latin typeface="Arial"/>
                <a:ea typeface="Arial"/>
                <a:cs typeface="Arial"/>
              </a:defRPr>
            </a:lvl8pPr>
            <a:lvl9pPr algn="l">
              <a:defRPr sz="1950" b="0">
                <a:solidFill>
                  <a:srgbClr val="202124"/>
                </a:solidFill>
                <a:latin typeface="Arial"/>
                <a:ea typeface="Arial"/>
                <a:cs typeface="Arial"/>
              </a:defRPr>
            </a:lvl9pPr>
          </a:lstStyle>
          <a:p>
            <a:pPr algn="l">
              <a:defRPr sz="1950" b="0">
                <a:solidFill>
                  <a:srgbClr val="202124"/>
                </a:solidFill>
                <a:latin typeface="Arial"/>
                <a:ea typeface="Arial"/>
                <a:cs typeface="Arial"/>
              </a:defRPr>
            </a:pPr>
            <a:r>
              <a:rPr sz="1950" b="0">
                <a:solidFill>
                  <a:srgbClr val="202124"/>
                </a:solidFill>
                <a:latin typeface="Arial"/>
                <a:ea typeface="Arial"/>
                <a:cs typeface="Arial"/>
              </a:rPr>
              <a:t>With common online feedback, the two initializations lead to nearly the same actions</a:t>
            </a:r>
          </a:p>
          <a:p>
            <a:pPr algn="l">
              <a:defRPr sz="1950" b="0">
                <a:solidFill>
                  <a:srgbClr val="202124"/>
                </a:solidFill>
                <a:latin typeface="Arial"/>
                <a:ea typeface="Arial"/>
                <a:cs typeface="Arial"/>
              </a:defRPr>
            </a:pPr>
            <a:r>
              <a:rPr sz="1950" b="0">
                <a:solidFill>
                  <a:srgbClr val="202124"/>
                </a:solidFill>
                <a:latin typeface="Arial"/>
                <a:ea typeface="Arial"/>
                <a:cs typeface="Arial"/>
              </a:rPr>
              <a:t>and outcomes. Classical estimators also recover useful state in this material model.</a:t>
            </a:r>
          </a:p>
        </p:txBody>
      </p:sp>
      <p:sp>
        <p:nvSpPr>
          <p:cNvPr id="10" name="dimension">
            <a:extLst>
              <a:ext uri="{FF2B5EF4-FFF2-40B4-BE49-F238E27FC236}">
                <a16:creationId xmlns:a16="http://schemas.microsoft.com/office/drawing/2014/main" id="{FD3DFC94-3532-443F-965E-E42344308901}"/>
              </a:ext>
            </a:extLst>
          </p:cNvPr>
          <p:cNvSpPr>
            <a:spLocks noGrp="1"/>
          </p:cNvSpPr>
          <p:nvPr/>
        </p:nvSpPr>
        <p:spPr>
          <a:xfrm>
            <a:off x="914400" y="7762875"/>
            <a:ext cx="13411200" cy="333375"/>
          </a:xfrm>
          <a:prstGeom prst="rect">
            <a:avLst/>
          </a:prstGeom>
          <a:noFill/>
          <a:ln w="0">
            <a:noFill/>
          </a:ln>
        </p:spPr>
        <p:txBody>
          <a:bodyPr wrap="square" lIns="0" tIns="0" rIns="0" bIns="0" anchor="t">
            <a:noAutofit/>
          </a:bodyPr>
          <a:lstStyle>
            <a:defPPr algn="l">
              <a:defRPr sz="1725" b="0">
                <a:solidFill>
                  <a:srgbClr val="62666B"/>
                </a:solidFill>
                <a:latin typeface="Arial"/>
                <a:ea typeface="Arial"/>
                <a:cs typeface="Arial"/>
              </a:defRPr>
            </a:defPPr>
            <a:lvl1pPr algn="l">
              <a:defRPr sz="1725" b="0">
                <a:solidFill>
                  <a:srgbClr val="62666B"/>
                </a:solidFill>
                <a:latin typeface="Arial"/>
                <a:ea typeface="Arial"/>
                <a:cs typeface="Arial"/>
              </a:defRPr>
            </a:lvl1pPr>
            <a:lvl2pPr algn="l">
              <a:defRPr sz="1725" b="0">
                <a:solidFill>
                  <a:srgbClr val="62666B"/>
                </a:solidFill>
                <a:latin typeface="Arial"/>
                <a:ea typeface="Arial"/>
                <a:cs typeface="Arial"/>
              </a:defRPr>
            </a:lvl2pPr>
            <a:lvl3pPr algn="l">
              <a:defRPr sz="1725" b="0">
                <a:solidFill>
                  <a:srgbClr val="62666B"/>
                </a:solidFill>
                <a:latin typeface="Arial"/>
                <a:ea typeface="Arial"/>
                <a:cs typeface="Arial"/>
              </a:defRPr>
            </a:lvl3pPr>
            <a:lvl4pPr algn="l">
              <a:defRPr sz="1725" b="0">
                <a:solidFill>
                  <a:srgbClr val="62666B"/>
                </a:solidFill>
                <a:latin typeface="Arial"/>
                <a:ea typeface="Arial"/>
                <a:cs typeface="Arial"/>
              </a:defRPr>
            </a:lvl4pPr>
            <a:lvl5pPr algn="l">
              <a:defRPr sz="1725" b="0">
                <a:solidFill>
                  <a:srgbClr val="62666B"/>
                </a:solidFill>
                <a:latin typeface="Arial"/>
                <a:ea typeface="Arial"/>
                <a:cs typeface="Arial"/>
              </a:defRPr>
            </a:lvl5pPr>
            <a:lvl6pPr algn="l">
              <a:defRPr sz="1725" b="0">
                <a:solidFill>
                  <a:srgbClr val="62666B"/>
                </a:solidFill>
                <a:latin typeface="Arial"/>
                <a:ea typeface="Arial"/>
                <a:cs typeface="Arial"/>
              </a:defRPr>
            </a:lvl6pPr>
            <a:lvl7pPr algn="l">
              <a:defRPr sz="1725" b="0">
                <a:solidFill>
                  <a:srgbClr val="62666B"/>
                </a:solidFill>
                <a:latin typeface="Arial"/>
                <a:ea typeface="Arial"/>
                <a:cs typeface="Arial"/>
              </a:defRPr>
            </a:lvl7pPr>
            <a:lvl8pPr algn="l">
              <a:defRPr sz="1725" b="0">
                <a:solidFill>
                  <a:srgbClr val="62666B"/>
                </a:solidFill>
                <a:latin typeface="Arial"/>
                <a:ea typeface="Arial"/>
                <a:cs typeface="Arial"/>
              </a:defRPr>
            </a:lvl8pPr>
            <a:lvl9pPr algn="l">
              <a:defRPr sz="1725" b="0">
                <a:solidFill>
                  <a:srgbClr val="62666B"/>
                </a:solidFill>
                <a:latin typeface="Arial"/>
                <a:ea typeface="Arial"/>
                <a:cs typeface="Arial"/>
              </a:defRPr>
            </a:lvl9pPr>
          </a:lstStyle>
          <a:p>
            <a:pPr algn="l">
              <a:defRPr sz="1725" b="0">
                <a:solidFill>
                  <a:srgbClr val="62666B"/>
                </a:solidFill>
                <a:latin typeface="Arial"/>
                <a:ea typeface="Arial"/>
                <a:cs typeface="Arial"/>
              </a:defRPr>
            </a:pPr>
            <a:r>
              <a:rPr sz="1725" b="0">
                <a:solidFill>
                  <a:srgbClr val="62666B"/>
                </a:solidFill>
                <a:latin typeface="Arial"/>
                <a:ea typeface="Arial"/>
                <a:cs typeface="Arial"/>
              </a:rPr>
              <a:t>Current setting: simulated 1D motion with a 2D material state.</a:t>
            </a:r>
          </a:p>
        </p:txBody>
      </p:sp>
    </p:spTree>
    <p:extLst>
      <p:ext uri="{BB962C8B-B14F-4D97-AF65-F5344CB8AC3E}">
        <p14:creationId xmlns:p14="http://schemas.microsoft.com/office/powerpoint/2010/main" val="2143396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title">
            <a:extLst>
              <a:ext uri="{FF2B5EF4-FFF2-40B4-BE49-F238E27FC236}">
                <a16:creationId xmlns:a16="http://schemas.microsoft.com/office/drawing/2014/main" id="{0C1425B9-3B85-410D-AF4E-34066B325F19}"/>
              </a:ext>
            </a:extLst>
          </p:cNvPr>
          <p:cNvSpPr>
            <a:spLocks noGrp="1"/>
          </p:cNvSpPr>
          <p:nvPr/>
        </p:nvSpPr>
        <p:spPr>
          <a:xfrm>
            <a:off x="914400" y="552450"/>
            <a:ext cx="13411200" cy="533400"/>
          </a:xfrm>
          <a:prstGeom prst="rect">
            <a:avLst/>
          </a:prstGeom>
          <a:noFill/>
          <a:ln w="0">
            <a:noFill/>
          </a:ln>
        </p:spPr>
        <p:txBody>
          <a:bodyPr wrap="square" lIns="0" tIns="0" rIns="0" bIns="0" anchor="t">
            <a:noAutofit/>
          </a:bodyPr>
          <a:lstStyle>
            <a:defPPr algn="l">
              <a:defRPr sz="2400" b="1">
                <a:solidFill>
                  <a:srgbClr val="202124"/>
                </a:solidFill>
                <a:latin typeface="Arial"/>
                <a:ea typeface="Arial"/>
                <a:cs typeface="Arial"/>
              </a:defRPr>
            </a:defPPr>
            <a:lvl1pPr algn="l">
              <a:defRPr sz="2400" b="1">
                <a:solidFill>
                  <a:srgbClr val="202124"/>
                </a:solidFill>
                <a:latin typeface="Arial"/>
                <a:ea typeface="Arial"/>
                <a:cs typeface="Arial"/>
              </a:defRPr>
            </a:lvl1pPr>
            <a:lvl2pPr algn="l">
              <a:defRPr sz="2400" b="1">
                <a:solidFill>
                  <a:srgbClr val="202124"/>
                </a:solidFill>
                <a:latin typeface="Arial"/>
                <a:ea typeface="Arial"/>
                <a:cs typeface="Arial"/>
              </a:defRPr>
            </a:lvl2pPr>
            <a:lvl3pPr algn="l">
              <a:defRPr sz="2400" b="1">
                <a:solidFill>
                  <a:srgbClr val="202124"/>
                </a:solidFill>
                <a:latin typeface="Arial"/>
                <a:ea typeface="Arial"/>
                <a:cs typeface="Arial"/>
              </a:defRPr>
            </a:lvl3pPr>
            <a:lvl4pPr algn="l">
              <a:defRPr sz="2400" b="1">
                <a:solidFill>
                  <a:srgbClr val="202124"/>
                </a:solidFill>
                <a:latin typeface="Arial"/>
                <a:ea typeface="Arial"/>
                <a:cs typeface="Arial"/>
              </a:defRPr>
            </a:lvl4pPr>
            <a:lvl5pPr algn="l">
              <a:defRPr sz="2400" b="1">
                <a:solidFill>
                  <a:srgbClr val="202124"/>
                </a:solidFill>
                <a:latin typeface="Arial"/>
                <a:ea typeface="Arial"/>
                <a:cs typeface="Arial"/>
              </a:defRPr>
            </a:lvl5pPr>
            <a:lvl6pPr algn="l">
              <a:defRPr sz="2400" b="1">
                <a:solidFill>
                  <a:srgbClr val="202124"/>
                </a:solidFill>
                <a:latin typeface="Arial"/>
                <a:ea typeface="Arial"/>
                <a:cs typeface="Arial"/>
              </a:defRPr>
            </a:lvl6pPr>
            <a:lvl7pPr algn="l">
              <a:defRPr sz="2400" b="1">
                <a:solidFill>
                  <a:srgbClr val="202124"/>
                </a:solidFill>
                <a:latin typeface="Arial"/>
                <a:ea typeface="Arial"/>
                <a:cs typeface="Arial"/>
              </a:defRPr>
            </a:lvl7pPr>
            <a:lvl8pPr algn="l">
              <a:defRPr sz="2400" b="1">
                <a:solidFill>
                  <a:srgbClr val="202124"/>
                </a:solidFill>
                <a:latin typeface="Arial"/>
                <a:ea typeface="Arial"/>
                <a:cs typeface="Arial"/>
              </a:defRPr>
            </a:lvl8pPr>
            <a:lvl9pPr algn="l">
              <a:defRPr sz="2400" b="1">
                <a:solidFill>
                  <a:srgbClr val="202124"/>
                </a:solidFill>
                <a:latin typeface="Arial"/>
                <a:ea typeface="Arial"/>
                <a:cs typeface="Arial"/>
              </a:defRPr>
            </a:lvl9pPr>
          </a:lstStyle>
          <a:p>
            <a:pPr algn="l">
              <a:defRPr sz="2400" b="1">
                <a:solidFill>
                  <a:srgbClr val="202124"/>
                </a:solidFill>
                <a:latin typeface="Arial"/>
                <a:ea typeface="Arial"/>
                <a:cs typeface="Arial"/>
              </a:defRPr>
            </a:pPr>
            <a:r>
              <a:rPr sz="2400" b="1">
                <a:solidFill>
                  <a:srgbClr val="202124"/>
                </a:solidFill>
                <a:latin typeface="Arial"/>
                <a:ea typeface="Arial"/>
                <a:cs typeface="Arial"/>
              </a:rPr>
              <a:t>A2. References</a:t>
            </a:r>
          </a:p>
        </p:txBody>
      </p:sp>
      <p:sp>
        <p:nvSpPr>
          <p:cNvPr id="2" name="page">
            <a:extLst>
              <a:ext uri="{FF2B5EF4-FFF2-40B4-BE49-F238E27FC236}">
                <a16:creationId xmlns:a16="http://schemas.microsoft.com/office/drawing/2014/main" id="{B8FD7EFF-AE8B-4536-80BF-B57F36013A8C}"/>
              </a:ext>
            </a:extLst>
          </p:cNvPr>
          <p:cNvSpPr>
            <a:spLocks noGrp="1"/>
          </p:cNvSpPr>
          <p:nvPr/>
        </p:nvSpPr>
        <p:spPr>
          <a:xfrm>
            <a:off x="13906500" y="8153400"/>
            <a:ext cx="419100" cy="238125"/>
          </a:xfrm>
          <a:prstGeom prst="rect">
            <a:avLst/>
          </a:prstGeom>
          <a:noFill/>
          <a:ln w="0">
            <a:noFill/>
          </a:ln>
        </p:spPr>
        <p:txBody>
          <a:bodyPr wrap="square" lIns="0" tIns="0" rIns="0" bIns="0" anchor="t">
            <a:noAutofit/>
          </a:bodyPr>
          <a:lstStyle>
            <a:defPPr algn="r">
              <a:defRPr sz="1050" b="0">
                <a:solidFill>
                  <a:srgbClr val="62666B"/>
                </a:solidFill>
                <a:latin typeface="Arial"/>
                <a:ea typeface="Arial"/>
                <a:cs typeface="Arial"/>
              </a:defRPr>
            </a:defPPr>
            <a:lvl1pPr algn="r">
              <a:defRPr sz="1050" b="0">
                <a:solidFill>
                  <a:srgbClr val="62666B"/>
                </a:solidFill>
                <a:latin typeface="Arial"/>
                <a:ea typeface="Arial"/>
                <a:cs typeface="Arial"/>
              </a:defRPr>
            </a:lvl1pPr>
            <a:lvl2pPr algn="r">
              <a:defRPr sz="1050" b="0">
                <a:solidFill>
                  <a:srgbClr val="62666B"/>
                </a:solidFill>
                <a:latin typeface="Arial"/>
                <a:ea typeface="Arial"/>
                <a:cs typeface="Arial"/>
              </a:defRPr>
            </a:lvl2pPr>
            <a:lvl3pPr algn="r">
              <a:defRPr sz="1050" b="0">
                <a:solidFill>
                  <a:srgbClr val="62666B"/>
                </a:solidFill>
                <a:latin typeface="Arial"/>
                <a:ea typeface="Arial"/>
                <a:cs typeface="Arial"/>
              </a:defRPr>
            </a:lvl3pPr>
            <a:lvl4pPr algn="r">
              <a:defRPr sz="1050" b="0">
                <a:solidFill>
                  <a:srgbClr val="62666B"/>
                </a:solidFill>
                <a:latin typeface="Arial"/>
                <a:ea typeface="Arial"/>
                <a:cs typeface="Arial"/>
              </a:defRPr>
            </a:lvl4pPr>
            <a:lvl5pPr algn="r">
              <a:defRPr sz="1050" b="0">
                <a:solidFill>
                  <a:srgbClr val="62666B"/>
                </a:solidFill>
                <a:latin typeface="Arial"/>
                <a:ea typeface="Arial"/>
                <a:cs typeface="Arial"/>
              </a:defRPr>
            </a:lvl5pPr>
            <a:lvl6pPr algn="r">
              <a:defRPr sz="1050" b="0">
                <a:solidFill>
                  <a:srgbClr val="62666B"/>
                </a:solidFill>
                <a:latin typeface="Arial"/>
                <a:ea typeface="Arial"/>
                <a:cs typeface="Arial"/>
              </a:defRPr>
            </a:lvl6pPr>
            <a:lvl7pPr algn="r">
              <a:defRPr sz="1050" b="0">
                <a:solidFill>
                  <a:srgbClr val="62666B"/>
                </a:solidFill>
                <a:latin typeface="Arial"/>
                <a:ea typeface="Arial"/>
                <a:cs typeface="Arial"/>
              </a:defRPr>
            </a:lvl7pPr>
            <a:lvl8pPr algn="r">
              <a:defRPr sz="1050" b="0">
                <a:solidFill>
                  <a:srgbClr val="62666B"/>
                </a:solidFill>
                <a:latin typeface="Arial"/>
                <a:ea typeface="Arial"/>
                <a:cs typeface="Arial"/>
              </a:defRPr>
            </a:lvl8pPr>
            <a:lvl9pPr algn="r">
              <a:defRPr sz="1050" b="0">
                <a:solidFill>
                  <a:srgbClr val="62666B"/>
                </a:solidFill>
                <a:latin typeface="Arial"/>
                <a:ea typeface="Arial"/>
                <a:cs typeface="Arial"/>
              </a:defRPr>
            </a:lvl9pPr>
          </a:lstStyle>
          <a:p>
            <a:pPr algn="r">
              <a:defRPr sz="1050" b="0">
                <a:solidFill>
                  <a:srgbClr val="62666B"/>
                </a:solidFill>
                <a:latin typeface="Arial"/>
                <a:ea typeface="Arial"/>
                <a:cs typeface="Arial"/>
              </a:defRPr>
            </a:pPr>
            <a:r>
              <a:rPr lang="en-US" altLang="zh-CN" sz="1050" b="0">
                <a:solidFill>
                  <a:srgbClr val="62666B"/>
                </a:solidFill>
                <a:latin typeface="Arial"/>
                <a:ea typeface="Arial"/>
                <a:cs typeface="Arial"/>
              </a:rPr>
              <a:t>12</a:t>
            </a:r>
            <a:endParaRPr sz="1050" b="0">
              <a:solidFill>
                <a:srgbClr val="62666B"/>
              </a:solidFill>
              <a:latin typeface="Arial"/>
              <a:ea typeface="Arial"/>
              <a:cs typeface="Arial"/>
            </a:endParaRPr>
          </a:p>
        </p:txBody>
      </p:sp>
      <p:sp>
        <p:nvSpPr>
          <p:cNvPr id="3" name="source-index">
            <a:extLst>
              <a:ext uri="{FF2B5EF4-FFF2-40B4-BE49-F238E27FC236}">
                <a16:creationId xmlns:a16="http://schemas.microsoft.com/office/drawing/2014/main" id="{2506B769-1439-43BD-A5AC-5A7BFADD82FA}"/>
              </a:ext>
            </a:extLst>
          </p:cNvPr>
          <p:cNvSpPr>
            <a:spLocks noGrp="1"/>
          </p:cNvSpPr>
          <p:nvPr/>
        </p:nvSpPr>
        <p:spPr>
          <a:xfrm>
            <a:off x="914400" y="8172450"/>
            <a:ext cx="12573000" cy="209550"/>
          </a:xfrm>
          <a:prstGeom prst="rect">
            <a:avLst/>
          </a:prstGeom>
          <a:noFill/>
          <a:ln w="0">
            <a:noFill/>
          </a:ln>
        </p:spPr>
        <p:txBody>
          <a:bodyPr wrap="square" lIns="0" tIns="0" rIns="0" bIns="0" anchor="t">
            <a:noAutofit/>
          </a:bodyPr>
          <a:lstStyle>
            <a:defPPr algn="l">
              <a:defRPr sz="1050" b="0">
                <a:solidFill>
                  <a:srgbClr val="62666B"/>
                </a:solidFill>
                <a:latin typeface="Arial"/>
                <a:ea typeface="Arial"/>
                <a:cs typeface="Arial"/>
              </a:defRPr>
            </a:defPPr>
            <a:lvl1pPr algn="l">
              <a:buNone/>
              <a:defRPr sz="1050" b="0">
                <a:solidFill>
                  <a:srgbClr val="62666B"/>
                </a:solidFill>
                <a:latin typeface="Arial"/>
                <a:ea typeface="Arial"/>
                <a:cs typeface="Arial"/>
              </a:defRPr>
            </a:lvl1pPr>
            <a:lvl2pPr algn="l">
              <a:buNone/>
              <a:defRPr sz="1050" b="0">
                <a:solidFill>
                  <a:srgbClr val="62666B"/>
                </a:solidFill>
                <a:latin typeface="Arial"/>
                <a:ea typeface="Arial"/>
                <a:cs typeface="Arial"/>
              </a:defRPr>
            </a:lvl2pPr>
            <a:lvl3pPr algn="l">
              <a:buNone/>
              <a:defRPr sz="1050" b="0">
                <a:solidFill>
                  <a:srgbClr val="62666B"/>
                </a:solidFill>
                <a:latin typeface="Arial"/>
                <a:ea typeface="Arial"/>
                <a:cs typeface="Arial"/>
              </a:defRPr>
            </a:lvl3pPr>
            <a:lvl4pPr algn="l">
              <a:buNone/>
              <a:defRPr sz="1050" b="0">
                <a:solidFill>
                  <a:srgbClr val="62666B"/>
                </a:solidFill>
                <a:latin typeface="Arial"/>
                <a:ea typeface="Arial"/>
                <a:cs typeface="Arial"/>
              </a:defRPr>
            </a:lvl4pPr>
            <a:lvl5pPr algn="l">
              <a:buNone/>
              <a:defRPr sz="1050" b="0">
                <a:solidFill>
                  <a:srgbClr val="62666B"/>
                </a:solidFill>
                <a:latin typeface="Arial"/>
                <a:ea typeface="Arial"/>
                <a:cs typeface="Arial"/>
              </a:defRPr>
            </a:lvl5pPr>
            <a:lvl6pPr algn="l">
              <a:buNone/>
              <a:defRPr sz="1050" b="0">
                <a:solidFill>
                  <a:srgbClr val="62666B"/>
                </a:solidFill>
                <a:latin typeface="Arial"/>
                <a:ea typeface="Arial"/>
                <a:cs typeface="Arial"/>
              </a:defRPr>
            </a:lvl6pPr>
            <a:lvl7pPr algn="l">
              <a:buNone/>
              <a:defRPr sz="1050" b="0">
                <a:solidFill>
                  <a:srgbClr val="62666B"/>
                </a:solidFill>
                <a:latin typeface="Arial"/>
                <a:ea typeface="Arial"/>
                <a:cs typeface="Arial"/>
              </a:defRPr>
            </a:lvl7pPr>
            <a:lvl8pPr algn="l">
              <a:buNone/>
              <a:defRPr sz="1050" b="0">
                <a:solidFill>
                  <a:srgbClr val="62666B"/>
                </a:solidFill>
                <a:latin typeface="Arial"/>
                <a:ea typeface="Arial"/>
                <a:cs typeface="Arial"/>
              </a:defRPr>
            </a:lvl8pPr>
            <a:lvl9pPr algn="l">
              <a:buNone/>
              <a:defRPr sz="1050" b="0">
                <a:solidFill>
                  <a:srgbClr val="62666B"/>
                </a:solidFill>
                <a:latin typeface="Arial"/>
                <a:ea typeface="Arial"/>
                <a:cs typeface="Arial"/>
              </a:defRPr>
            </a:lvl9pPr>
          </a:lstStyle>
          <a:p>
            <a:pPr algn="l">
              <a:buNone/>
              <a:defRPr sz="1050" b="0">
                <a:solidFill>
                  <a:srgbClr val="62666B"/>
                </a:solidFill>
                <a:latin typeface="Arial"/>
                <a:ea typeface="Arial"/>
                <a:cs typeface="Arial"/>
              </a:defRPr>
            </a:pPr>
            <a:r>
              <a:rPr sz="1050" b="0">
                <a:solidFill>
                  <a:srgbClr val="62666B"/>
                </a:solidFill>
                <a:latin typeface="Arial"/>
                <a:ea typeface="Arial"/>
                <a:cs typeface="Arial"/>
              </a:rPr>
              <a:t>[1–8]  [E1–E3]  [P1]</a:t>
            </a:r>
          </a:p>
        </p:txBody>
      </p:sp>
      <p:sp>
        <p:nvSpPr>
          <p:cNvPr id="4" name="ideas">
            <a:extLst>
              <a:ext uri="{FF2B5EF4-FFF2-40B4-BE49-F238E27FC236}">
                <a16:creationId xmlns:a16="http://schemas.microsoft.com/office/drawing/2014/main" id="{F0B60960-26D5-409B-A0B7-DD43CDE22A09}"/>
              </a:ext>
            </a:extLst>
          </p:cNvPr>
          <p:cNvSpPr>
            <a:spLocks noGrp="1"/>
          </p:cNvSpPr>
          <p:nvPr/>
        </p:nvSpPr>
        <p:spPr>
          <a:xfrm>
            <a:off x="914400" y="1476375"/>
            <a:ext cx="7429500" cy="400050"/>
          </a:xfrm>
          <a:prstGeom prst="rect">
            <a:avLst/>
          </a:prstGeom>
          <a:noFill/>
          <a:ln w="0">
            <a:noFill/>
          </a:ln>
        </p:spPr>
        <p:txBody>
          <a:bodyPr wrap="square" lIns="0" tIns="0" rIns="0" bIns="0" anchor="t">
            <a:noAutofit/>
          </a:bodyPr>
          <a:lstStyle>
            <a:defPPr algn="l">
              <a:defRPr sz="1875" b="1">
                <a:solidFill>
                  <a:srgbClr val="202124"/>
                </a:solidFill>
                <a:latin typeface="Arial"/>
                <a:ea typeface="Arial"/>
                <a:cs typeface="Arial"/>
              </a:defRPr>
            </a:defPPr>
            <a:lvl1pPr algn="l">
              <a:defRPr sz="1875" b="1">
                <a:solidFill>
                  <a:srgbClr val="202124"/>
                </a:solidFill>
                <a:latin typeface="Arial"/>
                <a:ea typeface="Arial"/>
                <a:cs typeface="Arial"/>
              </a:defRPr>
            </a:lvl1pPr>
            <a:lvl2pPr algn="l">
              <a:defRPr sz="1875" b="1">
                <a:solidFill>
                  <a:srgbClr val="202124"/>
                </a:solidFill>
                <a:latin typeface="Arial"/>
                <a:ea typeface="Arial"/>
                <a:cs typeface="Arial"/>
              </a:defRPr>
            </a:lvl2pPr>
            <a:lvl3pPr algn="l">
              <a:defRPr sz="1875" b="1">
                <a:solidFill>
                  <a:srgbClr val="202124"/>
                </a:solidFill>
                <a:latin typeface="Arial"/>
                <a:ea typeface="Arial"/>
                <a:cs typeface="Arial"/>
              </a:defRPr>
            </a:lvl3pPr>
            <a:lvl4pPr algn="l">
              <a:defRPr sz="1875" b="1">
                <a:solidFill>
                  <a:srgbClr val="202124"/>
                </a:solidFill>
                <a:latin typeface="Arial"/>
                <a:ea typeface="Arial"/>
                <a:cs typeface="Arial"/>
              </a:defRPr>
            </a:lvl4pPr>
            <a:lvl5pPr algn="l">
              <a:defRPr sz="1875" b="1">
                <a:solidFill>
                  <a:srgbClr val="202124"/>
                </a:solidFill>
                <a:latin typeface="Arial"/>
                <a:ea typeface="Arial"/>
                <a:cs typeface="Arial"/>
              </a:defRPr>
            </a:lvl5pPr>
            <a:lvl6pPr algn="l">
              <a:defRPr sz="1875" b="1">
                <a:solidFill>
                  <a:srgbClr val="202124"/>
                </a:solidFill>
                <a:latin typeface="Arial"/>
                <a:ea typeface="Arial"/>
                <a:cs typeface="Arial"/>
              </a:defRPr>
            </a:lvl6pPr>
            <a:lvl7pPr algn="l">
              <a:defRPr sz="1875" b="1">
                <a:solidFill>
                  <a:srgbClr val="202124"/>
                </a:solidFill>
                <a:latin typeface="Arial"/>
                <a:ea typeface="Arial"/>
                <a:cs typeface="Arial"/>
              </a:defRPr>
            </a:lvl7pPr>
            <a:lvl8pPr algn="l">
              <a:defRPr sz="1875" b="1">
                <a:solidFill>
                  <a:srgbClr val="202124"/>
                </a:solidFill>
                <a:latin typeface="Arial"/>
                <a:ea typeface="Arial"/>
                <a:cs typeface="Arial"/>
              </a:defRPr>
            </a:lvl8pPr>
            <a:lvl9pPr algn="l">
              <a:defRPr sz="1875" b="1">
                <a:solidFill>
                  <a:srgbClr val="202124"/>
                </a:solidFill>
                <a:latin typeface="Arial"/>
                <a:ea typeface="Arial"/>
                <a:cs typeface="Arial"/>
              </a:defRPr>
            </a:lvl9pPr>
          </a:lstStyle>
          <a:p>
            <a:pPr algn="l">
              <a:defRPr sz="1875" b="1">
                <a:solidFill>
                  <a:srgbClr val="202124"/>
                </a:solidFill>
                <a:latin typeface="Arial"/>
                <a:ea typeface="Arial"/>
                <a:cs typeface="Arial"/>
              </a:defRPr>
            </a:pPr>
            <a:r>
              <a:rPr sz="1875" b="1">
                <a:solidFill>
                  <a:srgbClr val="202124"/>
                </a:solidFill>
                <a:latin typeface="Arial"/>
                <a:ea typeface="Arial"/>
                <a:cs typeface="Arial"/>
              </a:rPr>
              <a:t>Idea sources</a:t>
            </a:r>
          </a:p>
        </p:txBody>
      </p:sp>
      <p:sp>
        <p:nvSpPr>
          <p:cNvPr id="5" name="ref-id-0">
            <a:extLst>
              <a:ext uri="{FF2B5EF4-FFF2-40B4-BE49-F238E27FC236}">
                <a16:creationId xmlns:a16="http://schemas.microsoft.com/office/drawing/2014/main" id="{60276820-0ABF-4442-877E-1793D262F666}"/>
              </a:ext>
            </a:extLst>
          </p:cNvPr>
          <p:cNvSpPr>
            <a:spLocks noGrp="1"/>
          </p:cNvSpPr>
          <p:nvPr/>
        </p:nvSpPr>
        <p:spPr>
          <a:xfrm>
            <a:off x="914400" y="1952625"/>
            <a:ext cx="685800" cy="647700"/>
          </a:xfrm>
          <a:prstGeom prst="rect">
            <a:avLst/>
          </a:prstGeom>
          <a:noFill/>
          <a:ln w="0">
            <a:noFill/>
          </a:ln>
        </p:spPr>
        <p:txBody>
          <a:bodyPr wrap="square" lIns="0" tIns="0" rIns="0" bIns="0" anchor="t">
            <a:noAutofit/>
          </a:bodyPr>
          <a:lstStyle>
            <a:defPPr algn="l">
              <a:defRPr sz="1725" b="0">
                <a:solidFill>
                  <a:srgbClr val="202124"/>
                </a:solidFill>
                <a:latin typeface="Arial"/>
                <a:ea typeface="Arial"/>
                <a:cs typeface="Arial"/>
              </a:defRPr>
            </a:defPPr>
            <a:lvl1pPr algn="l">
              <a:buNone/>
              <a:defRPr sz="1725" b="0">
                <a:solidFill>
                  <a:srgbClr val="202124"/>
                </a:solidFill>
                <a:latin typeface="Arial"/>
                <a:ea typeface="Arial"/>
                <a:cs typeface="Arial"/>
              </a:defRPr>
            </a:lvl1pPr>
            <a:lvl2pPr algn="l">
              <a:buNone/>
              <a:defRPr sz="1725" b="0">
                <a:solidFill>
                  <a:srgbClr val="202124"/>
                </a:solidFill>
                <a:latin typeface="Arial"/>
                <a:ea typeface="Arial"/>
                <a:cs typeface="Arial"/>
              </a:defRPr>
            </a:lvl2pPr>
            <a:lvl3pPr algn="l">
              <a:buNone/>
              <a:defRPr sz="1725" b="0">
                <a:solidFill>
                  <a:srgbClr val="202124"/>
                </a:solidFill>
                <a:latin typeface="Arial"/>
                <a:ea typeface="Arial"/>
                <a:cs typeface="Arial"/>
              </a:defRPr>
            </a:lvl3pPr>
            <a:lvl4pPr algn="l">
              <a:buNone/>
              <a:defRPr sz="1725" b="0">
                <a:solidFill>
                  <a:srgbClr val="202124"/>
                </a:solidFill>
                <a:latin typeface="Arial"/>
                <a:ea typeface="Arial"/>
                <a:cs typeface="Arial"/>
              </a:defRPr>
            </a:lvl4pPr>
            <a:lvl5pPr algn="l">
              <a:buNone/>
              <a:defRPr sz="1725" b="0">
                <a:solidFill>
                  <a:srgbClr val="202124"/>
                </a:solidFill>
                <a:latin typeface="Arial"/>
                <a:ea typeface="Arial"/>
                <a:cs typeface="Arial"/>
              </a:defRPr>
            </a:lvl5pPr>
            <a:lvl6pPr algn="l">
              <a:buNone/>
              <a:defRPr sz="1725" b="0">
                <a:solidFill>
                  <a:srgbClr val="202124"/>
                </a:solidFill>
                <a:latin typeface="Arial"/>
                <a:ea typeface="Arial"/>
                <a:cs typeface="Arial"/>
              </a:defRPr>
            </a:lvl6pPr>
            <a:lvl7pPr algn="l">
              <a:buNone/>
              <a:defRPr sz="1725" b="0">
                <a:solidFill>
                  <a:srgbClr val="202124"/>
                </a:solidFill>
                <a:latin typeface="Arial"/>
                <a:ea typeface="Arial"/>
                <a:cs typeface="Arial"/>
              </a:defRPr>
            </a:lvl7pPr>
            <a:lvl8pPr algn="l">
              <a:buNone/>
              <a:defRPr sz="1725" b="0">
                <a:solidFill>
                  <a:srgbClr val="202124"/>
                </a:solidFill>
                <a:latin typeface="Arial"/>
                <a:ea typeface="Arial"/>
                <a:cs typeface="Arial"/>
              </a:defRPr>
            </a:lvl8pPr>
            <a:lvl9pPr algn="l">
              <a:buNone/>
              <a:defRPr sz="1725" b="0">
                <a:solidFill>
                  <a:srgbClr val="202124"/>
                </a:solidFill>
                <a:latin typeface="Arial"/>
                <a:ea typeface="Arial"/>
                <a:cs typeface="Arial"/>
              </a:defRPr>
            </a:lvl9pPr>
          </a:lstStyle>
          <a:p>
            <a:pPr algn="l">
              <a:buNone/>
              <a:defRPr sz="1725" b="0">
                <a:solidFill>
                  <a:srgbClr val="202124"/>
                </a:solidFill>
                <a:latin typeface="Arial"/>
                <a:ea typeface="Arial"/>
                <a:cs typeface="Arial"/>
              </a:defRPr>
            </a:pPr>
            <a:r>
              <a:rPr sz="1725" b="0">
                <a:solidFill>
                  <a:srgbClr val="202124"/>
                </a:solidFill>
                <a:latin typeface="Arial"/>
                <a:ea typeface="Arial"/>
                <a:cs typeface="Arial"/>
              </a:rPr>
              <a:t>[1]</a:t>
            </a:r>
          </a:p>
        </p:txBody>
      </p:sp>
      <p:sp>
        <p:nvSpPr>
          <p:cNvPr id="6" name="ref-body-0">
            <a:extLst>
              <a:ext uri="{FF2B5EF4-FFF2-40B4-BE49-F238E27FC236}">
                <a16:creationId xmlns:a16="http://schemas.microsoft.com/office/drawing/2014/main" id="{852A8D81-59B7-489E-AA33-6A66F4C045B0}"/>
              </a:ext>
            </a:extLst>
          </p:cNvPr>
          <p:cNvSpPr>
            <a:spLocks noGrp="1"/>
          </p:cNvSpPr>
          <p:nvPr/>
        </p:nvSpPr>
        <p:spPr>
          <a:xfrm>
            <a:off x="1714500" y="1952625"/>
            <a:ext cx="6667500" cy="647700"/>
          </a:xfrm>
          <a:prstGeom prst="rect">
            <a:avLst/>
          </a:prstGeom>
          <a:noFill/>
          <a:ln w="0">
            <a:noFill/>
          </a:ln>
        </p:spPr>
        <p:txBody>
          <a:bodyPr wrap="square" lIns="0" tIns="0" rIns="0" bIns="0" anchor="t">
            <a:noAutofit/>
          </a:bodyPr>
          <a:lstStyle>
            <a:defPPr algn="l">
              <a:defRPr sz="1725" b="0">
                <a:solidFill>
                  <a:srgbClr val="202124"/>
                </a:solidFill>
                <a:latin typeface="Arial"/>
                <a:ea typeface="Arial"/>
                <a:cs typeface="Arial"/>
              </a:defRPr>
            </a:defPPr>
            <a:lvl1pPr algn="l">
              <a:buNone/>
              <a:defRPr sz="1725" b="0">
                <a:solidFill>
                  <a:srgbClr val="202124"/>
                </a:solidFill>
                <a:latin typeface="Arial"/>
                <a:ea typeface="Arial"/>
                <a:cs typeface="Arial"/>
              </a:defRPr>
            </a:lvl1pPr>
            <a:lvl2pPr algn="l">
              <a:buNone/>
              <a:defRPr sz="1725" b="0">
                <a:solidFill>
                  <a:srgbClr val="202124"/>
                </a:solidFill>
                <a:latin typeface="Arial"/>
                <a:ea typeface="Arial"/>
                <a:cs typeface="Arial"/>
              </a:defRPr>
            </a:lvl2pPr>
            <a:lvl3pPr algn="l">
              <a:buNone/>
              <a:defRPr sz="1725" b="0">
                <a:solidFill>
                  <a:srgbClr val="202124"/>
                </a:solidFill>
                <a:latin typeface="Arial"/>
                <a:ea typeface="Arial"/>
                <a:cs typeface="Arial"/>
              </a:defRPr>
            </a:lvl3pPr>
            <a:lvl4pPr algn="l">
              <a:buNone/>
              <a:defRPr sz="1725" b="0">
                <a:solidFill>
                  <a:srgbClr val="202124"/>
                </a:solidFill>
                <a:latin typeface="Arial"/>
                <a:ea typeface="Arial"/>
                <a:cs typeface="Arial"/>
              </a:defRPr>
            </a:lvl4pPr>
            <a:lvl5pPr algn="l">
              <a:buNone/>
              <a:defRPr sz="1725" b="0">
                <a:solidFill>
                  <a:srgbClr val="202124"/>
                </a:solidFill>
                <a:latin typeface="Arial"/>
                <a:ea typeface="Arial"/>
                <a:cs typeface="Arial"/>
              </a:defRPr>
            </a:lvl5pPr>
            <a:lvl6pPr algn="l">
              <a:buNone/>
              <a:defRPr sz="1725" b="0">
                <a:solidFill>
                  <a:srgbClr val="202124"/>
                </a:solidFill>
                <a:latin typeface="Arial"/>
                <a:ea typeface="Arial"/>
                <a:cs typeface="Arial"/>
              </a:defRPr>
            </a:lvl6pPr>
            <a:lvl7pPr algn="l">
              <a:buNone/>
              <a:defRPr sz="1725" b="0">
                <a:solidFill>
                  <a:srgbClr val="202124"/>
                </a:solidFill>
                <a:latin typeface="Arial"/>
                <a:ea typeface="Arial"/>
                <a:cs typeface="Arial"/>
              </a:defRPr>
            </a:lvl7pPr>
            <a:lvl8pPr algn="l">
              <a:buNone/>
              <a:defRPr sz="1725" b="0">
                <a:solidFill>
                  <a:srgbClr val="202124"/>
                </a:solidFill>
                <a:latin typeface="Arial"/>
                <a:ea typeface="Arial"/>
                <a:cs typeface="Arial"/>
              </a:defRPr>
            </a:lvl8pPr>
            <a:lvl9pPr algn="l">
              <a:buNone/>
              <a:defRPr sz="1725" b="0">
                <a:solidFill>
                  <a:srgbClr val="202124"/>
                </a:solidFill>
                <a:latin typeface="Arial"/>
                <a:ea typeface="Arial"/>
                <a:cs typeface="Arial"/>
              </a:defRPr>
            </a:lvl9pPr>
          </a:lstStyle>
          <a:p>
            <a:pPr algn="l">
              <a:buNone/>
              <a:defRPr sz="1725" b="0">
                <a:solidFill>
                  <a:srgbClr val="202124"/>
                </a:solidFill>
                <a:latin typeface="Arial"/>
                <a:ea typeface="Arial"/>
                <a:cs typeface="Arial"/>
              </a:defRPr>
            </a:pPr>
            <a:r>
              <a:rPr sz="1725" b="0">
                <a:solidFill>
                  <a:srgbClr val="202124"/>
                </a:solidFill>
                <a:latin typeface="Arial"/>
                <a:ea typeface="Arial"/>
                <a:cs typeface="Arial"/>
              </a:rPr>
              <a:t>Thesis narrative and NR scope, 2026</a:t>
            </a:r>
          </a:p>
        </p:txBody>
      </p:sp>
      <p:sp>
        <p:nvSpPr>
          <p:cNvPr id="7" name="ref-id-1">
            <a:extLst>
              <a:ext uri="{FF2B5EF4-FFF2-40B4-BE49-F238E27FC236}">
                <a16:creationId xmlns:a16="http://schemas.microsoft.com/office/drawing/2014/main" id="{1C1D4F3C-1381-4548-B1C0-FE14DE781CE9}"/>
              </a:ext>
            </a:extLst>
          </p:cNvPr>
          <p:cNvSpPr>
            <a:spLocks noGrp="1"/>
          </p:cNvSpPr>
          <p:nvPr/>
        </p:nvSpPr>
        <p:spPr>
          <a:xfrm>
            <a:off x="914400" y="2686050"/>
            <a:ext cx="685800" cy="647700"/>
          </a:xfrm>
          <a:prstGeom prst="rect">
            <a:avLst/>
          </a:prstGeom>
          <a:noFill/>
          <a:ln w="0">
            <a:noFill/>
          </a:ln>
        </p:spPr>
        <p:txBody>
          <a:bodyPr wrap="square" lIns="0" tIns="0" rIns="0" bIns="0" anchor="t">
            <a:noAutofit/>
          </a:bodyPr>
          <a:lstStyle>
            <a:defPPr algn="l">
              <a:defRPr sz="1725" b="0">
                <a:solidFill>
                  <a:srgbClr val="202124"/>
                </a:solidFill>
                <a:latin typeface="Arial"/>
                <a:ea typeface="Arial"/>
                <a:cs typeface="Arial"/>
              </a:defRPr>
            </a:defPPr>
            <a:lvl1pPr algn="l">
              <a:buNone/>
              <a:defRPr sz="1725" b="0">
                <a:solidFill>
                  <a:srgbClr val="202124"/>
                </a:solidFill>
                <a:latin typeface="Arial"/>
                <a:ea typeface="Arial"/>
                <a:cs typeface="Arial"/>
              </a:defRPr>
            </a:lvl1pPr>
            <a:lvl2pPr algn="l">
              <a:buNone/>
              <a:defRPr sz="1725" b="0">
                <a:solidFill>
                  <a:srgbClr val="202124"/>
                </a:solidFill>
                <a:latin typeface="Arial"/>
                <a:ea typeface="Arial"/>
                <a:cs typeface="Arial"/>
              </a:defRPr>
            </a:lvl2pPr>
            <a:lvl3pPr algn="l">
              <a:buNone/>
              <a:defRPr sz="1725" b="0">
                <a:solidFill>
                  <a:srgbClr val="202124"/>
                </a:solidFill>
                <a:latin typeface="Arial"/>
                <a:ea typeface="Arial"/>
                <a:cs typeface="Arial"/>
              </a:defRPr>
            </a:lvl3pPr>
            <a:lvl4pPr algn="l">
              <a:buNone/>
              <a:defRPr sz="1725" b="0">
                <a:solidFill>
                  <a:srgbClr val="202124"/>
                </a:solidFill>
                <a:latin typeface="Arial"/>
                <a:ea typeface="Arial"/>
                <a:cs typeface="Arial"/>
              </a:defRPr>
            </a:lvl4pPr>
            <a:lvl5pPr algn="l">
              <a:buNone/>
              <a:defRPr sz="1725" b="0">
                <a:solidFill>
                  <a:srgbClr val="202124"/>
                </a:solidFill>
                <a:latin typeface="Arial"/>
                <a:ea typeface="Arial"/>
                <a:cs typeface="Arial"/>
              </a:defRPr>
            </a:lvl5pPr>
            <a:lvl6pPr algn="l">
              <a:buNone/>
              <a:defRPr sz="1725" b="0">
                <a:solidFill>
                  <a:srgbClr val="202124"/>
                </a:solidFill>
                <a:latin typeface="Arial"/>
                <a:ea typeface="Arial"/>
                <a:cs typeface="Arial"/>
              </a:defRPr>
            </a:lvl6pPr>
            <a:lvl7pPr algn="l">
              <a:buNone/>
              <a:defRPr sz="1725" b="0">
                <a:solidFill>
                  <a:srgbClr val="202124"/>
                </a:solidFill>
                <a:latin typeface="Arial"/>
                <a:ea typeface="Arial"/>
                <a:cs typeface="Arial"/>
              </a:defRPr>
            </a:lvl7pPr>
            <a:lvl8pPr algn="l">
              <a:buNone/>
              <a:defRPr sz="1725" b="0">
                <a:solidFill>
                  <a:srgbClr val="202124"/>
                </a:solidFill>
                <a:latin typeface="Arial"/>
                <a:ea typeface="Arial"/>
                <a:cs typeface="Arial"/>
              </a:defRPr>
            </a:lvl8pPr>
            <a:lvl9pPr algn="l">
              <a:buNone/>
              <a:defRPr sz="1725" b="0">
                <a:solidFill>
                  <a:srgbClr val="202124"/>
                </a:solidFill>
                <a:latin typeface="Arial"/>
                <a:ea typeface="Arial"/>
                <a:cs typeface="Arial"/>
              </a:defRPr>
            </a:lvl9pPr>
          </a:lstStyle>
          <a:p>
            <a:pPr algn="l">
              <a:buNone/>
              <a:defRPr sz="1725" b="0">
                <a:solidFill>
                  <a:srgbClr val="202124"/>
                </a:solidFill>
                <a:latin typeface="Arial"/>
                <a:ea typeface="Arial"/>
                <a:cs typeface="Arial"/>
              </a:defRPr>
            </a:pPr>
            <a:r>
              <a:rPr sz="1725" b="0">
                <a:solidFill>
                  <a:srgbClr val="202124"/>
                </a:solidFill>
                <a:latin typeface="Arial"/>
                <a:ea typeface="Arial"/>
                <a:cs typeface="Arial"/>
              </a:rPr>
              <a:t>[2]</a:t>
            </a:r>
          </a:p>
        </p:txBody>
      </p:sp>
      <p:sp>
        <p:nvSpPr>
          <p:cNvPr id="8" name="ref-body-1">
            <a:extLst>
              <a:ext uri="{FF2B5EF4-FFF2-40B4-BE49-F238E27FC236}">
                <a16:creationId xmlns:a16="http://schemas.microsoft.com/office/drawing/2014/main" id="{6F57281F-4BC7-42F7-82EB-F1429F477D54}"/>
              </a:ext>
            </a:extLst>
          </p:cNvPr>
          <p:cNvSpPr>
            <a:spLocks noGrp="1"/>
          </p:cNvSpPr>
          <p:nvPr/>
        </p:nvSpPr>
        <p:spPr>
          <a:xfrm>
            <a:off x="1714500" y="2686050"/>
            <a:ext cx="6667500" cy="647700"/>
          </a:xfrm>
          <a:prstGeom prst="rect">
            <a:avLst/>
          </a:prstGeom>
          <a:noFill/>
          <a:ln w="0">
            <a:noFill/>
          </a:ln>
        </p:spPr>
        <p:txBody>
          <a:bodyPr wrap="square" lIns="0" tIns="0" rIns="0" bIns="0" anchor="t">
            <a:noAutofit/>
          </a:bodyPr>
          <a:lstStyle>
            <a:defPPr algn="l">
              <a:defRPr sz="1725" b="0">
                <a:solidFill>
                  <a:srgbClr val="202124"/>
                </a:solidFill>
                <a:latin typeface="Arial"/>
                <a:ea typeface="Arial"/>
                <a:cs typeface="Arial"/>
              </a:defRPr>
            </a:defPPr>
            <a:lvl1pPr algn="l">
              <a:buNone/>
              <a:defRPr sz="1725" b="0">
                <a:solidFill>
                  <a:srgbClr val="202124"/>
                </a:solidFill>
                <a:latin typeface="Arial"/>
                <a:ea typeface="Arial"/>
                <a:cs typeface="Arial"/>
              </a:defRPr>
            </a:lvl1pPr>
            <a:lvl2pPr algn="l">
              <a:buNone/>
              <a:defRPr sz="1725" b="0">
                <a:solidFill>
                  <a:srgbClr val="202124"/>
                </a:solidFill>
                <a:latin typeface="Arial"/>
                <a:ea typeface="Arial"/>
                <a:cs typeface="Arial"/>
              </a:defRPr>
            </a:lvl2pPr>
            <a:lvl3pPr algn="l">
              <a:buNone/>
              <a:defRPr sz="1725" b="0">
                <a:solidFill>
                  <a:srgbClr val="202124"/>
                </a:solidFill>
                <a:latin typeface="Arial"/>
                <a:ea typeface="Arial"/>
                <a:cs typeface="Arial"/>
              </a:defRPr>
            </a:lvl3pPr>
            <a:lvl4pPr algn="l">
              <a:buNone/>
              <a:defRPr sz="1725" b="0">
                <a:solidFill>
                  <a:srgbClr val="202124"/>
                </a:solidFill>
                <a:latin typeface="Arial"/>
                <a:ea typeface="Arial"/>
                <a:cs typeface="Arial"/>
              </a:defRPr>
            </a:lvl4pPr>
            <a:lvl5pPr algn="l">
              <a:buNone/>
              <a:defRPr sz="1725" b="0">
                <a:solidFill>
                  <a:srgbClr val="202124"/>
                </a:solidFill>
                <a:latin typeface="Arial"/>
                <a:ea typeface="Arial"/>
                <a:cs typeface="Arial"/>
              </a:defRPr>
            </a:lvl5pPr>
            <a:lvl6pPr algn="l">
              <a:buNone/>
              <a:defRPr sz="1725" b="0">
                <a:solidFill>
                  <a:srgbClr val="202124"/>
                </a:solidFill>
                <a:latin typeface="Arial"/>
                <a:ea typeface="Arial"/>
                <a:cs typeface="Arial"/>
              </a:defRPr>
            </a:lvl6pPr>
            <a:lvl7pPr algn="l">
              <a:buNone/>
              <a:defRPr sz="1725" b="0">
                <a:solidFill>
                  <a:srgbClr val="202124"/>
                </a:solidFill>
                <a:latin typeface="Arial"/>
                <a:ea typeface="Arial"/>
                <a:cs typeface="Arial"/>
              </a:defRPr>
            </a:lvl7pPr>
            <a:lvl8pPr algn="l">
              <a:buNone/>
              <a:defRPr sz="1725" b="0">
                <a:solidFill>
                  <a:srgbClr val="202124"/>
                </a:solidFill>
                <a:latin typeface="Arial"/>
                <a:ea typeface="Arial"/>
                <a:cs typeface="Arial"/>
              </a:defRPr>
            </a:lvl8pPr>
            <a:lvl9pPr algn="l">
              <a:buNone/>
              <a:defRPr sz="1725" b="0">
                <a:solidFill>
                  <a:srgbClr val="202124"/>
                </a:solidFill>
                <a:latin typeface="Arial"/>
                <a:ea typeface="Arial"/>
                <a:cs typeface="Arial"/>
              </a:defRPr>
            </a:lvl9pPr>
          </a:lstStyle>
          <a:p>
            <a:pPr algn="l">
              <a:buNone/>
              <a:defRPr sz="1725" b="0">
                <a:solidFill>
                  <a:srgbClr val="202124"/>
                </a:solidFill>
                <a:latin typeface="Arial"/>
                <a:ea typeface="Arial"/>
                <a:cs typeface="Arial"/>
              </a:defRPr>
            </a:pPr>
            <a:r>
              <a:rPr sz="1725" b="0">
                <a:solidFill>
                  <a:srgbClr val="202124"/>
                </a:solidFill>
                <a:latin typeface="Arial"/>
                <a:ea typeface="Arial"/>
                <a:cs typeface="Arial"/>
              </a:rPr>
              <a:t>Jaszczuk &amp; Figueroa, CoRL 2025</a:t>
            </a:r>
          </a:p>
          <a:p>
            <a:pPr algn="l">
              <a:buNone/>
              <a:defRPr sz="1725" b="0">
                <a:solidFill>
                  <a:srgbClr val="202124"/>
                </a:solidFill>
                <a:latin typeface="Arial"/>
                <a:ea typeface="Arial"/>
                <a:cs typeface="Arial"/>
              </a:defRPr>
            </a:pPr>
            <a:r>
              <a:rPr sz="1725" b="0">
                <a:solidFill>
                  <a:srgbClr val="202124"/>
                </a:solidFill>
                <a:latin typeface="Arial"/>
                <a:ea typeface="Arial"/>
                <a:cs typeface="Arial"/>
              </a:rPr>
              <a:t>Rapid Mismatch Estimation</a:t>
            </a:r>
          </a:p>
        </p:txBody>
      </p:sp>
      <p:sp>
        <p:nvSpPr>
          <p:cNvPr id="9" name="ref-id-2">
            <a:extLst>
              <a:ext uri="{FF2B5EF4-FFF2-40B4-BE49-F238E27FC236}">
                <a16:creationId xmlns:a16="http://schemas.microsoft.com/office/drawing/2014/main" id="{64FE2933-9081-4EA7-ABB8-3FA09606320B}"/>
              </a:ext>
            </a:extLst>
          </p:cNvPr>
          <p:cNvSpPr>
            <a:spLocks noGrp="1"/>
          </p:cNvSpPr>
          <p:nvPr/>
        </p:nvSpPr>
        <p:spPr>
          <a:xfrm>
            <a:off x="914400" y="3419475"/>
            <a:ext cx="685800" cy="647700"/>
          </a:xfrm>
          <a:prstGeom prst="rect">
            <a:avLst/>
          </a:prstGeom>
          <a:noFill/>
          <a:ln w="0">
            <a:noFill/>
          </a:ln>
        </p:spPr>
        <p:txBody>
          <a:bodyPr wrap="square" lIns="0" tIns="0" rIns="0" bIns="0" anchor="t">
            <a:noAutofit/>
          </a:bodyPr>
          <a:lstStyle>
            <a:defPPr algn="l">
              <a:defRPr sz="1725" b="0">
                <a:solidFill>
                  <a:srgbClr val="202124"/>
                </a:solidFill>
                <a:latin typeface="Arial"/>
                <a:ea typeface="Arial"/>
                <a:cs typeface="Arial"/>
              </a:defRPr>
            </a:defPPr>
            <a:lvl1pPr algn="l">
              <a:buNone/>
              <a:defRPr sz="1725" b="0">
                <a:solidFill>
                  <a:srgbClr val="202124"/>
                </a:solidFill>
                <a:latin typeface="Arial"/>
                <a:ea typeface="Arial"/>
                <a:cs typeface="Arial"/>
              </a:defRPr>
            </a:lvl1pPr>
            <a:lvl2pPr algn="l">
              <a:buNone/>
              <a:defRPr sz="1725" b="0">
                <a:solidFill>
                  <a:srgbClr val="202124"/>
                </a:solidFill>
                <a:latin typeface="Arial"/>
                <a:ea typeface="Arial"/>
                <a:cs typeface="Arial"/>
              </a:defRPr>
            </a:lvl2pPr>
            <a:lvl3pPr algn="l">
              <a:buNone/>
              <a:defRPr sz="1725" b="0">
                <a:solidFill>
                  <a:srgbClr val="202124"/>
                </a:solidFill>
                <a:latin typeface="Arial"/>
                <a:ea typeface="Arial"/>
                <a:cs typeface="Arial"/>
              </a:defRPr>
            </a:lvl3pPr>
            <a:lvl4pPr algn="l">
              <a:buNone/>
              <a:defRPr sz="1725" b="0">
                <a:solidFill>
                  <a:srgbClr val="202124"/>
                </a:solidFill>
                <a:latin typeface="Arial"/>
                <a:ea typeface="Arial"/>
                <a:cs typeface="Arial"/>
              </a:defRPr>
            </a:lvl4pPr>
            <a:lvl5pPr algn="l">
              <a:buNone/>
              <a:defRPr sz="1725" b="0">
                <a:solidFill>
                  <a:srgbClr val="202124"/>
                </a:solidFill>
                <a:latin typeface="Arial"/>
                <a:ea typeface="Arial"/>
                <a:cs typeface="Arial"/>
              </a:defRPr>
            </a:lvl5pPr>
            <a:lvl6pPr algn="l">
              <a:buNone/>
              <a:defRPr sz="1725" b="0">
                <a:solidFill>
                  <a:srgbClr val="202124"/>
                </a:solidFill>
                <a:latin typeface="Arial"/>
                <a:ea typeface="Arial"/>
                <a:cs typeface="Arial"/>
              </a:defRPr>
            </a:lvl6pPr>
            <a:lvl7pPr algn="l">
              <a:buNone/>
              <a:defRPr sz="1725" b="0">
                <a:solidFill>
                  <a:srgbClr val="202124"/>
                </a:solidFill>
                <a:latin typeface="Arial"/>
                <a:ea typeface="Arial"/>
                <a:cs typeface="Arial"/>
              </a:defRPr>
            </a:lvl7pPr>
            <a:lvl8pPr algn="l">
              <a:buNone/>
              <a:defRPr sz="1725" b="0">
                <a:solidFill>
                  <a:srgbClr val="202124"/>
                </a:solidFill>
                <a:latin typeface="Arial"/>
                <a:ea typeface="Arial"/>
                <a:cs typeface="Arial"/>
              </a:defRPr>
            </a:lvl8pPr>
            <a:lvl9pPr algn="l">
              <a:buNone/>
              <a:defRPr sz="1725" b="0">
                <a:solidFill>
                  <a:srgbClr val="202124"/>
                </a:solidFill>
                <a:latin typeface="Arial"/>
                <a:ea typeface="Arial"/>
                <a:cs typeface="Arial"/>
              </a:defRPr>
            </a:lvl9pPr>
          </a:lstStyle>
          <a:p>
            <a:pPr algn="l">
              <a:buNone/>
              <a:defRPr sz="1725" b="0">
                <a:solidFill>
                  <a:srgbClr val="202124"/>
                </a:solidFill>
                <a:latin typeface="Arial"/>
                <a:ea typeface="Arial"/>
                <a:cs typeface="Arial"/>
              </a:defRPr>
            </a:pPr>
            <a:r>
              <a:rPr sz="1725" b="0">
                <a:solidFill>
                  <a:srgbClr val="202124"/>
                </a:solidFill>
                <a:latin typeface="Arial"/>
                <a:ea typeface="Arial"/>
                <a:cs typeface="Arial"/>
              </a:rPr>
              <a:t>[3]</a:t>
            </a:r>
          </a:p>
        </p:txBody>
      </p:sp>
      <p:sp>
        <p:nvSpPr>
          <p:cNvPr id="10" name="ref-body-2">
            <a:extLst>
              <a:ext uri="{FF2B5EF4-FFF2-40B4-BE49-F238E27FC236}">
                <a16:creationId xmlns:a16="http://schemas.microsoft.com/office/drawing/2014/main" id="{67671B91-10A2-4385-BE30-FEAF38EB3018}"/>
              </a:ext>
            </a:extLst>
          </p:cNvPr>
          <p:cNvSpPr>
            <a:spLocks noGrp="1"/>
          </p:cNvSpPr>
          <p:nvPr/>
        </p:nvSpPr>
        <p:spPr>
          <a:xfrm>
            <a:off x="1714500" y="3419475"/>
            <a:ext cx="6667500" cy="647700"/>
          </a:xfrm>
          <a:prstGeom prst="rect">
            <a:avLst/>
          </a:prstGeom>
          <a:noFill/>
          <a:ln w="0">
            <a:noFill/>
          </a:ln>
        </p:spPr>
        <p:txBody>
          <a:bodyPr wrap="square" lIns="0" tIns="0" rIns="0" bIns="0" anchor="t">
            <a:noAutofit/>
          </a:bodyPr>
          <a:lstStyle>
            <a:defPPr algn="l">
              <a:defRPr sz="1725" b="0">
                <a:solidFill>
                  <a:srgbClr val="202124"/>
                </a:solidFill>
                <a:latin typeface="Arial"/>
                <a:ea typeface="Arial"/>
                <a:cs typeface="Arial"/>
              </a:defRPr>
            </a:defPPr>
            <a:lvl1pPr algn="l">
              <a:buNone/>
              <a:defRPr sz="1725" b="0">
                <a:solidFill>
                  <a:srgbClr val="202124"/>
                </a:solidFill>
                <a:latin typeface="Arial"/>
                <a:ea typeface="Arial"/>
                <a:cs typeface="Arial"/>
              </a:defRPr>
            </a:lvl1pPr>
            <a:lvl2pPr algn="l">
              <a:buNone/>
              <a:defRPr sz="1725" b="0">
                <a:solidFill>
                  <a:srgbClr val="202124"/>
                </a:solidFill>
                <a:latin typeface="Arial"/>
                <a:ea typeface="Arial"/>
                <a:cs typeface="Arial"/>
              </a:defRPr>
            </a:lvl2pPr>
            <a:lvl3pPr algn="l">
              <a:buNone/>
              <a:defRPr sz="1725" b="0">
                <a:solidFill>
                  <a:srgbClr val="202124"/>
                </a:solidFill>
                <a:latin typeface="Arial"/>
                <a:ea typeface="Arial"/>
                <a:cs typeface="Arial"/>
              </a:defRPr>
            </a:lvl3pPr>
            <a:lvl4pPr algn="l">
              <a:buNone/>
              <a:defRPr sz="1725" b="0">
                <a:solidFill>
                  <a:srgbClr val="202124"/>
                </a:solidFill>
                <a:latin typeface="Arial"/>
                <a:ea typeface="Arial"/>
                <a:cs typeface="Arial"/>
              </a:defRPr>
            </a:lvl4pPr>
            <a:lvl5pPr algn="l">
              <a:buNone/>
              <a:defRPr sz="1725" b="0">
                <a:solidFill>
                  <a:srgbClr val="202124"/>
                </a:solidFill>
                <a:latin typeface="Arial"/>
                <a:ea typeface="Arial"/>
                <a:cs typeface="Arial"/>
              </a:defRPr>
            </a:lvl5pPr>
            <a:lvl6pPr algn="l">
              <a:buNone/>
              <a:defRPr sz="1725" b="0">
                <a:solidFill>
                  <a:srgbClr val="202124"/>
                </a:solidFill>
                <a:latin typeface="Arial"/>
                <a:ea typeface="Arial"/>
                <a:cs typeface="Arial"/>
              </a:defRPr>
            </a:lvl6pPr>
            <a:lvl7pPr algn="l">
              <a:buNone/>
              <a:defRPr sz="1725" b="0">
                <a:solidFill>
                  <a:srgbClr val="202124"/>
                </a:solidFill>
                <a:latin typeface="Arial"/>
                <a:ea typeface="Arial"/>
                <a:cs typeface="Arial"/>
              </a:defRPr>
            </a:lvl7pPr>
            <a:lvl8pPr algn="l">
              <a:buNone/>
              <a:defRPr sz="1725" b="0">
                <a:solidFill>
                  <a:srgbClr val="202124"/>
                </a:solidFill>
                <a:latin typeface="Arial"/>
                <a:ea typeface="Arial"/>
                <a:cs typeface="Arial"/>
              </a:defRPr>
            </a:lvl8pPr>
            <a:lvl9pPr algn="l">
              <a:buNone/>
              <a:defRPr sz="1725" b="0">
                <a:solidFill>
                  <a:srgbClr val="202124"/>
                </a:solidFill>
                <a:latin typeface="Arial"/>
                <a:ea typeface="Arial"/>
                <a:cs typeface="Arial"/>
              </a:defRPr>
            </a:lvl9pPr>
          </a:lstStyle>
          <a:p>
            <a:pPr algn="l">
              <a:buNone/>
              <a:defRPr sz="1725" b="0">
                <a:solidFill>
                  <a:srgbClr val="202124"/>
                </a:solidFill>
                <a:latin typeface="Arial"/>
                <a:ea typeface="Arial"/>
                <a:cs typeface="Arial"/>
              </a:defRPr>
            </a:pPr>
            <a:r>
              <a:rPr sz="1725" b="0">
                <a:solidFill>
                  <a:srgbClr val="202124"/>
                </a:solidFill>
                <a:latin typeface="Arial"/>
                <a:ea typeface="Arial"/>
                <a:cs typeface="Arial"/>
              </a:rPr>
              <a:t>Manuelli &amp; Tedrake, IROS 2016</a:t>
            </a:r>
          </a:p>
          <a:p>
            <a:pPr algn="l">
              <a:buNone/>
              <a:defRPr sz="1725" b="0">
                <a:solidFill>
                  <a:srgbClr val="202124"/>
                </a:solidFill>
                <a:latin typeface="Arial"/>
                <a:ea typeface="Arial"/>
                <a:cs typeface="Arial"/>
              </a:defRPr>
            </a:pPr>
            <a:r>
              <a:rPr sz="1725" b="0">
                <a:solidFill>
                  <a:srgbClr val="202124"/>
                </a:solidFill>
                <a:latin typeface="Arial"/>
                <a:ea typeface="Arial"/>
                <a:cs typeface="Arial"/>
              </a:rPr>
              <a:t>Contact Particle Filter</a:t>
            </a:r>
          </a:p>
        </p:txBody>
      </p:sp>
      <p:sp>
        <p:nvSpPr>
          <p:cNvPr id="11" name="ref-id-3">
            <a:extLst>
              <a:ext uri="{FF2B5EF4-FFF2-40B4-BE49-F238E27FC236}">
                <a16:creationId xmlns:a16="http://schemas.microsoft.com/office/drawing/2014/main" id="{63AB1E1A-A9C0-454D-AF41-9D03655C8825}"/>
              </a:ext>
            </a:extLst>
          </p:cNvPr>
          <p:cNvSpPr>
            <a:spLocks noGrp="1"/>
          </p:cNvSpPr>
          <p:nvPr/>
        </p:nvSpPr>
        <p:spPr>
          <a:xfrm>
            <a:off x="914400" y="4152900"/>
            <a:ext cx="685800" cy="647700"/>
          </a:xfrm>
          <a:prstGeom prst="rect">
            <a:avLst/>
          </a:prstGeom>
          <a:noFill/>
          <a:ln w="0">
            <a:noFill/>
          </a:ln>
        </p:spPr>
        <p:txBody>
          <a:bodyPr wrap="square" lIns="0" tIns="0" rIns="0" bIns="0" anchor="t">
            <a:noAutofit/>
          </a:bodyPr>
          <a:lstStyle>
            <a:defPPr algn="l">
              <a:defRPr sz="1725" b="0">
                <a:solidFill>
                  <a:srgbClr val="202124"/>
                </a:solidFill>
                <a:latin typeface="Arial"/>
                <a:ea typeface="Arial"/>
                <a:cs typeface="Arial"/>
              </a:defRPr>
            </a:defPPr>
            <a:lvl1pPr algn="l">
              <a:buNone/>
              <a:defRPr sz="1725" b="0">
                <a:solidFill>
                  <a:srgbClr val="202124"/>
                </a:solidFill>
                <a:latin typeface="Arial"/>
                <a:ea typeface="Arial"/>
                <a:cs typeface="Arial"/>
              </a:defRPr>
            </a:lvl1pPr>
            <a:lvl2pPr algn="l">
              <a:buNone/>
              <a:defRPr sz="1725" b="0">
                <a:solidFill>
                  <a:srgbClr val="202124"/>
                </a:solidFill>
                <a:latin typeface="Arial"/>
                <a:ea typeface="Arial"/>
                <a:cs typeface="Arial"/>
              </a:defRPr>
            </a:lvl2pPr>
            <a:lvl3pPr algn="l">
              <a:buNone/>
              <a:defRPr sz="1725" b="0">
                <a:solidFill>
                  <a:srgbClr val="202124"/>
                </a:solidFill>
                <a:latin typeface="Arial"/>
                <a:ea typeface="Arial"/>
                <a:cs typeface="Arial"/>
              </a:defRPr>
            </a:lvl3pPr>
            <a:lvl4pPr algn="l">
              <a:buNone/>
              <a:defRPr sz="1725" b="0">
                <a:solidFill>
                  <a:srgbClr val="202124"/>
                </a:solidFill>
                <a:latin typeface="Arial"/>
                <a:ea typeface="Arial"/>
                <a:cs typeface="Arial"/>
              </a:defRPr>
            </a:lvl4pPr>
            <a:lvl5pPr algn="l">
              <a:buNone/>
              <a:defRPr sz="1725" b="0">
                <a:solidFill>
                  <a:srgbClr val="202124"/>
                </a:solidFill>
                <a:latin typeface="Arial"/>
                <a:ea typeface="Arial"/>
                <a:cs typeface="Arial"/>
              </a:defRPr>
            </a:lvl5pPr>
            <a:lvl6pPr algn="l">
              <a:buNone/>
              <a:defRPr sz="1725" b="0">
                <a:solidFill>
                  <a:srgbClr val="202124"/>
                </a:solidFill>
                <a:latin typeface="Arial"/>
                <a:ea typeface="Arial"/>
                <a:cs typeface="Arial"/>
              </a:defRPr>
            </a:lvl6pPr>
            <a:lvl7pPr algn="l">
              <a:buNone/>
              <a:defRPr sz="1725" b="0">
                <a:solidFill>
                  <a:srgbClr val="202124"/>
                </a:solidFill>
                <a:latin typeface="Arial"/>
                <a:ea typeface="Arial"/>
                <a:cs typeface="Arial"/>
              </a:defRPr>
            </a:lvl7pPr>
            <a:lvl8pPr algn="l">
              <a:buNone/>
              <a:defRPr sz="1725" b="0">
                <a:solidFill>
                  <a:srgbClr val="202124"/>
                </a:solidFill>
                <a:latin typeface="Arial"/>
                <a:ea typeface="Arial"/>
                <a:cs typeface="Arial"/>
              </a:defRPr>
            </a:lvl8pPr>
            <a:lvl9pPr algn="l">
              <a:buNone/>
              <a:defRPr sz="1725" b="0">
                <a:solidFill>
                  <a:srgbClr val="202124"/>
                </a:solidFill>
                <a:latin typeface="Arial"/>
                <a:ea typeface="Arial"/>
                <a:cs typeface="Arial"/>
              </a:defRPr>
            </a:lvl9pPr>
          </a:lstStyle>
          <a:p>
            <a:pPr algn="l">
              <a:buNone/>
              <a:defRPr sz="1725" b="0">
                <a:solidFill>
                  <a:srgbClr val="202124"/>
                </a:solidFill>
                <a:latin typeface="Arial"/>
                <a:ea typeface="Arial"/>
                <a:cs typeface="Arial"/>
              </a:defRPr>
            </a:pPr>
            <a:r>
              <a:rPr sz="1725" b="0">
                <a:solidFill>
                  <a:srgbClr val="202124"/>
                </a:solidFill>
                <a:latin typeface="Arial"/>
                <a:ea typeface="Arial"/>
                <a:cs typeface="Arial"/>
              </a:rPr>
              <a:t>[4]</a:t>
            </a:r>
          </a:p>
        </p:txBody>
      </p:sp>
      <p:sp>
        <p:nvSpPr>
          <p:cNvPr id="12" name="ref-body-3">
            <a:extLst>
              <a:ext uri="{FF2B5EF4-FFF2-40B4-BE49-F238E27FC236}">
                <a16:creationId xmlns:a16="http://schemas.microsoft.com/office/drawing/2014/main" id="{E4F33F81-1B01-4C6F-A9DD-756554D5A0D5}"/>
              </a:ext>
            </a:extLst>
          </p:cNvPr>
          <p:cNvSpPr>
            <a:spLocks noGrp="1"/>
          </p:cNvSpPr>
          <p:nvPr/>
        </p:nvSpPr>
        <p:spPr>
          <a:xfrm>
            <a:off x="1714500" y="4152900"/>
            <a:ext cx="6667500" cy="647700"/>
          </a:xfrm>
          <a:prstGeom prst="rect">
            <a:avLst/>
          </a:prstGeom>
          <a:noFill/>
          <a:ln w="0">
            <a:noFill/>
          </a:ln>
        </p:spPr>
        <p:txBody>
          <a:bodyPr wrap="square" lIns="0" tIns="0" rIns="0" bIns="0" anchor="t">
            <a:noAutofit/>
          </a:bodyPr>
          <a:lstStyle>
            <a:defPPr algn="l">
              <a:defRPr sz="1725" b="0">
                <a:solidFill>
                  <a:srgbClr val="202124"/>
                </a:solidFill>
                <a:latin typeface="Arial"/>
                <a:ea typeface="Arial"/>
                <a:cs typeface="Arial"/>
              </a:defRPr>
            </a:defPPr>
            <a:lvl1pPr algn="l">
              <a:buNone/>
              <a:defRPr sz="1725" b="0">
                <a:solidFill>
                  <a:srgbClr val="202124"/>
                </a:solidFill>
                <a:latin typeface="Arial"/>
                <a:ea typeface="Arial"/>
                <a:cs typeface="Arial"/>
              </a:defRPr>
            </a:lvl1pPr>
            <a:lvl2pPr algn="l">
              <a:buNone/>
              <a:defRPr sz="1725" b="0">
                <a:solidFill>
                  <a:srgbClr val="202124"/>
                </a:solidFill>
                <a:latin typeface="Arial"/>
                <a:ea typeface="Arial"/>
                <a:cs typeface="Arial"/>
              </a:defRPr>
            </a:lvl2pPr>
            <a:lvl3pPr algn="l">
              <a:buNone/>
              <a:defRPr sz="1725" b="0">
                <a:solidFill>
                  <a:srgbClr val="202124"/>
                </a:solidFill>
                <a:latin typeface="Arial"/>
                <a:ea typeface="Arial"/>
                <a:cs typeface="Arial"/>
              </a:defRPr>
            </a:lvl3pPr>
            <a:lvl4pPr algn="l">
              <a:buNone/>
              <a:defRPr sz="1725" b="0">
                <a:solidFill>
                  <a:srgbClr val="202124"/>
                </a:solidFill>
                <a:latin typeface="Arial"/>
                <a:ea typeface="Arial"/>
                <a:cs typeface="Arial"/>
              </a:defRPr>
            </a:lvl4pPr>
            <a:lvl5pPr algn="l">
              <a:buNone/>
              <a:defRPr sz="1725" b="0">
                <a:solidFill>
                  <a:srgbClr val="202124"/>
                </a:solidFill>
                <a:latin typeface="Arial"/>
                <a:ea typeface="Arial"/>
                <a:cs typeface="Arial"/>
              </a:defRPr>
            </a:lvl5pPr>
            <a:lvl6pPr algn="l">
              <a:buNone/>
              <a:defRPr sz="1725" b="0">
                <a:solidFill>
                  <a:srgbClr val="202124"/>
                </a:solidFill>
                <a:latin typeface="Arial"/>
                <a:ea typeface="Arial"/>
                <a:cs typeface="Arial"/>
              </a:defRPr>
            </a:lvl6pPr>
            <a:lvl7pPr algn="l">
              <a:buNone/>
              <a:defRPr sz="1725" b="0">
                <a:solidFill>
                  <a:srgbClr val="202124"/>
                </a:solidFill>
                <a:latin typeface="Arial"/>
                <a:ea typeface="Arial"/>
                <a:cs typeface="Arial"/>
              </a:defRPr>
            </a:lvl7pPr>
            <a:lvl8pPr algn="l">
              <a:buNone/>
              <a:defRPr sz="1725" b="0">
                <a:solidFill>
                  <a:srgbClr val="202124"/>
                </a:solidFill>
                <a:latin typeface="Arial"/>
                <a:ea typeface="Arial"/>
                <a:cs typeface="Arial"/>
              </a:defRPr>
            </a:lvl8pPr>
            <a:lvl9pPr algn="l">
              <a:buNone/>
              <a:defRPr sz="1725" b="0">
                <a:solidFill>
                  <a:srgbClr val="202124"/>
                </a:solidFill>
                <a:latin typeface="Arial"/>
                <a:ea typeface="Arial"/>
                <a:cs typeface="Arial"/>
              </a:defRPr>
            </a:lvl9pPr>
          </a:lstStyle>
          <a:p>
            <a:pPr algn="l">
              <a:buNone/>
              <a:defRPr sz="1725" b="0">
                <a:solidFill>
                  <a:srgbClr val="202124"/>
                </a:solidFill>
                <a:latin typeface="Arial"/>
                <a:ea typeface="Arial"/>
                <a:cs typeface="Arial"/>
              </a:defRPr>
            </a:pPr>
            <a:r>
              <a:rPr sz="1725" b="0">
                <a:solidFill>
                  <a:srgbClr val="202124"/>
                </a:solidFill>
                <a:latin typeface="Arial"/>
                <a:ea typeface="Arial"/>
                <a:cs typeface="Arial"/>
              </a:rPr>
              <a:t>Kaelbling et al., 1998</a:t>
            </a:r>
          </a:p>
          <a:p>
            <a:pPr algn="l">
              <a:buNone/>
              <a:defRPr sz="1725" b="0">
                <a:solidFill>
                  <a:srgbClr val="202124"/>
                </a:solidFill>
                <a:latin typeface="Arial"/>
                <a:ea typeface="Arial"/>
                <a:cs typeface="Arial"/>
              </a:defRPr>
            </a:pPr>
            <a:r>
              <a:rPr sz="1725" b="0">
                <a:solidFill>
                  <a:srgbClr val="202124"/>
                </a:solidFill>
                <a:latin typeface="Arial"/>
                <a:ea typeface="Arial"/>
                <a:cs typeface="Arial"/>
              </a:rPr>
              <a:t>Belief-state estimation</a:t>
            </a:r>
          </a:p>
        </p:txBody>
      </p:sp>
      <p:sp>
        <p:nvSpPr>
          <p:cNvPr id="13" name="ref-id-4">
            <a:extLst>
              <a:ext uri="{FF2B5EF4-FFF2-40B4-BE49-F238E27FC236}">
                <a16:creationId xmlns:a16="http://schemas.microsoft.com/office/drawing/2014/main" id="{3E5A32FE-0143-45E9-8E67-F6E4EC393E5B}"/>
              </a:ext>
            </a:extLst>
          </p:cNvPr>
          <p:cNvSpPr>
            <a:spLocks noGrp="1"/>
          </p:cNvSpPr>
          <p:nvPr/>
        </p:nvSpPr>
        <p:spPr>
          <a:xfrm>
            <a:off x="914400" y="4886325"/>
            <a:ext cx="685800" cy="647700"/>
          </a:xfrm>
          <a:prstGeom prst="rect">
            <a:avLst/>
          </a:prstGeom>
          <a:noFill/>
          <a:ln w="0">
            <a:noFill/>
          </a:ln>
        </p:spPr>
        <p:txBody>
          <a:bodyPr wrap="square" lIns="0" tIns="0" rIns="0" bIns="0" anchor="t">
            <a:noAutofit/>
          </a:bodyPr>
          <a:lstStyle>
            <a:defPPr algn="l">
              <a:defRPr sz="1725" b="0">
                <a:solidFill>
                  <a:srgbClr val="202124"/>
                </a:solidFill>
                <a:latin typeface="Arial"/>
                <a:ea typeface="Arial"/>
                <a:cs typeface="Arial"/>
              </a:defRPr>
            </a:defPPr>
            <a:lvl1pPr algn="l">
              <a:buNone/>
              <a:defRPr sz="1725" b="0">
                <a:solidFill>
                  <a:srgbClr val="202124"/>
                </a:solidFill>
                <a:latin typeface="Arial"/>
                <a:ea typeface="Arial"/>
                <a:cs typeface="Arial"/>
              </a:defRPr>
            </a:lvl1pPr>
            <a:lvl2pPr algn="l">
              <a:buNone/>
              <a:defRPr sz="1725" b="0">
                <a:solidFill>
                  <a:srgbClr val="202124"/>
                </a:solidFill>
                <a:latin typeface="Arial"/>
                <a:ea typeface="Arial"/>
                <a:cs typeface="Arial"/>
              </a:defRPr>
            </a:lvl2pPr>
            <a:lvl3pPr algn="l">
              <a:buNone/>
              <a:defRPr sz="1725" b="0">
                <a:solidFill>
                  <a:srgbClr val="202124"/>
                </a:solidFill>
                <a:latin typeface="Arial"/>
                <a:ea typeface="Arial"/>
                <a:cs typeface="Arial"/>
              </a:defRPr>
            </a:lvl3pPr>
            <a:lvl4pPr algn="l">
              <a:buNone/>
              <a:defRPr sz="1725" b="0">
                <a:solidFill>
                  <a:srgbClr val="202124"/>
                </a:solidFill>
                <a:latin typeface="Arial"/>
                <a:ea typeface="Arial"/>
                <a:cs typeface="Arial"/>
              </a:defRPr>
            </a:lvl4pPr>
            <a:lvl5pPr algn="l">
              <a:buNone/>
              <a:defRPr sz="1725" b="0">
                <a:solidFill>
                  <a:srgbClr val="202124"/>
                </a:solidFill>
                <a:latin typeface="Arial"/>
                <a:ea typeface="Arial"/>
                <a:cs typeface="Arial"/>
              </a:defRPr>
            </a:lvl5pPr>
            <a:lvl6pPr algn="l">
              <a:buNone/>
              <a:defRPr sz="1725" b="0">
                <a:solidFill>
                  <a:srgbClr val="202124"/>
                </a:solidFill>
                <a:latin typeface="Arial"/>
                <a:ea typeface="Arial"/>
                <a:cs typeface="Arial"/>
              </a:defRPr>
            </a:lvl6pPr>
            <a:lvl7pPr algn="l">
              <a:buNone/>
              <a:defRPr sz="1725" b="0">
                <a:solidFill>
                  <a:srgbClr val="202124"/>
                </a:solidFill>
                <a:latin typeface="Arial"/>
                <a:ea typeface="Arial"/>
                <a:cs typeface="Arial"/>
              </a:defRPr>
            </a:lvl7pPr>
            <a:lvl8pPr algn="l">
              <a:buNone/>
              <a:defRPr sz="1725" b="0">
                <a:solidFill>
                  <a:srgbClr val="202124"/>
                </a:solidFill>
                <a:latin typeface="Arial"/>
                <a:ea typeface="Arial"/>
                <a:cs typeface="Arial"/>
              </a:defRPr>
            </a:lvl8pPr>
            <a:lvl9pPr algn="l">
              <a:buNone/>
              <a:defRPr sz="1725" b="0">
                <a:solidFill>
                  <a:srgbClr val="202124"/>
                </a:solidFill>
                <a:latin typeface="Arial"/>
                <a:ea typeface="Arial"/>
                <a:cs typeface="Arial"/>
              </a:defRPr>
            </a:lvl9pPr>
          </a:lstStyle>
          <a:p>
            <a:pPr algn="l">
              <a:buNone/>
              <a:defRPr sz="1725" b="0">
                <a:solidFill>
                  <a:srgbClr val="202124"/>
                </a:solidFill>
                <a:latin typeface="Arial"/>
                <a:ea typeface="Arial"/>
                <a:cs typeface="Arial"/>
              </a:defRPr>
            </a:pPr>
            <a:r>
              <a:rPr sz="1725" b="0">
                <a:solidFill>
                  <a:srgbClr val="202124"/>
                </a:solidFill>
                <a:latin typeface="Arial"/>
                <a:ea typeface="Arial"/>
                <a:cs typeface="Arial"/>
              </a:rPr>
              <a:t>[5]</a:t>
            </a:r>
          </a:p>
        </p:txBody>
      </p:sp>
      <p:sp>
        <p:nvSpPr>
          <p:cNvPr id="14" name="ref-body-4">
            <a:extLst>
              <a:ext uri="{FF2B5EF4-FFF2-40B4-BE49-F238E27FC236}">
                <a16:creationId xmlns:a16="http://schemas.microsoft.com/office/drawing/2014/main" id="{0060C952-D83F-4CE5-A237-7273F077D506}"/>
              </a:ext>
            </a:extLst>
          </p:cNvPr>
          <p:cNvSpPr>
            <a:spLocks noGrp="1"/>
          </p:cNvSpPr>
          <p:nvPr/>
        </p:nvSpPr>
        <p:spPr>
          <a:xfrm>
            <a:off x="1714500" y="4886325"/>
            <a:ext cx="6667500" cy="647700"/>
          </a:xfrm>
          <a:prstGeom prst="rect">
            <a:avLst/>
          </a:prstGeom>
          <a:noFill/>
          <a:ln w="0">
            <a:noFill/>
          </a:ln>
        </p:spPr>
        <p:txBody>
          <a:bodyPr wrap="square" lIns="0" tIns="0" rIns="0" bIns="0" anchor="t">
            <a:noAutofit/>
          </a:bodyPr>
          <a:lstStyle>
            <a:defPPr algn="l">
              <a:defRPr sz="1725" b="0">
                <a:solidFill>
                  <a:srgbClr val="202124"/>
                </a:solidFill>
                <a:latin typeface="Arial"/>
                <a:ea typeface="Arial"/>
                <a:cs typeface="Arial"/>
              </a:defRPr>
            </a:defPPr>
            <a:lvl1pPr algn="l">
              <a:buNone/>
              <a:defRPr sz="1725" b="0">
                <a:solidFill>
                  <a:srgbClr val="202124"/>
                </a:solidFill>
                <a:latin typeface="Arial"/>
                <a:ea typeface="Arial"/>
                <a:cs typeface="Arial"/>
              </a:defRPr>
            </a:lvl1pPr>
            <a:lvl2pPr algn="l">
              <a:buNone/>
              <a:defRPr sz="1725" b="0">
                <a:solidFill>
                  <a:srgbClr val="202124"/>
                </a:solidFill>
                <a:latin typeface="Arial"/>
                <a:ea typeface="Arial"/>
                <a:cs typeface="Arial"/>
              </a:defRPr>
            </a:lvl2pPr>
            <a:lvl3pPr algn="l">
              <a:buNone/>
              <a:defRPr sz="1725" b="0">
                <a:solidFill>
                  <a:srgbClr val="202124"/>
                </a:solidFill>
                <a:latin typeface="Arial"/>
                <a:ea typeface="Arial"/>
                <a:cs typeface="Arial"/>
              </a:defRPr>
            </a:lvl3pPr>
            <a:lvl4pPr algn="l">
              <a:buNone/>
              <a:defRPr sz="1725" b="0">
                <a:solidFill>
                  <a:srgbClr val="202124"/>
                </a:solidFill>
                <a:latin typeface="Arial"/>
                <a:ea typeface="Arial"/>
                <a:cs typeface="Arial"/>
              </a:defRPr>
            </a:lvl4pPr>
            <a:lvl5pPr algn="l">
              <a:buNone/>
              <a:defRPr sz="1725" b="0">
                <a:solidFill>
                  <a:srgbClr val="202124"/>
                </a:solidFill>
                <a:latin typeface="Arial"/>
                <a:ea typeface="Arial"/>
                <a:cs typeface="Arial"/>
              </a:defRPr>
            </a:lvl5pPr>
            <a:lvl6pPr algn="l">
              <a:buNone/>
              <a:defRPr sz="1725" b="0">
                <a:solidFill>
                  <a:srgbClr val="202124"/>
                </a:solidFill>
                <a:latin typeface="Arial"/>
                <a:ea typeface="Arial"/>
                <a:cs typeface="Arial"/>
              </a:defRPr>
            </a:lvl6pPr>
            <a:lvl7pPr algn="l">
              <a:buNone/>
              <a:defRPr sz="1725" b="0">
                <a:solidFill>
                  <a:srgbClr val="202124"/>
                </a:solidFill>
                <a:latin typeface="Arial"/>
                <a:ea typeface="Arial"/>
                <a:cs typeface="Arial"/>
              </a:defRPr>
            </a:lvl7pPr>
            <a:lvl8pPr algn="l">
              <a:buNone/>
              <a:defRPr sz="1725" b="0">
                <a:solidFill>
                  <a:srgbClr val="202124"/>
                </a:solidFill>
                <a:latin typeface="Arial"/>
                <a:ea typeface="Arial"/>
                <a:cs typeface="Arial"/>
              </a:defRPr>
            </a:lvl8pPr>
            <a:lvl9pPr algn="l">
              <a:buNone/>
              <a:defRPr sz="1725" b="0">
                <a:solidFill>
                  <a:srgbClr val="202124"/>
                </a:solidFill>
                <a:latin typeface="Arial"/>
                <a:ea typeface="Arial"/>
                <a:cs typeface="Arial"/>
              </a:defRPr>
            </a:lvl9pPr>
          </a:lstStyle>
          <a:p>
            <a:pPr algn="l">
              <a:buNone/>
              <a:defRPr sz="1725" b="0">
                <a:solidFill>
                  <a:srgbClr val="202124"/>
                </a:solidFill>
                <a:latin typeface="Arial"/>
                <a:ea typeface="Arial"/>
                <a:cs typeface="Arial"/>
              </a:defRPr>
            </a:pPr>
            <a:r>
              <a:rPr sz="1725" b="0">
                <a:solidFill>
                  <a:srgbClr val="202124"/>
                </a:solidFill>
                <a:latin typeface="Arial"/>
                <a:ea typeface="Arial"/>
                <a:cs typeface="Arial"/>
              </a:rPr>
              <a:t>Hafner et al., ICML 2019</a:t>
            </a:r>
          </a:p>
          <a:p>
            <a:pPr algn="l">
              <a:buNone/>
              <a:defRPr sz="1725" b="0">
                <a:solidFill>
                  <a:srgbClr val="202124"/>
                </a:solidFill>
                <a:latin typeface="Arial"/>
                <a:ea typeface="Arial"/>
                <a:cs typeface="Arial"/>
              </a:defRPr>
            </a:pPr>
            <a:r>
              <a:rPr sz="1725" b="0">
                <a:solidFill>
                  <a:srgbClr val="202124"/>
                </a:solidFill>
                <a:latin typeface="Arial"/>
                <a:ea typeface="Arial"/>
                <a:cs typeface="Arial"/>
              </a:rPr>
              <a:t>PlaNet</a:t>
            </a:r>
          </a:p>
        </p:txBody>
      </p:sp>
      <p:sp>
        <p:nvSpPr>
          <p:cNvPr id="15" name="ref-id-5">
            <a:extLst>
              <a:ext uri="{FF2B5EF4-FFF2-40B4-BE49-F238E27FC236}">
                <a16:creationId xmlns:a16="http://schemas.microsoft.com/office/drawing/2014/main" id="{C67D418F-3E24-484C-8ED9-81BDB3B120DE}"/>
              </a:ext>
            </a:extLst>
          </p:cNvPr>
          <p:cNvSpPr>
            <a:spLocks noGrp="1"/>
          </p:cNvSpPr>
          <p:nvPr/>
        </p:nvSpPr>
        <p:spPr>
          <a:xfrm>
            <a:off x="914400" y="5619750"/>
            <a:ext cx="685800" cy="647700"/>
          </a:xfrm>
          <a:prstGeom prst="rect">
            <a:avLst/>
          </a:prstGeom>
          <a:noFill/>
          <a:ln w="0">
            <a:noFill/>
          </a:ln>
        </p:spPr>
        <p:txBody>
          <a:bodyPr wrap="square" lIns="0" tIns="0" rIns="0" bIns="0" anchor="t">
            <a:noAutofit/>
          </a:bodyPr>
          <a:lstStyle>
            <a:defPPr algn="l">
              <a:defRPr sz="1725" b="0">
                <a:solidFill>
                  <a:srgbClr val="202124"/>
                </a:solidFill>
                <a:latin typeface="Arial"/>
                <a:ea typeface="Arial"/>
                <a:cs typeface="Arial"/>
              </a:defRPr>
            </a:defPPr>
            <a:lvl1pPr algn="l">
              <a:buNone/>
              <a:defRPr sz="1725" b="0">
                <a:solidFill>
                  <a:srgbClr val="202124"/>
                </a:solidFill>
                <a:latin typeface="Arial"/>
                <a:ea typeface="Arial"/>
                <a:cs typeface="Arial"/>
              </a:defRPr>
            </a:lvl1pPr>
            <a:lvl2pPr algn="l">
              <a:buNone/>
              <a:defRPr sz="1725" b="0">
                <a:solidFill>
                  <a:srgbClr val="202124"/>
                </a:solidFill>
                <a:latin typeface="Arial"/>
                <a:ea typeface="Arial"/>
                <a:cs typeface="Arial"/>
              </a:defRPr>
            </a:lvl2pPr>
            <a:lvl3pPr algn="l">
              <a:buNone/>
              <a:defRPr sz="1725" b="0">
                <a:solidFill>
                  <a:srgbClr val="202124"/>
                </a:solidFill>
                <a:latin typeface="Arial"/>
                <a:ea typeface="Arial"/>
                <a:cs typeface="Arial"/>
              </a:defRPr>
            </a:lvl3pPr>
            <a:lvl4pPr algn="l">
              <a:buNone/>
              <a:defRPr sz="1725" b="0">
                <a:solidFill>
                  <a:srgbClr val="202124"/>
                </a:solidFill>
                <a:latin typeface="Arial"/>
                <a:ea typeface="Arial"/>
                <a:cs typeface="Arial"/>
              </a:defRPr>
            </a:lvl4pPr>
            <a:lvl5pPr algn="l">
              <a:buNone/>
              <a:defRPr sz="1725" b="0">
                <a:solidFill>
                  <a:srgbClr val="202124"/>
                </a:solidFill>
                <a:latin typeface="Arial"/>
                <a:ea typeface="Arial"/>
                <a:cs typeface="Arial"/>
              </a:defRPr>
            </a:lvl5pPr>
            <a:lvl6pPr algn="l">
              <a:buNone/>
              <a:defRPr sz="1725" b="0">
                <a:solidFill>
                  <a:srgbClr val="202124"/>
                </a:solidFill>
                <a:latin typeface="Arial"/>
                <a:ea typeface="Arial"/>
                <a:cs typeface="Arial"/>
              </a:defRPr>
            </a:lvl6pPr>
            <a:lvl7pPr algn="l">
              <a:buNone/>
              <a:defRPr sz="1725" b="0">
                <a:solidFill>
                  <a:srgbClr val="202124"/>
                </a:solidFill>
                <a:latin typeface="Arial"/>
                <a:ea typeface="Arial"/>
                <a:cs typeface="Arial"/>
              </a:defRPr>
            </a:lvl7pPr>
            <a:lvl8pPr algn="l">
              <a:buNone/>
              <a:defRPr sz="1725" b="0">
                <a:solidFill>
                  <a:srgbClr val="202124"/>
                </a:solidFill>
                <a:latin typeface="Arial"/>
                <a:ea typeface="Arial"/>
                <a:cs typeface="Arial"/>
              </a:defRPr>
            </a:lvl8pPr>
            <a:lvl9pPr algn="l">
              <a:buNone/>
              <a:defRPr sz="1725" b="0">
                <a:solidFill>
                  <a:srgbClr val="202124"/>
                </a:solidFill>
                <a:latin typeface="Arial"/>
                <a:ea typeface="Arial"/>
                <a:cs typeface="Arial"/>
              </a:defRPr>
            </a:lvl9pPr>
          </a:lstStyle>
          <a:p>
            <a:pPr algn="l">
              <a:buNone/>
              <a:defRPr sz="1725" b="0">
                <a:solidFill>
                  <a:srgbClr val="202124"/>
                </a:solidFill>
                <a:latin typeface="Arial"/>
                <a:ea typeface="Arial"/>
                <a:cs typeface="Arial"/>
              </a:defRPr>
            </a:pPr>
            <a:r>
              <a:rPr sz="1725" b="0">
                <a:solidFill>
                  <a:srgbClr val="202124"/>
                </a:solidFill>
                <a:latin typeface="Arial"/>
                <a:ea typeface="Arial"/>
                <a:cs typeface="Arial"/>
              </a:rPr>
              <a:t>[6]</a:t>
            </a:r>
          </a:p>
        </p:txBody>
      </p:sp>
      <p:sp>
        <p:nvSpPr>
          <p:cNvPr id="16" name="ref-body-5">
            <a:extLst>
              <a:ext uri="{FF2B5EF4-FFF2-40B4-BE49-F238E27FC236}">
                <a16:creationId xmlns:a16="http://schemas.microsoft.com/office/drawing/2014/main" id="{8F608C80-29A0-4647-A945-1C9602D4DCD2}"/>
              </a:ext>
            </a:extLst>
          </p:cNvPr>
          <p:cNvSpPr>
            <a:spLocks noGrp="1"/>
          </p:cNvSpPr>
          <p:nvPr/>
        </p:nvSpPr>
        <p:spPr>
          <a:xfrm>
            <a:off x="1714500" y="5619750"/>
            <a:ext cx="6667500" cy="647700"/>
          </a:xfrm>
          <a:prstGeom prst="rect">
            <a:avLst/>
          </a:prstGeom>
          <a:noFill/>
          <a:ln w="0">
            <a:noFill/>
          </a:ln>
        </p:spPr>
        <p:txBody>
          <a:bodyPr wrap="square" lIns="0" tIns="0" rIns="0" bIns="0" anchor="t">
            <a:noAutofit/>
          </a:bodyPr>
          <a:lstStyle>
            <a:defPPr algn="l">
              <a:defRPr sz="1725" b="0">
                <a:solidFill>
                  <a:srgbClr val="202124"/>
                </a:solidFill>
                <a:latin typeface="Arial"/>
                <a:ea typeface="Arial"/>
                <a:cs typeface="Arial"/>
              </a:defRPr>
            </a:defPPr>
            <a:lvl1pPr algn="l">
              <a:buNone/>
              <a:defRPr sz="1725" b="0">
                <a:solidFill>
                  <a:srgbClr val="202124"/>
                </a:solidFill>
                <a:latin typeface="Arial"/>
                <a:ea typeface="Arial"/>
                <a:cs typeface="Arial"/>
              </a:defRPr>
            </a:lvl1pPr>
            <a:lvl2pPr algn="l">
              <a:buNone/>
              <a:defRPr sz="1725" b="0">
                <a:solidFill>
                  <a:srgbClr val="202124"/>
                </a:solidFill>
                <a:latin typeface="Arial"/>
                <a:ea typeface="Arial"/>
                <a:cs typeface="Arial"/>
              </a:defRPr>
            </a:lvl2pPr>
            <a:lvl3pPr algn="l">
              <a:buNone/>
              <a:defRPr sz="1725" b="0">
                <a:solidFill>
                  <a:srgbClr val="202124"/>
                </a:solidFill>
                <a:latin typeface="Arial"/>
                <a:ea typeface="Arial"/>
                <a:cs typeface="Arial"/>
              </a:defRPr>
            </a:lvl3pPr>
            <a:lvl4pPr algn="l">
              <a:buNone/>
              <a:defRPr sz="1725" b="0">
                <a:solidFill>
                  <a:srgbClr val="202124"/>
                </a:solidFill>
                <a:latin typeface="Arial"/>
                <a:ea typeface="Arial"/>
                <a:cs typeface="Arial"/>
              </a:defRPr>
            </a:lvl4pPr>
            <a:lvl5pPr algn="l">
              <a:buNone/>
              <a:defRPr sz="1725" b="0">
                <a:solidFill>
                  <a:srgbClr val="202124"/>
                </a:solidFill>
                <a:latin typeface="Arial"/>
                <a:ea typeface="Arial"/>
                <a:cs typeface="Arial"/>
              </a:defRPr>
            </a:lvl5pPr>
            <a:lvl6pPr algn="l">
              <a:buNone/>
              <a:defRPr sz="1725" b="0">
                <a:solidFill>
                  <a:srgbClr val="202124"/>
                </a:solidFill>
                <a:latin typeface="Arial"/>
                <a:ea typeface="Arial"/>
                <a:cs typeface="Arial"/>
              </a:defRPr>
            </a:lvl6pPr>
            <a:lvl7pPr algn="l">
              <a:buNone/>
              <a:defRPr sz="1725" b="0">
                <a:solidFill>
                  <a:srgbClr val="202124"/>
                </a:solidFill>
                <a:latin typeface="Arial"/>
                <a:ea typeface="Arial"/>
                <a:cs typeface="Arial"/>
              </a:defRPr>
            </a:lvl7pPr>
            <a:lvl8pPr algn="l">
              <a:buNone/>
              <a:defRPr sz="1725" b="0">
                <a:solidFill>
                  <a:srgbClr val="202124"/>
                </a:solidFill>
                <a:latin typeface="Arial"/>
                <a:ea typeface="Arial"/>
                <a:cs typeface="Arial"/>
              </a:defRPr>
            </a:lvl8pPr>
            <a:lvl9pPr algn="l">
              <a:buNone/>
              <a:defRPr sz="1725" b="0">
                <a:solidFill>
                  <a:srgbClr val="202124"/>
                </a:solidFill>
                <a:latin typeface="Arial"/>
                <a:ea typeface="Arial"/>
                <a:cs typeface="Arial"/>
              </a:defRPr>
            </a:lvl9pPr>
          </a:lstStyle>
          <a:p>
            <a:pPr algn="l">
              <a:buNone/>
              <a:defRPr sz="1725" b="0">
                <a:solidFill>
                  <a:srgbClr val="202124"/>
                </a:solidFill>
                <a:latin typeface="Arial"/>
                <a:ea typeface="Arial"/>
                <a:cs typeface="Arial"/>
              </a:defRPr>
            </a:pPr>
            <a:r>
              <a:rPr sz="1725" b="0">
                <a:solidFill>
                  <a:srgbClr val="202124"/>
                </a:solidFill>
                <a:latin typeface="Arial"/>
                <a:ea typeface="Arial"/>
                <a:cs typeface="Arial"/>
              </a:rPr>
              <a:t>Rosenkranz et al., 2024</a:t>
            </a:r>
          </a:p>
          <a:p>
            <a:pPr algn="l">
              <a:buNone/>
              <a:defRPr sz="1725" b="0">
                <a:solidFill>
                  <a:srgbClr val="202124"/>
                </a:solidFill>
                <a:latin typeface="Arial"/>
                <a:ea typeface="Arial"/>
                <a:cs typeface="Arial"/>
              </a:defRPr>
            </a:pPr>
            <a:r>
              <a:rPr sz="1725" b="0">
                <a:solidFill>
                  <a:srgbClr val="202124"/>
                </a:solidFill>
                <a:latin typeface="Arial"/>
                <a:ea typeface="Arial"/>
                <a:cs typeface="Arial"/>
              </a:rPr>
              <a:t>Physics-augmented viscoelasticity</a:t>
            </a:r>
          </a:p>
        </p:txBody>
      </p:sp>
      <p:sp>
        <p:nvSpPr>
          <p:cNvPr id="17" name="ref-id-6">
            <a:extLst>
              <a:ext uri="{FF2B5EF4-FFF2-40B4-BE49-F238E27FC236}">
                <a16:creationId xmlns:a16="http://schemas.microsoft.com/office/drawing/2014/main" id="{A6F121EA-80D4-407A-9AF2-4D2CD4A8B59B}"/>
              </a:ext>
            </a:extLst>
          </p:cNvPr>
          <p:cNvSpPr>
            <a:spLocks noGrp="1"/>
          </p:cNvSpPr>
          <p:nvPr/>
        </p:nvSpPr>
        <p:spPr>
          <a:xfrm>
            <a:off x="914400" y="6353175"/>
            <a:ext cx="685800" cy="647700"/>
          </a:xfrm>
          <a:prstGeom prst="rect">
            <a:avLst/>
          </a:prstGeom>
          <a:noFill/>
          <a:ln w="0">
            <a:noFill/>
          </a:ln>
        </p:spPr>
        <p:txBody>
          <a:bodyPr wrap="square" lIns="0" tIns="0" rIns="0" bIns="0" anchor="t">
            <a:noAutofit/>
          </a:bodyPr>
          <a:lstStyle>
            <a:defPPr algn="l">
              <a:defRPr sz="1725" b="0">
                <a:solidFill>
                  <a:srgbClr val="202124"/>
                </a:solidFill>
                <a:latin typeface="Arial"/>
                <a:ea typeface="Arial"/>
                <a:cs typeface="Arial"/>
              </a:defRPr>
            </a:defPPr>
            <a:lvl1pPr algn="l">
              <a:buNone/>
              <a:defRPr sz="1725" b="0">
                <a:solidFill>
                  <a:srgbClr val="202124"/>
                </a:solidFill>
                <a:latin typeface="Arial"/>
                <a:ea typeface="Arial"/>
                <a:cs typeface="Arial"/>
              </a:defRPr>
            </a:lvl1pPr>
            <a:lvl2pPr algn="l">
              <a:buNone/>
              <a:defRPr sz="1725" b="0">
                <a:solidFill>
                  <a:srgbClr val="202124"/>
                </a:solidFill>
                <a:latin typeface="Arial"/>
                <a:ea typeface="Arial"/>
                <a:cs typeface="Arial"/>
              </a:defRPr>
            </a:lvl2pPr>
            <a:lvl3pPr algn="l">
              <a:buNone/>
              <a:defRPr sz="1725" b="0">
                <a:solidFill>
                  <a:srgbClr val="202124"/>
                </a:solidFill>
                <a:latin typeface="Arial"/>
                <a:ea typeface="Arial"/>
                <a:cs typeface="Arial"/>
              </a:defRPr>
            </a:lvl3pPr>
            <a:lvl4pPr algn="l">
              <a:buNone/>
              <a:defRPr sz="1725" b="0">
                <a:solidFill>
                  <a:srgbClr val="202124"/>
                </a:solidFill>
                <a:latin typeface="Arial"/>
                <a:ea typeface="Arial"/>
                <a:cs typeface="Arial"/>
              </a:defRPr>
            </a:lvl4pPr>
            <a:lvl5pPr algn="l">
              <a:buNone/>
              <a:defRPr sz="1725" b="0">
                <a:solidFill>
                  <a:srgbClr val="202124"/>
                </a:solidFill>
                <a:latin typeface="Arial"/>
                <a:ea typeface="Arial"/>
                <a:cs typeface="Arial"/>
              </a:defRPr>
            </a:lvl5pPr>
            <a:lvl6pPr algn="l">
              <a:buNone/>
              <a:defRPr sz="1725" b="0">
                <a:solidFill>
                  <a:srgbClr val="202124"/>
                </a:solidFill>
                <a:latin typeface="Arial"/>
                <a:ea typeface="Arial"/>
                <a:cs typeface="Arial"/>
              </a:defRPr>
            </a:lvl6pPr>
            <a:lvl7pPr algn="l">
              <a:buNone/>
              <a:defRPr sz="1725" b="0">
                <a:solidFill>
                  <a:srgbClr val="202124"/>
                </a:solidFill>
                <a:latin typeface="Arial"/>
                <a:ea typeface="Arial"/>
                <a:cs typeface="Arial"/>
              </a:defRPr>
            </a:lvl7pPr>
            <a:lvl8pPr algn="l">
              <a:buNone/>
              <a:defRPr sz="1725" b="0">
                <a:solidFill>
                  <a:srgbClr val="202124"/>
                </a:solidFill>
                <a:latin typeface="Arial"/>
                <a:ea typeface="Arial"/>
                <a:cs typeface="Arial"/>
              </a:defRPr>
            </a:lvl8pPr>
            <a:lvl9pPr algn="l">
              <a:buNone/>
              <a:defRPr sz="1725" b="0">
                <a:solidFill>
                  <a:srgbClr val="202124"/>
                </a:solidFill>
                <a:latin typeface="Arial"/>
                <a:ea typeface="Arial"/>
                <a:cs typeface="Arial"/>
              </a:defRPr>
            </a:lvl9pPr>
          </a:lstStyle>
          <a:p>
            <a:pPr algn="l">
              <a:buNone/>
              <a:defRPr sz="1725" b="0">
                <a:solidFill>
                  <a:srgbClr val="202124"/>
                </a:solidFill>
                <a:latin typeface="Arial"/>
                <a:ea typeface="Arial"/>
                <a:cs typeface="Arial"/>
              </a:defRPr>
            </a:pPr>
            <a:r>
              <a:rPr sz="1725" b="0">
                <a:solidFill>
                  <a:srgbClr val="202124"/>
                </a:solidFill>
                <a:latin typeface="Arial"/>
                <a:ea typeface="Arial"/>
                <a:cs typeface="Arial"/>
              </a:rPr>
              <a:t>[7]</a:t>
            </a:r>
          </a:p>
        </p:txBody>
      </p:sp>
      <p:sp>
        <p:nvSpPr>
          <p:cNvPr id="18" name="ref-body-6">
            <a:extLst>
              <a:ext uri="{FF2B5EF4-FFF2-40B4-BE49-F238E27FC236}">
                <a16:creationId xmlns:a16="http://schemas.microsoft.com/office/drawing/2014/main" id="{FE0D56EB-D7B8-4E9E-B50E-3BCE9535D85C}"/>
              </a:ext>
            </a:extLst>
          </p:cNvPr>
          <p:cNvSpPr>
            <a:spLocks noGrp="1"/>
          </p:cNvSpPr>
          <p:nvPr/>
        </p:nvSpPr>
        <p:spPr>
          <a:xfrm>
            <a:off x="1714500" y="6353175"/>
            <a:ext cx="6667500" cy="647700"/>
          </a:xfrm>
          <a:prstGeom prst="rect">
            <a:avLst/>
          </a:prstGeom>
          <a:noFill/>
          <a:ln w="0">
            <a:noFill/>
          </a:ln>
        </p:spPr>
        <p:txBody>
          <a:bodyPr wrap="square" lIns="0" tIns="0" rIns="0" bIns="0" anchor="t">
            <a:noAutofit/>
          </a:bodyPr>
          <a:lstStyle>
            <a:defPPr algn="l">
              <a:defRPr sz="1725" b="0">
                <a:solidFill>
                  <a:srgbClr val="202124"/>
                </a:solidFill>
                <a:latin typeface="Arial"/>
                <a:ea typeface="Arial"/>
                <a:cs typeface="Arial"/>
              </a:defRPr>
            </a:defPPr>
            <a:lvl1pPr algn="l">
              <a:buNone/>
              <a:defRPr sz="1725" b="0">
                <a:solidFill>
                  <a:srgbClr val="202124"/>
                </a:solidFill>
                <a:latin typeface="Arial"/>
                <a:ea typeface="Arial"/>
                <a:cs typeface="Arial"/>
              </a:defRPr>
            </a:lvl1pPr>
            <a:lvl2pPr algn="l">
              <a:buNone/>
              <a:defRPr sz="1725" b="0">
                <a:solidFill>
                  <a:srgbClr val="202124"/>
                </a:solidFill>
                <a:latin typeface="Arial"/>
                <a:ea typeface="Arial"/>
                <a:cs typeface="Arial"/>
              </a:defRPr>
            </a:lvl2pPr>
            <a:lvl3pPr algn="l">
              <a:buNone/>
              <a:defRPr sz="1725" b="0">
                <a:solidFill>
                  <a:srgbClr val="202124"/>
                </a:solidFill>
                <a:latin typeface="Arial"/>
                <a:ea typeface="Arial"/>
                <a:cs typeface="Arial"/>
              </a:defRPr>
            </a:lvl3pPr>
            <a:lvl4pPr algn="l">
              <a:buNone/>
              <a:defRPr sz="1725" b="0">
                <a:solidFill>
                  <a:srgbClr val="202124"/>
                </a:solidFill>
                <a:latin typeface="Arial"/>
                <a:ea typeface="Arial"/>
                <a:cs typeface="Arial"/>
              </a:defRPr>
            </a:lvl4pPr>
            <a:lvl5pPr algn="l">
              <a:buNone/>
              <a:defRPr sz="1725" b="0">
                <a:solidFill>
                  <a:srgbClr val="202124"/>
                </a:solidFill>
                <a:latin typeface="Arial"/>
                <a:ea typeface="Arial"/>
                <a:cs typeface="Arial"/>
              </a:defRPr>
            </a:lvl5pPr>
            <a:lvl6pPr algn="l">
              <a:buNone/>
              <a:defRPr sz="1725" b="0">
                <a:solidFill>
                  <a:srgbClr val="202124"/>
                </a:solidFill>
                <a:latin typeface="Arial"/>
                <a:ea typeface="Arial"/>
                <a:cs typeface="Arial"/>
              </a:defRPr>
            </a:lvl6pPr>
            <a:lvl7pPr algn="l">
              <a:buNone/>
              <a:defRPr sz="1725" b="0">
                <a:solidFill>
                  <a:srgbClr val="202124"/>
                </a:solidFill>
                <a:latin typeface="Arial"/>
                <a:ea typeface="Arial"/>
                <a:cs typeface="Arial"/>
              </a:defRPr>
            </a:lvl7pPr>
            <a:lvl8pPr algn="l">
              <a:buNone/>
              <a:defRPr sz="1725" b="0">
                <a:solidFill>
                  <a:srgbClr val="202124"/>
                </a:solidFill>
                <a:latin typeface="Arial"/>
                <a:ea typeface="Arial"/>
                <a:cs typeface="Arial"/>
              </a:defRPr>
            </a:lvl8pPr>
            <a:lvl9pPr algn="l">
              <a:buNone/>
              <a:defRPr sz="1725" b="0">
                <a:solidFill>
                  <a:srgbClr val="202124"/>
                </a:solidFill>
                <a:latin typeface="Arial"/>
                <a:ea typeface="Arial"/>
                <a:cs typeface="Arial"/>
              </a:defRPr>
            </a:lvl9pPr>
          </a:lstStyle>
          <a:p>
            <a:pPr algn="l">
              <a:buNone/>
              <a:defRPr sz="1725" b="0">
                <a:solidFill>
                  <a:srgbClr val="202124"/>
                </a:solidFill>
                <a:latin typeface="Arial"/>
                <a:ea typeface="Arial"/>
                <a:cs typeface="Arial"/>
              </a:defRPr>
            </a:pPr>
            <a:r>
              <a:rPr sz="1725" b="0">
                <a:solidFill>
                  <a:srgbClr val="202124"/>
                </a:solidFill>
                <a:latin typeface="Arial"/>
                <a:ea typeface="Arial"/>
                <a:cs typeface="Arial"/>
              </a:rPr>
              <a:t>Kumar et al., RSS 2021</a:t>
            </a:r>
          </a:p>
          <a:p>
            <a:pPr algn="l">
              <a:buNone/>
              <a:defRPr sz="1725" b="0">
                <a:solidFill>
                  <a:srgbClr val="202124"/>
                </a:solidFill>
                <a:latin typeface="Arial"/>
                <a:ea typeface="Arial"/>
                <a:cs typeface="Arial"/>
              </a:defRPr>
            </a:pPr>
            <a:r>
              <a:rPr sz="1725" b="0">
                <a:solidFill>
                  <a:srgbClr val="202124"/>
                </a:solidFill>
                <a:latin typeface="Arial"/>
                <a:ea typeface="Arial"/>
                <a:cs typeface="Arial"/>
              </a:rPr>
              <a:t>Rapid Motor Adaptation</a:t>
            </a:r>
          </a:p>
        </p:txBody>
      </p:sp>
      <p:sp>
        <p:nvSpPr>
          <p:cNvPr id="19" name="project">
            <a:extLst>
              <a:ext uri="{FF2B5EF4-FFF2-40B4-BE49-F238E27FC236}">
                <a16:creationId xmlns:a16="http://schemas.microsoft.com/office/drawing/2014/main" id="{B60074FB-C279-4790-B147-BD34125B4C98}"/>
              </a:ext>
            </a:extLst>
          </p:cNvPr>
          <p:cNvSpPr>
            <a:spLocks noGrp="1"/>
          </p:cNvSpPr>
          <p:nvPr/>
        </p:nvSpPr>
        <p:spPr>
          <a:xfrm>
            <a:off x="9239250" y="1476375"/>
            <a:ext cx="5086350" cy="400050"/>
          </a:xfrm>
          <a:prstGeom prst="rect">
            <a:avLst/>
          </a:prstGeom>
          <a:noFill/>
          <a:ln w="0">
            <a:noFill/>
          </a:ln>
        </p:spPr>
        <p:txBody>
          <a:bodyPr wrap="square" lIns="0" tIns="0" rIns="0" bIns="0" anchor="t">
            <a:noAutofit/>
          </a:bodyPr>
          <a:lstStyle>
            <a:defPPr algn="l">
              <a:defRPr sz="1875" b="1">
                <a:solidFill>
                  <a:srgbClr val="202124"/>
                </a:solidFill>
                <a:latin typeface="Arial"/>
                <a:ea typeface="Arial"/>
                <a:cs typeface="Arial"/>
              </a:defRPr>
            </a:defPPr>
            <a:lvl1pPr algn="l">
              <a:defRPr sz="1875" b="1">
                <a:solidFill>
                  <a:srgbClr val="202124"/>
                </a:solidFill>
                <a:latin typeface="Arial"/>
                <a:ea typeface="Arial"/>
                <a:cs typeface="Arial"/>
              </a:defRPr>
            </a:lvl1pPr>
            <a:lvl2pPr algn="l">
              <a:defRPr sz="1875" b="1">
                <a:solidFill>
                  <a:srgbClr val="202124"/>
                </a:solidFill>
                <a:latin typeface="Arial"/>
                <a:ea typeface="Arial"/>
                <a:cs typeface="Arial"/>
              </a:defRPr>
            </a:lvl2pPr>
            <a:lvl3pPr algn="l">
              <a:defRPr sz="1875" b="1">
                <a:solidFill>
                  <a:srgbClr val="202124"/>
                </a:solidFill>
                <a:latin typeface="Arial"/>
                <a:ea typeface="Arial"/>
                <a:cs typeface="Arial"/>
              </a:defRPr>
            </a:lvl3pPr>
            <a:lvl4pPr algn="l">
              <a:defRPr sz="1875" b="1">
                <a:solidFill>
                  <a:srgbClr val="202124"/>
                </a:solidFill>
                <a:latin typeface="Arial"/>
                <a:ea typeface="Arial"/>
                <a:cs typeface="Arial"/>
              </a:defRPr>
            </a:lvl4pPr>
            <a:lvl5pPr algn="l">
              <a:defRPr sz="1875" b="1">
                <a:solidFill>
                  <a:srgbClr val="202124"/>
                </a:solidFill>
                <a:latin typeface="Arial"/>
                <a:ea typeface="Arial"/>
                <a:cs typeface="Arial"/>
              </a:defRPr>
            </a:lvl5pPr>
            <a:lvl6pPr algn="l">
              <a:defRPr sz="1875" b="1">
                <a:solidFill>
                  <a:srgbClr val="202124"/>
                </a:solidFill>
                <a:latin typeface="Arial"/>
                <a:ea typeface="Arial"/>
                <a:cs typeface="Arial"/>
              </a:defRPr>
            </a:lvl6pPr>
            <a:lvl7pPr algn="l">
              <a:defRPr sz="1875" b="1">
                <a:solidFill>
                  <a:srgbClr val="202124"/>
                </a:solidFill>
                <a:latin typeface="Arial"/>
                <a:ea typeface="Arial"/>
                <a:cs typeface="Arial"/>
              </a:defRPr>
            </a:lvl7pPr>
            <a:lvl8pPr algn="l">
              <a:defRPr sz="1875" b="1">
                <a:solidFill>
                  <a:srgbClr val="202124"/>
                </a:solidFill>
                <a:latin typeface="Arial"/>
                <a:ea typeface="Arial"/>
                <a:cs typeface="Arial"/>
              </a:defRPr>
            </a:lvl8pPr>
            <a:lvl9pPr algn="l">
              <a:defRPr sz="1875" b="1">
                <a:solidFill>
                  <a:srgbClr val="202124"/>
                </a:solidFill>
                <a:latin typeface="Arial"/>
                <a:ea typeface="Arial"/>
                <a:cs typeface="Arial"/>
              </a:defRPr>
            </a:lvl9pPr>
          </a:lstStyle>
          <a:p>
            <a:pPr algn="l">
              <a:defRPr sz="1875" b="1">
                <a:solidFill>
                  <a:srgbClr val="202124"/>
                </a:solidFill>
                <a:latin typeface="Arial"/>
                <a:ea typeface="Arial"/>
                <a:cs typeface="Arial"/>
              </a:defRPr>
            </a:pPr>
            <a:r>
              <a:rPr sz="1875" b="1">
                <a:solidFill>
                  <a:srgbClr val="202124"/>
                </a:solidFill>
                <a:latin typeface="Arial"/>
                <a:ea typeface="Arial"/>
                <a:cs typeface="Arial"/>
              </a:rPr>
              <a:t>Project evidence and plan</a:t>
            </a:r>
          </a:p>
        </p:txBody>
      </p:sp>
      <p:sp>
        <p:nvSpPr>
          <p:cNvPr id="20" name="evidence-id-0">
            <a:extLst>
              <a:ext uri="{FF2B5EF4-FFF2-40B4-BE49-F238E27FC236}">
                <a16:creationId xmlns:a16="http://schemas.microsoft.com/office/drawing/2014/main" id="{7C638028-CA9A-49B9-8577-7605F99AE886}"/>
              </a:ext>
            </a:extLst>
          </p:cNvPr>
          <p:cNvSpPr>
            <a:spLocks noGrp="1"/>
          </p:cNvSpPr>
          <p:nvPr/>
        </p:nvSpPr>
        <p:spPr>
          <a:xfrm>
            <a:off x="9239250" y="2114550"/>
            <a:ext cx="762000" cy="523875"/>
          </a:xfrm>
          <a:prstGeom prst="rect">
            <a:avLst/>
          </a:prstGeom>
          <a:noFill/>
          <a:ln w="0">
            <a:noFill/>
          </a:ln>
        </p:spPr>
        <p:txBody>
          <a:bodyPr wrap="square" lIns="0" tIns="0" rIns="0" bIns="0" anchor="t">
            <a:noAutofit/>
          </a:bodyPr>
          <a:lstStyle>
            <a:defPPr algn="l">
              <a:defRPr sz="1725" b="0">
                <a:solidFill>
                  <a:srgbClr val="202124"/>
                </a:solidFill>
                <a:latin typeface="Arial"/>
                <a:ea typeface="Arial"/>
                <a:cs typeface="Arial"/>
              </a:defRPr>
            </a:defPPr>
            <a:lvl1pPr algn="l">
              <a:defRPr sz="1725" b="0">
                <a:solidFill>
                  <a:srgbClr val="202124"/>
                </a:solidFill>
                <a:latin typeface="Arial"/>
                <a:ea typeface="Arial"/>
                <a:cs typeface="Arial"/>
              </a:defRPr>
            </a:lvl1pPr>
            <a:lvl2pPr algn="l">
              <a:defRPr sz="1725" b="0">
                <a:solidFill>
                  <a:srgbClr val="202124"/>
                </a:solidFill>
                <a:latin typeface="Arial"/>
                <a:ea typeface="Arial"/>
                <a:cs typeface="Arial"/>
              </a:defRPr>
            </a:lvl2pPr>
            <a:lvl3pPr algn="l">
              <a:defRPr sz="1725" b="0">
                <a:solidFill>
                  <a:srgbClr val="202124"/>
                </a:solidFill>
                <a:latin typeface="Arial"/>
                <a:ea typeface="Arial"/>
                <a:cs typeface="Arial"/>
              </a:defRPr>
            </a:lvl3pPr>
            <a:lvl4pPr algn="l">
              <a:defRPr sz="1725" b="0">
                <a:solidFill>
                  <a:srgbClr val="202124"/>
                </a:solidFill>
                <a:latin typeface="Arial"/>
                <a:ea typeface="Arial"/>
                <a:cs typeface="Arial"/>
              </a:defRPr>
            </a:lvl4pPr>
            <a:lvl5pPr algn="l">
              <a:defRPr sz="1725" b="0">
                <a:solidFill>
                  <a:srgbClr val="202124"/>
                </a:solidFill>
                <a:latin typeface="Arial"/>
                <a:ea typeface="Arial"/>
                <a:cs typeface="Arial"/>
              </a:defRPr>
            </a:lvl5pPr>
            <a:lvl6pPr algn="l">
              <a:defRPr sz="1725" b="0">
                <a:solidFill>
                  <a:srgbClr val="202124"/>
                </a:solidFill>
                <a:latin typeface="Arial"/>
                <a:ea typeface="Arial"/>
                <a:cs typeface="Arial"/>
              </a:defRPr>
            </a:lvl6pPr>
            <a:lvl7pPr algn="l">
              <a:defRPr sz="1725" b="0">
                <a:solidFill>
                  <a:srgbClr val="202124"/>
                </a:solidFill>
                <a:latin typeface="Arial"/>
                <a:ea typeface="Arial"/>
                <a:cs typeface="Arial"/>
              </a:defRPr>
            </a:lvl7pPr>
            <a:lvl8pPr algn="l">
              <a:defRPr sz="1725" b="0">
                <a:solidFill>
                  <a:srgbClr val="202124"/>
                </a:solidFill>
                <a:latin typeface="Arial"/>
                <a:ea typeface="Arial"/>
                <a:cs typeface="Arial"/>
              </a:defRPr>
            </a:lvl8pPr>
            <a:lvl9pPr algn="l">
              <a:defRPr sz="1725" b="0">
                <a:solidFill>
                  <a:srgbClr val="202124"/>
                </a:solidFill>
                <a:latin typeface="Arial"/>
                <a:ea typeface="Arial"/>
                <a:cs typeface="Arial"/>
              </a:defRPr>
            </a:lvl9pPr>
          </a:lstStyle>
          <a:p>
            <a:pPr algn="l">
              <a:defRPr sz="1725" b="0">
                <a:solidFill>
                  <a:srgbClr val="202124"/>
                </a:solidFill>
                <a:latin typeface="Arial"/>
                <a:ea typeface="Arial"/>
                <a:cs typeface="Arial"/>
              </a:defRPr>
            </a:pPr>
            <a:r>
              <a:rPr sz="1725" b="0">
                <a:solidFill>
                  <a:srgbClr val="202124"/>
                </a:solidFill>
                <a:latin typeface="Arial"/>
                <a:ea typeface="Arial"/>
                <a:cs typeface="Arial"/>
              </a:rPr>
              <a:t>[E1]</a:t>
            </a:r>
          </a:p>
        </p:txBody>
      </p:sp>
      <p:sp>
        <p:nvSpPr>
          <p:cNvPr id="21" name="evidence-body-0">
            <a:extLst>
              <a:ext uri="{FF2B5EF4-FFF2-40B4-BE49-F238E27FC236}">
                <a16:creationId xmlns:a16="http://schemas.microsoft.com/office/drawing/2014/main" id="{FEE8ED29-A04A-492C-A911-48AE0F524EA3}"/>
              </a:ext>
            </a:extLst>
          </p:cNvPr>
          <p:cNvSpPr>
            <a:spLocks noGrp="1"/>
          </p:cNvSpPr>
          <p:nvPr/>
        </p:nvSpPr>
        <p:spPr>
          <a:xfrm>
            <a:off x="10096500" y="2114550"/>
            <a:ext cx="4229100" cy="952500"/>
          </a:xfrm>
          <a:prstGeom prst="rect">
            <a:avLst/>
          </a:prstGeom>
          <a:noFill/>
          <a:ln w="0">
            <a:noFill/>
          </a:ln>
        </p:spPr>
        <p:txBody>
          <a:bodyPr wrap="square" lIns="0" tIns="0" rIns="0" bIns="0" anchor="t">
            <a:noAutofit/>
          </a:bodyPr>
          <a:lstStyle>
            <a:defPPr algn="l">
              <a:defRPr sz="1725" b="0">
                <a:solidFill>
                  <a:srgbClr val="202124"/>
                </a:solidFill>
                <a:latin typeface="Arial"/>
                <a:ea typeface="Arial"/>
                <a:cs typeface="Arial"/>
              </a:defRPr>
            </a:defPPr>
            <a:lvl1pPr algn="l">
              <a:defRPr sz="1725" b="0">
                <a:solidFill>
                  <a:srgbClr val="202124"/>
                </a:solidFill>
                <a:latin typeface="Arial"/>
                <a:ea typeface="Arial"/>
                <a:cs typeface="Arial"/>
              </a:defRPr>
            </a:lvl1pPr>
            <a:lvl2pPr algn="l">
              <a:defRPr sz="1725" b="0">
                <a:solidFill>
                  <a:srgbClr val="202124"/>
                </a:solidFill>
                <a:latin typeface="Arial"/>
                <a:ea typeface="Arial"/>
                <a:cs typeface="Arial"/>
              </a:defRPr>
            </a:lvl2pPr>
            <a:lvl3pPr algn="l">
              <a:defRPr sz="1725" b="0">
                <a:solidFill>
                  <a:srgbClr val="202124"/>
                </a:solidFill>
                <a:latin typeface="Arial"/>
                <a:ea typeface="Arial"/>
                <a:cs typeface="Arial"/>
              </a:defRPr>
            </a:lvl3pPr>
            <a:lvl4pPr algn="l">
              <a:defRPr sz="1725" b="0">
                <a:solidFill>
                  <a:srgbClr val="202124"/>
                </a:solidFill>
                <a:latin typeface="Arial"/>
                <a:ea typeface="Arial"/>
                <a:cs typeface="Arial"/>
              </a:defRPr>
            </a:lvl4pPr>
            <a:lvl5pPr algn="l">
              <a:defRPr sz="1725" b="0">
                <a:solidFill>
                  <a:srgbClr val="202124"/>
                </a:solidFill>
                <a:latin typeface="Arial"/>
                <a:ea typeface="Arial"/>
                <a:cs typeface="Arial"/>
              </a:defRPr>
            </a:lvl5pPr>
            <a:lvl6pPr algn="l">
              <a:defRPr sz="1725" b="0">
                <a:solidFill>
                  <a:srgbClr val="202124"/>
                </a:solidFill>
                <a:latin typeface="Arial"/>
                <a:ea typeface="Arial"/>
                <a:cs typeface="Arial"/>
              </a:defRPr>
            </a:lvl6pPr>
            <a:lvl7pPr algn="l">
              <a:defRPr sz="1725" b="0">
                <a:solidFill>
                  <a:srgbClr val="202124"/>
                </a:solidFill>
                <a:latin typeface="Arial"/>
                <a:ea typeface="Arial"/>
                <a:cs typeface="Arial"/>
              </a:defRPr>
            </a:lvl7pPr>
            <a:lvl8pPr algn="l">
              <a:defRPr sz="1725" b="0">
                <a:solidFill>
                  <a:srgbClr val="202124"/>
                </a:solidFill>
                <a:latin typeface="Arial"/>
                <a:ea typeface="Arial"/>
                <a:cs typeface="Arial"/>
              </a:defRPr>
            </a:lvl8pPr>
            <a:lvl9pPr algn="l">
              <a:defRPr sz="1725" b="0">
                <a:solidFill>
                  <a:srgbClr val="202124"/>
                </a:solidFill>
                <a:latin typeface="Arial"/>
                <a:ea typeface="Arial"/>
                <a:cs typeface="Arial"/>
              </a:defRPr>
            </a:lvl9pPr>
          </a:lstStyle>
          <a:p>
            <a:pPr algn="l">
              <a:defRPr sz="1725" b="0">
                <a:solidFill>
                  <a:srgbClr val="202124"/>
                </a:solidFill>
                <a:latin typeface="Arial"/>
                <a:ea typeface="Arial"/>
                <a:cs typeface="Arial"/>
              </a:defRPr>
            </a:pPr>
            <a:r>
              <a:rPr sz="1725" b="0">
                <a:solidFill>
                  <a:srgbClr val="202124"/>
                </a:solidFill>
                <a:latin typeface="Arial"/>
                <a:ea typeface="Arial"/>
                <a:cs typeface="Arial"/>
              </a:rPr>
              <a:t>Matched histories</a:t>
            </a:r>
          </a:p>
          <a:p>
            <a:pPr algn="l">
              <a:defRPr sz="1725" b="0">
                <a:solidFill>
                  <a:srgbClr val="202124"/>
                </a:solidFill>
                <a:latin typeface="Arial"/>
                <a:ea typeface="Arial"/>
                <a:cs typeface="Arial"/>
              </a:defRPr>
            </a:pPr>
            <a:r>
              <a:rPr sz="1725" b="0">
                <a:solidFill>
                  <a:srgbClr val="202124"/>
                </a:solidFill>
                <a:latin typeface="Arial"/>
                <a:ea typeface="Arial"/>
                <a:cs typeface="Arial"/>
              </a:rPr>
              <a:t>and state inference</a:t>
            </a:r>
          </a:p>
        </p:txBody>
      </p:sp>
      <p:sp>
        <p:nvSpPr>
          <p:cNvPr id="22" name="evidence-id-1">
            <a:extLst>
              <a:ext uri="{FF2B5EF4-FFF2-40B4-BE49-F238E27FC236}">
                <a16:creationId xmlns:a16="http://schemas.microsoft.com/office/drawing/2014/main" id="{6A8D3922-EEDC-496E-BAD2-10840047C35A}"/>
              </a:ext>
            </a:extLst>
          </p:cNvPr>
          <p:cNvSpPr>
            <a:spLocks noGrp="1"/>
          </p:cNvSpPr>
          <p:nvPr/>
        </p:nvSpPr>
        <p:spPr>
          <a:xfrm>
            <a:off x="9239250" y="3400425"/>
            <a:ext cx="762000" cy="523875"/>
          </a:xfrm>
          <a:prstGeom prst="rect">
            <a:avLst/>
          </a:prstGeom>
          <a:noFill/>
          <a:ln w="0">
            <a:noFill/>
          </a:ln>
        </p:spPr>
        <p:txBody>
          <a:bodyPr wrap="square" lIns="0" tIns="0" rIns="0" bIns="0" anchor="t">
            <a:noAutofit/>
          </a:bodyPr>
          <a:lstStyle>
            <a:defPPr algn="l">
              <a:defRPr sz="1725" b="0">
                <a:solidFill>
                  <a:srgbClr val="202124"/>
                </a:solidFill>
                <a:latin typeface="Arial"/>
                <a:ea typeface="Arial"/>
                <a:cs typeface="Arial"/>
              </a:defRPr>
            </a:defPPr>
            <a:lvl1pPr algn="l">
              <a:defRPr sz="1725" b="0">
                <a:solidFill>
                  <a:srgbClr val="202124"/>
                </a:solidFill>
                <a:latin typeface="Arial"/>
                <a:ea typeface="Arial"/>
                <a:cs typeface="Arial"/>
              </a:defRPr>
            </a:lvl1pPr>
            <a:lvl2pPr algn="l">
              <a:defRPr sz="1725" b="0">
                <a:solidFill>
                  <a:srgbClr val="202124"/>
                </a:solidFill>
                <a:latin typeface="Arial"/>
                <a:ea typeface="Arial"/>
                <a:cs typeface="Arial"/>
              </a:defRPr>
            </a:lvl2pPr>
            <a:lvl3pPr algn="l">
              <a:defRPr sz="1725" b="0">
                <a:solidFill>
                  <a:srgbClr val="202124"/>
                </a:solidFill>
                <a:latin typeface="Arial"/>
                <a:ea typeface="Arial"/>
                <a:cs typeface="Arial"/>
              </a:defRPr>
            </a:lvl3pPr>
            <a:lvl4pPr algn="l">
              <a:defRPr sz="1725" b="0">
                <a:solidFill>
                  <a:srgbClr val="202124"/>
                </a:solidFill>
                <a:latin typeface="Arial"/>
                <a:ea typeface="Arial"/>
                <a:cs typeface="Arial"/>
              </a:defRPr>
            </a:lvl4pPr>
            <a:lvl5pPr algn="l">
              <a:defRPr sz="1725" b="0">
                <a:solidFill>
                  <a:srgbClr val="202124"/>
                </a:solidFill>
                <a:latin typeface="Arial"/>
                <a:ea typeface="Arial"/>
                <a:cs typeface="Arial"/>
              </a:defRPr>
            </a:lvl5pPr>
            <a:lvl6pPr algn="l">
              <a:defRPr sz="1725" b="0">
                <a:solidFill>
                  <a:srgbClr val="202124"/>
                </a:solidFill>
                <a:latin typeface="Arial"/>
                <a:ea typeface="Arial"/>
                <a:cs typeface="Arial"/>
              </a:defRPr>
            </a:lvl6pPr>
            <a:lvl7pPr algn="l">
              <a:defRPr sz="1725" b="0">
                <a:solidFill>
                  <a:srgbClr val="202124"/>
                </a:solidFill>
                <a:latin typeface="Arial"/>
                <a:ea typeface="Arial"/>
                <a:cs typeface="Arial"/>
              </a:defRPr>
            </a:lvl7pPr>
            <a:lvl8pPr algn="l">
              <a:defRPr sz="1725" b="0">
                <a:solidFill>
                  <a:srgbClr val="202124"/>
                </a:solidFill>
                <a:latin typeface="Arial"/>
                <a:ea typeface="Arial"/>
                <a:cs typeface="Arial"/>
              </a:defRPr>
            </a:lvl8pPr>
            <a:lvl9pPr algn="l">
              <a:defRPr sz="1725" b="0">
                <a:solidFill>
                  <a:srgbClr val="202124"/>
                </a:solidFill>
                <a:latin typeface="Arial"/>
                <a:ea typeface="Arial"/>
                <a:cs typeface="Arial"/>
              </a:defRPr>
            </a:lvl9pPr>
          </a:lstStyle>
          <a:p>
            <a:pPr algn="l">
              <a:defRPr sz="1725" b="0">
                <a:solidFill>
                  <a:srgbClr val="202124"/>
                </a:solidFill>
                <a:latin typeface="Arial"/>
                <a:ea typeface="Arial"/>
                <a:cs typeface="Arial"/>
              </a:defRPr>
            </a:pPr>
            <a:r>
              <a:rPr sz="1725" b="0">
                <a:solidFill>
                  <a:srgbClr val="202124"/>
                </a:solidFill>
                <a:latin typeface="Arial"/>
                <a:ea typeface="Arial"/>
                <a:cs typeface="Arial"/>
              </a:rPr>
              <a:t>[E2]</a:t>
            </a:r>
          </a:p>
        </p:txBody>
      </p:sp>
      <p:sp>
        <p:nvSpPr>
          <p:cNvPr id="23" name="evidence-body-1">
            <a:extLst>
              <a:ext uri="{FF2B5EF4-FFF2-40B4-BE49-F238E27FC236}">
                <a16:creationId xmlns:a16="http://schemas.microsoft.com/office/drawing/2014/main" id="{875F99BB-47A8-44D9-B385-7FE5F8C13609}"/>
              </a:ext>
            </a:extLst>
          </p:cNvPr>
          <p:cNvSpPr>
            <a:spLocks noGrp="1"/>
          </p:cNvSpPr>
          <p:nvPr/>
        </p:nvSpPr>
        <p:spPr>
          <a:xfrm>
            <a:off x="10096500" y="3400425"/>
            <a:ext cx="4229100" cy="952500"/>
          </a:xfrm>
          <a:prstGeom prst="rect">
            <a:avLst/>
          </a:prstGeom>
          <a:noFill/>
          <a:ln w="0">
            <a:noFill/>
          </a:ln>
        </p:spPr>
        <p:txBody>
          <a:bodyPr wrap="square" lIns="0" tIns="0" rIns="0" bIns="0" anchor="t">
            <a:noAutofit/>
          </a:bodyPr>
          <a:lstStyle>
            <a:defPPr algn="l">
              <a:defRPr sz="1725" b="0">
                <a:solidFill>
                  <a:srgbClr val="202124"/>
                </a:solidFill>
                <a:latin typeface="Arial"/>
                <a:ea typeface="Arial"/>
                <a:cs typeface="Arial"/>
              </a:defRPr>
            </a:defPPr>
            <a:lvl1pPr algn="l">
              <a:defRPr sz="1725" b="0">
                <a:solidFill>
                  <a:srgbClr val="202124"/>
                </a:solidFill>
                <a:latin typeface="Arial"/>
                <a:ea typeface="Arial"/>
                <a:cs typeface="Arial"/>
              </a:defRPr>
            </a:lvl1pPr>
            <a:lvl2pPr algn="l">
              <a:defRPr sz="1725" b="0">
                <a:solidFill>
                  <a:srgbClr val="202124"/>
                </a:solidFill>
                <a:latin typeface="Arial"/>
                <a:ea typeface="Arial"/>
                <a:cs typeface="Arial"/>
              </a:defRPr>
            </a:lvl2pPr>
            <a:lvl3pPr algn="l">
              <a:defRPr sz="1725" b="0">
                <a:solidFill>
                  <a:srgbClr val="202124"/>
                </a:solidFill>
                <a:latin typeface="Arial"/>
                <a:ea typeface="Arial"/>
                <a:cs typeface="Arial"/>
              </a:defRPr>
            </a:lvl3pPr>
            <a:lvl4pPr algn="l">
              <a:defRPr sz="1725" b="0">
                <a:solidFill>
                  <a:srgbClr val="202124"/>
                </a:solidFill>
                <a:latin typeface="Arial"/>
                <a:ea typeface="Arial"/>
                <a:cs typeface="Arial"/>
              </a:defRPr>
            </a:lvl4pPr>
            <a:lvl5pPr algn="l">
              <a:defRPr sz="1725" b="0">
                <a:solidFill>
                  <a:srgbClr val="202124"/>
                </a:solidFill>
                <a:latin typeface="Arial"/>
                <a:ea typeface="Arial"/>
                <a:cs typeface="Arial"/>
              </a:defRPr>
            </a:lvl5pPr>
            <a:lvl6pPr algn="l">
              <a:defRPr sz="1725" b="0">
                <a:solidFill>
                  <a:srgbClr val="202124"/>
                </a:solidFill>
                <a:latin typeface="Arial"/>
                <a:ea typeface="Arial"/>
                <a:cs typeface="Arial"/>
              </a:defRPr>
            </a:lvl6pPr>
            <a:lvl7pPr algn="l">
              <a:defRPr sz="1725" b="0">
                <a:solidFill>
                  <a:srgbClr val="202124"/>
                </a:solidFill>
                <a:latin typeface="Arial"/>
                <a:ea typeface="Arial"/>
                <a:cs typeface="Arial"/>
              </a:defRPr>
            </a:lvl7pPr>
            <a:lvl8pPr algn="l">
              <a:defRPr sz="1725" b="0">
                <a:solidFill>
                  <a:srgbClr val="202124"/>
                </a:solidFill>
                <a:latin typeface="Arial"/>
                <a:ea typeface="Arial"/>
                <a:cs typeface="Arial"/>
              </a:defRPr>
            </a:lvl8pPr>
            <a:lvl9pPr algn="l">
              <a:defRPr sz="1725" b="0">
                <a:solidFill>
                  <a:srgbClr val="202124"/>
                </a:solidFill>
                <a:latin typeface="Arial"/>
                <a:ea typeface="Arial"/>
                <a:cs typeface="Arial"/>
              </a:defRPr>
            </a:lvl9pPr>
          </a:lstStyle>
          <a:p>
            <a:pPr algn="l">
              <a:defRPr sz="1725" b="0">
                <a:solidFill>
                  <a:srgbClr val="202124"/>
                </a:solidFill>
                <a:latin typeface="Arial"/>
                <a:ea typeface="Arial"/>
                <a:cs typeface="Arial"/>
              </a:defRPr>
            </a:pPr>
            <a:r>
              <a:rPr sz="1725" b="0">
                <a:solidFill>
                  <a:srgbClr val="202124"/>
                </a:solidFill>
                <a:latin typeface="Arial"/>
                <a:ea typeface="Arial"/>
                <a:cs typeface="Arial"/>
              </a:rPr>
              <a:t>Prediction across</a:t>
            </a:r>
          </a:p>
          <a:p>
            <a:pPr algn="l">
              <a:defRPr sz="1725" b="0">
                <a:solidFill>
                  <a:srgbClr val="202124"/>
                </a:solidFill>
                <a:latin typeface="Arial"/>
                <a:ea typeface="Arial"/>
                <a:cs typeface="Arial"/>
              </a:defRPr>
            </a:pPr>
            <a:r>
              <a:rPr sz="1725" b="0">
                <a:solidFill>
                  <a:srgbClr val="202124"/>
                </a:solidFill>
                <a:latin typeface="Arial"/>
                <a:ea typeface="Arial"/>
                <a:cs typeface="Arial"/>
              </a:rPr>
              <a:t>future controllers</a:t>
            </a:r>
          </a:p>
        </p:txBody>
      </p:sp>
      <p:sp>
        <p:nvSpPr>
          <p:cNvPr id="24" name="evidence-id-2">
            <a:extLst>
              <a:ext uri="{FF2B5EF4-FFF2-40B4-BE49-F238E27FC236}">
                <a16:creationId xmlns:a16="http://schemas.microsoft.com/office/drawing/2014/main" id="{A6BB5D21-27D7-498A-9F8C-295CCF1EF8C7}"/>
              </a:ext>
            </a:extLst>
          </p:cNvPr>
          <p:cNvSpPr>
            <a:spLocks noGrp="1"/>
          </p:cNvSpPr>
          <p:nvPr/>
        </p:nvSpPr>
        <p:spPr>
          <a:xfrm>
            <a:off x="9239250" y="4686300"/>
            <a:ext cx="762000" cy="523875"/>
          </a:xfrm>
          <a:prstGeom prst="rect">
            <a:avLst/>
          </a:prstGeom>
          <a:noFill/>
          <a:ln w="0">
            <a:noFill/>
          </a:ln>
        </p:spPr>
        <p:txBody>
          <a:bodyPr wrap="square" lIns="0" tIns="0" rIns="0" bIns="0" anchor="t">
            <a:noAutofit/>
          </a:bodyPr>
          <a:lstStyle>
            <a:defPPr algn="l">
              <a:defRPr sz="1725" b="0">
                <a:solidFill>
                  <a:srgbClr val="202124"/>
                </a:solidFill>
                <a:latin typeface="Arial"/>
                <a:ea typeface="Arial"/>
                <a:cs typeface="Arial"/>
              </a:defRPr>
            </a:defPPr>
            <a:lvl1pPr algn="l">
              <a:defRPr sz="1725" b="0">
                <a:solidFill>
                  <a:srgbClr val="202124"/>
                </a:solidFill>
                <a:latin typeface="Arial"/>
                <a:ea typeface="Arial"/>
                <a:cs typeface="Arial"/>
              </a:defRPr>
            </a:lvl1pPr>
            <a:lvl2pPr algn="l">
              <a:defRPr sz="1725" b="0">
                <a:solidFill>
                  <a:srgbClr val="202124"/>
                </a:solidFill>
                <a:latin typeface="Arial"/>
                <a:ea typeface="Arial"/>
                <a:cs typeface="Arial"/>
              </a:defRPr>
            </a:lvl2pPr>
            <a:lvl3pPr algn="l">
              <a:defRPr sz="1725" b="0">
                <a:solidFill>
                  <a:srgbClr val="202124"/>
                </a:solidFill>
                <a:latin typeface="Arial"/>
                <a:ea typeface="Arial"/>
                <a:cs typeface="Arial"/>
              </a:defRPr>
            </a:lvl3pPr>
            <a:lvl4pPr algn="l">
              <a:defRPr sz="1725" b="0">
                <a:solidFill>
                  <a:srgbClr val="202124"/>
                </a:solidFill>
                <a:latin typeface="Arial"/>
                <a:ea typeface="Arial"/>
                <a:cs typeface="Arial"/>
              </a:defRPr>
            </a:lvl4pPr>
            <a:lvl5pPr algn="l">
              <a:defRPr sz="1725" b="0">
                <a:solidFill>
                  <a:srgbClr val="202124"/>
                </a:solidFill>
                <a:latin typeface="Arial"/>
                <a:ea typeface="Arial"/>
                <a:cs typeface="Arial"/>
              </a:defRPr>
            </a:lvl5pPr>
            <a:lvl6pPr algn="l">
              <a:defRPr sz="1725" b="0">
                <a:solidFill>
                  <a:srgbClr val="202124"/>
                </a:solidFill>
                <a:latin typeface="Arial"/>
                <a:ea typeface="Arial"/>
                <a:cs typeface="Arial"/>
              </a:defRPr>
            </a:lvl6pPr>
            <a:lvl7pPr algn="l">
              <a:defRPr sz="1725" b="0">
                <a:solidFill>
                  <a:srgbClr val="202124"/>
                </a:solidFill>
                <a:latin typeface="Arial"/>
                <a:ea typeface="Arial"/>
                <a:cs typeface="Arial"/>
              </a:defRPr>
            </a:lvl7pPr>
            <a:lvl8pPr algn="l">
              <a:defRPr sz="1725" b="0">
                <a:solidFill>
                  <a:srgbClr val="202124"/>
                </a:solidFill>
                <a:latin typeface="Arial"/>
                <a:ea typeface="Arial"/>
                <a:cs typeface="Arial"/>
              </a:defRPr>
            </a:lvl8pPr>
            <a:lvl9pPr algn="l">
              <a:defRPr sz="1725" b="0">
                <a:solidFill>
                  <a:srgbClr val="202124"/>
                </a:solidFill>
                <a:latin typeface="Arial"/>
                <a:ea typeface="Arial"/>
                <a:cs typeface="Arial"/>
              </a:defRPr>
            </a:lvl9pPr>
          </a:lstStyle>
          <a:p>
            <a:pPr algn="l">
              <a:defRPr sz="1725" b="0">
                <a:solidFill>
                  <a:srgbClr val="202124"/>
                </a:solidFill>
                <a:latin typeface="Arial"/>
                <a:ea typeface="Arial"/>
                <a:cs typeface="Arial"/>
              </a:defRPr>
            </a:pPr>
            <a:r>
              <a:rPr sz="1725" b="0">
                <a:solidFill>
                  <a:srgbClr val="202124"/>
                </a:solidFill>
                <a:latin typeface="Arial"/>
                <a:ea typeface="Arial"/>
                <a:cs typeface="Arial"/>
              </a:rPr>
              <a:t>[E3]</a:t>
            </a:r>
          </a:p>
        </p:txBody>
      </p:sp>
      <p:sp>
        <p:nvSpPr>
          <p:cNvPr id="25" name="evidence-body-2">
            <a:extLst>
              <a:ext uri="{FF2B5EF4-FFF2-40B4-BE49-F238E27FC236}">
                <a16:creationId xmlns:a16="http://schemas.microsoft.com/office/drawing/2014/main" id="{110B6079-E0A6-46D3-A018-521EDAD20F0B}"/>
              </a:ext>
            </a:extLst>
          </p:cNvPr>
          <p:cNvSpPr>
            <a:spLocks noGrp="1"/>
          </p:cNvSpPr>
          <p:nvPr/>
        </p:nvSpPr>
        <p:spPr>
          <a:xfrm>
            <a:off x="10096500" y="4686300"/>
            <a:ext cx="4229100" cy="952500"/>
          </a:xfrm>
          <a:prstGeom prst="rect">
            <a:avLst/>
          </a:prstGeom>
          <a:noFill/>
          <a:ln w="0">
            <a:noFill/>
          </a:ln>
        </p:spPr>
        <p:txBody>
          <a:bodyPr wrap="square" lIns="0" tIns="0" rIns="0" bIns="0" anchor="t">
            <a:noAutofit/>
          </a:bodyPr>
          <a:lstStyle>
            <a:defPPr algn="l">
              <a:defRPr sz="1725" b="0">
                <a:solidFill>
                  <a:srgbClr val="202124"/>
                </a:solidFill>
                <a:latin typeface="Arial"/>
                <a:ea typeface="Arial"/>
                <a:cs typeface="Arial"/>
              </a:defRPr>
            </a:defPPr>
            <a:lvl1pPr algn="l">
              <a:defRPr sz="1725" b="0">
                <a:solidFill>
                  <a:srgbClr val="202124"/>
                </a:solidFill>
                <a:latin typeface="Arial"/>
                <a:ea typeface="Arial"/>
                <a:cs typeface="Arial"/>
              </a:defRPr>
            </a:lvl1pPr>
            <a:lvl2pPr algn="l">
              <a:defRPr sz="1725" b="0">
                <a:solidFill>
                  <a:srgbClr val="202124"/>
                </a:solidFill>
                <a:latin typeface="Arial"/>
                <a:ea typeface="Arial"/>
                <a:cs typeface="Arial"/>
              </a:defRPr>
            </a:lvl2pPr>
            <a:lvl3pPr algn="l">
              <a:defRPr sz="1725" b="0">
                <a:solidFill>
                  <a:srgbClr val="202124"/>
                </a:solidFill>
                <a:latin typeface="Arial"/>
                <a:ea typeface="Arial"/>
                <a:cs typeface="Arial"/>
              </a:defRPr>
            </a:lvl3pPr>
            <a:lvl4pPr algn="l">
              <a:defRPr sz="1725" b="0">
                <a:solidFill>
                  <a:srgbClr val="202124"/>
                </a:solidFill>
                <a:latin typeface="Arial"/>
                <a:ea typeface="Arial"/>
                <a:cs typeface="Arial"/>
              </a:defRPr>
            </a:lvl4pPr>
            <a:lvl5pPr algn="l">
              <a:defRPr sz="1725" b="0">
                <a:solidFill>
                  <a:srgbClr val="202124"/>
                </a:solidFill>
                <a:latin typeface="Arial"/>
                <a:ea typeface="Arial"/>
                <a:cs typeface="Arial"/>
              </a:defRPr>
            </a:lvl5pPr>
            <a:lvl6pPr algn="l">
              <a:defRPr sz="1725" b="0">
                <a:solidFill>
                  <a:srgbClr val="202124"/>
                </a:solidFill>
                <a:latin typeface="Arial"/>
                <a:ea typeface="Arial"/>
                <a:cs typeface="Arial"/>
              </a:defRPr>
            </a:lvl6pPr>
            <a:lvl7pPr algn="l">
              <a:defRPr sz="1725" b="0">
                <a:solidFill>
                  <a:srgbClr val="202124"/>
                </a:solidFill>
                <a:latin typeface="Arial"/>
                <a:ea typeface="Arial"/>
                <a:cs typeface="Arial"/>
              </a:defRPr>
            </a:lvl7pPr>
            <a:lvl8pPr algn="l">
              <a:defRPr sz="1725" b="0">
                <a:solidFill>
                  <a:srgbClr val="202124"/>
                </a:solidFill>
                <a:latin typeface="Arial"/>
                <a:ea typeface="Arial"/>
                <a:cs typeface="Arial"/>
              </a:defRPr>
            </a:lvl8pPr>
            <a:lvl9pPr algn="l">
              <a:defRPr sz="1725" b="0">
                <a:solidFill>
                  <a:srgbClr val="202124"/>
                </a:solidFill>
                <a:latin typeface="Arial"/>
                <a:ea typeface="Arial"/>
                <a:cs typeface="Arial"/>
              </a:defRPr>
            </a:lvl9pPr>
          </a:lstStyle>
          <a:p>
            <a:pPr algn="l">
              <a:defRPr sz="1725" b="0">
                <a:solidFill>
                  <a:srgbClr val="202124"/>
                </a:solidFill>
                <a:latin typeface="Arial"/>
                <a:ea typeface="Arial"/>
                <a:cs typeface="Arial"/>
              </a:defRPr>
            </a:pPr>
            <a:r>
              <a:rPr sz="1725" b="0">
                <a:solidFill>
                  <a:srgbClr val="202124"/>
                </a:solidFill>
                <a:latin typeface="Arial"/>
                <a:ea typeface="Arial"/>
                <a:cs typeface="Arial"/>
              </a:rPr>
              <a:t>Frozen encoders</a:t>
            </a:r>
          </a:p>
          <a:p>
            <a:pPr algn="l">
              <a:defRPr sz="1725" b="0">
                <a:solidFill>
                  <a:srgbClr val="202124"/>
                </a:solidFill>
                <a:latin typeface="Arial"/>
                <a:ea typeface="Arial"/>
                <a:cs typeface="Arial"/>
              </a:defRPr>
            </a:pPr>
            <a:r>
              <a:rPr sz="1725" b="0">
                <a:solidFill>
                  <a:srgbClr val="202124"/>
                </a:solidFill>
                <a:latin typeface="Arial"/>
                <a:ea typeface="Arial"/>
                <a:cs typeface="Arial"/>
              </a:rPr>
              <a:t>under shared feedback</a:t>
            </a:r>
          </a:p>
        </p:txBody>
      </p:sp>
      <p:sp>
        <p:nvSpPr>
          <p:cNvPr id="26" name="evidence-id-3">
            <a:extLst>
              <a:ext uri="{FF2B5EF4-FFF2-40B4-BE49-F238E27FC236}">
                <a16:creationId xmlns:a16="http://schemas.microsoft.com/office/drawing/2014/main" id="{52438288-2E00-41B9-A511-082C177F8B57}"/>
              </a:ext>
            </a:extLst>
          </p:cNvPr>
          <p:cNvSpPr>
            <a:spLocks noGrp="1"/>
          </p:cNvSpPr>
          <p:nvPr/>
        </p:nvSpPr>
        <p:spPr>
          <a:xfrm>
            <a:off x="9239250" y="5972175"/>
            <a:ext cx="762000" cy="523875"/>
          </a:xfrm>
          <a:prstGeom prst="rect">
            <a:avLst/>
          </a:prstGeom>
          <a:noFill/>
          <a:ln w="0">
            <a:noFill/>
          </a:ln>
        </p:spPr>
        <p:txBody>
          <a:bodyPr wrap="square" lIns="0" tIns="0" rIns="0" bIns="0" anchor="t">
            <a:noAutofit/>
          </a:bodyPr>
          <a:lstStyle>
            <a:defPPr algn="l">
              <a:defRPr sz="1725" b="0">
                <a:solidFill>
                  <a:srgbClr val="202124"/>
                </a:solidFill>
                <a:latin typeface="Arial"/>
                <a:ea typeface="Arial"/>
                <a:cs typeface="Arial"/>
              </a:defRPr>
            </a:defPPr>
            <a:lvl1pPr algn="l">
              <a:defRPr sz="1725" b="0">
                <a:solidFill>
                  <a:srgbClr val="202124"/>
                </a:solidFill>
                <a:latin typeface="Arial"/>
                <a:ea typeface="Arial"/>
                <a:cs typeface="Arial"/>
              </a:defRPr>
            </a:lvl1pPr>
            <a:lvl2pPr algn="l">
              <a:defRPr sz="1725" b="0">
                <a:solidFill>
                  <a:srgbClr val="202124"/>
                </a:solidFill>
                <a:latin typeface="Arial"/>
                <a:ea typeface="Arial"/>
                <a:cs typeface="Arial"/>
              </a:defRPr>
            </a:lvl2pPr>
            <a:lvl3pPr algn="l">
              <a:defRPr sz="1725" b="0">
                <a:solidFill>
                  <a:srgbClr val="202124"/>
                </a:solidFill>
                <a:latin typeface="Arial"/>
                <a:ea typeface="Arial"/>
                <a:cs typeface="Arial"/>
              </a:defRPr>
            </a:lvl3pPr>
            <a:lvl4pPr algn="l">
              <a:defRPr sz="1725" b="0">
                <a:solidFill>
                  <a:srgbClr val="202124"/>
                </a:solidFill>
                <a:latin typeface="Arial"/>
                <a:ea typeface="Arial"/>
                <a:cs typeface="Arial"/>
              </a:defRPr>
            </a:lvl4pPr>
            <a:lvl5pPr algn="l">
              <a:defRPr sz="1725" b="0">
                <a:solidFill>
                  <a:srgbClr val="202124"/>
                </a:solidFill>
                <a:latin typeface="Arial"/>
                <a:ea typeface="Arial"/>
                <a:cs typeface="Arial"/>
              </a:defRPr>
            </a:lvl5pPr>
            <a:lvl6pPr algn="l">
              <a:defRPr sz="1725" b="0">
                <a:solidFill>
                  <a:srgbClr val="202124"/>
                </a:solidFill>
                <a:latin typeface="Arial"/>
                <a:ea typeface="Arial"/>
                <a:cs typeface="Arial"/>
              </a:defRPr>
            </a:lvl6pPr>
            <a:lvl7pPr algn="l">
              <a:defRPr sz="1725" b="0">
                <a:solidFill>
                  <a:srgbClr val="202124"/>
                </a:solidFill>
                <a:latin typeface="Arial"/>
                <a:ea typeface="Arial"/>
                <a:cs typeface="Arial"/>
              </a:defRPr>
            </a:lvl7pPr>
            <a:lvl8pPr algn="l">
              <a:defRPr sz="1725" b="0">
                <a:solidFill>
                  <a:srgbClr val="202124"/>
                </a:solidFill>
                <a:latin typeface="Arial"/>
                <a:ea typeface="Arial"/>
                <a:cs typeface="Arial"/>
              </a:defRPr>
            </a:lvl8pPr>
            <a:lvl9pPr algn="l">
              <a:defRPr sz="1725" b="0">
                <a:solidFill>
                  <a:srgbClr val="202124"/>
                </a:solidFill>
                <a:latin typeface="Arial"/>
                <a:ea typeface="Arial"/>
                <a:cs typeface="Arial"/>
              </a:defRPr>
            </a:lvl9pPr>
          </a:lstStyle>
          <a:p>
            <a:pPr algn="l">
              <a:defRPr sz="1725" b="0">
                <a:solidFill>
                  <a:srgbClr val="202124"/>
                </a:solidFill>
                <a:latin typeface="Arial"/>
                <a:ea typeface="Arial"/>
                <a:cs typeface="Arial"/>
              </a:defRPr>
            </a:pPr>
            <a:r>
              <a:rPr sz="1725" b="0">
                <a:solidFill>
                  <a:srgbClr val="202124"/>
                </a:solidFill>
                <a:latin typeface="Arial"/>
                <a:ea typeface="Arial"/>
                <a:cs typeface="Arial"/>
              </a:rPr>
              <a:t>[P1]</a:t>
            </a:r>
          </a:p>
        </p:txBody>
      </p:sp>
      <p:sp>
        <p:nvSpPr>
          <p:cNvPr id="27" name="evidence-body-3">
            <a:extLst>
              <a:ext uri="{FF2B5EF4-FFF2-40B4-BE49-F238E27FC236}">
                <a16:creationId xmlns:a16="http://schemas.microsoft.com/office/drawing/2014/main" id="{DE51E9C3-37A5-47F1-AA50-F880ADF2FCD9}"/>
              </a:ext>
            </a:extLst>
          </p:cNvPr>
          <p:cNvSpPr>
            <a:spLocks noGrp="1"/>
          </p:cNvSpPr>
          <p:nvPr/>
        </p:nvSpPr>
        <p:spPr>
          <a:xfrm>
            <a:off x="10096500" y="5972175"/>
            <a:ext cx="4229100" cy="952500"/>
          </a:xfrm>
          <a:prstGeom prst="rect">
            <a:avLst/>
          </a:prstGeom>
          <a:noFill/>
          <a:ln w="0">
            <a:noFill/>
          </a:ln>
        </p:spPr>
        <p:txBody>
          <a:bodyPr wrap="square" lIns="0" tIns="0" rIns="0" bIns="0" anchor="t">
            <a:noAutofit/>
          </a:bodyPr>
          <a:lstStyle>
            <a:defPPr algn="l">
              <a:defRPr sz="1725" b="0">
                <a:solidFill>
                  <a:srgbClr val="202124"/>
                </a:solidFill>
                <a:latin typeface="Arial"/>
                <a:ea typeface="Arial"/>
                <a:cs typeface="Arial"/>
              </a:defRPr>
            </a:defPPr>
            <a:lvl1pPr algn="l">
              <a:defRPr sz="1725" b="0">
                <a:solidFill>
                  <a:srgbClr val="202124"/>
                </a:solidFill>
                <a:latin typeface="Arial"/>
                <a:ea typeface="Arial"/>
                <a:cs typeface="Arial"/>
              </a:defRPr>
            </a:lvl1pPr>
            <a:lvl2pPr algn="l">
              <a:defRPr sz="1725" b="0">
                <a:solidFill>
                  <a:srgbClr val="202124"/>
                </a:solidFill>
                <a:latin typeface="Arial"/>
                <a:ea typeface="Arial"/>
                <a:cs typeface="Arial"/>
              </a:defRPr>
            </a:lvl2pPr>
            <a:lvl3pPr algn="l">
              <a:defRPr sz="1725" b="0">
                <a:solidFill>
                  <a:srgbClr val="202124"/>
                </a:solidFill>
                <a:latin typeface="Arial"/>
                <a:ea typeface="Arial"/>
                <a:cs typeface="Arial"/>
              </a:defRPr>
            </a:lvl3pPr>
            <a:lvl4pPr algn="l">
              <a:defRPr sz="1725" b="0">
                <a:solidFill>
                  <a:srgbClr val="202124"/>
                </a:solidFill>
                <a:latin typeface="Arial"/>
                <a:ea typeface="Arial"/>
                <a:cs typeface="Arial"/>
              </a:defRPr>
            </a:lvl4pPr>
            <a:lvl5pPr algn="l">
              <a:defRPr sz="1725" b="0">
                <a:solidFill>
                  <a:srgbClr val="202124"/>
                </a:solidFill>
                <a:latin typeface="Arial"/>
                <a:ea typeface="Arial"/>
                <a:cs typeface="Arial"/>
              </a:defRPr>
            </a:lvl5pPr>
            <a:lvl6pPr algn="l">
              <a:defRPr sz="1725" b="0">
                <a:solidFill>
                  <a:srgbClr val="202124"/>
                </a:solidFill>
                <a:latin typeface="Arial"/>
                <a:ea typeface="Arial"/>
                <a:cs typeface="Arial"/>
              </a:defRPr>
            </a:lvl6pPr>
            <a:lvl7pPr algn="l">
              <a:defRPr sz="1725" b="0">
                <a:solidFill>
                  <a:srgbClr val="202124"/>
                </a:solidFill>
                <a:latin typeface="Arial"/>
                <a:ea typeface="Arial"/>
                <a:cs typeface="Arial"/>
              </a:defRPr>
            </a:lvl7pPr>
            <a:lvl8pPr algn="l">
              <a:defRPr sz="1725" b="0">
                <a:solidFill>
                  <a:srgbClr val="202124"/>
                </a:solidFill>
                <a:latin typeface="Arial"/>
                <a:ea typeface="Arial"/>
                <a:cs typeface="Arial"/>
              </a:defRPr>
            </a:lvl8pPr>
            <a:lvl9pPr algn="l">
              <a:defRPr sz="1725" b="0">
                <a:solidFill>
                  <a:srgbClr val="202124"/>
                </a:solidFill>
                <a:latin typeface="Arial"/>
                <a:ea typeface="Arial"/>
                <a:cs typeface="Arial"/>
              </a:defRPr>
            </a:lvl9pPr>
          </a:lstStyle>
          <a:p>
            <a:pPr algn="l">
              <a:defRPr sz="1725" b="0">
                <a:solidFill>
                  <a:srgbClr val="202124"/>
                </a:solidFill>
                <a:latin typeface="Arial"/>
                <a:ea typeface="Arial"/>
                <a:cs typeface="Arial"/>
              </a:defRPr>
            </a:pPr>
            <a:r>
              <a:rPr sz="1725" b="0">
                <a:solidFill>
                  <a:srgbClr val="202124"/>
                </a:solidFill>
                <a:latin typeface="Arial"/>
                <a:ea typeface="Arial"/>
                <a:cs typeface="Arial"/>
              </a:rPr>
              <a:t>First real-material</a:t>
            </a:r>
          </a:p>
          <a:p>
            <a:pPr algn="l">
              <a:defRPr sz="1725" b="0">
                <a:solidFill>
                  <a:srgbClr val="202124"/>
                </a:solidFill>
                <a:latin typeface="Arial"/>
                <a:ea typeface="Arial"/>
                <a:cs typeface="Arial"/>
              </a:defRPr>
            </a:pPr>
            <a:r>
              <a:rPr sz="1725" b="0">
                <a:solidFill>
                  <a:srgbClr val="202124"/>
                </a:solidFill>
                <a:latin typeface="Arial"/>
                <a:ea typeface="Arial"/>
                <a:cs typeface="Arial"/>
              </a:rPr>
              <a:t>session plan</a:t>
            </a:r>
          </a:p>
        </p:txBody>
      </p:sp>
      <p:sp>
        <p:nvSpPr>
          <p:cNvPr id="29" name="ref-id-7">
            <a:extLst>
              <a:ext uri="{FF2B5EF4-FFF2-40B4-BE49-F238E27FC236}">
                <a16:creationId xmlns:a16="http://schemas.microsoft.com/office/drawing/2014/main" id="{15DBCC50-3D5A-4F0D-B776-90D7BB7FCB11}"/>
              </a:ext>
            </a:extLst>
          </p:cNvPr>
          <p:cNvSpPr>
            <a:spLocks noGrp="1"/>
          </p:cNvSpPr>
          <p:nvPr/>
        </p:nvSpPr>
        <p:spPr>
          <a:xfrm>
            <a:off x="914400" y="7086600"/>
            <a:ext cx="685800" cy="647700"/>
          </a:xfrm>
          <a:prstGeom prst="rect">
            <a:avLst/>
          </a:prstGeom>
          <a:noFill/>
          <a:ln w="0">
            <a:noFill/>
          </a:ln>
        </p:spPr>
        <p:txBody>
          <a:bodyPr wrap="square" lIns="0" tIns="0" rIns="0" bIns="0" anchor="t">
            <a:noAutofit/>
          </a:bodyPr>
          <a:lstStyle>
            <a:defPPr algn="l">
              <a:defRPr sz="1725" b="0">
                <a:solidFill>
                  <a:srgbClr val="202124"/>
                </a:solidFill>
                <a:latin typeface="Arial"/>
                <a:ea typeface="Arial"/>
                <a:cs typeface="Arial"/>
              </a:defRPr>
            </a:defPPr>
            <a:lvl1pPr algn="l">
              <a:defRPr sz="1725" b="0">
                <a:solidFill>
                  <a:srgbClr val="202124"/>
                </a:solidFill>
                <a:latin typeface="Arial"/>
                <a:ea typeface="Arial"/>
                <a:cs typeface="Arial"/>
              </a:defRPr>
            </a:lvl1pPr>
            <a:lvl2pPr algn="l">
              <a:defRPr sz="1725" b="0">
                <a:solidFill>
                  <a:srgbClr val="202124"/>
                </a:solidFill>
                <a:latin typeface="Arial"/>
                <a:ea typeface="Arial"/>
                <a:cs typeface="Arial"/>
              </a:defRPr>
            </a:lvl2pPr>
            <a:lvl3pPr algn="l">
              <a:defRPr sz="1725" b="0">
                <a:solidFill>
                  <a:srgbClr val="202124"/>
                </a:solidFill>
                <a:latin typeface="Arial"/>
                <a:ea typeface="Arial"/>
                <a:cs typeface="Arial"/>
              </a:defRPr>
            </a:lvl3pPr>
            <a:lvl4pPr algn="l">
              <a:defRPr sz="1725" b="0">
                <a:solidFill>
                  <a:srgbClr val="202124"/>
                </a:solidFill>
                <a:latin typeface="Arial"/>
                <a:ea typeface="Arial"/>
                <a:cs typeface="Arial"/>
              </a:defRPr>
            </a:lvl4pPr>
            <a:lvl5pPr algn="l">
              <a:defRPr sz="1725" b="0">
                <a:solidFill>
                  <a:srgbClr val="202124"/>
                </a:solidFill>
                <a:latin typeface="Arial"/>
                <a:ea typeface="Arial"/>
                <a:cs typeface="Arial"/>
              </a:defRPr>
            </a:lvl5pPr>
            <a:lvl6pPr algn="l">
              <a:defRPr sz="1725" b="0">
                <a:solidFill>
                  <a:srgbClr val="202124"/>
                </a:solidFill>
                <a:latin typeface="Arial"/>
                <a:ea typeface="Arial"/>
                <a:cs typeface="Arial"/>
              </a:defRPr>
            </a:lvl6pPr>
            <a:lvl7pPr algn="l">
              <a:defRPr sz="1725" b="0">
                <a:solidFill>
                  <a:srgbClr val="202124"/>
                </a:solidFill>
                <a:latin typeface="Arial"/>
                <a:ea typeface="Arial"/>
                <a:cs typeface="Arial"/>
              </a:defRPr>
            </a:lvl7pPr>
            <a:lvl8pPr algn="l">
              <a:defRPr sz="1725" b="0">
                <a:solidFill>
                  <a:srgbClr val="202124"/>
                </a:solidFill>
                <a:latin typeface="Arial"/>
                <a:ea typeface="Arial"/>
                <a:cs typeface="Arial"/>
              </a:defRPr>
            </a:lvl8pPr>
            <a:lvl9pPr algn="l">
              <a:defRPr sz="1725" b="0">
                <a:solidFill>
                  <a:srgbClr val="202124"/>
                </a:solidFill>
                <a:latin typeface="Arial"/>
                <a:ea typeface="Arial"/>
                <a:cs typeface="Arial"/>
              </a:defRPr>
            </a:lvl9pPr>
          </a:lstStyle>
          <a:p>
            <a:pPr algn="l">
              <a:defRPr sz="1725" b="0">
                <a:solidFill>
                  <a:srgbClr val="202124"/>
                </a:solidFill>
                <a:latin typeface="Arial"/>
                <a:ea typeface="Arial"/>
                <a:cs typeface="Arial"/>
              </a:defRPr>
            </a:pPr>
            <a:r>
              <a:rPr sz="1725" b="0">
                <a:solidFill>
                  <a:srgbClr val="202124"/>
                </a:solidFill>
                <a:latin typeface="Arial"/>
                <a:ea typeface="Arial"/>
                <a:cs typeface="Arial"/>
              </a:rPr>
              <a:t>[8]</a:t>
            </a:r>
          </a:p>
        </p:txBody>
      </p:sp>
      <p:sp>
        <p:nvSpPr>
          <p:cNvPr id="30" name="ref-body-7">
            <a:extLst>
              <a:ext uri="{FF2B5EF4-FFF2-40B4-BE49-F238E27FC236}">
                <a16:creationId xmlns:a16="http://schemas.microsoft.com/office/drawing/2014/main" id="{503F8C02-E195-46F5-B65C-AEBB9B7A1EE7}"/>
              </a:ext>
            </a:extLst>
          </p:cNvPr>
          <p:cNvSpPr>
            <a:spLocks noGrp="1"/>
          </p:cNvSpPr>
          <p:nvPr/>
        </p:nvSpPr>
        <p:spPr>
          <a:xfrm>
            <a:off x="1714500" y="7086600"/>
            <a:ext cx="6667500" cy="647700"/>
          </a:xfrm>
          <a:prstGeom prst="rect">
            <a:avLst/>
          </a:prstGeom>
          <a:noFill/>
          <a:ln w="0">
            <a:noFill/>
          </a:ln>
        </p:spPr>
        <p:txBody>
          <a:bodyPr wrap="square" lIns="0" tIns="0" rIns="0" bIns="0" anchor="t">
            <a:noAutofit/>
          </a:bodyPr>
          <a:lstStyle>
            <a:defPPr algn="l">
              <a:defRPr sz="1725" b="0">
                <a:solidFill>
                  <a:srgbClr val="202124"/>
                </a:solidFill>
                <a:latin typeface="Arial"/>
                <a:ea typeface="Arial"/>
                <a:cs typeface="Arial"/>
              </a:defRPr>
            </a:defPPr>
            <a:lvl1pPr algn="l">
              <a:defRPr sz="1725" b="0">
                <a:solidFill>
                  <a:srgbClr val="202124"/>
                </a:solidFill>
                <a:latin typeface="Arial"/>
                <a:ea typeface="Arial"/>
                <a:cs typeface="Arial"/>
              </a:defRPr>
            </a:lvl1pPr>
            <a:lvl2pPr algn="l">
              <a:defRPr sz="1725" b="0">
                <a:solidFill>
                  <a:srgbClr val="202124"/>
                </a:solidFill>
                <a:latin typeface="Arial"/>
                <a:ea typeface="Arial"/>
                <a:cs typeface="Arial"/>
              </a:defRPr>
            </a:lvl2pPr>
            <a:lvl3pPr algn="l">
              <a:defRPr sz="1725" b="0">
                <a:solidFill>
                  <a:srgbClr val="202124"/>
                </a:solidFill>
                <a:latin typeface="Arial"/>
                <a:ea typeface="Arial"/>
                <a:cs typeface="Arial"/>
              </a:defRPr>
            </a:lvl3pPr>
            <a:lvl4pPr algn="l">
              <a:defRPr sz="1725" b="0">
                <a:solidFill>
                  <a:srgbClr val="202124"/>
                </a:solidFill>
                <a:latin typeface="Arial"/>
                <a:ea typeface="Arial"/>
                <a:cs typeface="Arial"/>
              </a:defRPr>
            </a:lvl4pPr>
            <a:lvl5pPr algn="l">
              <a:defRPr sz="1725" b="0">
                <a:solidFill>
                  <a:srgbClr val="202124"/>
                </a:solidFill>
                <a:latin typeface="Arial"/>
                <a:ea typeface="Arial"/>
                <a:cs typeface="Arial"/>
              </a:defRPr>
            </a:lvl5pPr>
            <a:lvl6pPr algn="l">
              <a:defRPr sz="1725" b="0">
                <a:solidFill>
                  <a:srgbClr val="202124"/>
                </a:solidFill>
                <a:latin typeface="Arial"/>
                <a:ea typeface="Arial"/>
                <a:cs typeface="Arial"/>
              </a:defRPr>
            </a:lvl6pPr>
            <a:lvl7pPr algn="l">
              <a:defRPr sz="1725" b="0">
                <a:solidFill>
                  <a:srgbClr val="202124"/>
                </a:solidFill>
                <a:latin typeface="Arial"/>
                <a:ea typeface="Arial"/>
                <a:cs typeface="Arial"/>
              </a:defRPr>
            </a:lvl7pPr>
            <a:lvl8pPr algn="l">
              <a:defRPr sz="1725" b="0">
                <a:solidFill>
                  <a:srgbClr val="202124"/>
                </a:solidFill>
                <a:latin typeface="Arial"/>
                <a:ea typeface="Arial"/>
                <a:cs typeface="Arial"/>
              </a:defRPr>
            </a:lvl8pPr>
            <a:lvl9pPr algn="l">
              <a:defRPr sz="1725" b="0">
                <a:solidFill>
                  <a:srgbClr val="202124"/>
                </a:solidFill>
                <a:latin typeface="Arial"/>
                <a:ea typeface="Arial"/>
                <a:cs typeface="Arial"/>
              </a:defRPr>
            </a:lvl9pPr>
          </a:lstStyle>
          <a:p>
            <a:pPr algn="l">
              <a:defRPr sz="1725" b="0">
                <a:solidFill>
                  <a:srgbClr val="202124"/>
                </a:solidFill>
                <a:latin typeface="Arial"/>
                <a:ea typeface="Arial"/>
                <a:cs typeface="Arial"/>
              </a:defRPr>
            </a:pPr>
            <a:r>
              <a:rPr sz="1725" b="0">
                <a:solidFill>
                  <a:srgbClr val="202124"/>
                </a:solidFill>
                <a:latin typeface="Arial"/>
                <a:ea typeface="Arial"/>
                <a:cs typeface="Arial"/>
              </a:rPr>
              <a:t>Bush et al., Soft Matter 2015</a:t>
            </a:r>
          </a:p>
          <a:p>
            <a:pPr algn="l">
              <a:defRPr sz="1725" b="0">
                <a:solidFill>
                  <a:srgbClr val="202124"/>
                </a:solidFill>
                <a:latin typeface="Arial"/>
                <a:ea typeface="Arial"/>
                <a:cs typeface="Arial"/>
              </a:defRPr>
            </a:pPr>
            <a:r>
              <a:rPr sz="1725" b="0">
                <a:solidFill>
                  <a:srgbClr val="202124"/>
                </a:solidFill>
                <a:latin typeface="Arial"/>
                <a:ea typeface="Arial"/>
                <a:cs typeface="Arial"/>
              </a:rPr>
              <a:t>PEG hydrogel relaxation</a:t>
            </a:r>
          </a:p>
        </p:txBody>
      </p:sp>
    </p:spTree>
    <p:extLst>
      <p:ext uri="{BB962C8B-B14F-4D97-AF65-F5344CB8AC3E}">
        <p14:creationId xmlns:p14="http://schemas.microsoft.com/office/powerpoint/2010/main" val="180427822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5138</Words>
  <Application>Microsoft Office PowerPoint</Application>
  <DocSecurity>0</DocSecurity>
  <PresentationFormat>自定义</PresentationFormat>
  <Paragraphs>579</Paragraphs>
  <Slides>12</Slides>
  <Notes>12</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12</vt:i4>
      </vt:variant>
    </vt:vector>
  </HeadingPairs>
  <TitlesOfParts>
    <vt:vector size="15" baseType="lpstr">
      <vt:lpstr>Aptos</vt:lpstr>
      <vt:lpstr>Arial</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Physical state learning</dc:title>
  <dc:creator/>
  <cp:lastModifiedBy>Zhirui Bian</cp:lastModifiedBy>
  <cp:revision>4</cp:revision>
  <dcterms:created xsi:type="dcterms:W3CDTF">2026-10-21T21:02:47Z</dcterms:created>
  <dcterms:modified xsi:type="dcterms:W3CDTF">2026-10-22T21:00:26Z</dcterms:modified>
</cp:coreProperties>
</file>